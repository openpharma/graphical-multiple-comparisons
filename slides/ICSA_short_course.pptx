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1" r:id="rId1"/>
  </p:sldMasterIdLst>
  <p:notesMasterIdLst>
    <p:notesMasterId r:id="rId130"/>
  </p:notesMasterIdLst>
  <p:handoutMasterIdLst>
    <p:handoutMasterId r:id="rId131"/>
  </p:handoutMasterIdLst>
  <p:sldIdLst>
    <p:sldId id="923" r:id="rId2"/>
    <p:sldId id="924" r:id="rId3"/>
    <p:sldId id="1328" r:id="rId4"/>
    <p:sldId id="1228" r:id="rId5"/>
    <p:sldId id="1185" r:id="rId6"/>
    <p:sldId id="1069" r:id="rId7"/>
    <p:sldId id="1068" r:id="rId8"/>
    <p:sldId id="1229" r:id="rId9"/>
    <p:sldId id="1067" r:id="rId10"/>
    <p:sldId id="1071" r:id="rId11"/>
    <p:sldId id="1072" r:id="rId12"/>
    <p:sldId id="1073" r:id="rId13"/>
    <p:sldId id="1074" r:id="rId14"/>
    <p:sldId id="1066" r:id="rId15"/>
    <p:sldId id="1231" r:id="rId16"/>
    <p:sldId id="1232" r:id="rId17"/>
    <p:sldId id="1233" r:id="rId18"/>
    <p:sldId id="1089" r:id="rId19"/>
    <p:sldId id="1087" r:id="rId20"/>
    <p:sldId id="1326" r:id="rId21"/>
    <p:sldId id="1094" r:id="rId22"/>
    <p:sldId id="1095" r:id="rId23"/>
    <p:sldId id="1230" r:id="rId24"/>
    <p:sldId id="1107" r:id="rId25"/>
    <p:sldId id="1108" r:id="rId26"/>
    <p:sldId id="1109" r:id="rId27"/>
    <p:sldId id="1110" r:id="rId28"/>
    <p:sldId id="1117" r:id="rId29"/>
    <p:sldId id="1118" r:id="rId30"/>
    <p:sldId id="1119" r:id="rId31"/>
    <p:sldId id="1120" r:id="rId32"/>
    <p:sldId id="1121" r:id="rId33"/>
    <p:sldId id="1234" r:id="rId34"/>
    <p:sldId id="1111" r:id="rId35"/>
    <p:sldId id="1122" r:id="rId36"/>
    <p:sldId id="1123" r:id="rId37"/>
    <p:sldId id="1124" r:id="rId38"/>
    <p:sldId id="1125" r:id="rId39"/>
    <p:sldId id="1126" r:id="rId40"/>
    <p:sldId id="1127" r:id="rId41"/>
    <p:sldId id="1128" r:id="rId42"/>
    <p:sldId id="1129" r:id="rId43"/>
    <p:sldId id="1130" r:id="rId44"/>
    <p:sldId id="1132" r:id="rId45"/>
    <p:sldId id="1131" r:id="rId46"/>
    <p:sldId id="1112" r:id="rId47"/>
    <p:sldId id="1113" r:id="rId48"/>
    <p:sldId id="1140" r:id="rId49"/>
    <p:sldId id="1327" r:id="rId50"/>
    <p:sldId id="1222" r:id="rId51"/>
    <p:sldId id="1235" r:id="rId52"/>
    <p:sldId id="1223" r:id="rId53"/>
    <p:sldId id="1224" r:id="rId54"/>
    <p:sldId id="1225" r:id="rId55"/>
    <p:sldId id="1226" r:id="rId56"/>
    <p:sldId id="1227" r:id="rId57"/>
    <p:sldId id="1197" r:id="rId58"/>
    <p:sldId id="1300" r:id="rId59"/>
    <p:sldId id="1302" r:id="rId60"/>
    <p:sldId id="1236" r:id="rId61"/>
    <p:sldId id="1240" r:id="rId62"/>
    <p:sldId id="1241" r:id="rId63"/>
    <p:sldId id="1242" r:id="rId64"/>
    <p:sldId id="1243" r:id="rId65"/>
    <p:sldId id="1317" r:id="rId66"/>
    <p:sldId id="1315" r:id="rId67"/>
    <p:sldId id="1245" r:id="rId68"/>
    <p:sldId id="1247" r:id="rId69"/>
    <p:sldId id="1237" r:id="rId70"/>
    <p:sldId id="1295" r:id="rId71"/>
    <p:sldId id="1238" r:id="rId72"/>
    <p:sldId id="1248" r:id="rId73"/>
    <p:sldId id="1303" r:id="rId74"/>
    <p:sldId id="1239" r:id="rId75"/>
    <p:sldId id="1249" r:id="rId76"/>
    <p:sldId id="1312" r:id="rId77"/>
    <p:sldId id="1311" r:id="rId78"/>
    <p:sldId id="1313" r:id="rId79"/>
    <p:sldId id="1307" r:id="rId80"/>
    <p:sldId id="1256" r:id="rId81"/>
    <p:sldId id="1293" r:id="rId82"/>
    <p:sldId id="1292" r:id="rId83"/>
    <p:sldId id="1257" r:id="rId84"/>
    <p:sldId id="1183" r:id="rId85"/>
    <p:sldId id="1319" r:id="rId86"/>
    <p:sldId id="1259" r:id="rId87"/>
    <p:sldId id="1217" r:id="rId88"/>
    <p:sldId id="1260" r:id="rId89"/>
    <p:sldId id="1261" r:id="rId90"/>
    <p:sldId id="1262" r:id="rId91"/>
    <p:sldId id="1263" r:id="rId92"/>
    <p:sldId id="1264" r:id="rId93"/>
    <p:sldId id="1265" r:id="rId94"/>
    <p:sldId id="1314" r:id="rId95"/>
    <p:sldId id="1294" r:id="rId96"/>
    <p:sldId id="1266" r:id="rId97"/>
    <p:sldId id="1267" r:id="rId98"/>
    <p:sldId id="1268" r:id="rId99"/>
    <p:sldId id="1269" r:id="rId100"/>
    <p:sldId id="1318" r:id="rId101"/>
    <p:sldId id="1271" r:id="rId102"/>
    <p:sldId id="1320" r:id="rId103"/>
    <p:sldId id="1273" r:id="rId104"/>
    <p:sldId id="1274" r:id="rId105"/>
    <p:sldId id="1275" r:id="rId106"/>
    <p:sldId id="1276" r:id="rId107"/>
    <p:sldId id="1277" r:id="rId108"/>
    <p:sldId id="1324" r:id="rId109"/>
    <p:sldId id="1325" r:id="rId110"/>
    <p:sldId id="1278" r:id="rId111"/>
    <p:sldId id="1279" r:id="rId112"/>
    <p:sldId id="1280" r:id="rId113"/>
    <p:sldId id="1281" r:id="rId114"/>
    <p:sldId id="1282" r:id="rId115"/>
    <p:sldId id="1283" r:id="rId116"/>
    <p:sldId id="1284" r:id="rId117"/>
    <p:sldId id="1285" r:id="rId118"/>
    <p:sldId id="1286" r:id="rId119"/>
    <p:sldId id="1287" r:id="rId120"/>
    <p:sldId id="1321" r:id="rId121"/>
    <p:sldId id="1289" r:id="rId122"/>
    <p:sldId id="1290" r:id="rId123"/>
    <p:sldId id="1297" r:id="rId124"/>
    <p:sldId id="1322" r:id="rId125"/>
    <p:sldId id="1301" r:id="rId126"/>
    <p:sldId id="1298" r:id="rId127"/>
    <p:sldId id="1299" r:id="rId128"/>
    <p:sldId id="1296" r:id="rId12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52A7DD7-9F4F-428A-B404-6AF91AD3396A}">
          <p14:sldIdLst>
            <p14:sldId id="923"/>
            <p14:sldId id="924"/>
            <p14:sldId id="1328"/>
            <p14:sldId id="1228"/>
            <p14:sldId id="1185"/>
            <p14:sldId id="1069"/>
            <p14:sldId id="1068"/>
            <p14:sldId id="1229"/>
            <p14:sldId id="1067"/>
            <p14:sldId id="1071"/>
            <p14:sldId id="1072"/>
            <p14:sldId id="1073"/>
            <p14:sldId id="1074"/>
            <p14:sldId id="1066"/>
            <p14:sldId id="1231"/>
            <p14:sldId id="1232"/>
            <p14:sldId id="1233"/>
            <p14:sldId id="1089"/>
            <p14:sldId id="1087"/>
            <p14:sldId id="1326"/>
            <p14:sldId id="1094"/>
            <p14:sldId id="1095"/>
            <p14:sldId id="1230"/>
            <p14:sldId id="1107"/>
            <p14:sldId id="1108"/>
            <p14:sldId id="1109"/>
            <p14:sldId id="1110"/>
            <p14:sldId id="1117"/>
            <p14:sldId id="1118"/>
            <p14:sldId id="1119"/>
            <p14:sldId id="1120"/>
            <p14:sldId id="1121"/>
            <p14:sldId id="1234"/>
            <p14:sldId id="1111"/>
            <p14:sldId id="1122"/>
            <p14:sldId id="1123"/>
            <p14:sldId id="1124"/>
            <p14:sldId id="1125"/>
            <p14:sldId id="1126"/>
            <p14:sldId id="1127"/>
            <p14:sldId id="1128"/>
            <p14:sldId id="1129"/>
            <p14:sldId id="1130"/>
            <p14:sldId id="1132"/>
            <p14:sldId id="1131"/>
            <p14:sldId id="1112"/>
            <p14:sldId id="1113"/>
            <p14:sldId id="1140"/>
            <p14:sldId id="1327"/>
            <p14:sldId id="1222"/>
            <p14:sldId id="1235"/>
            <p14:sldId id="1223"/>
            <p14:sldId id="1224"/>
            <p14:sldId id="1225"/>
            <p14:sldId id="1226"/>
            <p14:sldId id="1227"/>
            <p14:sldId id="1197"/>
            <p14:sldId id="1300"/>
            <p14:sldId id="1302"/>
            <p14:sldId id="1236"/>
            <p14:sldId id="1240"/>
            <p14:sldId id="1241"/>
            <p14:sldId id="1242"/>
            <p14:sldId id="1243"/>
            <p14:sldId id="1317"/>
            <p14:sldId id="1315"/>
            <p14:sldId id="1245"/>
            <p14:sldId id="1247"/>
            <p14:sldId id="1237"/>
            <p14:sldId id="1295"/>
            <p14:sldId id="1238"/>
            <p14:sldId id="1248"/>
            <p14:sldId id="1303"/>
            <p14:sldId id="1239"/>
            <p14:sldId id="1249"/>
            <p14:sldId id="1312"/>
            <p14:sldId id="1311"/>
            <p14:sldId id="1313"/>
            <p14:sldId id="1307"/>
            <p14:sldId id="1256"/>
            <p14:sldId id="1293"/>
            <p14:sldId id="1292"/>
            <p14:sldId id="1257"/>
            <p14:sldId id="1183"/>
            <p14:sldId id="1319"/>
            <p14:sldId id="1259"/>
            <p14:sldId id="1217"/>
            <p14:sldId id="1260"/>
            <p14:sldId id="1261"/>
            <p14:sldId id="1262"/>
            <p14:sldId id="1263"/>
            <p14:sldId id="1264"/>
            <p14:sldId id="1265"/>
            <p14:sldId id="1314"/>
            <p14:sldId id="1294"/>
            <p14:sldId id="1266"/>
            <p14:sldId id="1267"/>
            <p14:sldId id="1268"/>
            <p14:sldId id="1269"/>
            <p14:sldId id="1318"/>
            <p14:sldId id="1271"/>
            <p14:sldId id="1320"/>
            <p14:sldId id="1273"/>
            <p14:sldId id="1274"/>
            <p14:sldId id="1275"/>
            <p14:sldId id="1276"/>
            <p14:sldId id="1277"/>
            <p14:sldId id="1324"/>
            <p14:sldId id="1325"/>
            <p14:sldId id="1278"/>
            <p14:sldId id="1279"/>
            <p14:sldId id="1280"/>
            <p14:sldId id="1281"/>
            <p14:sldId id="1282"/>
            <p14:sldId id="1283"/>
            <p14:sldId id="1284"/>
            <p14:sldId id="1285"/>
            <p14:sldId id="1286"/>
            <p14:sldId id="1287"/>
            <p14:sldId id="1321"/>
            <p14:sldId id="1289"/>
            <p14:sldId id="1290"/>
            <p14:sldId id="1297"/>
            <p14:sldId id="1322"/>
            <p14:sldId id="1301"/>
            <p14:sldId id="1298"/>
            <p14:sldId id="1299"/>
            <p14:sldId id="1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4">
          <p15:clr>
            <a:srgbClr val="A4A3A4"/>
          </p15:clr>
        </p15:guide>
        <p15:guide id="2" orient="horz" pos="2835" userDrawn="1">
          <p15:clr>
            <a:srgbClr val="A4A3A4"/>
          </p15:clr>
        </p15:guide>
        <p15:guide id="3" orient="horz" pos="864">
          <p15:clr>
            <a:srgbClr val="A4A3A4"/>
          </p15:clr>
        </p15:guide>
        <p15:guide id="4" pos="5472">
          <p15:clr>
            <a:srgbClr val="A4A3A4"/>
          </p15:clr>
        </p15:guide>
        <p15:guide id="5" pos="2937">
          <p15:clr>
            <a:srgbClr val="A4A3A4"/>
          </p15:clr>
        </p15:guide>
        <p15:guide id="6" pos="288">
          <p15:clr>
            <a:srgbClr val="A4A3A4"/>
          </p15:clr>
        </p15:guide>
        <p15:guide id="7" pos="2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27BA17-5841-2141-0091-F5CA1C15887C}" name="Frank Bretz" initials="FB" userId="Frank Bretz" providerId="None"/>
  <p188:author id="{D2005823-49D0-286F-88EA-714F55CA72BB}" name="Frank Bretz" initials="FB" userId="S::BRETZFR1@novartis.net::3ce1428b-a384-42c6-a714-ab1bf78e9a62" providerId="AD"/>
  <p188:author id="{F4CE5189-CF5E-59AF-A9A9-A613A37D28A8}" name="xidongdxi@gmail.com" initials="xi" userId="S::urn:spo:guest#xidongdxi@gmail.com::" providerId="AD"/>
  <p188:author id="{FDF933D4-58AD-1B37-3616-E4E6F486C5C1}" name="Chen, Yao" initials="YC" userId="S::CHENYA3I@novartis.net::10274ba9-d313-448b-ae7f-19e05f57d394" providerId="AD"/>
  <p188:author id="{2EDBBFE2-D86E-C83E-5C54-45A189C71ACA}" name="Lyu, Tianmeng" initials="LT" userId="S::LYUTI1@novartis.net::804dd2c8-9375-4232-b346-edb44c8cf5d7" providerId="AD"/>
  <p188:author id="{C24A87F7-832D-CC06-5E42-30496257CDB3}" name="Dong Xi" initials="DX" userId="S::Dong.Xi1@gilead.com::57f222e0-cbf6-450b-8272-f31ae8fad4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1DD"/>
    <a:srgbClr val="023760"/>
    <a:srgbClr val="000000"/>
    <a:srgbClr val="CE755D"/>
    <a:srgbClr val="FF0000"/>
    <a:srgbClr val="FF6600"/>
    <a:srgbClr val="9AB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C7A09C-A50C-41B9-9391-4B4D9C9535B6}" v="77" dt="2026-06-14T02:49:50.026"/>
  </p1510:revLst>
</p1510:revInfo>
</file>

<file path=ppt/tableStyles.xml><?xml version="1.0" encoding="utf-8"?>
<a:tblStyleLst xmlns:a="http://schemas.openxmlformats.org/drawingml/2006/main" def="{1C5780E6-A8F4-46B0-B82D-9E7F56C639EF}">
  <a:tblStyle styleId="{1C5780E6-A8F4-46B0-B82D-9E7F56C639EF}" styleName="Novartis Table">
    <a:wholeTbl>
      <a:tcTxStyle>
        <a:fontRef idx="minor"/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646464"/>
              </a:solidFill>
            </a:ln>
          </a:top>
          <a:bottom>
            <a:ln w="6350">
              <a:solidFill>
                <a:srgbClr val="646464"/>
              </a:solidFill>
            </a:ln>
          </a:bottom>
          <a:insideH>
            <a:ln w="6350">
              <a:solidFill>
                <a:srgbClr val="646464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noFill/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 b="on">
        <a:fontRef idx="minor"/>
        <a:srgbClr val="000000"/>
      </a:tcTxStyle>
      <a:tcStyle>
        <a:tcBdr/>
      </a:tcStyle>
    </a:lastCol>
    <a:firstCol>
      <a:tcTxStyle b="on">
        <a:fontRef idx="minor"/>
        <a:srgbClr val="000000"/>
      </a:tcTxStyle>
      <a:tcStyle>
        <a:tcBdr/>
      </a:tcStyle>
    </a:firstCol>
    <a:lastRow>
      <a:tcTxStyle b="on">
        <a:fontRef idx="minor"/>
        <a:srgbClr val="000000"/>
      </a:tcTxStyle>
      <a:tcStyle>
        <a:tcBdr>
          <a:top>
            <a:ln w="19050">
              <a:solidFill>
                <a:srgbClr val="000000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 b="on">
        <a:fontRef idx="minor"/>
        <a:srgbClr val="0460A9"/>
      </a:tcTxStyle>
      <a:tcStyle>
        <a:tcBdr>
          <a:top>
            <a:ln>
              <a:noFill/>
            </a:ln>
          </a:top>
          <a:bottom>
            <a:ln w="19050">
              <a:solidFill>
                <a:srgbClr val="0460A9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8" y="292"/>
      </p:cViewPr>
      <p:guideLst>
        <p:guide orient="horz" pos="214"/>
        <p:guide orient="horz" pos="2835"/>
        <p:guide orient="horz" pos="864"/>
        <p:guide pos="5472"/>
        <p:guide pos="2937"/>
        <p:guide pos="288"/>
        <p:guide pos="28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microsoft.com/office/2018/10/relationships/authors" Target="author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notesMaster" Target="notesMasters/notesMaster1.xml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handoutMaster" Target="handoutMasters/handoutMaster1.xml"/><Relationship Id="rId136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tz, Frank" userId="3ce1428b-a384-42c6-a714-ab1bf78e9a62" providerId="ADAL" clId="{19061B0D-C2FE-4147-914C-5708595ADF9C}"/>
    <pc:docChg chg="undo custSel modSld">
      <pc:chgData name="Bretz, Frank" userId="3ce1428b-a384-42c6-a714-ab1bf78e9a62" providerId="ADAL" clId="{19061B0D-C2FE-4147-914C-5708595ADF9C}" dt="2026-06-04T18:23:13.527" v="288" actId="1076"/>
      <pc:docMkLst>
        <pc:docMk/>
      </pc:docMkLst>
      <pc:sldChg chg="modSp mod">
        <pc:chgData name="Bretz, Frank" userId="3ce1428b-a384-42c6-a714-ab1bf78e9a62" providerId="ADAL" clId="{19061B0D-C2FE-4147-914C-5708595ADF9C}" dt="2026-06-04T18:23:13.527" v="288" actId="1076"/>
        <pc:sldMkLst>
          <pc:docMk/>
          <pc:sldMk cId="3017606536" sldId="924"/>
        </pc:sldMkLst>
        <pc:grpChg chg="mod">
          <ac:chgData name="Bretz, Frank" userId="3ce1428b-a384-42c6-a714-ab1bf78e9a62" providerId="ADAL" clId="{19061B0D-C2FE-4147-914C-5708595ADF9C}" dt="2026-06-04T18:22:47.694" v="231" actId="1038"/>
          <ac:grpSpMkLst>
            <pc:docMk/>
            <pc:sldMk cId="3017606536" sldId="924"/>
            <ac:grpSpMk id="6" creationId="{968E7370-4F97-B384-EE45-9CF00ACC1EE2}"/>
          </ac:grpSpMkLst>
        </pc:grpChg>
        <pc:grpChg chg="mod">
          <ac:chgData name="Bretz, Frank" userId="3ce1428b-a384-42c6-a714-ab1bf78e9a62" providerId="ADAL" clId="{19061B0D-C2FE-4147-914C-5708595ADF9C}" dt="2026-06-04T18:23:13.527" v="288" actId="1076"/>
          <ac:grpSpMkLst>
            <pc:docMk/>
            <pc:sldMk cId="3017606536" sldId="924"/>
            <ac:grpSpMk id="14" creationId="{0F421B38-C5C2-CFF9-0D3E-3D187B4F2DAE}"/>
          </ac:grpSpMkLst>
        </pc:grpChg>
        <pc:grpChg chg="mod">
          <ac:chgData name="Bretz, Frank" userId="3ce1428b-a384-42c6-a714-ab1bf78e9a62" providerId="ADAL" clId="{19061B0D-C2FE-4147-914C-5708595ADF9C}" dt="2026-06-04T18:22:33.111" v="123" actId="1038"/>
          <ac:grpSpMkLst>
            <pc:docMk/>
            <pc:sldMk cId="3017606536" sldId="924"/>
            <ac:grpSpMk id="16" creationId="{05244FC1-7E7D-1DE8-E8A3-9B9205C66B5D}"/>
          </ac:grpSpMkLst>
        </pc:grpChg>
      </pc:sldChg>
    </pc:docChg>
  </pc:docChgLst>
  <pc:docChgLst>
    <pc:chgData name="Dong Xi" userId="57f222e0-cbf6-450b-8272-f31ae8fad45d" providerId="ADAL" clId="{70AB51CC-1E3D-414C-A0A6-4D5F4391DC17}"/>
    <pc:docChg chg="custSel mod modSld modMainMaster">
      <pc:chgData name="Dong Xi" userId="57f222e0-cbf6-450b-8272-f31ae8fad45d" providerId="ADAL" clId="{70AB51CC-1E3D-414C-A0A6-4D5F4391DC17}" dt="2026-06-04T03:13:20.646" v="63" actId="20577"/>
      <pc:docMkLst>
        <pc:docMk/>
      </pc:docMkLst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0" sldId="92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0" sldId="923"/>
            <ac:spMk id="84" creationId="{00000000-0000-0000-0000-00000000000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0" sldId="923"/>
            <ac:spMk id="85" creationId="{00000000-0000-0000-0000-000000000000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017606536" sldId="924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17606536" sldId="924"/>
            <ac:spMk id="2" creationId="{9133FA9B-46F5-3883-AC5A-10EA068E492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17606536" sldId="924"/>
            <ac:spMk id="3" creationId="{D2B3A43C-0173-86A0-F668-9C8636E1DAE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17606536" sldId="924"/>
            <ac:spMk id="5" creationId="{0A1467E4-CD84-1FF9-440C-EB545617139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17606536" sldId="924"/>
            <ac:spMk id="7" creationId="{753ED80C-C50C-20BE-17E4-F15390E539E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17606536" sldId="924"/>
            <ac:spMk id="8" creationId="{4FCF0A59-DA46-0B41-525B-09CD40276FB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17606536" sldId="924"/>
            <ac:spMk id="9" creationId="{1B29F3CD-B67C-704A-A510-ED7A86EC49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17606536" sldId="924"/>
            <ac:spMk id="10" creationId="{D718788D-8BD5-359E-FB20-AECF52E01F9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17606536" sldId="924"/>
            <ac:spMk id="11" creationId="{C1CEB2E0-DDCA-AA79-81BE-918D77913C5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17606536" sldId="924"/>
            <ac:spMk id="12" creationId="{5523A5A2-845B-CAE1-E9BA-0BF5C1A6CE32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141084007" sldId="1066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41084007" sldId="1066"/>
            <ac:spMk id="2" creationId="{52F2686F-AE34-0D1F-12D0-5162DCA8416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41084007" sldId="1066"/>
            <ac:spMk id="3" creationId="{A95C64B8-1F60-2685-F29D-5B204D843C9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41084007" sldId="1066"/>
            <ac:spMk id="4" creationId="{61250924-7CA9-EFA1-457D-6A0AAA7B150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41084007" sldId="1066"/>
            <ac:spMk id="6" creationId="{76D2A7EF-B1C2-29E9-136B-1651DA2E2968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340460791" sldId="106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340460791" sldId="1067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340460791" sldId="1067"/>
            <ac:spMk id="3" creationId="{C1AECF94-E3B2-2027-9E29-D84B307B143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340460791" sldId="1067"/>
            <ac:spMk id="4" creationId="{4801D8AB-8229-7F45-F0DA-0532EEC825C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340460791" sldId="1067"/>
            <ac:spMk id="6" creationId="{F932EAC4-2761-535B-BCCA-1754426FB452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076718632" sldId="1068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76718632" sldId="1068"/>
            <ac:spMk id="2" creationId="{161C3DAA-BF68-C368-8281-38E301D13E7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76718632" sldId="1068"/>
            <ac:spMk id="3" creationId="{F5DDF28A-B28A-E064-0A9F-40853E42F13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76718632" sldId="1068"/>
            <ac:spMk id="4" creationId="{3A36A3D3-265B-D3D2-8648-E48E081C43C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76718632" sldId="1068"/>
            <ac:spMk id="6" creationId="{6DA5B883-69FD-8C45-E876-FBFF68BD878B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585992751" sldId="1069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585992751" sldId="1069"/>
            <ac:spMk id="2" creationId="{161C3DAA-BF68-C368-8281-38E301D13E7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585992751" sldId="1069"/>
            <ac:spMk id="3" creationId="{F5DDF28A-B28A-E064-0A9F-40853E42F13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585992751" sldId="1069"/>
            <ac:spMk id="4" creationId="{83C5485A-6025-27CB-1CBF-8F9A5F6FDF0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585992751" sldId="1069"/>
            <ac:spMk id="6" creationId="{2787C86F-AE68-3750-903C-22467B8D8EF9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018797303" sldId="1071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18797303" sldId="1071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18797303" sldId="1071"/>
            <ac:spMk id="3" creationId="{C1AECF94-E3B2-2027-9E29-D84B307B143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18797303" sldId="1071"/>
            <ac:spMk id="4" creationId="{2374B1D9-E8AB-CA91-3D65-1570CF45581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18797303" sldId="1071"/>
            <ac:spMk id="7" creationId="{7A96E1FB-9B66-5677-3FFE-ABDB9DAFE323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965188222" sldId="1072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65188222" sldId="1072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65188222" sldId="1072"/>
            <ac:spMk id="3" creationId="{C1AECF94-E3B2-2027-9E29-D84B307B143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65188222" sldId="1072"/>
            <ac:spMk id="4" creationId="{0BC40E94-F1FD-0420-C784-2263A688817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65188222" sldId="1072"/>
            <ac:spMk id="6" creationId="{47ED2875-EC79-0590-7DD2-DB5E42929187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912170998" sldId="107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12170998" sldId="1073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12170998" sldId="1073"/>
            <ac:spMk id="3" creationId="{C1AECF94-E3B2-2027-9E29-D84B307B143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12170998" sldId="1073"/>
            <ac:spMk id="4" creationId="{C5F98C73-39AE-2B92-4B04-84818385E17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12170998" sldId="1073"/>
            <ac:spMk id="6" creationId="{BDC69126-E1D0-3B37-502D-1B7526466854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534291495" sldId="1074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34291495" sldId="1074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34291495" sldId="1074"/>
            <ac:spMk id="3" creationId="{C1AECF94-E3B2-2027-9E29-D84B307B143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34291495" sldId="1074"/>
            <ac:spMk id="4" creationId="{E4241525-687E-CD9F-CF45-F0A565076ED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34291495" sldId="1074"/>
            <ac:spMk id="6" creationId="{BB5D5094-0972-229C-A5FD-FF1BAC9F047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34291495" sldId="1074"/>
            <ac:spMk id="21" creationId="{E7849483-7124-E87B-E93E-BE65586CA9C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34291495" sldId="1074"/>
            <ac:spMk id="24" creationId="{FE0D15CC-6D30-6C50-8892-9DAB66361A4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34291495" sldId="1074"/>
            <ac:spMk id="25" creationId="{43917CB3-3B59-184A-8953-847D99EAEDF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34291495" sldId="1074"/>
            <ac:spMk id="26" creationId="{3E160607-0B81-BF0F-DA27-C1D1605A68C5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51954425" sldId="108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1954425" sldId="1087"/>
            <ac:spMk id="2" creationId="{37568079-C88B-5509-A24F-7619B725FB2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1954425" sldId="1087"/>
            <ac:spMk id="3" creationId="{2E23F896-0111-DD09-49B8-9663137DA1F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1954425" sldId="1087"/>
            <ac:spMk id="4" creationId="{C353729D-FD04-8F22-0491-31CF9E38C14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1954425" sldId="1087"/>
            <ac:spMk id="6" creationId="{DD175ACE-A689-75A2-9363-767EB5DA6659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133283405" sldId="1089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33283405" sldId="1089"/>
            <ac:spMk id="2" creationId="{37568079-C88B-5509-A24F-7619B725FB2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33283405" sldId="1089"/>
            <ac:spMk id="3" creationId="{2E23F896-0111-DD09-49B8-9663137DA1F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33283405" sldId="1089"/>
            <ac:spMk id="4" creationId="{68060F15-7805-1DFC-C4F8-A1284D6941C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33283405" sldId="1089"/>
            <ac:spMk id="6" creationId="{8D5A98F4-A1F5-0071-00A9-F4AF97200239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132153484" sldId="1094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32153484" sldId="1094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32153484" sldId="1094"/>
            <ac:spMk id="3" creationId="{58C5345B-CA64-E007-9C18-3F1E37CEF33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32153484" sldId="1094"/>
            <ac:spMk id="4" creationId="{3A3587B0-AAEA-164C-D5D1-109FBBE551B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32153484" sldId="1094"/>
            <ac:spMk id="6" creationId="{10021F66-BBC2-BD2B-D122-9DD16216F411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275803947" sldId="1095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75803947" sldId="1095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75803947" sldId="1095"/>
            <ac:spMk id="3" creationId="{58C5345B-CA64-E007-9C18-3F1E37CEF33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75803947" sldId="1095"/>
            <ac:spMk id="4" creationId="{272C5CC9-9B85-C722-F49E-0E7D5F956C9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75803947" sldId="1095"/>
            <ac:spMk id="7" creationId="{12BA9D55-D4EC-2A8B-3CD2-4D3281225FB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75803947" sldId="1095"/>
            <ac:spMk id="8" creationId="{D7434CE8-B90D-2555-ED72-6FF6FB3A4F2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75803947" sldId="1095"/>
            <ac:spMk id="9" creationId="{538E858D-C3BF-228B-1140-FF340B9C656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75803947" sldId="1095"/>
            <ac:spMk id="10" creationId="{DCF0C722-F5BA-7C7F-8CAF-014379EE7EC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75803947" sldId="1095"/>
            <ac:spMk id="11" creationId="{39B1CCD7-960C-27DE-4B99-269455E05C89}"/>
          </ac:spMkLst>
        </pc:spChg>
        <pc:graphicFrameChg chg="modGraphic">
          <ac:chgData name="Dong Xi" userId="57f222e0-cbf6-450b-8272-f31ae8fad45d" providerId="ADAL" clId="{70AB51CC-1E3D-414C-A0A6-4D5F4391DC17}" dt="2026-06-04T01:51:14.885" v="22" actId="790"/>
          <ac:graphicFrameMkLst>
            <pc:docMk/>
            <pc:sldMk cId="3275803947" sldId="1095"/>
            <ac:graphicFrameMk id="6" creationId="{D867AAA4-0A45-268E-14CB-0315C92275DF}"/>
          </ac:graphicFrameMkLst>
        </pc:graphicFrame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823285044" sldId="110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823285044" sldId="1107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823285044" sldId="1107"/>
            <ac:spMk id="3" creationId="{58C5345B-CA64-E007-9C18-3F1E37CEF33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823285044" sldId="1107"/>
            <ac:spMk id="4" creationId="{A5817FAB-C018-F05A-4851-1042DAC4F79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823285044" sldId="1107"/>
            <ac:spMk id="6" creationId="{E43A667F-40B2-886C-C186-3119D890E635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788211603" sldId="1108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788211603" sldId="1108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788211603" sldId="1108"/>
            <ac:spMk id="3" creationId="{6549AB48-4C9A-CC32-7B7E-605ED5EFDD1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788211603" sldId="1108"/>
            <ac:spMk id="4" creationId="{E9F62AF0-2894-DE60-D994-360057871E6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788211603" sldId="1108"/>
            <ac:spMk id="11" creationId="{447F72CE-0D89-CA19-F570-F1766FD17CF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788211603" sldId="1108"/>
            <ac:spMk id="12" creationId="{614B12F7-F20B-D447-6C3C-003E7AAC2B49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814658323" sldId="1109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814658323" sldId="1109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814658323" sldId="1109"/>
            <ac:spMk id="3" creationId="{58C5345B-CA64-E007-9C18-3F1E37CEF33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814658323" sldId="1109"/>
            <ac:spMk id="4" creationId="{1E5D7553-6408-1E21-8700-F8B9552FC91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814658323" sldId="1109"/>
            <ac:spMk id="8" creationId="{CAF38B8E-68FE-A283-87BB-41E3579E8E9F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034094559" sldId="1110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34094559" sldId="1110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34094559" sldId="1110"/>
            <ac:spMk id="3" creationId="{65D2429A-5D4F-337F-31DA-07A831A5768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34094559" sldId="1110"/>
            <ac:spMk id="4" creationId="{89A696AE-26F4-5F36-40A8-7D07D4BCF1B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34094559" sldId="1110"/>
            <ac:spMk id="6" creationId="{CD8C5F39-31C8-71AF-BA96-1533A975751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34094559" sldId="1110"/>
            <ac:spMk id="7" creationId="{99F13079-C56E-B3A5-C1D7-2C5966EE04F0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922551797" sldId="1111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22551797" sldId="1111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22551797" sldId="1111"/>
            <ac:spMk id="3" creationId="{58C5345B-CA64-E007-9C18-3F1E37CEF33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22551797" sldId="1111"/>
            <ac:spMk id="4" creationId="{16018FA5-4D88-0C3F-3046-6E6C49667DF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22551797" sldId="1111"/>
            <ac:spMk id="6" creationId="{11E29978-3193-37DB-5C13-4D07C29DD1B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22551797" sldId="1111"/>
            <ac:spMk id="7" creationId="{766FB1E8-7B5A-2F74-A238-F377FF1C5F3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22551797" sldId="1111"/>
            <ac:spMk id="8" creationId="{154D0EAC-9A0D-192E-BDF7-06055F382B3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22551797" sldId="1111"/>
            <ac:spMk id="9" creationId="{2B328A4C-56C7-EC06-A717-51C5B3C1A32C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436045498" sldId="1112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436045498" sldId="1112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436045498" sldId="1112"/>
            <ac:spMk id="3" creationId="{58C5345B-CA64-E007-9C18-3F1E37CEF33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436045498" sldId="1112"/>
            <ac:spMk id="4" creationId="{82AA39DE-2CF2-6DA0-3AA7-F16EF47CC9D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436045498" sldId="1112"/>
            <ac:spMk id="6" creationId="{D85FD675-CF25-DA44-929F-EEC9F09B63F5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486902004" sldId="111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86902004" sldId="1113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86902004" sldId="1113"/>
            <ac:spMk id="3" creationId="{58C5345B-CA64-E007-9C18-3F1E37CEF33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86902004" sldId="1113"/>
            <ac:spMk id="4" creationId="{5460BBBE-32CA-00EE-B264-6E8A8730398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86902004" sldId="1113"/>
            <ac:spMk id="5" creationId="{3B64F8E9-B78B-A341-2E0C-DA37B9147C1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86902004" sldId="1113"/>
            <ac:spMk id="6" creationId="{84EE4822-2412-34C7-2CA3-6A5CEB898FBD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723023710" sldId="111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23023710" sldId="1117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23023710" sldId="1117"/>
            <ac:spMk id="3" creationId="{1E00C295-3FA6-4C35-11D7-20D76593544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23023710" sldId="1117"/>
            <ac:spMk id="4" creationId="{50D8B25E-FC7E-837B-8CDF-38EB48CD96F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23023710" sldId="1117"/>
            <ac:spMk id="6" creationId="{65EA5365-00D5-FE21-8FE1-A53026B60E14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4023650707" sldId="1118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023650707" sldId="1118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023650707" sldId="1118"/>
            <ac:spMk id="3" creationId="{02184153-0D09-E23F-3B50-476F0C9B4A5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023650707" sldId="1118"/>
            <ac:spMk id="4" creationId="{A2D50CB6-FE42-EE3C-AE26-F86FBB9AFAD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023650707" sldId="1118"/>
            <ac:spMk id="6" creationId="{3FB5B023-C19D-5B04-D231-68760B6C8933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470426659" sldId="1119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70426659" sldId="1119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70426659" sldId="1119"/>
            <ac:spMk id="3" creationId="{63D20507-E4E3-835F-2E47-B673A938E34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70426659" sldId="1119"/>
            <ac:spMk id="4" creationId="{9EAD56B2-3D0C-610F-6604-50BAFFE4EAD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70426659" sldId="1119"/>
            <ac:spMk id="6" creationId="{C61056AC-6D93-CB85-7886-F55F5B1E9C3A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573486107" sldId="1120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573486107" sldId="1120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573486107" sldId="1120"/>
            <ac:spMk id="3" creationId="{917BA196-49BC-BC15-7400-EE5C8B5F42A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573486107" sldId="1120"/>
            <ac:spMk id="4" creationId="{02136B9B-384C-A19C-DC32-B4B80B064F7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573486107" sldId="1120"/>
            <ac:spMk id="6" creationId="{B62E83DE-3200-2C9D-5937-05CFE76AADDC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182654413" sldId="1121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82654413" sldId="1121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82654413" sldId="1121"/>
            <ac:spMk id="3" creationId="{58C5345B-CA64-E007-9C18-3F1E37CEF33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82654413" sldId="1121"/>
            <ac:spMk id="4" creationId="{9A008CEF-80ED-6E85-0364-514905DB508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82654413" sldId="1121"/>
            <ac:spMk id="6" creationId="{BE6E32EF-48C7-33BC-1E1F-B95FCCB8E457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228951691" sldId="1122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28951691" sldId="1122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28951691" sldId="1122"/>
            <ac:spMk id="3" creationId="{58C5345B-CA64-E007-9C18-3F1E37CEF33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28951691" sldId="1122"/>
            <ac:spMk id="4" creationId="{61BD5B7B-044F-796D-A21D-338612ADCEA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28951691" sldId="1122"/>
            <ac:spMk id="6" creationId="{CAD21D4A-B539-E83A-55C7-58F778E28261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118533019" sldId="112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18533019" sldId="1123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18533019" sldId="1123"/>
            <ac:spMk id="4" creationId="{FFCA6F21-440A-1D11-D80A-7EEDDCDDBBF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18533019" sldId="1123"/>
            <ac:spMk id="6" creationId="{FD6DC6B8-E139-2F87-4A64-1303E2D0B9C2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875451228" sldId="1124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75451228" sldId="1124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75451228" sldId="1124"/>
            <ac:spMk id="3" creationId="{BEE1F37B-0564-385A-DDFD-C4722313224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75451228" sldId="1124"/>
            <ac:spMk id="4" creationId="{AAF0DF85-C68F-9ADB-3BDB-779DE90C1097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890530521" sldId="1125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890530521" sldId="1125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890530521" sldId="1125"/>
            <ac:spMk id="4" creationId="{DAE5FF5A-7FB7-7DEF-2EF3-8A90E211A2C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890530521" sldId="1125"/>
            <ac:spMk id="6" creationId="{B52EE94B-60B0-0DE8-1902-B11D876514AB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223672613" sldId="1126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23672613" sldId="1126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23672613" sldId="1126"/>
            <ac:spMk id="4" creationId="{CD2CFE35-9555-16EE-E3AD-061342741CE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23672613" sldId="1126"/>
            <ac:spMk id="6" creationId="{E8574BCB-FAAD-8A55-12EF-49E8744FEE48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49806009" sldId="112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9806009" sldId="1127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9806009" sldId="1127"/>
            <ac:spMk id="4" creationId="{D386C257-564C-C4EC-B700-F4229D43280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9806009" sldId="1127"/>
            <ac:spMk id="6" creationId="{4B4D5B8A-3D33-4943-FF1B-923BAA07423E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4072838122" sldId="1128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072838122" sldId="1128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072838122" sldId="1128"/>
            <ac:spMk id="3" creationId="{A1311DC7-7E53-9492-B814-E536D2D3DE1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072838122" sldId="1128"/>
            <ac:spMk id="4" creationId="{D60E1C31-238F-CE1C-340E-8E5321E76310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391572280" sldId="1129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391572280" sldId="1129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391572280" sldId="1129"/>
            <ac:spMk id="3" creationId="{1C3A65C4-03F5-9669-2EB6-BFE39796899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391572280" sldId="1129"/>
            <ac:spMk id="4" creationId="{0FCA7542-F3C2-2DBF-E784-DB2BF988361F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892085666" sldId="1130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92085666" sldId="1130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92085666" sldId="1130"/>
            <ac:spMk id="3" creationId="{02F07C39-EA4C-B0CD-323B-C8A600DA869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92085666" sldId="1130"/>
            <ac:spMk id="4" creationId="{6E468B6E-045A-F80F-78E9-5FC72339C37A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173465630" sldId="1131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73465630" sldId="1131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73465630" sldId="1131"/>
            <ac:spMk id="4" creationId="{325D45CF-EE7E-E048-C6F5-C3DEF48AD29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73465630" sldId="1131"/>
            <ac:spMk id="6" creationId="{20AB9603-4012-FE2A-AEF7-8E23CF40ACA5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783805986" sldId="1132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83805986" sldId="1132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83805986" sldId="1132"/>
            <ac:spMk id="4" creationId="{0EE6DE0E-1A4D-0AAC-5630-185AEA3326D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83805986" sldId="1132"/>
            <ac:spMk id="6" creationId="{666DD540-DA35-3942-6FB2-31D01464633F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508593525" sldId="1140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08593525" sldId="1140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08593525" sldId="1140"/>
            <ac:spMk id="3" creationId="{58C5345B-CA64-E007-9C18-3F1E37CEF33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08593525" sldId="1140"/>
            <ac:spMk id="4" creationId="{C4CBAFE8-BD6F-3DA4-245D-8B16C95FCDB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08593525" sldId="1140"/>
            <ac:spMk id="6" creationId="{9BEB5B49-04CF-A5A6-C400-6B6D3EB24344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195364822" sldId="118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95364822" sldId="1183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95364822" sldId="1183"/>
            <ac:spMk id="3" creationId="{58C5345B-CA64-E007-9C18-3F1E37CEF33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95364822" sldId="1183"/>
            <ac:spMk id="4" creationId="{0CA8F369-5190-E2B6-FBAA-DDB3DFD22B4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95364822" sldId="1183"/>
            <ac:spMk id="5" creationId="{3E8EF11C-AA5F-EA6B-116F-F6F8233A9676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346702054" sldId="1185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346702054" sldId="1185"/>
            <ac:spMk id="2" creationId="{161C3DAA-BF68-C368-8281-38E301D13E7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346702054" sldId="1185"/>
            <ac:spMk id="3" creationId="{F5DDF28A-B28A-E064-0A9F-40853E42F13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346702054" sldId="1185"/>
            <ac:spMk id="4" creationId="{DE3E630F-875A-F576-4BBD-E3B0290F90D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346702054" sldId="1185"/>
            <ac:spMk id="6" creationId="{94BB0937-AF5C-8E8E-3182-3B589D27E667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206460145" sldId="119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06460145" sldId="1197"/>
            <ac:spMk id="2" creationId="{E9C201FF-C77A-3AD8-CCB0-040B5B762C1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06460145" sldId="1197"/>
            <ac:spMk id="3" creationId="{E5F9C9CE-7024-0D8C-2AEA-9012A2470F2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06460145" sldId="1197"/>
            <ac:spMk id="4" creationId="{0189023F-232B-B16F-0F81-4FCFDCDFBB1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06460145" sldId="1197"/>
            <ac:spMk id="6" creationId="{9472125B-95BB-F2A9-F006-2BCDE79EE87E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299757632" sldId="121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99757632" sldId="1217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99757632" sldId="1217"/>
            <ac:spMk id="3" creationId="{C1AECF94-E3B2-2027-9E29-D84B307B143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99757632" sldId="1217"/>
            <ac:spMk id="4" creationId="{39270D6B-EF81-32FB-120E-41014C4B757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99757632" sldId="1217"/>
            <ac:spMk id="5" creationId="{A6C66AEC-4B4B-11CF-8433-A8F84D81E5E6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713207207" sldId="1222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13207207" sldId="1222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13207207" sldId="1222"/>
            <ac:spMk id="3" creationId="{FEAB2553-946E-669C-82B2-050F35B8DB3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13207207" sldId="1222"/>
            <ac:spMk id="4" creationId="{805E49BF-D4EA-F0E5-7A3A-072072DA3B0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13207207" sldId="1222"/>
            <ac:spMk id="6" creationId="{26984D33-D9E4-A532-FDCA-A9FF986D8C8D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058408733" sldId="122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58408733" sldId="1223"/>
            <ac:spMk id="2" creationId="{807AB84D-D0FC-B42E-017E-33B893A6131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58408733" sldId="1223"/>
            <ac:spMk id="3" creationId="{E4A2B863-BC1C-771A-3705-B158F8CD187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58408733" sldId="1223"/>
            <ac:spMk id="4" creationId="{8DDEA03F-039E-8D86-37C6-E7C82152C692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111080804" sldId="1224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11080804" sldId="1224"/>
            <ac:spMk id="2" creationId="{52A66F96-477F-D07D-EF88-FBCF0BACADA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11080804" sldId="1224"/>
            <ac:spMk id="4" creationId="{C950CE31-C437-BBEE-466A-FFC264AF3AD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11080804" sldId="1224"/>
            <ac:spMk id="6" creationId="{F0515F97-FFB0-901D-7C83-BAF755C5A92F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92179719" sldId="1225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2179719" sldId="1225"/>
            <ac:spMk id="2" creationId="{419CBF69-A16D-546E-D2E9-A40ACDAD689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2179719" sldId="1225"/>
            <ac:spMk id="3" creationId="{5F423FB8-BAA0-CC58-95DA-2CA689A3BBE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2179719" sldId="1225"/>
            <ac:spMk id="4" creationId="{1A454B3F-8D5C-CB45-49A7-2FEC0324EF8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2179719" sldId="1225"/>
            <ac:spMk id="7" creationId="{5F7CD261-C861-D6F8-BABD-5DDECDC01195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4034728861" sldId="1226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034728861" sldId="1226"/>
            <ac:spMk id="2" creationId="{5C8F02A0-3A33-52AE-8624-57FC181C8B7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034728861" sldId="1226"/>
            <ac:spMk id="3" creationId="{0C2D95C0-AB3D-7E7D-576A-0EC6F0CA803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034728861" sldId="1226"/>
            <ac:spMk id="4" creationId="{AFFF9B54-1767-FAFF-6AE2-4204A93CB49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034728861" sldId="1226"/>
            <ac:spMk id="6" creationId="{9764CE96-035B-C814-C5E2-7CA6A4F991AC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749052380" sldId="122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49052380" sldId="1227"/>
            <ac:spMk id="2" creationId="{92E54736-2EC6-631E-41E8-2BE6AF534C1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49052380" sldId="1227"/>
            <ac:spMk id="3" creationId="{D6441F30-252A-C3B6-CB91-147270DBA49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49052380" sldId="1227"/>
            <ac:spMk id="4" creationId="{B603C0E9-5559-83A6-8F56-24F06DA7075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49052380" sldId="1227"/>
            <ac:spMk id="7" creationId="{2FCED5D3-C38C-8E83-D048-1D78E821CB2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49052380" sldId="1227"/>
            <ac:spMk id="9" creationId="{75FE004A-EDA2-87A8-55AB-8E4A263A7EA6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309098821" sldId="1228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309098821" sldId="1228"/>
            <ac:spMk id="2" creationId="{3D0CF21C-04CB-1503-F3F6-450AD390B69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309098821" sldId="1228"/>
            <ac:spMk id="3" creationId="{85AF21E3-023A-D577-3BA1-07BD46395E9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309098821" sldId="1228"/>
            <ac:spMk id="5" creationId="{8FE1D315-0E8E-9EEC-898A-B3E047B4871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309098821" sldId="1228"/>
            <ac:spMk id="6" creationId="{BAF98728-931F-FB80-3F8C-5E9E2364FE4D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284372364" sldId="1229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84372364" sldId="1229"/>
            <ac:spMk id="2" creationId="{BEB1EE10-3281-CCFD-9610-BD62F0E1358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84372364" sldId="1229"/>
            <ac:spMk id="3" creationId="{07D62CA0-73FF-18A7-39B7-957C5315A2D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84372364" sldId="1229"/>
            <ac:spMk id="4" creationId="{92186CBF-3BB9-8979-8B38-96F216B7922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84372364" sldId="1229"/>
            <ac:spMk id="6" creationId="{70DE482B-E426-BD74-B329-2840F0E4F580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175471283" sldId="1230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75471283" sldId="1230"/>
            <ac:spMk id="2" creationId="{34769E4F-1B7E-9AA5-95DB-B512B30B56B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75471283" sldId="1230"/>
            <ac:spMk id="3" creationId="{4780ADE5-32CA-4447-2CB2-A5EE99AFFCF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75471283" sldId="1230"/>
            <ac:spMk id="4" creationId="{1D18E102-4138-2CDD-BD6B-4F1D1610B2C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75471283" sldId="1230"/>
            <ac:spMk id="6" creationId="{740AACA5-8358-F423-E83F-DD3C990A7FCC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14409956" sldId="1231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4409956" sldId="1231"/>
            <ac:spMk id="2" creationId="{57DD5FC7-C177-3AEC-2BCF-DD53AA62824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4409956" sldId="1231"/>
            <ac:spMk id="3" creationId="{BD5F6112-B442-E835-15CC-D0530722253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4409956" sldId="1231"/>
            <ac:spMk id="4" creationId="{912A6C01-0B59-A04E-BD32-189031BD343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4409956" sldId="1231"/>
            <ac:spMk id="8" creationId="{183B4491-5943-C28C-9463-438EF5561C82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40293436" sldId="1232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0293436" sldId="1232"/>
            <ac:spMk id="2" creationId="{407C4F0D-D45B-43BF-A544-4CC466E16DE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0293436" sldId="1232"/>
            <ac:spMk id="3" creationId="{636549C5-43CB-B69D-1637-80064BE4A28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0293436" sldId="1232"/>
            <ac:spMk id="4" creationId="{BB4341B0-C999-7B41-8ED3-A5EF64C8355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0293436" sldId="1232"/>
            <ac:spMk id="6" creationId="{2F4D69EE-962D-3693-FECF-E39685FDAEA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0293436" sldId="1232"/>
            <ac:spMk id="7" creationId="{4F6E703D-BB8E-A4C5-7DB1-11879218DB0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0293436" sldId="1232"/>
            <ac:spMk id="10" creationId="{15BB58C4-52EC-E5F8-0092-A584A06FBC73}"/>
          </ac:spMkLst>
        </pc:spChg>
        <pc:graphicFrameChg chg="modGraphic">
          <ac:chgData name="Dong Xi" userId="57f222e0-cbf6-450b-8272-f31ae8fad45d" providerId="ADAL" clId="{70AB51CC-1E3D-414C-A0A6-4D5F4391DC17}" dt="2026-06-04T01:51:14.885" v="22" actId="790"/>
          <ac:graphicFrameMkLst>
            <pc:docMk/>
            <pc:sldMk cId="240293436" sldId="1232"/>
            <ac:graphicFrameMk id="9" creationId="{E35C141D-4065-B2F7-E2B1-D338A00C4705}"/>
          </ac:graphicFrameMkLst>
        </pc:graphicFrame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154073680" sldId="123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54073680" sldId="1233"/>
            <ac:spMk id="2" creationId="{40187094-FF75-6C18-EBC3-F95B1C5F9D6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54073680" sldId="1233"/>
            <ac:spMk id="3" creationId="{A6614900-2FC3-DE74-6996-4024CE17EF1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54073680" sldId="1233"/>
            <ac:spMk id="4" creationId="{92A82940-D09A-1338-4D64-F7ADBF05145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54073680" sldId="1233"/>
            <ac:spMk id="9" creationId="{58D835EC-DD72-538B-08DC-93763245FE14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956179090" sldId="1234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56179090" sldId="1234"/>
            <ac:spMk id="2" creationId="{0E21E4B7-252F-07F2-A5CD-9D592784200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56179090" sldId="1234"/>
            <ac:spMk id="3" creationId="{7F4F140E-B172-3E68-D1E4-1F5F9EBFBEA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56179090" sldId="1234"/>
            <ac:spMk id="4" creationId="{EC6BF53D-C31E-E270-096D-81D4BF08196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56179090" sldId="1234"/>
            <ac:spMk id="8" creationId="{2E7F8C15-B2A9-48DD-21E5-491504BE3226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880970587" sldId="1235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880970587" sldId="1235"/>
            <ac:spMk id="2" creationId="{B811104C-6E61-C7A0-9AD3-B0F0760CF95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880970587" sldId="1235"/>
            <ac:spMk id="3" creationId="{C1463FC7-D824-F3D9-737C-B7B5A65510E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880970587" sldId="1235"/>
            <ac:spMk id="4" creationId="{A5B5BB4D-D6CD-AFE2-C7EC-4D89CE6966D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880970587" sldId="1235"/>
            <ac:spMk id="6" creationId="{BDF57991-37AD-37AD-E7C7-89BD33BEEA12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653299866" sldId="1236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653299866" sldId="1236"/>
            <ac:spMk id="2" creationId="{BEB1EE10-3281-CCFD-9610-BD62F0E1358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653299866" sldId="1236"/>
            <ac:spMk id="3" creationId="{07D62CA0-73FF-18A7-39B7-957C5315A2D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653299866" sldId="1236"/>
            <ac:spMk id="4" creationId="{92186CBF-3BB9-8979-8B38-96F216B7922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653299866" sldId="1236"/>
            <ac:spMk id="6" creationId="{70DE482B-E426-BD74-B329-2840F0E4F580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680241935" sldId="123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80241935" sldId="1237"/>
            <ac:spMk id="2" creationId="{ABA5EBBF-6182-9BD3-9F50-F54729B0295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80241935" sldId="1237"/>
            <ac:spMk id="3" creationId="{48B68015-0277-B710-6079-C18D7ACF4DF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80241935" sldId="1237"/>
            <ac:spMk id="4" creationId="{8C0D937D-A2A0-8A91-3A2C-C3F85E307E5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80241935" sldId="1237"/>
            <ac:spMk id="6" creationId="{8119F89F-2207-BF79-E270-5453BD40C5C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80241935" sldId="1237"/>
            <ac:spMk id="14" creationId="{AF0E5655-14B8-CB4D-651B-1D82B007D92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80241935" sldId="1237"/>
            <ac:spMk id="15" creationId="{D43A8EFD-6098-1778-FC16-DEAD4B85B7B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80241935" sldId="1237"/>
            <ac:spMk id="16" creationId="{1A563A1F-0EF4-1933-495F-C6390C43047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80241935" sldId="1237"/>
            <ac:spMk id="19" creationId="{6A03EBE2-F259-BD15-DA83-81842FF7E567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291265291" sldId="1238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91265291" sldId="1238"/>
            <ac:spMk id="2" creationId="{E68CE8B6-A571-C66E-9183-54C9E14F5F6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91265291" sldId="1238"/>
            <ac:spMk id="3" creationId="{78D796EE-BBB5-A0A1-51BC-C0DADD161AC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91265291" sldId="1238"/>
            <ac:spMk id="4" creationId="{9139EE02-F110-6866-E94E-D2B3BE7DC60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91265291" sldId="1238"/>
            <ac:spMk id="6" creationId="{50CD9891-56E7-84B8-F523-99D7C584AB9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91265291" sldId="1238"/>
            <ac:spMk id="7" creationId="{E742915A-F599-8526-C2C5-39D5C57973C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91265291" sldId="1238"/>
            <ac:spMk id="8" creationId="{D74975EE-47ED-C233-6C48-7040220892B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91265291" sldId="1238"/>
            <ac:spMk id="9" creationId="{AF77264F-0E57-4625-E846-0B65A4D03B65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004933515" sldId="1239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04933515" sldId="1239"/>
            <ac:spMk id="2" creationId="{70579BF1-2E0B-6A5C-FE8F-118C54F5536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04933515" sldId="1239"/>
            <ac:spMk id="4" creationId="{543790C1-1EB7-A2CA-5537-6DE053DB398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04933515" sldId="1239"/>
            <ac:spMk id="6" creationId="{AEB3BF49-EC44-4F3D-B90B-5F6F0BC4636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04933515" sldId="1239"/>
            <ac:spMk id="16" creationId="{E0A45DE2-F4AD-EE1E-4BB9-A4EAE0120814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448960379" sldId="1240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48960379" sldId="1240"/>
            <ac:spMk id="2" creationId="{1FC5596B-EAD8-1DC3-3C84-5E970A28709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48960379" sldId="1240"/>
            <ac:spMk id="3" creationId="{AE1A76F3-98B8-B81D-C5F2-74A2E67D656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48960379" sldId="1240"/>
            <ac:spMk id="4" creationId="{16A72B75-47EB-2991-A43C-C323AD9402A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48960379" sldId="1240"/>
            <ac:spMk id="6" creationId="{2FA5C935-AEE5-1CC9-954D-B81F7B5CC140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151925777" sldId="1241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51925777" sldId="1241"/>
            <ac:spMk id="2" creationId="{6901A197-D2FC-06F3-03B0-C5F0D628327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51925777" sldId="1241"/>
            <ac:spMk id="3" creationId="{6A5AE771-39DD-102F-986E-79E13CA9365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51925777" sldId="1241"/>
            <ac:spMk id="4" creationId="{568CD474-5104-0D5F-91C1-84228C7A6A8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51925777" sldId="1241"/>
            <ac:spMk id="6" creationId="{1DA5CE43-CCED-6FE2-6645-D1C7EB9C8AB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51925777" sldId="1241"/>
            <ac:spMk id="8" creationId="{4945A8E9-7724-5D3F-E763-C2093854C02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151925777" sldId="1241"/>
            <ac:spMk id="9" creationId="{A5F47FA1-8126-DC84-39A7-1E2D8862904A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647115040" sldId="1242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647115040" sldId="1242"/>
            <ac:spMk id="2" creationId="{9FFBC489-3803-3406-2B0C-3F0C82C710C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647115040" sldId="1242"/>
            <ac:spMk id="4" creationId="{852D2E24-D4E9-F5FD-EF86-59602275FF3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647115040" sldId="1242"/>
            <ac:spMk id="6" creationId="{DBF9E882-ADE8-00AD-ECD0-ADEF28F15FD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647115040" sldId="1242"/>
            <ac:spMk id="8" creationId="{36143023-6C19-2E8C-E0C6-39ED9D2C62AE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44981748" sldId="124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4981748" sldId="1243"/>
            <ac:spMk id="2" creationId="{3335BB15-FE6F-C370-67FF-4B82E9B8D7C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4981748" sldId="1243"/>
            <ac:spMk id="3" creationId="{E043EBC7-4C85-3340-6110-6BD35F09D4E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4981748" sldId="1243"/>
            <ac:spMk id="4" creationId="{3E5F45E9-3EF6-C513-0EC6-EB3E48346DA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4981748" sldId="1243"/>
            <ac:spMk id="6" creationId="{B9D4FFE3-5675-DD53-1235-21FB42A069A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44981748" sldId="1243"/>
            <ac:spMk id="8" creationId="{3838595E-D856-24FF-BF74-5B89F9EAE6D1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700199691" sldId="1245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00199691" sldId="1245"/>
            <ac:spMk id="2" creationId="{35CD261E-323F-E31C-A5A5-91AE2F302A1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00199691" sldId="1245"/>
            <ac:spMk id="4" creationId="{84EC98F1-2F01-99FA-7FE9-C2B3A34B424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00199691" sldId="1245"/>
            <ac:spMk id="6" creationId="{0E526A01-BC17-E68E-F564-AA4CC02F644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00199691" sldId="1245"/>
            <ac:spMk id="7" creationId="{A79CD5ED-A9E1-71F7-B5BC-EADD9CE65FC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00199691" sldId="1245"/>
            <ac:spMk id="8" creationId="{A2D9D64C-4A35-6AFB-64CC-CFABAAF8A33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00199691" sldId="1245"/>
            <ac:spMk id="24" creationId="{A0F26A55-04A4-C6B5-D53A-4BDBE25966CC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236055614" sldId="124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36055614" sldId="1247"/>
            <ac:spMk id="2" creationId="{286ABDFA-4788-71F7-615D-FEB113DF0F9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36055614" sldId="1247"/>
            <ac:spMk id="4" creationId="{E5088513-111A-0225-0586-7B8E61997D5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36055614" sldId="1247"/>
            <ac:spMk id="5" creationId="{128FA282-EA26-1FA1-19D0-2B320B3F749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36055614" sldId="1247"/>
            <ac:spMk id="6" creationId="{129EF568-BE89-0F8E-9857-2471C0D77AE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36055614" sldId="1247"/>
            <ac:spMk id="8" creationId="{AC89D35D-EE77-5D5B-0617-FEC2FC8FCD1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36055614" sldId="1247"/>
            <ac:spMk id="9" creationId="{B63CA2D4-6B54-5311-0653-41448F77173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36055614" sldId="1247"/>
            <ac:spMk id="10" creationId="{F3F501FC-2A37-BE30-ABBC-15DE2091EDD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36055614" sldId="1247"/>
            <ac:spMk id="11" creationId="{BBE9C058-A34B-29A7-53EC-4ED7450CCF26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4212524205" sldId="1248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212524205" sldId="1248"/>
            <ac:spMk id="2" creationId="{9BA54F59-C5A1-FBE6-CA21-D6322CAA409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212524205" sldId="1248"/>
            <ac:spMk id="3" creationId="{EF6DDBE8-3AE3-4572-4FDC-398A5E27EFC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212524205" sldId="1248"/>
            <ac:spMk id="4" creationId="{31146C66-E358-DADE-0B3C-571CD4D4E0B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212524205" sldId="1248"/>
            <ac:spMk id="6" creationId="{3A081718-C7BC-6354-45F9-8AC5237893A4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616528127" sldId="1249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616528127" sldId="1249"/>
            <ac:spMk id="2" creationId="{DA987A0A-A9DB-9E9A-5916-B5239463991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616528127" sldId="1249"/>
            <ac:spMk id="4" creationId="{731EC93E-080B-7A7A-7E64-5F48EF98BC6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616528127" sldId="1249"/>
            <ac:spMk id="6" creationId="{7294B796-6681-9835-18A9-161D673076D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616528127" sldId="1249"/>
            <ac:spMk id="16" creationId="{7C5538C5-09FE-1D88-49D0-1515EC21BEBE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582710462" sldId="1256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82710462" sldId="1256"/>
            <ac:spMk id="2" creationId="{F6BDD1E9-E17D-BA3B-39E9-2A37CB3BF12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82710462" sldId="1256"/>
            <ac:spMk id="3" creationId="{1FF3BFBB-5D4E-2ADE-88B0-1B4B4DB53A4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82710462" sldId="1256"/>
            <ac:spMk id="4" creationId="{3173EBF6-6D2C-88BE-BEED-1A6D0359972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82710462" sldId="1256"/>
            <ac:spMk id="6" creationId="{589F3F52-4B69-250E-1A3E-FB421ADD1CAC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594570315" sldId="125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94570315" sldId="1257"/>
            <ac:spMk id="2" creationId="{07E0369C-8D81-0802-347F-57041D44442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94570315" sldId="1257"/>
            <ac:spMk id="3" creationId="{B9D25621-35D1-4684-C0AF-F74E8E5C687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94570315" sldId="1257"/>
            <ac:spMk id="5" creationId="{B2E8A941-1255-8874-9470-C576DD9D2CC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94570315" sldId="1257"/>
            <ac:spMk id="8" creationId="{DAEC7753-1B44-382C-0437-F9CBCE51CDE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94570315" sldId="1257"/>
            <ac:spMk id="9" creationId="{7B9E8AC7-1C8D-71CD-0852-A9834B679F9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94570315" sldId="1257"/>
            <ac:spMk id="15" creationId="{861C71EB-7E0B-193B-C8FE-8F6A603D947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94570315" sldId="1257"/>
            <ac:spMk id="16" creationId="{6AAF1182-7D1F-FDB9-9C88-A287AC5DE99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594570315" sldId="1257"/>
            <ac:spMk id="23" creationId="{9AFEA2BA-733B-BAFB-8E87-79C20C87DE42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980323344" sldId="1259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980323344" sldId="1259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980323344" sldId="1259"/>
            <ac:spMk id="3" creationId="{2F2D385E-57F5-9074-5048-1EAF1FE15E2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980323344" sldId="1259"/>
            <ac:spMk id="5" creationId="{3E8EF11C-AA5F-EA6B-116F-F6F8233A9676}"/>
          </ac:spMkLst>
        </pc:spChg>
        <pc:graphicFrameChg chg="modGraphic">
          <ac:chgData name="Dong Xi" userId="57f222e0-cbf6-450b-8272-f31ae8fad45d" providerId="ADAL" clId="{70AB51CC-1E3D-414C-A0A6-4D5F4391DC17}" dt="2026-06-04T01:51:14.885" v="22" actId="790"/>
          <ac:graphicFrameMkLst>
            <pc:docMk/>
            <pc:sldMk cId="3980323344" sldId="1259"/>
            <ac:graphicFrameMk id="10" creationId="{1B5D6EC3-A226-CF52-F192-E853D0C88512}"/>
          </ac:graphicFrameMkLst>
        </pc:graphicFrame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835397541" sldId="1260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35397541" sldId="1260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35397541" sldId="1260"/>
            <ac:spMk id="3" creationId="{8FC50903-794D-05CA-A892-407E9CD451F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35397541" sldId="1260"/>
            <ac:spMk id="5" creationId="{A6C66AEC-4B4B-11CF-8433-A8F84D81E5E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35397541" sldId="1260"/>
            <ac:spMk id="8" creationId="{91A498DC-1F05-087D-3844-0DFBE213463A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704211656" sldId="1261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704211656" sldId="1261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704211656" sldId="1261"/>
            <ac:spMk id="3" creationId="{7BF6496E-F4A7-2447-C566-FA9B6D18D8E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704211656" sldId="1261"/>
            <ac:spMk id="4" creationId="{E849FA5F-FF5F-A15A-3D8E-3DCBFB7FC5C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704211656" sldId="1261"/>
            <ac:spMk id="5" creationId="{A6C66AEC-4B4B-11CF-8433-A8F84D81E5E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704211656" sldId="1261"/>
            <ac:spMk id="6" creationId="{68522B80-54FC-F84E-A3A6-8CA2864C55D3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032861436" sldId="1262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32861436" sldId="1262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32861436" sldId="1262"/>
            <ac:spMk id="3" creationId="{829F3441-BF4E-3163-0F7F-883A1332EF1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32861436" sldId="1262"/>
            <ac:spMk id="4" creationId="{13DF5E9A-A0F0-3C66-8FD9-4B6E176E0F7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32861436" sldId="1262"/>
            <ac:spMk id="5" creationId="{A6C66AEC-4B4B-11CF-8433-A8F84D81E5E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32861436" sldId="1262"/>
            <ac:spMk id="6" creationId="{9B662932-D333-B175-6B3D-B9177F5E51C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32861436" sldId="1262"/>
            <ac:spMk id="8" creationId="{F3E92B4E-A0D6-BF73-ED5A-5C3896852F5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32861436" sldId="1262"/>
            <ac:spMk id="9" creationId="{6549AC4D-4B3B-817D-E7B5-9D163203FF08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183208781" sldId="126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83208781" sldId="1263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83208781" sldId="1263"/>
            <ac:spMk id="3" creationId="{B5F8819F-A2C1-33DA-84C8-F8F7C2F388A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83208781" sldId="1263"/>
            <ac:spMk id="4" creationId="{F24B742B-281B-1355-CAA8-A8CBB8EF1A6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83208781" sldId="1263"/>
            <ac:spMk id="5" creationId="{A6C66AEC-4B4B-11CF-8433-A8F84D81E5E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83208781" sldId="1263"/>
            <ac:spMk id="6" creationId="{C1A3E0A4-EC47-1C0C-44B9-8088AD8B176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83208781" sldId="1263"/>
            <ac:spMk id="7" creationId="{72FF5921-B1D2-19C0-807A-284D98CA135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83208781" sldId="1263"/>
            <ac:spMk id="8" creationId="{1C1134BC-3225-3928-CEEF-131DC291371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83208781" sldId="1263"/>
            <ac:spMk id="9" creationId="{6549AC4D-4B3B-817D-E7B5-9D163203FF0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183208781" sldId="1263"/>
            <ac:spMk id="10" creationId="{3CD5FC2A-F33E-7D5A-E5C5-432367C6242F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936795187" sldId="1264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36795187" sldId="1264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36795187" sldId="1264"/>
            <ac:spMk id="3" creationId="{C6FDF763-F8EE-3A61-00FE-256009C2EE7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36795187" sldId="1264"/>
            <ac:spMk id="4" creationId="{5504784F-645A-8CC5-B214-685392ECBF6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36795187" sldId="1264"/>
            <ac:spMk id="5" creationId="{A6C66AEC-4B4B-11CF-8433-A8F84D81E5E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36795187" sldId="1264"/>
            <ac:spMk id="6" creationId="{EAAC7701-1876-9096-5A17-1C10AF7BFBF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36795187" sldId="1264"/>
            <ac:spMk id="8" creationId="{F9B67B42-00F3-321C-B45C-147ACDAC42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36795187" sldId="1264"/>
            <ac:spMk id="9" creationId="{6549AC4D-4B3B-817D-E7B5-9D163203FF08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996358784" sldId="1265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96358784" sldId="1265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96358784" sldId="1265"/>
            <ac:spMk id="3" creationId="{C6FDF763-F8EE-3A61-00FE-256009C2EE7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96358784" sldId="1265"/>
            <ac:spMk id="4" creationId="{ACDA1B46-2A6C-3B15-708C-84050E68EFC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96358784" sldId="1265"/>
            <ac:spMk id="5" creationId="{A6C66AEC-4B4B-11CF-8433-A8F84D81E5E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96358784" sldId="1265"/>
            <ac:spMk id="9" creationId="{6549AC4D-4B3B-817D-E7B5-9D163203FF08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359825573" sldId="1266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359825573" sldId="1266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359825573" sldId="1266"/>
            <ac:spMk id="3" creationId="{FEAB2553-946E-669C-82B2-050F35B8DB3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359825573" sldId="1266"/>
            <ac:spMk id="4" creationId="{8B575C6F-FC5F-EC09-25BF-CC1167688F6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359825573" sldId="1266"/>
            <ac:spMk id="5" creationId="{4B911A0C-DE82-0A26-B215-587D6D483701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108429211" sldId="126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08429211" sldId="1267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08429211" sldId="1267"/>
            <ac:spMk id="3" creationId="{FEAB2553-946E-669C-82B2-050F35B8DB3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08429211" sldId="1267"/>
            <ac:spMk id="5" creationId="{4B911A0C-DE82-0A26-B215-587D6D48370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108429211" sldId="1267"/>
            <ac:spMk id="6" creationId="{BE9080B1-6355-85C9-4CFF-67FCE29FB2E7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655504157" sldId="1268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55504157" sldId="1268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55504157" sldId="1268"/>
            <ac:spMk id="5" creationId="{4B911A0C-DE82-0A26-B215-587D6D48370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55504157" sldId="1268"/>
            <ac:spMk id="9" creationId="{4FAE668F-CBEF-4682-6873-EF6197483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55504157" sldId="1268"/>
            <ac:spMk id="10" creationId="{D6445723-4C59-6F20-000B-5446C1A438E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55504157" sldId="1268"/>
            <ac:spMk id="11" creationId="{99A7D927-C51F-858A-BACE-D7EC00239A1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55504157" sldId="1268"/>
            <ac:spMk id="13" creationId="{C6A45F4C-3535-2051-C88A-AA179D3C776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55504157" sldId="1268"/>
            <ac:spMk id="14" creationId="{40C26A75-F641-8D84-02FD-736BB52C6D6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55504157" sldId="1268"/>
            <ac:spMk id="15" creationId="{84053469-F28E-9AD9-7F44-B5A638CB08F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55504157" sldId="1268"/>
            <ac:spMk id="16" creationId="{81D7B4F5-3E95-DDFE-4CCB-A16912D42A6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655504157" sldId="1268"/>
            <ac:spMk id="18" creationId="{7028EF18-A38A-669E-7046-964840E86157}"/>
          </ac:spMkLst>
        </pc:spChg>
      </pc:sldChg>
      <pc:sldChg chg="modSp mod modAnim">
        <pc:chgData name="Dong Xi" userId="57f222e0-cbf6-450b-8272-f31ae8fad45d" providerId="ADAL" clId="{70AB51CC-1E3D-414C-A0A6-4D5F4391DC17}" dt="2026-06-04T01:56:25.680" v="47"/>
        <pc:sldMkLst>
          <pc:docMk/>
          <pc:sldMk cId="1267289078" sldId="1269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67289078" sldId="1269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67289078" sldId="1269"/>
            <ac:spMk id="3" creationId="{FEAB2553-946E-669C-82B2-050F35B8DB3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67289078" sldId="1269"/>
            <ac:spMk id="5" creationId="{4B911A0C-DE82-0A26-B215-587D6D48370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67289078" sldId="1269"/>
            <ac:spMk id="8" creationId="{55F6CCE2-7199-0B63-3BD8-878B2246ECC4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208221053" sldId="1271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08221053" sldId="1271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08221053" sldId="1271"/>
            <ac:spMk id="3" creationId="{FEAB2553-946E-669C-82B2-050F35B8DB3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08221053" sldId="1271"/>
            <ac:spMk id="5" creationId="{4B911A0C-DE82-0A26-B215-587D6D48370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08221053" sldId="1271"/>
            <ac:spMk id="8" creationId="{87A5AB26-FDED-31DE-B548-E125ADEA4F2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08221053" sldId="1271"/>
            <ac:spMk id="12" creationId="{3D2A2AB9-5CF5-19D4-EF8A-5EC9B275A0FA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051903628" sldId="127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51903628" sldId="1273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51903628" sldId="1273"/>
            <ac:spMk id="3" creationId="{FEAB2553-946E-669C-82B2-050F35B8DB3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51903628" sldId="1273"/>
            <ac:spMk id="4" creationId="{E05F8BB8-FD73-0159-9FB2-5F75AC3C8E5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51903628" sldId="1273"/>
            <ac:spMk id="5" creationId="{4B911A0C-DE82-0A26-B215-587D6D483701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439130915" sldId="1274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39130915" sldId="1274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39130915" sldId="1274"/>
            <ac:spMk id="3" creationId="{5246836C-27A6-BC72-A4F0-B2D7086A70A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39130915" sldId="1274"/>
            <ac:spMk id="5" creationId="{4B911A0C-DE82-0A26-B215-587D6D48370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39130915" sldId="1274"/>
            <ac:spMk id="12" creationId="{270D48DF-DA5A-FDDC-18DD-BE5B5FF57D2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39130915" sldId="1274"/>
            <ac:spMk id="13" creationId="{61B9D38B-C0B8-B711-6AD8-7C42A8EB319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39130915" sldId="1274"/>
            <ac:spMk id="14" creationId="{6E61ED22-340E-FEDA-A930-034C13358F4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39130915" sldId="1274"/>
            <ac:spMk id="15" creationId="{7772F531-1658-17CE-49BD-4CDC5478957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39130915" sldId="1274"/>
            <ac:spMk id="16" creationId="{32843256-F0A7-4721-93FE-74C3CE3CBC4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39130915" sldId="1274"/>
            <ac:spMk id="17" creationId="{BE1DD43D-9BF1-8C64-C7C5-AC93045AB1F9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715785335" sldId="1275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715785335" sldId="1275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715785335" sldId="1275"/>
            <ac:spMk id="3" creationId="{FEAB2553-946E-669C-82B2-050F35B8DB3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715785335" sldId="1275"/>
            <ac:spMk id="4" creationId="{612FBE2B-CC5B-80F4-A315-6C7B9AD7A02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715785335" sldId="1275"/>
            <ac:spMk id="5" creationId="{4B911A0C-DE82-0A26-B215-587D6D483701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020057867" sldId="1276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20057867" sldId="1276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20057867" sldId="1276"/>
            <ac:spMk id="3" creationId="{FD988560-DCBD-A42D-844D-41F422D9D00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20057867" sldId="1276"/>
            <ac:spMk id="4" creationId="{C277BF03-79B4-A3AC-D6FF-559B0D126BB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20057867" sldId="1276"/>
            <ac:spMk id="5" creationId="{4B911A0C-DE82-0A26-B215-587D6D48370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20057867" sldId="1276"/>
            <ac:spMk id="6" creationId="{A7822E53-2CB4-8C4F-EEFE-4CC5C8D84E8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20057867" sldId="1276"/>
            <ac:spMk id="8" creationId="{F1F26CDC-81D1-C322-C698-7E07BE5428D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20057867" sldId="1276"/>
            <ac:spMk id="9" creationId="{FEA7E236-DC72-6175-D9FD-E13BD1FA73D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20057867" sldId="1276"/>
            <ac:spMk id="14" creationId="{A8091BEE-EFDA-8619-E2FA-9BAFE4F304B9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648316921" sldId="127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648316921" sldId="1277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648316921" sldId="1277"/>
            <ac:spMk id="3" creationId="{4CE93789-C360-04DD-19B7-66C428348CC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648316921" sldId="1277"/>
            <ac:spMk id="5" creationId="{4B911A0C-DE82-0A26-B215-587D6D48370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648316921" sldId="1277"/>
            <ac:spMk id="10" creationId="{0E3CD475-84DC-1AC9-D0AA-914B3FF17EBC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361218452" sldId="1278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361218452" sldId="1278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361218452" sldId="1278"/>
            <ac:spMk id="3" creationId="{1079FA92-CA1C-8C31-9283-AEC1D4C7613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361218452" sldId="1278"/>
            <ac:spMk id="5" creationId="{4B911A0C-DE82-0A26-B215-587D6D483701}"/>
          </ac:spMkLst>
        </pc:spChg>
        <pc:graphicFrameChg chg="modGraphic">
          <ac:chgData name="Dong Xi" userId="57f222e0-cbf6-450b-8272-f31ae8fad45d" providerId="ADAL" clId="{70AB51CC-1E3D-414C-A0A6-4D5F4391DC17}" dt="2026-06-04T01:51:14.885" v="22" actId="790"/>
          <ac:graphicFrameMkLst>
            <pc:docMk/>
            <pc:sldMk cId="1361218452" sldId="1278"/>
            <ac:graphicFrameMk id="6" creationId="{0061C82C-0916-7F8A-FF20-2E339569BD9C}"/>
          </ac:graphicFrameMkLst>
        </pc:graphicFrameChg>
      </pc:sldChg>
      <pc:sldChg chg="modSp mod">
        <pc:chgData name="Dong Xi" userId="57f222e0-cbf6-450b-8272-f31ae8fad45d" providerId="ADAL" clId="{70AB51CC-1E3D-414C-A0A6-4D5F4391DC17}" dt="2026-06-04T03:11:24.672" v="60" actId="20577"/>
        <pc:sldMkLst>
          <pc:docMk/>
          <pc:sldMk cId="2004004040" sldId="1279"/>
        </pc:sldMkLst>
        <pc:spChg chg="mod">
          <ac:chgData name="Dong Xi" userId="57f222e0-cbf6-450b-8272-f31ae8fad45d" providerId="ADAL" clId="{70AB51CC-1E3D-414C-A0A6-4D5F4391DC17}" dt="2026-06-04T03:11:24.672" v="60" actId="20577"/>
          <ac:spMkLst>
            <pc:docMk/>
            <pc:sldMk cId="2004004040" sldId="1279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04004040" sldId="1279"/>
            <ac:spMk id="3" creationId="{A90A451D-EC29-5BA3-750C-D1F2A89E321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04004040" sldId="1279"/>
            <ac:spMk id="5" creationId="{4B911A0C-DE82-0A26-B215-587D6D48370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04004040" sldId="1279"/>
            <ac:spMk id="9" creationId="{9A22DCC8-94F5-B4A7-E364-C832D3A2EE91}"/>
          </ac:spMkLst>
        </pc:spChg>
        <pc:graphicFrameChg chg="modGraphic">
          <ac:chgData name="Dong Xi" userId="57f222e0-cbf6-450b-8272-f31ae8fad45d" providerId="ADAL" clId="{70AB51CC-1E3D-414C-A0A6-4D5F4391DC17}" dt="2026-06-04T01:51:14.885" v="22" actId="790"/>
          <ac:graphicFrameMkLst>
            <pc:docMk/>
            <pc:sldMk cId="2004004040" sldId="1279"/>
            <ac:graphicFrameMk id="8" creationId="{A8A25C8F-A5EC-546D-EFC7-0852C8ED1C77}"/>
          </ac:graphicFrameMkLst>
        </pc:graphicFrame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222895004" sldId="1280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22895004" sldId="1280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22895004" sldId="1280"/>
            <ac:spMk id="3" creationId="{F2A066D2-F42E-8198-42B5-920D5EF58E3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22895004" sldId="1280"/>
            <ac:spMk id="5" creationId="{A6C66AEC-4B4B-11CF-8433-A8F84D81E5E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22895004" sldId="1280"/>
            <ac:spMk id="8" creationId="{91A498DC-1F05-087D-3844-0DFBE213463A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940176535" sldId="1281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40176535" sldId="1281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40176535" sldId="1281"/>
            <ac:spMk id="3" creationId="{063804CF-E195-BEB1-AC9D-08628CC3E24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40176535" sldId="1281"/>
            <ac:spMk id="4" creationId="{B92F25BC-F86A-439D-9C9C-E9257D09E55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40176535" sldId="1281"/>
            <ac:spMk id="5" creationId="{A6C66AEC-4B4B-11CF-8433-A8F84D81E5E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40176535" sldId="1281"/>
            <ac:spMk id="8" creationId="{91A498DC-1F05-087D-3844-0DFBE213463A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235811649" sldId="1282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35811649" sldId="1282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35811649" sldId="1282"/>
            <ac:spMk id="3" creationId="{063804CF-E195-BEB1-AC9D-08628CC3E24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35811649" sldId="1282"/>
            <ac:spMk id="4" creationId="{DAB14FBC-14F2-4A5C-F300-AEB5F4D0106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35811649" sldId="1282"/>
            <ac:spMk id="5" creationId="{A6C66AEC-4B4B-11CF-8433-A8F84D81E5E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35811649" sldId="1282"/>
            <ac:spMk id="6" creationId="{21B43666-BF82-C5AF-684E-CF0D1408FA2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235811649" sldId="1282"/>
            <ac:spMk id="8" creationId="{91A498DC-1F05-087D-3844-0DFBE213463A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610167468" sldId="128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610167468" sldId="1283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610167468" sldId="1283"/>
            <ac:spMk id="3" creationId="{063804CF-E195-BEB1-AC9D-08628CC3E24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610167468" sldId="1283"/>
            <ac:spMk id="4" creationId="{8C764646-008E-F5BF-0A71-335ACE4DC1B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610167468" sldId="1283"/>
            <ac:spMk id="5" creationId="{A6C66AEC-4B4B-11CF-8433-A8F84D81E5E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610167468" sldId="1283"/>
            <ac:spMk id="7" creationId="{469B66D6-A8BA-5344-1149-C5862395A5B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610167468" sldId="1283"/>
            <ac:spMk id="8" creationId="{91A498DC-1F05-087D-3844-0DFBE213463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610167468" sldId="1283"/>
            <ac:spMk id="9" creationId="{D335D11E-13DE-2F11-161D-B57E3B7C5EC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610167468" sldId="1283"/>
            <ac:spMk id="12" creationId="{DF4163D1-DC58-EA53-47D7-6443EB59CAA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610167468" sldId="1283"/>
            <ac:spMk id="14" creationId="{EC5BD5D7-BE52-D506-F215-CA514AF3F5C4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760880559" sldId="1284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60880559" sldId="1284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60880559" sldId="1284"/>
            <ac:spMk id="3" creationId="{FEAB2553-946E-669C-82B2-050F35B8DB3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60880559" sldId="1284"/>
            <ac:spMk id="4" creationId="{25AEB002-DDAF-15B9-6F7A-B05B8395BDD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760880559" sldId="1284"/>
            <ac:spMk id="5" creationId="{4B911A0C-DE82-0A26-B215-587D6D483701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051462329" sldId="1285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51462329" sldId="1285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51462329" sldId="1285"/>
            <ac:spMk id="3" creationId="{FD988560-DCBD-A42D-844D-41F422D9D00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51462329" sldId="1285"/>
            <ac:spMk id="4" creationId="{C277BF03-79B4-A3AC-D6FF-559B0D126BB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51462329" sldId="1285"/>
            <ac:spMk id="5" creationId="{4B911A0C-DE82-0A26-B215-587D6D48370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51462329" sldId="1285"/>
            <ac:spMk id="6" creationId="{A7822E53-2CB4-8C4F-EEFE-4CC5C8D84E8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51462329" sldId="1285"/>
            <ac:spMk id="8" creationId="{B33B92DD-6C0B-9AB0-B5A5-6A9F3CF0940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51462329" sldId="1285"/>
            <ac:spMk id="11" creationId="{114BA7F9-04C2-9228-5471-559C56C50DD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051462329" sldId="1285"/>
            <ac:spMk id="14" creationId="{A8091BEE-EFDA-8619-E2FA-9BAFE4F304B9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249795225" sldId="1286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49795225" sldId="1286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49795225" sldId="1286"/>
            <ac:spMk id="3" creationId="{063804CF-E195-BEB1-AC9D-08628CC3E24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49795225" sldId="1286"/>
            <ac:spMk id="4" creationId="{A347C6AA-407C-008B-FCCB-B2AA708C754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49795225" sldId="1286"/>
            <ac:spMk id="5" creationId="{A6C66AEC-4B4B-11CF-8433-A8F84D81E5E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249795225" sldId="1286"/>
            <ac:spMk id="8" creationId="{91A498DC-1F05-087D-3844-0DFBE213463A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046707739" sldId="128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46707739" sldId="1287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46707739" sldId="1287"/>
            <ac:spMk id="3" creationId="{063804CF-E195-BEB1-AC9D-08628CC3E24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46707739" sldId="1287"/>
            <ac:spMk id="4" creationId="{02CCC4A0-89F4-BDB5-C20F-A8DF447B1C0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46707739" sldId="1287"/>
            <ac:spMk id="5" creationId="{A6C66AEC-4B4B-11CF-8433-A8F84D81E5E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46707739" sldId="1287"/>
            <ac:spMk id="6" creationId="{30B1BAD9-2DC4-13BB-B2DE-478D5860879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46707739" sldId="1287"/>
            <ac:spMk id="8" creationId="{91A498DC-1F05-087D-3844-0DFBE213463A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854978056" sldId="1289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854978056" sldId="1289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854978056" sldId="1289"/>
            <ac:spMk id="3" creationId="{645A9E87-9903-D137-5305-0744D175B53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854978056" sldId="1289"/>
            <ac:spMk id="5" creationId="{3E8EF11C-AA5F-EA6B-116F-F6F8233A967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854978056" sldId="1289"/>
            <ac:spMk id="7" creationId="{BF25C4B3-ED6A-8A15-EA36-18805FDA6C19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010645315" sldId="1290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10645315" sldId="1290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10645315" sldId="1290"/>
            <ac:spMk id="3" creationId="{FEAB2553-946E-669C-82B2-050F35B8DB3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10645315" sldId="1290"/>
            <ac:spMk id="4" creationId="{C4016A84-B22E-9892-B927-40A237E12B5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10645315" sldId="1290"/>
            <ac:spMk id="5" creationId="{4B911A0C-DE82-0A26-B215-587D6D483701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871227770" sldId="1292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871227770" sldId="1292"/>
            <ac:spMk id="2" creationId="{7A1FD10E-DC99-E6E0-BF3D-BB826AD6655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871227770" sldId="1292"/>
            <ac:spMk id="3" creationId="{F1F9ECBF-9F45-3BCA-C846-517DB0077E9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871227770" sldId="1292"/>
            <ac:spMk id="4" creationId="{7445335B-A3DF-60D4-606E-982DA1CCECF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871227770" sldId="1292"/>
            <ac:spMk id="6" creationId="{8AC518BA-197C-B21C-9265-24F0ED31F5E5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734195498" sldId="129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734195498" sldId="1293"/>
            <ac:spMk id="2" creationId="{A1153710-26AC-2C08-2794-72AE54EC5E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734195498" sldId="1293"/>
            <ac:spMk id="3" creationId="{F11A466D-0BE5-8880-8FA5-8149483973D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734195498" sldId="1293"/>
            <ac:spMk id="4" creationId="{C6859268-826B-56D4-CE55-ED56863155B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734195498" sldId="1293"/>
            <ac:spMk id="6" creationId="{D0BA2C27-9AC6-7F3A-A7EB-B02E68F2CDA5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225358860" sldId="1294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25358860" sldId="1294"/>
            <ac:spMk id="2" creationId="{E9FDF57F-8AE3-B6D1-7DAD-B67A5A3CB71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25358860" sldId="1294"/>
            <ac:spMk id="3" creationId="{07A259D2-34A5-2F63-8813-9D9B498C5CE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25358860" sldId="1294"/>
            <ac:spMk id="4" creationId="{387072DE-FD33-5D13-B509-7C581D1B0ED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25358860" sldId="1294"/>
            <ac:spMk id="6" creationId="{EFAFA027-BE60-5F73-F5F2-E4E204759D1F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557189005" sldId="1295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57189005" sldId="1295"/>
            <ac:spMk id="2" creationId="{E8EBC817-AA3C-EE57-ECB9-364B809B2FF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57189005" sldId="1295"/>
            <ac:spMk id="3" creationId="{CB9C9171-DC2C-B06C-745A-AEBD5CCDE7F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57189005" sldId="1295"/>
            <ac:spMk id="4" creationId="{70848A9A-F667-6FD3-505C-BDE18EC32AE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57189005" sldId="1295"/>
            <ac:spMk id="5" creationId="{15364BA6-D517-5772-2D1F-EE4895DFA07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57189005" sldId="1295"/>
            <ac:spMk id="6" creationId="{DD5A30F6-B45F-A3D9-AB9D-B873D68CDC6E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904716948" sldId="1296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04716948" sldId="1296"/>
            <ac:spMk id="2" creationId="{C6BA4554-5981-6C23-EA47-43CBB672AD8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04716948" sldId="1296"/>
            <ac:spMk id="3" creationId="{1E425BBC-A2BC-51E5-0173-200DCFCF088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04716948" sldId="1296"/>
            <ac:spMk id="4" creationId="{3D83B225-16C1-D107-F710-46C17432B9F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04716948" sldId="1296"/>
            <ac:spMk id="5" creationId="{064DE043-1D17-9576-AFD9-D15CF869495A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901841564" sldId="129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01841564" sldId="1297"/>
            <ac:spMk id="2" creationId="{C295648F-D2E4-868C-3C32-3B76C98CC8D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01841564" sldId="1297"/>
            <ac:spMk id="3" creationId="{629D5418-6816-468E-8E83-12B3A39E65F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01841564" sldId="1297"/>
            <ac:spMk id="4" creationId="{085DEB56-ACEE-F31F-6363-5D116B76D97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01841564" sldId="1297"/>
            <ac:spMk id="5" creationId="{B6A52851-E3DD-E03C-8476-7686907B02C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01841564" sldId="1297"/>
            <ac:spMk id="6" creationId="{312ADF00-28D1-ADBE-1BEE-6FEFD212248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01841564" sldId="1297"/>
            <ac:spMk id="7" creationId="{8B46F9FD-3F1B-AA9E-0909-E82D5E692C5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901841564" sldId="1297"/>
            <ac:spMk id="8" creationId="{CD4C4E47-ADF9-6FF0-A2AE-AE61E4CFC027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32573612" sldId="1298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32573612" sldId="1298"/>
            <ac:spMk id="2" creationId="{EC2D7562-C7FF-8718-D2FC-E2EDA2617EA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32573612" sldId="1298"/>
            <ac:spMk id="3" creationId="{8CA0BDE0-A450-180D-B8E8-56E872C50DE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32573612" sldId="1298"/>
            <ac:spMk id="4" creationId="{1FE3F4BB-DCE1-552A-FC03-16D607919BC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32573612" sldId="1298"/>
            <ac:spMk id="5" creationId="{2863B01D-ABA9-6078-9C1D-6E99B8BD133F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500256444" sldId="1299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00256444" sldId="1299"/>
            <ac:spMk id="2" creationId="{7C180870-43C9-D642-E5FF-2C2F16526D9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00256444" sldId="1299"/>
            <ac:spMk id="3" creationId="{B8877E51-9E50-7B82-6BD9-53602008304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00256444" sldId="1299"/>
            <ac:spMk id="4" creationId="{1085F787-03DF-074E-031C-8705AC5A4A0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500256444" sldId="1299"/>
            <ac:spMk id="5" creationId="{0BE31F53-BEF9-097B-3231-34EFE197E59F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793056611" sldId="1300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793056611" sldId="1300"/>
            <ac:spMk id="2" creationId="{438C37EF-2871-31F4-8F71-6E4A15EE041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793056611" sldId="1300"/>
            <ac:spMk id="3" creationId="{562BA6B5-90FB-6AAA-AAB3-517745F0AED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793056611" sldId="1300"/>
            <ac:spMk id="4" creationId="{1F07933D-E471-CAC6-D111-0082A3D1979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793056611" sldId="1300"/>
            <ac:spMk id="6" creationId="{A5CB09A6-B329-AD86-4922-53C53D669FFB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928622132" sldId="1301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28622132" sldId="1301"/>
            <ac:spMk id="2" creationId="{79E1608C-8A51-4FDE-92AC-1044A1A82DE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28622132" sldId="1301"/>
            <ac:spMk id="3" creationId="{1AAFE647-A3A0-2A88-7911-590C598C2C6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28622132" sldId="1301"/>
            <ac:spMk id="4" creationId="{80B26CA9-1D15-64A0-EA5E-744F5A3B307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28622132" sldId="1301"/>
            <ac:spMk id="5" creationId="{43D9BF69-71E0-7FFF-5384-E26463DF4B13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078499002" sldId="1302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78499002" sldId="1302"/>
            <ac:spMk id="2" creationId="{84353E22-1157-6B98-9408-DCA243C67DA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78499002" sldId="1302"/>
            <ac:spMk id="3" creationId="{5FDC138E-F4DD-AF2D-F1F6-807FFE4053D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78499002" sldId="1302"/>
            <ac:spMk id="33" creationId="{6626C74D-B200-5F97-AF03-0FCCDE717CB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78499002" sldId="1302"/>
            <ac:spMk id="36" creationId="{F95767DE-EB30-B801-4B4A-5BA58525E76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78499002" sldId="1302"/>
            <ac:spMk id="37" creationId="{52F51BE6-3CDE-E48B-3687-30717C7C638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78499002" sldId="1302"/>
            <ac:spMk id="38" creationId="{8B546976-B0FB-4E6C-83A6-57791F85B7C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78499002" sldId="1302"/>
            <ac:spMk id="39" creationId="{CA0215D6-28B4-997C-624D-5F811498DAB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78499002" sldId="1302"/>
            <ac:spMk id="41" creationId="{46824F28-CE44-FD0B-0FCA-4E9B1C77E36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78499002" sldId="1302"/>
            <ac:spMk id="42" creationId="{2FB5D2A2-99C5-29F3-8206-D6289FD607F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078499002" sldId="1302"/>
            <ac:spMk id="43" creationId="{F15B4E76-0654-9E4A-0705-BBF580ADED17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485315253" sldId="130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85315253" sldId="1303"/>
            <ac:spMk id="2" creationId="{4F648400-F6C0-A92B-4FA3-BE0B6964177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85315253" sldId="1303"/>
            <ac:spMk id="3" creationId="{8E4F1CC7-6955-452C-BF99-33858F6704D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85315253" sldId="1303"/>
            <ac:spMk id="4" creationId="{E2C9E742-CD74-3A05-14F1-C5D59E23025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485315253" sldId="1303"/>
            <ac:spMk id="6" creationId="{6AB8834B-5154-A323-EC84-4C1BB9BBAAE1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82694265" sldId="130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2694265" sldId="1307"/>
            <ac:spMk id="2" creationId="{3C951E86-280D-7D71-378E-1CDFBF1F6C7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2694265" sldId="1307"/>
            <ac:spMk id="4" creationId="{E634F628-886B-3E59-162B-11DAE3D9023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2694265" sldId="1307"/>
            <ac:spMk id="6" creationId="{F353E6D1-B21E-7095-F747-333D65D79FE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2694265" sldId="1307"/>
            <ac:spMk id="11" creationId="{87B88630-52AE-8AF3-20AA-5C23666D116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2694265" sldId="1307"/>
            <ac:spMk id="14" creationId="{4E772BC2-3CD1-DC54-BCFF-6B61ABABF3B4}"/>
          </ac:spMkLst>
        </pc:spChg>
        <pc:graphicFrameChg chg="modGraphic">
          <ac:chgData name="Dong Xi" userId="57f222e0-cbf6-450b-8272-f31ae8fad45d" providerId="ADAL" clId="{70AB51CC-1E3D-414C-A0A6-4D5F4391DC17}" dt="2026-06-04T01:51:14.885" v="22" actId="790"/>
          <ac:graphicFrameMkLst>
            <pc:docMk/>
            <pc:sldMk cId="282694265" sldId="1307"/>
            <ac:graphicFrameMk id="7" creationId="{0576C0B0-264E-C5ED-3A20-8574C5215BD4}"/>
          </ac:graphicFrameMkLst>
        </pc:graphicFrame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81779699" sldId="1311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1779699" sldId="1311"/>
            <ac:spMk id="2" creationId="{C55CFA6B-9053-F81D-33DF-D47529979E8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1779699" sldId="1311"/>
            <ac:spMk id="4" creationId="{565866D4-428D-2CA1-3386-D111A64EE14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1779699" sldId="1311"/>
            <ac:spMk id="6" creationId="{580185A9-3EEB-9787-A7B3-6667453F87F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1779699" sldId="1311"/>
            <ac:spMk id="8" creationId="{5E95CE25-284D-A746-C6E3-81FCD13E4C5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1779699" sldId="1311"/>
            <ac:spMk id="15" creationId="{2A861A6F-2526-781D-B478-A06EEF69A14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1779699" sldId="1311"/>
            <ac:spMk id="21" creationId="{52899284-F22B-B684-98AE-30EE68DB4D0F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938893080" sldId="1312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38893080" sldId="1312"/>
            <ac:spMk id="2" creationId="{FA9508ED-1A39-340F-46DE-6FC58D82377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38893080" sldId="1312"/>
            <ac:spMk id="4" creationId="{54299658-894A-6E25-F0E4-BD63F978DC2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38893080" sldId="1312"/>
            <ac:spMk id="5" creationId="{201EC964-0148-9A9B-AB8E-C6F3D8E1F07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38893080" sldId="1312"/>
            <ac:spMk id="6" creationId="{971F79D4-316C-C92E-B991-D14ACBFB75B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38893080" sldId="1312"/>
            <ac:spMk id="8" creationId="{0DB2A9DE-D7DF-724E-2C1C-87975A713709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320056037" sldId="1313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320056037" sldId="1313"/>
            <ac:spMk id="2" creationId="{7FA39415-3AFC-3FF5-B9AD-1F8598C08CE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320056037" sldId="1313"/>
            <ac:spMk id="4" creationId="{ADBC2097-D6AB-954F-49D7-266A6455DD7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320056037" sldId="1313"/>
            <ac:spMk id="6" creationId="{E63345A0-5F9D-8E4E-CA1C-68DBF6D2EF87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320056037" sldId="1313"/>
            <ac:spMk id="7" creationId="{D0F0A758-FC52-235A-B3DE-BB965B3D09B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320056037" sldId="1313"/>
            <ac:spMk id="17" creationId="{11B3664F-DC0D-F24D-F03F-DEFA0B325EC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320056037" sldId="1313"/>
            <ac:spMk id="18" creationId="{64B5DF5B-358A-EA27-AD92-421A6925AC8C}"/>
          </ac:spMkLst>
        </pc:spChg>
      </pc:sldChg>
      <pc:sldChg chg="modSp mod">
        <pc:chgData name="Dong Xi" userId="57f222e0-cbf6-450b-8272-f31ae8fad45d" providerId="ADAL" clId="{70AB51CC-1E3D-414C-A0A6-4D5F4391DC17}" dt="2026-06-04T01:54:09.387" v="44" actId="1035"/>
        <pc:sldMkLst>
          <pc:docMk/>
          <pc:sldMk cId="2868534457" sldId="1314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68534457" sldId="1314"/>
            <ac:spMk id="2" creationId="{E7A78EAB-3595-A84D-B99B-BFFB29B9C642}"/>
          </ac:spMkLst>
        </pc:spChg>
        <pc:spChg chg="mod">
          <ac:chgData name="Dong Xi" userId="57f222e0-cbf6-450b-8272-f31ae8fad45d" providerId="ADAL" clId="{70AB51CC-1E3D-414C-A0A6-4D5F4391DC17}" dt="2026-06-04T01:54:09.387" v="44" actId="1035"/>
          <ac:spMkLst>
            <pc:docMk/>
            <pc:sldMk cId="2868534457" sldId="1314"/>
            <ac:spMk id="3" creationId="{1DD0F0A0-F8F1-0896-5A86-5FBCADED152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68534457" sldId="1314"/>
            <ac:spMk id="4" creationId="{24299145-8E3A-E417-654D-25F1E0D20A1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68534457" sldId="1314"/>
            <ac:spMk id="5" creationId="{B31F2CB3-989A-45AB-F2BB-07F5E6FAE46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68534457" sldId="1314"/>
            <ac:spMk id="9" creationId="{EE723930-B601-ABAA-FEAD-CB2E0560357A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051369732" sldId="1315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51369732" sldId="1315"/>
            <ac:spMk id="4" creationId="{9EDC92D2-761E-ADAE-399D-893A6D7AA56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51369732" sldId="1315"/>
            <ac:spMk id="6" creationId="{12A81CD5-7350-4F05-0DAD-3976726E7DC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51369732" sldId="1315"/>
            <ac:spMk id="9" creationId="{0304C36F-E44B-5682-A0A1-7F712C6C694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51369732" sldId="1315"/>
            <ac:spMk id="11" creationId="{D7AC903C-04F4-8681-CC5C-35E5F2FDA90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51369732" sldId="1315"/>
            <ac:spMk id="15" creationId="{A08B8459-4FAF-8F34-9E2E-956126B852E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51369732" sldId="1315"/>
            <ac:spMk id="16" creationId="{7C6A6AFB-03CD-B1F6-0366-A548DF02C5C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51369732" sldId="1315"/>
            <ac:spMk id="19" creationId="{72FBC1C6-6C7A-721C-3EFB-C50840B5946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51369732" sldId="1315"/>
            <ac:spMk id="20" creationId="{0D43CE7F-21ED-6E82-0C44-526665C1A90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51369732" sldId="1315"/>
            <ac:spMk id="22" creationId="{7068B3A6-A783-77F9-E90A-A8EE83C7A6D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051369732" sldId="1315"/>
            <ac:spMk id="23" creationId="{2C4FD236-C60E-0B93-ECE1-19049AB561C8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954056470" sldId="131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54056470" sldId="1317"/>
            <ac:spMk id="2" creationId="{ABE4D5D6-2315-02CD-0398-DCE913D9E0A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54056470" sldId="1317"/>
            <ac:spMk id="3" creationId="{31444AB7-0F1A-630D-2B50-E573053C74E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54056470" sldId="1317"/>
            <ac:spMk id="4" creationId="{55BF375C-5C11-6A36-AA1B-E040283161F9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954056470" sldId="1317"/>
            <ac:spMk id="5" creationId="{8FA761BF-7264-7195-D021-670DCC38D847}"/>
          </ac:spMkLst>
        </pc:spChg>
      </pc:sldChg>
      <pc:sldChg chg="modSp mod modAnim">
        <pc:chgData name="Dong Xi" userId="57f222e0-cbf6-450b-8272-f31ae8fad45d" providerId="ADAL" clId="{70AB51CC-1E3D-414C-A0A6-4D5F4391DC17}" dt="2026-06-04T01:56:41.541" v="48"/>
        <pc:sldMkLst>
          <pc:docMk/>
          <pc:sldMk cId="1975069795" sldId="1318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75069795" sldId="1318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75069795" sldId="1318"/>
            <ac:spMk id="3" creationId="{FEAB2553-946E-669C-82B2-050F35B8DB3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75069795" sldId="1318"/>
            <ac:spMk id="5" creationId="{4B911A0C-DE82-0A26-B215-587D6D48370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75069795" sldId="1318"/>
            <ac:spMk id="7" creationId="{4DFF5FEE-34A8-50B8-455D-0A8D8B90F6B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975069795" sldId="1318"/>
            <ac:spMk id="8" creationId="{87A5AB26-FDED-31DE-B548-E125ADEA4F24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878251247" sldId="1319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78251247" sldId="1319"/>
            <ac:spMk id="2" creationId="{BE0AF352-2209-23FE-DD43-EDD7915EA753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78251247" sldId="1319"/>
            <ac:spMk id="10" creationId="{40B07D16-98B4-3DB0-3A2B-EB5180E0CB0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78251247" sldId="1319"/>
            <ac:spMk id="13" creationId="{C33208A0-F2FE-97A4-1FC1-BB6C6494B75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78251247" sldId="1319"/>
            <ac:spMk id="14" creationId="{14B3F179-E2DB-1F92-9DF4-67809097A70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78251247" sldId="1319"/>
            <ac:spMk id="15" creationId="{A8A81CF1-A817-F997-2854-8E0AC3BEEFA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78251247" sldId="1319"/>
            <ac:spMk id="16" creationId="{C10F8D1A-2117-AB7D-B08A-A3E3B3362FC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78251247" sldId="1319"/>
            <ac:spMk id="46" creationId="{9161B5B9-D418-940C-FF24-68DDBA4C502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78251247" sldId="1319"/>
            <ac:spMk id="80" creationId="{3FF654EC-56E9-C7DF-096C-E1E1016F190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78251247" sldId="1319"/>
            <ac:spMk id="83" creationId="{70A5F9E2-78CA-5162-45CF-A0B1960B4EC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878251247" sldId="1319"/>
            <ac:spMk id="92" creationId="{25ADF32E-D616-EBE9-60F4-F887FC832F76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223923012" sldId="1320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3923012" sldId="1320"/>
            <ac:spMk id="2" creationId="{75092FC2-7628-ACE0-6591-42F70A73081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3923012" sldId="1320"/>
            <ac:spMk id="3" creationId="{FEAB2553-946E-669C-82B2-050F35B8DB3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3923012" sldId="1320"/>
            <ac:spMk id="5" creationId="{4B911A0C-DE82-0A26-B215-587D6D48370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3923012" sldId="1320"/>
            <ac:spMk id="7" creationId="{34ACE7D8-2073-0C38-950F-211302915E3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223923012" sldId="1320"/>
            <ac:spMk id="8" creationId="{87A5AB26-FDED-31DE-B548-E125ADEA4F24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3445922518" sldId="1321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445922518" sldId="1321"/>
            <ac:spMk id="2" creationId="{F26ADC35-2954-4E52-BE3F-E02DED7407E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445922518" sldId="1321"/>
            <ac:spMk id="3" creationId="{063804CF-E195-BEB1-AC9D-08628CC3E24C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445922518" sldId="1321"/>
            <ac:spMk id="4" creationId="{436416A6-1F77-E126-315F-645C0BFE418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445922518" sldId="1321"/>
            <ac:spMk id="5" creationId="{A6C66AEC-4B4B-11CF-8433-A8F84D81E5E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445922518" sldId="1321"/>
            <ac:spMk id="6" creationId="{7D2E3755-4BB9-57F2-B17B-B76590B201B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3445922518" sldId="1321"/>
            <ac:spMk id="8" creationId="{91A498DC-1F05-087D-3844-0DFBE213463A}"/>
          </ac:spMkLst>
        </pc:spChg>
      </pc:sldChg>
      <pc:sldChg chg="modSp mod">
        <pc:chgData name="Dong Xi" userId="57f222e0-cbf6-450b-8272-f31ae8fad45d" providerId="ADAL" clId="{70AB51CC-1E3D-414C-A0A6-4D5F4391DC17}" dt="2026-06-04T03:13:20.646" v="63" actId="20577"/>
        <pc:sldMkLst>
          <pc:docMk/>
          <pc:sldMk cId="659038411" sldId="1322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659038411" sldId="1322"/>
            <ac:spMk id="2" creationId="{B5AAD448-18AE-067D-B2B0-247EC915B500}"/>
          </ac:spMkLst>
        </pc:spChg>
        <pc:spChg chg="mod">
          <ac:chgData name="Dong Xi" userId="57f222e0-cbf6-450b-8272-f31ae8fad45d" providerId="ADAL" clId="{70AB51CC-1E3D-414C-A0A6-4D5F4391DC17}" dt="2026-06-04T03:13:20.646" v="63" actId="20577"/>
          <ac:spMkLst>
            <pc:docMk/>
            <pc:sldMk cId="659038411" sldId="1322"/>
            <ac:spMk id="3" creationId="{004C84AC-FBAB-296C-A450-927B8DB6411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659038411" sldId="1322"/>
            <ac:spMk id="4" creationId="{1D84E8F6-E9DD-2471-E9BB-D2C6C75FEDA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659038411" sldId="1322"/>
            <ac:spMk id="5" creationId="{31EAF2CB-39BD-208C-6CFA-3C8544C3A002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556832466" sldId="1324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556832466" sldId="1324"/>
            <ac:spMk id="2" creationId="{48E932AD-14C8-4D83-0F55-5FA80F77DA0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556832466" sldId="1324"/>
            <ac:spMk id="3" creationId="{E3040230-3D19-7A6D-0D4D-DA5A0A7339DF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556832466" sldId="1324"/>
            <ac:spMk id="5" creationId="{AD6CCFA8-5A1F-16AE-D3C2-FA0B84B6C56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556832466" sldId="1324"/>
            <ac:spMk id="8" creationId="{C421ECAB-4743-F1C6-247F-0F2BD49F4F60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556832466" sldId="1324"/>
            <ac:spMk id="10" creationId="{F4351095-4FCA-043B-86D6-543C8E129732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4136747490" sldId="1325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136747490" sldId="1325"/>
            <ac:spMk id="2" creationId="{850EF08F-F99C-1F0C-8002-AABD95AB4DE5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136747490" sldId="1325"/>
            <ac:spMk id="3" creationId="{88A76538-7C61-66AD-98CB-3A74F297439E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136747490" sldId="1325"/>
            <ac:spMk id="4" creationId="{8A20D65F-E4F2-80ED-B37E-6B1333D31352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136747490" sldId="1325"/>
            <ac:spMk id="5" creationId="{65245135-4A7C-E76B-788A-0D03B1D5C886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136747490" sldId="1325"/>
            <ac:spMk id="6" creationId="{FEC14F75-2FAA-66C3-5D7B-FF644CF091DA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4136747490" sldId="1325"/>
            <ac:spMk id="10" creationId="{DD1293CF-3628-5B17-1ADB-0D25725D00F9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547657009" sldId="1326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547657009" sldId="1326"/>
            <ac:spMk id="2" creationId="{C63537C2-DC82-1C2D-5621-A43547E42204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547657009" sldId="1326"/>
            <ac:spMk id="3" creationId="{E688FD83-13F8-2F43-3FEC-821D0E775838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547657009" sldId="1326"/>
            <ac:spMk id="4" creationId="{97FC5997-5FD5-19A7-2F70-E509A91207AD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547657009" sldId="1326"/>
            <ac:spMk id="6" creationId="{B67665DE-C3CC-9B9C-C972-B862A13D9B86}"/>
          </ac:spMkLst>
        </pc:spChg>
      </pc:sldChg>
      <pc:sldChg chg="modSp mod">
        <pc:chgData name="Dong Xi" userId="57f222e0-cbf6-450b-8272-f31ae8fad45d" providerId="ADAL" clId="{70AB51CC-1E3D-414C-A0A6-4D5F4391DC17}" dt="2026-06-04T01:51:14.885" v="22" actId="790"/>
        <pc:sldMkLst>
          <pc:docMk/>
          <pc:sldMk cId="1541057227" sldId="1327"/>
        </pc:sldMkLst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541057227" sldId="1327"/>
            <ac:spMk id="2" creationId="{E9F12B5A-53B4-F4F5-41D9-BE728380D8DB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541057227" sldId="1327"/>
            <ac:spMk id="3" creationId="{A96A0988-AF3E-CC3D-8070-70477C0624A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541057227" sldId="1327"/>
            <ac:spMk id="4" creationId="{D71ECA6D-93DC-9DEA-3F9E-D1FDF9738041}"/>
          </ac:spMkLst>
        </pc:spChg>
        <pc:spChg chg="mod">
          <ac:chgData name="Dong Xi" userId="57f222e0-cbf6-450b-8272-f31ae8fad45d" providerId="ADAL" clId="{70AB51CC-1E3D-414C-A0A6-4D5F4391DC17}" dt="2026-06-04T01:51:14.885" v="22" actId="790"/>
          <ac:spMkLst>
            <pc:docMk/>
            <pc:sldMk cId="1541057227" sldId="1327"/>
            <ac:spMk id="6" creationId="{6D0EE067-7B25-1992-DE08-047E518D813A}"/>
          </ac:spMkLst>
        </pc:spChg>
      </pc:sldChg>
      <pc:sldMasterChg chg="modSldLayout">
        <pc:chgData name="Dong Xi" userId="57f222e0-cbf6-450b-8272-f31ae8fad45d" providerId="ADAL" clId="{70AB51CC-1E3D-414C-A0A6-4D5F4391DC17}" dt="2026-06-03T17:31:20.438" v="9" actId="20577"/>
        <pc:sldMasterMkLst>
          <pc:docMk/>
          <pc:sldMasterMk cId="4267438884" sldId="2147483681"/>
        </pc:sldMasterMkLst>
        <pc:sldLayoutChg chg="modSp mod">
          <pc:chgData name="Dong Xi" userId="57f222e0-cbf6-450b-8272-f31ae8fad45d" providerId="ADAL" clId="{70AB51CC-1E3D-414C-A0A6-4D5F4391DC17}" dt="2026-06-03T17:31:20.438" v="9" actId="20577"/>
          <pc:sldLayoutMkLst>
            <pc:docMk/>
            <pc:sldMasterMk cId="4267438884" sldId="2147483681"/>
            <pc:sldLayoutMk cId="671992151" sldId="2147483683"/>
          </pc:sldLayoutMkLst>
          <pc:spChg chg="mod">
            <ac:chgData name="Dong Xi" userId="57f222e0-cbf6-450b-8272-f31ae8fad45d" providerId="ADAL" clId="{70AB51CC-1E3D-414C-A0A6-4D5F4391DC17}" dt="2026-06-03T17:31:20.438" v="9" actId="20577"/>
            <ac:spMkLst>
              <pc:docMk/>
              <pc:sldMasterMk cId="4267438884" sldId="2147483681"/>
              <pc:sldLayoutMk cId="671992151" sldId="2147483683"/>
              <ac:spMk id="5" creationId="{00000000-0000-0000-0000-000000000000}"/>
            </ac:spMkLst>
          </pc:spChg>
        </pc:sldLayoutChg>
      </pc:sldMasterChg>
    </pc:docChg>
  </pc:docChgLst>
  <pc:docChgLst>
    <pc:chgData name="Chen, Yao" userId="10274ba9-d313-448b-ae7f-19e05f57d394" providerId="ADAL" clId="{897CEF7C-B5AD-4771-9E14-064C8E1641CE}"/>
    <pc:docChg chg="undo custSel addSld modSld sldOrd modSection">
      <pc:chgData name="Chen, Yao" userId="10274ba9-d313-448b-ae7f-19e05f57d394" providerId="ADAL" clId="{897CEF7C-B5AD-4771-9E14-064C8E1641CE}" dt="2026-06-14T02:50:05.156" v="452" actId="1076"/>
      <pc:docMkLst>
        <pc:docMk/>
      </pc:docMkLst>
      <pc:sldChg chg="modSp mod">
        <pc:chgData name="Chen, Yao" userId="10274ba9-d313-448b-ae7f-19e05f57d394" providerId="ADAL" clId="{897CEF7C-B5AD-4771-9E14-064C8E1641CE}" dt="2026-06-02T15:50:46.266" v="54" actId="20577"/>
        <pc:sldMkLst>
          <pc:docMk/>
          <pc:sldMk cId="0" sldId="923"/>
        </pc:sldMkLst>
        <pc:spChg chg="mod">
          <ac:chgData name="Chen, Yao" userId="10274ba9-d313-448b-ae7f-19e05f57d394" providerId="ADAL" clId="{897CEF7C-B5AD-4771-9E14-064C8E1641CE}" dt="2026-06-02T15:50:46.266" v="54" actId="20577"/>
          <ac:spMkLst>
            <pc:docMk/>
            <pc:sldMk cId="0" sldId="923"/>
            <ac:spMk id="85" creationId="{00000000-0000-0000-0000-000000000000}"/>
          </ac:spMkLst>
        </pc:spChg>
      </pc:sldChg>
      <pc:sldChg chg="addSp modSp mod">
        <pc:chgData name="Chen, Yao" userId="10274ba9-d313-448b-ae7f-19e05f57d394" providerId="ADAL" clId="{897CEF7C-B5AD-4771-9E14-064C8E1641CE}" dt="2026-06-02T19:27:35.076" v="184" actId="1076"/>
        <pc:sldMkLst>
          <pc:docMk/>
          <pc:sldMk cId="3017606536" sldId="924"/>
        </pc:sldMkLst>
        <pc:spChg chg="mod">
          <ac:chgData name="Chen, Yao" userId="10274ba9-d313-448b-ae7f-19e05f57d394" providerId="ADAL" clId="{897CEF7C-B5AD-4771-9E14-064C8E1641CE}" dt="2026-06-02T19:26:45.333" v="175" actId="164"/>
          <ac:spMkLst>
            <pc:docMk/>
            <pc:sldMk cId="3017606536" sldId="924"/>
            <ac:spMk id="7" creationId="{753ED80C-C50C-20BE-17E4-F15390E539E4}"/>
          </ac:spMkLst>
        </pc:spChg>
        <pc:spChg chg="mod">
          <ac:chgData name="Chen, Yao" userId="10274ba9-d313-448b-ae7f-19e05f57d394" providerId="ADAL" clId="{897CEF7C-B5AD-4771-9E14-064C8E1641CE}" dt="2026-06-02T19:26:45.333" v="175" actId="164"/>
          <ac:spMkLst>
            <pc:docMk/>
            <pc:sldMk cId="3017606536" sldId="924"/>
            <ac:spMk id="8" creationId="{4FCF0A59-DA46-0B41-525B-09CD40276FB2}"/>
          </ac:spMkLst>
        </pc:spChg>
        <pc:spChg chg="mod">
          <ac:chgData name="Chen, Yao" userId="10274ba9-d313-448b-ae7f-19e05f57d394" providerId="ADAL" clId="{897CEF7C-B5AD-4771-9E14-064C8E1641CE}" dt="2026-06-02T19:26:52.108" v="176" actId="164"/>
          <ac:spMkLst>
            <pc:docMk/>
            <pc:sldMk cId="3017606536" sldId="924"/>
            <ac:spMk id="9" creationId="{1B29F3CD-B67C-704A-A510-ED7A86EC49EE}"/>
          </ac:spMkLst>
        </pc:spChg>
        <pc:spChg chg="mod">
          <ac:chgData name="Chen, Yao" userId="10274ba9-d313-448b-ae7f-19e05f57d394" providerId="ADAL" clId="{897CEF7C-B5AD-4771-9E14-064C8E1641CE}" dt="2026-06-02T19:26:52.108" v="176" actId="164"/>
          <ac:spMkLst>
            <pc:docMk/>
            <pc:sldMk cId="3017606536" sldId="924"/>
            <ac:spMk id="10" creationId="{D718788D-8BD5-359E-FB20-AECF52E01F93}"/>
          </ac:spMkLst>
        </pc:spChg>
        <pc:spChg chg="mod">
          <ac:chgData name="Chen, Yao" userId="10274ba9-d313-448b-ae7f-19e05f57d394" providerId="ADAL" clId="{897CEF7C-B5AD-4771-9E14-064C8E1641CE}" dt="2026-06-02T19:26:36.392" v="174" actId="164"/>
          <ac:spMkLst>
            <pc:docMk/>
            <pc:sldMk cId="3017606536" sldId="924"/>
            <ac:spMk id="11" creationId="{C1CEB2E0-DDCA-AA79-81BE-918D77913C5B}"/>
          </ac:spMkLst>
        </pc:spChg>
        <pc:spChg chg="mod">
          <ac:chgData name="Chen, Yao" userId="10274ba9-d313-448b-ae7f-19e05f57d394" providerId="ADAL" clId="{897CEF7C-B5AD-4771-9E14-064C8E1641CE}" dt="2026-06-02T19:27:10.976" v="180" actId="1076"/>
          <ac:spMkLst>
            <pc:docMk/>
            <pc:sldMk cId="3017606536" sldId="924"/>
            <ac:spMk id="12" creationId="{5523A5A2-845B-CAE1-E9BA-0BF5C1A6CE32}"/>
          </ac:spMkLst>
        </pc:spChg>
        <pc:grpChg chg="add mod">
          <ac:chgData name="Chen, Yao" userId="10274ba9-d313-448b-ae7f-19e05f57d394" providerId="ADAL" clId="{897CEF7C-B5AD-4771-9E14-064C8E1641CE}" dt="2026-06-02T19:27:24.130" v="183" actId="1076"/>
          <ac:grpSpMkLst>
            <pc:docMk/>
            <pc:sldMk cId="3017606536" sldId="924"/>
            <ac:grpSpMk id="6" creationId="{968E7370-4F97-B384-EE45-9CF00ACC1EE2}"/>
          </ac:grpSpMkLst>
        </pc:grpChg>
        <pc:grpChg chg="add mod ord">
          <ac:chgData name="Chen, Yao" userId="10274ba9-d313-448b-ae7f-19e05f57d394" providerId="ADAL" clId="{897CEF7C-B5AD-4771-9E14-064C8E1641CE}" dt="2026-06-02T19:27:35.076" v="184" actId="1076"/>
          <ac:grpSpMkLst>
            <pc:docMk/>
            <pc:sldMk cId="3017606536" sldId="924"/>
            <ac:grpSpMk id="14" creationId="{0F421B38-C5C2-CFF9-0D3E-3D187B4F2DAE}"/>
          </ac:grpSpMkLst>
        </pc:grpChg>
        <pc:grpChg chg="add mod">
          <ac:chgData name="Chen, Yao" userId="10274ba9-d313-448b-ae7f-19e05f57d394" providerId="ADAL" clId="{897CEF7C-B5AD-4771-9E14-064C8E1641CE}" dt="2026-06-02T19:26:52.108" v="176" actId="164"/>
          <ac:grpSpMkLst>
            <pc:docMk/>
            <pc:sldMk cId="3017606536" sldId="924"/>
            <ac:grpSpMk id="16" creationId="{05244FC1-7E7D-1DE8-E8A3-9B9205C66B5D}"/>
          </ac:grpSpMkLst>
        </pc:grpChg>
        <pc:picChg chg="mod">
          <ac:chgData name="Chen, Yao" userId="10274ba9-d313-448b-ae7f-19e05f57d394" providerId="ADAL" clId="{897CEF7C-B5AD-4771-9E14-064C8E1641CE}" dt="2026-06-02T19:26:45.333" v="175" actId="164"/>
          <ac:picMkLst>
            <pc:docMk/>
            <pc:sldMk cId="3017606536" sldId="924"/>
            <ac:picMk id="4" creationId="{402919D2-EFF8-761C-4C01-693395E1BF13}"/>
          </ac:picMkLst>
        </pc:picChg>
        <pc:picChg chg="mod">
          <ac:chgData name="Chen, Yao" userId="10274ba9-d313-448b-ae7f-19e05f57d394" providerId="ADAL" clId="{897CEF7C-B5AD-4771-9E14-064C8E1641CE}" dt="2026-06-02T19:26:52.108" v="176" actId="164"/>
          <ac:picMkLst>
            <pc:docMk/>
            <pc:sldMk cId="3017606536" sldId="924"/>
            <ac:picMk id="13" creationId="{D98305DD-8DE9-715A-08D2-352FA452BEC9}"/>
          </ac:picMkLst>
        </pc:picChg>
        <pc:picChg chg="mod">
          <ac:chgData name="Chen, Yao" userId="10274ba9-d313-448b-ae7f-19e05f57d394" providerId="ADAL" clId="{897CEF7C-B5AD-4771-9E14-064C8E1641CE}" dt="2026-06-02T19:26:36.392" v="174" actId="164"/>
          <ac:picMkLst>
            <pc:docMk/>
            <pc:sldMk cId="3017606536" sldId="924"/>
            <ac:picMk id="15" creationId="{D7CA09ED-7B53-4DAC-9A80-D6A7AFF48522}"/>
          </ac:picMkLst>
        </pc:picChg>
      </pc:sldChg>
      <pc:sldChg chg="modSp">
        <pc:chgData name="Chen, Yao" userId="10274ba9-d313-448b-ae7f-19e05f57d394" providerId="ADAL" clId="{897CEF7C-B5AD-4771-9E14-064C8E1641CE}" dt="2026-06-14T01:16:29.885" v="426" actId="113"/>
        <pc:sldMkLst>
          <pc:docMk/>
          <pc:sldMk cId="1291265291" sldId="1238"/>
        </pc:sldMkLst>
        <pc:spChg chg="mod">
          <ac:chgData name="Chen, Yao" userId="10274ba9-d313-448b-ae7f-19e05f57d394" providerId="ADAL" clId="{897CEF7C-B5AD-4771-9E14-064C8E1641CE}" dt="2026-06-14T01:16:29.885" v="426" actId="113"/>
          <ac:spMkLst>
            <pc:docMk/>
            <pc:sldMk cId="1291265291" sldId="1238"/>
            <ac:spMk id="7" creationId="{E742915A-F599-8526-C2C5-39D5C57973CD}"/>
          </ac:spMkLst>
        </pc:spChg>
      </pc:sldChg>
      <pc:sldChg chg="modSp mod modAnim">
        <pc:chgData name="Chen, Yao" userId="10274ba9-d313-448b-ae7f-19e05f57d394" providerId="ADAL" clId="{897CEF7C-B5AD-4771-9E14-064C8E1641CE}" dt="2026-06-14T01:23:38.858" v="437" actId="27636"/>
        <pc:sldMkLst>
          <pc:docMk/>
          <pc:sldMk cId="1151925777" sldId="1241"/>
        </pc:sldMkLst>
        <pc:spChg chg="mod">
          <ac:chgData name="Chen, Yao" userId="10274ba9-d313-448b-ae7f-19e05f57d394" providerId="ADAL" clId="{897CEF7C-B5AD-4771-9E14-064C8E1641CE}" dt="2026-06-14T01:23:38.858" v="437" actId="27636"/>
          <ac:spMkLst>
            <pc:docMk/>
            <pc:sldMk cId="1151925777" sldId="1241"/>
            <ac:spMk id="3" creationId="{6A5AE771-39DD-102F-986E-79E13CA93651}"/>
          </ac:spMkLst>
        </pc:spChg>
      </pc:sldChg>
      <pc:sldChg chg="modSp mod modAnim">
        <pc:chgData name="Chen, Yao" userId="10274ba9-d313-448b-ae7f-19e05f57d394" providerId="ADAL" clId="{897CEF7C-B5AD-4771-9E14-064C8E1641CE}" dt="2026-06-14T01:15:57.292" v="406" actId="20577"/>
        <pc:sldMkLst>
          <pc:docMk/>
          <pc:sldMk cId="2647115040" sldId="1242"/>
        </pc:sldMkLst>
        <pc:spChg chg="mod">
          <ac:chgData name="Chen, Yao" userId="10274ba9-d313-448b-ae7f-19e05f57d394" providerId="ADAL" clId="{897CEF7C-B5AD-4771-9E14-064C8E1641CE}" dt="2026-06-14T01:15:57.292" v="406" actId="20577"/>
          <ac:spMkLst>
            <pc:docMk/>
            <pc:sldMk cId="2647115040" sldId="1242"/>
            <ac:spMk id="8" creationId="{36143023-6C19-2E8C-E0C6-39ED9D2C62AE}"/>
          </ac:spMkLst>
        </pc:spChg>
      </pc:sldChg>
      <pc:sldChg chg="modSp modAnim">
        <pc:chgData name="Chen, Yao" userId="10274ba9-d313-448b-ae7f-19e05f57d394" providerId="ADAL" clId="{897CEF7C-B5AD-4771-9E14-064C8E1641CE}" dt="2026-06-02T15:59:58.426" v="173" actId="6549"/>
        <pc:sldMkLst>
          <pc:docMk/>
          <pc:sldMk cId="3616528127" sldId="1249"/>
        </pc:sldMkLst>
        <pc:spChg chg="mod">
          <ac:chgData name="Chen, Yao" userId="10274ba9-d313-448b-ae7f-19e05f57d394" providerId="ADAL" clId="{897CEF7C-B5AD-4771-9E14-064C8E1641CE}" dt="2026-06-02T15:59:58.426" v="173" actId="6549"/>
          <ac:spMkLst>
            <pc:docMk/>
            <pc:sldMk cId="3616528127" sldId="1249"/>
            <ac:spMk id="16" creationId="{7C5538C5-09FE-1D88-49D0-1515EC21BEBE}"/>
          </ac:spMkLst>
        </pc:spChg>
      </pc:sldChg>
      <pc:sldChg chg="modSp">
        <pc:chgData name="Chen, Yao" userId="10274ba9-d313-448b-ae7f-19e05f57d394" providerId="ADAL" clId="{897CEF7C-B5AD-4771-9E14-064C8E1641CE}" dt="2026-06-11T21:04:29.537" v="212" actId="20577"/>
        <pc:sldMkLst>
          <pc:docMk/>
          <pc:sldMk cId="281779699" sldId="1311"/>
        </pc:sldMkLst>
        <pc:spChg chg="mod">
          <ac:chgData name="Chen, Yao" userId="10274ba9-d313-448b-ae7f-19e05f57d394" providerId="ADAL" clId="{897CEF7C-B5AD-4771-9E14-064C8E1641CE}" dt="2026-06-11T21:04:29.537" v="212" actId="20577"/>
          <ac:spMkLst>
            <pc:docMk/>
            <pc:sldMk cId="281779699" sldId="1311"/>
            <ac:spMk id="8" creationId="{5E95CE25-284D-A746-C6E3-81FCD13E4C5B}"/>
          </ac:spMkLst>
        </pc:spChg>
      </pc:sldChg>
      <pc:sldChg chg="modSp mod modCm">
        <pc:chgData name="Chen, Yao" userId="10274ba9-d313-448b-ae7f-19e05f57d394" providerId="ADAL" clId="{897CEF7C-B5AD-4771-9E14-064C8E1641CE}" dt="2026-06-11T21:04:04.399" v="198" actId="20577"/>
        <pc:sldMkLst>
          <pc:docMk/>
          <pc:sldMk cId="2051369732" sldId="1315"/>
        </pc:sldMkLst>
        <pc:spChg chg="mod">
          <ac:chgData name="Chen, Yao" userId="10274ba9-d313-448b-ae7f-19e05f57d394" providerId="ADAL" clId="{897CEF7C-B5AD-4771-9E14-064C8E1641CE}" dt="2026-06-11T21:04:04.399" v="198" actId="20577"/>
          <ac:spMkLst>
            <pc:docMk/>
            <pc:sldMk cId="2051369732" sldId="1315"/>
            <ac:spMk id="2" creationId="{DA828B9C-BBDC-E8FB-7A4A-52ACD3427DAC}"/>
          </ac:spMkLst>
        </pc:spChg>
        <pc:spChg chg="mod">
          <ac:chgData name="Chen, Yao" userId="10274ba9-d313-448b-ae7f-19e05f57d394" providerId="ADAL" clId="{897CEF7C-B5AD-4771-9E14-064C8E1641CE}" dt="2026-06-02T15:58:09.238" v="153" actId="14100"/>
          <ac:spMkLst>
            <pc:docMk/>
            <pc:sldMk cId="2051369732" sldId="1315"/>
            <ac:spMk id="3" creationId="{123C227B-C057-D962-E704-3FCDF9CA4D0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hen, Yao" userId="10274ba9-d313-448b-ae7f-19e05f57d394" providerId="ADAL" clId="{897CEF7C-B5AD-4771-9E14-064C8E1641CE}" dt="2026-06-02T15:57:42.048" v="143" actId="21"/>
              <pc2:cmMkLst xmlns:pc2="http://schemas.microsoft.com/office/powerpoint/2019/9/main/command">
                <pc:docMk/>
                <pc:sldMk cId="2051369732" sldId="1315"/>
                <pc2:cmMk id="{EB73A882-BB64-475B-B5DB-72C9EA98CCA8}"/>
              </pc2:cmMkLst>
            </pc226:cmChg>
          </p:ext>
        </pc:extLst>
      </pc:sldChg>
      <pc:sldChg chg="addSp delSp modSp mod">
        <pc:chgData name="Chen, Yao" userId="10274ba9-d313-448b-ae7f-19e05f57d394" providerId="ADAL" clId="{897CEF7C-B5AD-4771-9E14-064C8E1641CE}" dt="2026-06-14T02:50:05.156" v="452" actId="1076"/>
        <pc:sldMkLst>
          <pc:docMk/>
          <pc:sldMk cId="659038411" sldId="1322"/>
        </pc:sldMkLst>
        <pc:picChg chg="add del mod">
          <ac:chgData name="Chen, Yao" userId="10274ba9-d313-448b-ae7f-19e05f57d394" providerId="ADAL" clId="{897CEF7C-B5AD-4771-9E14-064C8E1641CE}" dt="2026-06-14T02:48:53.547" v="449" actId="478"/>
          <ac:picMkLst>
            <pc:docMk/>
            <pc:sldMk cId="659038411" sldId="1322"/>
            <ac:picMk id="7" creationId="{61DA7C2A-0D2A-08F5-16F1-DF9A8F2C8174}"/>
          </ac:picMkLst>
        </pc:picChg>
        <pc:picChg chg="add mod">
          <ac:chgData name="Chen, Yao" userId="10274ba9-d313-448b-ae7f-19e05f57d394" providerId="ADAL" clId="{897CEF7C-B5AD-4771-9E14-064C8E1641CE}" dt="2026-06-14T02:50:05.156" v="452" actId="1076"/>
          <ac:picMkLst>
            <pc:docMk/>
            <pc:sldMk cId="659038411" sldId="1322"/>
            <ac:picMk id="8" creationId="{192F6F7A-4797-98B4-946A-DE731B78807A}"/>
          </ac:picMkLst>
        </pc:picChg>
      </pc:sldChg>
      <pc:sldChg chg="addSp modSp new mod ord">
        <pc:chgData name="Chen, Yao" userId="10274ba9-d313-448b-ae7f-19e05f57d394" providerId="ADAL" clId="{897CEF7C-B5AD-4771-9E14-064C8E1641CE}" dt="2026-06-14T02:48:33.497" v="445" actId="1076"/>
        <pc:sldMkLst>
          <pc:docMk/>
          <pc:sldMk cId="3685554341" sldId="1328"/>
        </pc:sldMkLst>
        <pc:spChg chg="mod">
          <ac:chgData name="Chen, Yao" userId="10274ba9-d313-448b-ae7f-19e05f57d394" providerId="ADAL" clId="{897CEF7C-B5AD-4771-9E14-064C8E1641CE}" dt="2026-06-12T13:34:04.050" v="221" actId="20577"/>
          <ac:spMkLst>
            <pc:docMk/>
            <pc:sldMk cId="3685554341" sldId="1328"/>
            <ac:spMk id="2" creationId="{DC050AB7-131D-AB63-F142-D3CC899C0277}"/>
          </ac:spMkLst>
        </pc:spChg>
        <pc:spChg chg="mod">
          <ac:chgData name="Chen, Yao" userId="10274ba9-d313-448b-ae7f-19e05f57d394" providerId="ADAL" clId="{897CEF7C-B5AD-4771-9E14-064C8E1641CE}" dt="2026-06-12T13:52:28.618" v="388" actId="20577"/>
          <ac:spMkLst>
            <pc:docMk/>
            <pc:sldMk cId="3685554341" sldId="1328"/>
            <ac:spMk id="3" creationId="{DD964DFA-23C0-9D47-9541-CDC601027024}"/>
          </ac:spMkLst>
        </pc:spChg>
        <pc:picChg chg="add mod">
          <ac:chgData name="Chen, Yao" userId="10274ba9-d313-448b-ae7f-19e05f57d394" providerId="ADAL" clId="{897CEF7C-B5AD-4771-9E14-064C8E1641CE}" dt="2026-06-14T02:48:33.497" v="445" actId="1076"/>
          <ac:picMkLst>
            <pc:docMk/>
            <pc:sldMk cId="3685554341" sldId="1328"/>
            <ac:picMk id="7" creationId="{91219450-08B3-6368-A767-9321E5610FE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B60FF-ACF0-5A4A-9C79-4881E6B16567}" type="datetimeFigureOut">
              <a:rPr lang="en-US" smtClean="0">
                <a:latin typeface="Arial" charset="0"/>
              </a:rPr>
              <a:pPr/>
              <a:t>6/13/2026</a:t>
            </a:fld>
            <a:endParaRPr lang="en-US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BA786-EB35-BA4C-A7F7-24740D3067F1}" type="slidenum">
              <a:rPr lang="en-US" smtClean="0">
                <a:latin typeface="Arial" charset="0"/>
              </a:rPr>
              <a:pPr/>
              <a:t>‹#›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9472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charset="0"/>
              </a:defRPr>
            </a:lvl1pPr>
          </a:lstStyle>
          <a:p>
            <a:fld id="{0C4595FF-6E7F-4C41-B8DF-4AE76FC1F075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charset="0"/>
              </a:defRPr>
            </a:lvl1pPr>
          </a:lstStyle>
          <a:p>
            <a:fld id="{5A6330BE-D91A-D240-B266-E5D5F99B4C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167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" y="742950"/>
            <a:ext cx="6604000" cy="3714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31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33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82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F198C-D397-23EA-424D-21BF8A6CD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A4856-EB3A-F3BA-88BA-E046A056C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55DA2-262E-36B6-F365-53173AA50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C9A6D-51ED-082B-94AF-4C897914A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92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5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26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14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31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8475E-058D-A78E-345B-8014347A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72980-54D8-E92F-97F5-2B1466D4D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81781-05C3-A851-39C6-BD3CD5B9F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2D0FD-3B84-C824-CF5E-EBB4C6378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3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44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85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56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054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66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09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E4AAB-8266-9324-4F9B-F346E050D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458AE-6369-5324-9BF1-A7AF32CF4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53DA3-369D-4E7A-8914-EB8E96A53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4746F-91E1-271B-B23B-5AAD47F7B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37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759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28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242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330BE-D91A-D240-B266-E5D5F99B4CCE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0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Chen, Xi, Bretz | ICSA | June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7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Chen, Xi, Bretz | ICSA | June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9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Chen, Xi, Bretz | ICSA | June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37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Chen, Xi, Bretz | ICSA | June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01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Chen, Xi, Bretz | ICSA | June 2026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84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Chen, Xi, Bretz | ICSA | June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0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Chen, Xi, Bretz | ICSA | June 2026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21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Chen, Xi, Bretz | ICSA | June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2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Chen, Xi, Bretz | ICSA | June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9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Chen, Xi, Bretz | ICSA | June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2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Chen, Xi, Bretz | ICSA | June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6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CH"/>
              <a:t>Chen, Xi, Bretz | ICSA | June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D9F39-F344-41AE-B531-1D3ECACBC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3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svg"/><Relationship Id="rId3" Type="http://schemas.openxmlformats.org/officeDocument/2006/relationships/image" Target="../media/image120.svg"/><Relationship Id="rId7" Type="http://schemas.openxmlformats.org/officeDocument/2006/relationships/image" Target="../media/image124.svg"/><Relationship Id="rId2" Type="http://schemas.openxmlformats.org/officeDocument/2006/relationships/image" Target="../media/image11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svg"/><Relationship Id="rId5" Type="http://schemas.openxmlformats.org/officeDocument/2006/relationships/image" Target="../media/image122.svg"/><Relationship Id="rId10" Type="http://schemas.openxmlformats.org/officeDocument/2006/relationships/image" Target="../media/image127.svg"/><Relationship Id="rId4" Type="http://schemas.openxmlformats.org/officeDocument/2006/relationships/image" Target="../media/image121.svg"/><Relationship Id="rId9" Type="http://schemas.openxmlformats.org/officeDocument/2006/relationships/image" Target="../media/image126.sv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graphicalMCP/index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png"/><Relationship Id="rId4" Type="http://schemas.openxmlformats.org/officeDocument/2006/relationships/hyperlink" Target="https://openpharma.github.io/graphicalMCP/" TargetMode="Externa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rdrr.io/r/base/cbind.html" TargetMode="External"/><Relationship Id="rId2" Type="http://schemas.openxmlformats.org/officeDocument/2006/relationships/hyperlink" Target="https://rdrr.io/r/base/c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hyperlink" Target="https://rdrr.io/r/graphics/plot.default.html" TargetMode="External"/><Relationship Id="rId4" Type="http://schemas.openxmlformats.org/officeDocument/2006/relationships/hyperlink" Target="https://gilead-biostats.github.io/graphicalMCP/reference/graph_create.html" TargetMode="Externa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rdrr.io/r/base/c.html" TargetMode="External"/><Relationship Id="rId2" Type="http://schemas.openxmlformats.org/officeDocument/2006/relationships/hyperlink" Target="https://gilead-biostats.github.io/graphicalMCP/reference/graph_updat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hyperlink" Target="https://rdrr.io/r/graphics/plot.default.html" TargetMode="Externa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gilead-biostats.github.io/graphicalMCP/reference/graph_test_shortcut.html" TargetMode="External"/><Relationship Id="rId2" Type="http://schemas.openxmlformats.org/officeDocument/2006/relationships/hyperlink" Target="https://rdrr.io/r/base/c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gilead-biostats.github.io/graphicalMCP/reference/graph_test_shortcut.html" TargetMode="External"/><Relationship Id="rId7" Type="http://schemas.openxmlformats.org/officeDocument/2006/relationships/image" Target="../media/image138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7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2.png"/><Relationship Id="rId4" Type="http://schemas.openxmlformats.org/officeDocument/2006/relationships/hyperlink" Target="https://gilead-biostats.github.io/graphicalMCP/reference/graph_rejection_orderings.html" TargetMode="Externa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rdrr.io/r/base/Random.html" TargetMode="External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drr.io/r/base/c.html" TargetMode="External"/><Relationship Id="rId4" Type="http://schemas.openxmlformats.org/officeDocument/2006/relationships/hyperlink" Target="https://gilead-biostats.github.io/graphicalMCP/reference/graph_calculate_power.html" TargetMode="Externa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4.png"/><Relationship Id="rId7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55.png"/><Relationship Id="rId4" Type="http://schemas.openxmlformats.org/officeDocument/2006/relationships/image" Target="../media/image147.emf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9.png"/><Relationship Id="rId7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55.png"/><Relationship Id="rId4" Type="http://schemas.openxmlformats.org/officeDocument/2006/relationships/image" Target="../media/image147.emf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60.png"/><Relationship Id="rId7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55.png"/><Relationship Id="rId4" Type="http://schemas.openxmlformats.org/officeDocument/2006/relationships/image" Target="../media/image147.emf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61.png"/><Relationship Id="rId7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55.png"/><Relationship Id="rId4" Type="http://schemas.openxmlformats.org/officeDocument/2006/relationships/image" Target="../media/image147.emf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2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pharma.github.io/graphicalMCP/" TargetMode="Externa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hyperlink" Target="mailto:dong.xi1@gilead.com" TargetMode="External"/><Relationship Id="rId2" Type="http://schemas.openxmlformats.org/officeDocument/2006/relationships/hyperlink" Target="mailto:yao.chen@novartis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hyperlink" Target="https://github.com/openpharma/graphical-multiple-comparisons" TargetMode="External"/><Relationship Id="rId4" Type="http://schemas.openxmlformats.org/officeDocument/2006/relationships/hyperlink" Target="mailto:Yao.chen@novartis.com" TargetMode="Externa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539551" y="987574"/>
            <a:ext cx="8064896" cy="16448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b" anchorCtr="0">
            <a:normAutofit fontScale="90000"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6000"/>
            </a:pPr>
            <a:r>
              <a:rPr lang="en-US" sz="4000" noProof="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Graphical multiple comparison procedures </a:t>
            </a:r>
            <a:br>
              <a:rPr lang="en-US" sz="4000" noProof="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100" noProof="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Combining flexibility with optimality</a:t>
            </a:r>
            <a:br>
              <a:rPr lang="en-US" sz="4000" noProof="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noProof="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539551" y="2787774"/>
            <a:ext cx="8064895" cy="1790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400" noProof="0" dirty="0"/>
              <a:t>Yao Chen (Novartis), Dong Xi (Gilead), Frank Bretz (Novartis)</a:t>
            </a:r>
          </a:p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endParaRPr lang="en-US" noProof="0" dirty="0"/>
          </a:p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noProof="0" dirty="0"/>
              <a:t>ICSA Applied Statistics Symposium</a:t>
            </a:r>
          </a:p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noProof="0" dirty="0"/>
              <a:t>Arlington, VA</a:t>
            </a:r>
          </a:p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endParaRPr lang="en-US" noProof="0" dirty="0"/>
          </a:p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noProof="0" dirty="0"/>
              <a:t>June 14, 2026 </a:t>
            </a:r>
          </a:p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endParaRPr lang="en-US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FA9B-46F5-3883-AC5A-10EA068E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Course instructors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68E7370-4F97-B384-EE45-9CF00ACC1EE2}"/>
              </a:ext>
            </a:extLst>
          </p:cNvPr>
          <p:cNvGrpSpPr/>
          <p:nvPr/>
        </p:nvGrpSpPr>
        <p:grpSpPr>
          <a:xfrm>
            <a:off x="6097419" y="1915727"/>
            <a:ext cx="2811028" cy="1508760"/>
            <a:chOff x="6097635" y="1915727"/>
            <a:chExt cx="2811028" cy="150876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1CEB2E0-DDCA-AA79-81BE-918D77913C5B}"/>
                </a:ext>
              </a:extLst>
            </p:cNvPr>
            <p:cNvSpPr/>
            <p:nvPr/>
          </p:nvSpPr>
          <p:spPr>
            <a:xfrm>
              <a:off x="6097635" y="1915727"/>
              <a:ext cx="2751095" cy="15087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3A5A2-845B-CAE1-E9BA-0BF5C1A6CE32}"/>
                </a:ext>
              </a:extLst>
            </p:cNvPr>
            <p:cNvSpPr txBox="1"/>
            <p:nvPr/>
          </p:nvSpPr>
          <p:spPr>
            <a:xfrm>
              <a:off x="7004304" y="1943014"/>
              <a:ext cx="1904359" cy="126188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b="1" noProof="0" dirty="0"/>
                <a:t>Frank Bretz</a:t>
              </a:r>
            </a:p>
            <a:p>
              <a:r>
                <a:rPr lang="en-US" sz="1400" noProof="0" dirty="0"/>
                <a:t>Novartis</a:t>
              </a:r>
            </a:p>
            <a:p>
              <a:r>
                <a:rPr lang="en-US" sz="1200" noProof="0" dirty="0"/>
                <a:t>Interests: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/>
                <a:t>Multiple testing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/>
                <a:t>Adaptive designs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/>
                <a:t>Dose finding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7CA09ED-7B53-4DAC-9A80-D6A7AFF48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9632" y="2011680"/>
              <a:ext cx="822960" cy="822960"/>
            </a:xfrm>
            <a:prstGeom prst="rect">
              <a:avLst/>
            </a:prstGeom>
          </p:spPr>
        </p:pic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467E4-CD84-1FF9-440C-EB5456171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3A43C-0173-86A0-F668-9C8636E1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</a:t>
            </a:fld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421B38-C5C2-CFF9-0D3E-3D187B4F2DAE}"/>
              </a:ext>
            </a:extLst>
          </p:cNvPr>
          <p:cNvGrpSpPr/>
          <p:nvPr/>
        </p:nvGrpSpPr>
        <p:grpSpPr>
          <a:xfrm>
            <a:off x="3080985" y="1915727"/>
            <a:ext cx="2871754" cy="1508760"/>
            <a:chOff x="191208" y="1915727"/>
            <a:chExt cx="2871754" cy="15087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3ED80C-C50C-20BE-17E4-F15390E539E4}"/>
                </a:ext>
              </a:extLst>
            </p:cNvPr>
            <p:cNvSpPr/>
            <p:nvPr/>
          </p:nvSpPr>
          <p:spPr>
            <a:xfrm>
              <a:off x="191208" y="1915727"/>
              <a:ext cx="2751095" cy="15087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FCF0A59-DA46-0B41-525B-09CD40276FB2}"/>
                </a:ext>
              </a:extLst>
            </p:cNvPr>
            <p:cNvSpPr txBox="1"/>
            <p:nvPr/>
          </p:nvSpPr>
          <p:spPr>
            <a:xfrm>
              <a:off x="1097279" y="1943014"/>
              <a:ext cx="1965683" cy="126188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 b="1" noProof="0" dirty="0"/>
                <a:t>Dong Xi</a:t>
              </a:r>
            </a:p>
            <a:p>
              <a:r>
                <a:rPr lang="en-US" sz="1400" noProof="0" dirty="0"/>
                <a:t>Gilead</a:t>
              </a:r>
              <a:endParaRPr lang="en-US" sz="1400" noProof="0" dirty="0">
                <a:ea typeface="Calibri"/>
                <a:cs typeface="Calibri"/>
              </a:endParaRPr>
            </a:p>
            <a:p>
              <a:r>
                <a:rPr lang="en-US" sz="1200" noProof="0" dirty="0"/>
                <a:t>Interests:</a:t>
              </a:r>
              <a:endParaRPr lang="en-US" sz="1200" noProof="0" dirty="0">
                <a:ea typeface="Calibri"/>
                <a:cs typeface="Calibri"/>
              </a:endParaRP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>
                  <a:ea typeface="Calibri"/>
                  <a:cs typeface="Calibri"/>
                </a:rPr>
                <a:t>Multiple testing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>
                  <a:ea typeface="Calibri"/>
                  <a:cs typeface="Calibri"/>
                </a:rPr>
                <a:t>Adaptive designs</a:t>
              </a:r>
              <a:endParaRPr lang="en-US" sz="1200" noProof="0" dirty="0"/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>
                  <a:ea typeface="Calibri"/>
                  <a:cs typeface="Calibri"/>
                </a:rPr>
                <a:t>Causal inference</a:t>
              </a:r>
            </a:p>
          </p:txBody>
        </p:sp>
        <p:pic>
          <p:nvPicPr>
            <p:cNvPr id="4" name="Picture 3" descr="A person wearing glasses and a blue shirt&#10;&#10;AI-generated content may be incorrect.">
              <a:extLst>
                <a:ext uri="{FF2B5EF4-FFF2-40B4-BE49-F238E27FC236}">
                  <a16:creationId xmlns:a16="http://schemas.microsoft.com/office/drawing/2014/main" id="{402919D2-EFF8-761C-4C01-693395E1B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225" y="2013585"/>
              <a:ext cx="819150" cy="81915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244FC1-7E7D-1DE8-E8A3-9B9205C66B5D}"/>
              </a:ext>
            </a:extLst>
          </p:cNvPr>
          <p:cNvGrpSpPr/>
          <p:nvPr/>
        </p:nvGrpSpPr>
        <p:grpSpPr>
          <a:xfrm>
            <a:off x="189927" y="1915727"/>
            <a:ext cx="2895775" cy="1508760"/>
            <a:chOff x="3141927" y="1915727"/>
            <a:chExt cx="2895775" cy="15087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29F3CD-B67C-704A-A510-ED7A86EC49EE}"/>
                </a:ext>
              </a:extLst>
            </p:cNvPr>
            <p:cNvSpPr/>
            <p:nvPr/>
          </p:nvSpPr>
          <p:spPr>
            <a:xfrm>
              <a:off x="3141927" y="1915727"/>
              <a:ext cx="2751095" cy="15087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18788D-8BD5-359E-FB20-AECF52E01F93}"/>
                </a:ext>
              </a:extLst>
            </p:cNvPr>
            <p:cNvSpPr txBox="1"/>
            <p:nvPr/>
          </p:nvSpPr>
          <p:spPr>
            <a:xfrm>
              <a:off x="4053347" y="1943014"/>
              <a:ext cx="1984355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noProof="0" dirty="0"/>
                <a:t>Yao Chen</a:t>
              </a:r>
            </a:p>
            <a:p>
              <a:r>
                <a:rPr lang="en-US" sz="1400" noProof="0" dirty="0"/>
                <a:t>Novartis</a:t>
              </a:r>
            </a:p>
            <a:p>
              <a:r>
                <a:rPr lang="en-US" sz="1200" noProof="0" dirty="0"/>
                <a:t>Interests: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/>
                <a:t>Multiple testing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/>
                <a:t>Subgroup analysis</a:t>
              </a:r>
            </a:p>
            <a:p>
              <a:pPr marL="137160" indent="-137160">
                <a:buFont typeface="Arial" panose="020B0604020202020204" pitchFamily="34" charset="0"/>
                <a:buChar char="˗"/>
              </a:pPr>
              <a:r>
                <a:rPr lang="en-US" sz="1200" noProof="0" dirty="0"/>
                <a:t>Machine learning</a:t>
              </a:r>
            </a:p>
          </p:txBody>
        </p:sp>
        <p:pic>
          <p:nvPicPr>
            <p:cNvPr id="13" name="Picture 12" descr="A person in a red sweater&#10;&#10;AI-generated content may be incorrect.">
              <a:extLst>
                <a:ext uri="{FF2B5EF4-FFF2-40B4-BE49-F238E27FC236}">
                  <a16:creationId xmlns:a16="http://schemas.microsoft.com/office/drawing/2014/main" id="{D98305DD-8DE9-715A-08D2-352FA452B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0387" y="2007421"/>
              <a:ext cx="822960" cy="8229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7606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50AB7-131D-AB63-F142-D3CC899C0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64DFA-23C0-9D47-9541-CDC601027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Part 1</a:t>
            </a:r>
            <a:r>
              <a:rPr lang="en-US" dirty="0"/>
              <a:t>: Introduction and basic concepts; graphical </a:t>
            </a:r>
            <a:r>
              <a:rPr lang="en-US"/>
              <a:t>approaches to </a:t>
            </a:r>
            <a:r>
              <a:rPr lang="en-US" dirty="0"/>
              <a:t>multiple testing (</a:t>
            </a:r>
            <a:r>
              <a:rPr lang="en-US" i="1" dirty="0"/>
              <a:t>Frank Bretz</a:t>
            </a:r>
            <a:r>
              <a:rPr lang="en-US" dirty="0"/>
              <a:t>; </a:t>
            </a:r>
            <a:r>
              <a:rPr lang="en-US" b="1" dirty="0"/>
              <a:t>95 mins </a:t>
            </a:r>
            <a:r>
              <a:rPr lang="en-US" dirty="0"/>
              <a:t>including Q&amp;A)</a:t>
            </a:r>
          </a:p>
          <a:p>
            <a:r>
              <a:rPr lang="en-US" b="1" dirty="0"/>
              <a:t>Break</a:t>
            </a:r>
            <a:r>
              <a:rPr lang="en-US" dirty="0"/>
              <a:t>: </a:t>
            </a:r>
            <a:r>
              <a:rPr lang="en-US" b="1" dirty="0"/>
              <a:t>15 minutes</a:t>
            </a:r>
          </a:p>
          <a:p>
            <a:r>
              <a:rPr lang="en-US" b="1" dirty="0"/>
              <a:t>Part 2</a:t>
            </a:r>
            <a:r>
              <a:rPr lang="en-US" dirty="0"/>
              <a:t>: Optimization of graphical multiple comparison procedures (</a:t>
            </a:r>
            <a:r>
              <a:rPr lang="en-US" i="1" dirty="0"/>
              <a:t>Yao Chen</a:t>
            </a:r>
            <a:r>
              <a:rPr lang="en-US" dirty="0"/>
              <a:t>; </a:t>
            </a:r>
            <a:r>
              <a:rPr lang="en-US" b="1" dirty="0"/>
              <a:t>60 minutes </a:t>
            </a:r>
            <a:r>
              <a:rPr lang="en-US" dirty="0"/>
              <a:t>including Q&amp;A)</a:t>
            </a:r>
          </a:p>
          <a:p>
            <a:r>
              <a:rPr lang="en-US" b="1" dirty="0"/>
              <a:t>Part 3</a:t>
            </a:r>
            <a:r>
              <a:rPr lang="en-US" dirty="0"/>
              <a:t>: graphicalMCP: implementation of graphical approaches (</a:t>
            </a:r>
            <a:r>
              <a:rPr lang="en-US" i="1" dirty="0"/>
              <a:t>Dong Xi</a:t>
            </a:r>
            <a:r>
              <a:rPr lang="en-US" dirty="0"/>
              <a:t>; </a:t>
            </a:r>
            <a:r>
              <a:rPr lang="en-US" b="1" dirty="0"/>
              <a:t>70 minutes </a:t>
            </a:r>
            <a:r>
              <a:rPr lang="en-US" dirty="0"/>
              <a:t>including Q&amp;A)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65C97-2FC2-DFB0-7FCB-44F82716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Chen, Xi, Bretz | ICSA | June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4994E-B9CE-0475-2FF4-150CBD104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219450-08B3-6368-A767-9321E5610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056" y="3688554"/>
            <a:ext cx="947230" cy="94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54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76A55-C30B-CE30-D300-12371E089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F21C-04CB-1503-F3F6-450AD390B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F21E3-023A-D577-3BA1-07BD46395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The views expressed in this presentation are those of the presenters and do not necessarily represent the views of, and should not be attributed to, the presenters’ affiliations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98728-931F-FB80-3F8C-5E9E2364F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1D315-0E8E-9EEC-898A-B3E047B4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909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3DAA-BF68-C368-8281-38E301D1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DF28A-B28A-E064-0A9F-40853E42F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/>
              <a:t>Werner Brannath</a:t>
            </a:r>
          </a:p>
          <a:p>
            <a:r>
              <a:rPr lang="en-US" noProof="0" dirty="0">
                <a:ea typeface="Calibri"/>
                <a:cs typeface="Calibri"/>
              </a:rPr>
              <a:t>Ethan Brockmann</a:t>
            </a:r>
            <a:endParaRPr lang="en-US" noProof="0" dirty="0"/>
          </a:p>
          <a:p>
            <a:r>
              <a:rPr lang="en-US" noProof="0" dirty="0"/>
              <a:t>Ekkehard Glimm</a:t>
            </a:r>
          </a:p>
          <a:p>
            <a:r>
              <a:rPr lang="en-US" noProof="0" dirty="0">
                <a:ea typeface="Calibri"/>
                <a:cs typeface="Calibri"/>
              </a:rPr>
              <a:t>Florian </a:t>
            </a:r>
            <a:r>
              <a:rPr lang="en-US" noProof="0" dirty="0" err="1">
                <a:ea typeface="Calibri"/>
                <a:cs typeface="Calibri"/>
              </a:rPr>
              <a:t>Klinglmueller</a:t>
            </a:r>
            <a:endParaRPr lang="en-US" noProof="0" dirty="0"/>
          </a:p>
          <a:p>
            <a:r>
              <a:rPr lang="en-US" noProof="0" dirty="0"/>
              <a:t>Willi Maurer</a:t>
            </a:r>
            <a:endParaRPr lang="en-US" noProof="0" dirty="0">
              <a:ea typeface="Calibri" panose="020F0502020204030204"/>
              <a:cs typeface="Calibri" panose="020F0502020204030204"/>
            </a:endParaRPr>
          </a:p>
          <a:p>
            <a:r>
              <a:rPr lang="en-US" noProof="0" dirty="0"/>
              <a:t>Martin Posch</a:t>
            </a:r>
            <a:endParaRPr lang="en-US" noProof="0" dirty="0">
              <a:ea typeface="Calibri"/>
              <a:cs typeface="Calibri"/>
            </a:endParaRPr>
          </a:p>
          <a:p>
            <a:r>
              <a:rPr lang="en-US" noProof="0" dirty="0">
                <a:ea typeface="Calibri"/>
                <a:cs typeface="Calibri"/>
              </a:rPr>
              <a:t>Kornelius </a:t>
            </a:r>
            <a:r>
              <a:rPr lang="en-US" noProof="0" dirty="0" err="1">
                <a:ea typeface="Calibri"/>
                <a:cs typeface="Calibri"/>
              </a:rPr>
              <a:t>Rohmeyer</a:t>
            </a:r>
            <a:endParaRPr lang="en-US" noProof="0" dirty="0">
              <a:ea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B0937-AF5C-8E8E-3182-3B589D27E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E630F-875A-F576-4BBD-E3B0290F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670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3DAA-BF68-C368-8281-38E301D1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DF28A-B28A-E064-0A9F-40853E42F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Become </a:t>
            </a:r>
            <a:r>
              <a:rPr lang="en-US" noProof="0" dirty="0">
                <a:solidFill>
                  <a:srgbClr val="5291DD"/>
                </a:solidFill>
              </a:rPr>
              <a:t>familiar with graphical approaches </a:t>
            </a:r>
            <a:r>
              <a:rPr lang="en-US" noProof="0" dirty="0"/>
              <a:t>to multiple testing</a:t>
            </a:r>
          </a:p>
          <a:p>
            <a:r>
              <a:rPr lang="en-US" noProof="0" dirty="0">
                <a:solidFill>
                  <a:srgbClr val="5291DD"/>
                </a:solidFill>
              </a:rPr>
              <a:t>Apply and optimize graphical approaches </a:t>
            </a:r>
            <a:r>
              <a:rPr lang="en-US" noProof="0" dirty="0"/>
              <a:t>in clinical trial settings</a:t>
            </a:r>
          </a:p>
          <a:p>
            <a:r>
              <a:rPr lang="en-US" noProof="0" dirty="0"/>
              <a:t>Understand the basic </a:t>
            </a:r>
            <a:r>
              <a:rPr lang="en-US" noProof="0" dirty="0">
                <a:solidFill>
                  <a:srgbClr val="5291DD"/>
                </a:solidFill>
              </a:rPr>
              <a:t>functionality of the </a:t>
            </a:r>
            <a:r>
              <a:rPr lang="en-US" noProof="0" dirty="0" err="1">
                <a:solidFill>
                  <a:srgbClr val="5291DD"/>
                </a:solidFill>
              </a:rPr>
              <a:t>graphicalMCP</a:t>
            </a:r>
            <a:r>
              <a:rPr lang="en-US" noProof="0" dirty="0">
                <a:solidFill>
                  <a:srgbClr val="5291DD"/>
                </a:solidFill>
              </a:rPr>
              <a:t> package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7C86F-AE68-3750-903C-22467B8D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5485A-6025-27CB-1CBF-8F9A5F6FD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5992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3DAA-BF68-C368-8281-38E301D1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DF28A-B28A-E064-0A9F-40853E42F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Introduction and basic concepts</a:t>
            </a:r>
          </a:p>
          <a:p>
            <a:r>
              <a:rPr lang="en-US" noProof="0" dirty="0"/>
              <a:t>Graphical approaches to multiple testing</a:t>
            </a:r>
          </a:p>
          <a:p>
            <a:r>
              <a:rPr lang="en-US" noProof="0" dirty="0"/>
              <a:t>Optimizing graphical multiple comparison procedures</a:t>
            </a:r>
          </a:p>
          <a:p>
            <a:r>
              <a:rPr lang="en-US" noProof="0" dirty="0" err="1"/>
              <a:t>graphicalMCP</a:t>
            </a:r>
            <a:r>
              <a:rPr lang="en-US" noProof="0" dirty="0"/>
              <a:t>: implementation of graphical approaches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5B883-69FD-8C45-E876-FBFF68BD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6A3D3-265B-D3D2-8648-E48E081C4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76718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204B7-0C47-63C0-BC0B-16F83FB7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EE10-3281-CCFD-9610-BD62F0E1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62CA0-73FF-18A7-39B7-957C5315A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Optimizing graphical multiple comparison procedures</a:t>
            </a:r>
          </a:p>
          <a:p>
            <a:r>
              <a:rPr lang="en-US" noProof="0" dirty="0" err="1">
                <a:solidFill>
                  <a:schemeClr val="bg1">
                    <a:lumMod val="75000"/>
                  </a:schemeClr>
                </a:solidFill>
              </a:rPr>
              <a:t>graphicalMCP</a:t>
            </a:r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: implementation of graphical approaches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E482B-E426-BD74-B329-2840F0E4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86CBF-3BB9-8979-8B38-96F216B7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4372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 i="0" kern="1200" spc="-100" baseline="0" noProof="0" dirty="0">
                <a:solidFill>
                  <a:schemeClr val="tx1"/>
                </a:solidFill>
                <a:latin typeface="+mj-lt"/>
                <a:ea typeface="Arial Black" charset="0"/>
                <a:cs typeface="Arial Black" charset="0"/>
              </a:rPr>
              <a:t>Sources of </a:t>
            </a:r>
            <a:r>
              <a:rPr lang="en-US" sz="3200" spc="-100" noProof="0" dirty="0">
                <a:ea typeface="Arial Black" charset="0"/>
                <a:cs typeface="Arial Black" charset="0"/>
              </a:rPr>
              <a:t>m</a:t>
            </a:r>
            <a:r>
              <a:rPr lang="en-US" sz="3200" b="0" i="0" kern="1200" spc="-100" baseline="0" noProof="0" dirty="0">
                <a:solidFill>
                  <a:schemeClr val="tx1"/>
                </a:solidFill>
                <a:latin typeface="+mj-lt"/>
                <a:ea typeface="Arial Black" charset="0"/>
                <a:cs typeface="Arial Black" charset="0"/>
              </a:rPr>
              <a:t>ultiplicity</a:t>
            </a:r>
            <a:endParaRPr lang="en-US" sz="2000" i="1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CF94-E3B2-2027-9E29-D84B307B1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Multiple test problems are very common in clinical trials</a:t>
            </a:r>
          </a:p>
          <a:p>
            <a:r>
              <a:rPr lang="en-US" noProof="0" dirty="0"/>
              <a:t>Applications include the comparison of a new treatment with</a:t>
            </a:r>
          </a:p>
          <a:p>
            <a:pPr lvl="1"/>
            <a:r>
              <a:rPr lang="en-US" noProof="0" dirty="0">
                <a:solidFill>
                  <a:srgbClr val="5291DD"/>
                </a:solidFill>
              </a:rPr>
              <a:t>Several other treatments </a:t>
            </a:r>
            <a:r>
              <a:rPr lang="en-US" noProof="0" dirty="0"/>
              <a:t>(e.g., multiple doses)</a:t>
            </a:r>
          </a:p>
          <a:p>
            <a:pPr lvl="1"/>
            <a:r>
              <a:rPr lang="en-US" noProof="0" dirty="0"/>
              <a:t>A control treatment for </a:t>
            </a:r>
            <a:r>
              <a:rPr lang="en-US" noProof="0" dirty="0">
                <a:solidFill>
                  <a:srgbClr val="5291DD"/>
                </a:solidFill>
              </a:rPr>
              <a:t>more than one endpoint</a:t>
            </a:r>
          </a:p>
          <a:p>
            <a:pPr lvl="1"/>
            <a:r>
              <a:rPr lang="en-US" noProof="0" dirty="0"/>
              <a:t>A control treatment for </a:t>
            </a:r>
            <a:r>
              <a:rPr lang="en-US" noProof="0" dirty="0">
                <a:solidFill>
                  <a:srgbClr val="5291DD"/>
                </a:solidFill>
              </a:rPr>
              <a:t>more than one population</a:t>
            </a:r>
          </a:p>
          <a:p>
            <a:pPr lvl="1"/>
            <a:r>
              <a:rPr lang="en-US" noProof="0" dirty="0"/>
              <a:t>A control treatment </a:t>
            </a:r>
            <a:r>
              <a:rPr lang="en-US" noProof="0" dirty="0">
                <a:solidFill>
                  <a:srgbClr val="5291DD"/>
                </a:solidFill>
              </a:rPr>
              <a:t>repeatedly in time</a:t>
            </a:r>
          </a:p>
          <a:p>
            <a:pPr lvl="1"/>
            <a:r>
              <a:rPr lang="en-US" noProof="0" dirty="0"/>
              <a:t>... (or any combination thereof)</a:t>
            </a:r>
          </a:p>
          <a:p>
            <a:r>
              <a:rPr lang="en-US" noProof="0" dirty="0"/>
              <a:t>Multiple test problems in clinical trials are very diverse and many different methods are available</a:t>
            </a:r>
          </a:p>
          <a:p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2EAC4-2761-535B-BCCA-1754426FB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1D8AB-8229-7F45-F0DA-0532EEC8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0460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pc="-100" noProof="0" dirty="0"/>
              <a:t>Example 1 – Multiple doses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7975798" cy="3263504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noProof="0" dirty="0"/>
                  <a:t>Double-blind, parallel-group trial to show that new drug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noProof="0" dirty="0"/>
                  <a:t> is better than a control drug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noProof="0" dirty="0"/>
                  <a:t> in patients with chronic obstructive pulmonary disease (COPD)</a:t>
                </a:r>
              </a:p>
              <a:p>
                <a:r>
                  <a:rPr lang="en-US" noProof="0" dirty="0"/>
                  <a:t>Endpoint: FEV1 (forced expiratory volume in one second)</a:t>
                </a:r>
              </a:p>
              <a:p>
                <a:pPr lvl="1"/>
                <a:r>
                  <a:rPr lang="en-US" noProof="0" dirty="0"/>
                  <a:t>Continuous variable, where larger values indicate better efficacy</a:t>
                </a:r>
              </a:p>
              <a:p>
                <a:r>
                  <a:rPr lang="en-US" noProof="0" dirty="0"/>
                  <a:t>New drug is available at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doses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solidFill>
                          <a:srgbClr val="5291D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rgbClr val="5291DD"/>
                    </a:solidFill>
                  </a:rPr>
                  <a:t> </a:t>
                </a:r>
                <a:endParaRPr lang="en-US" noProof="0" dirty="0"/>
              </a:p>
              <a:p>
                <a:endParaRPr lang="en-US" noProof="0" dirty="0"/>
              </a:p>
              <a:p>
                <a:endParaRPr lang="en-US" noProof="0" dirty="0"/>
              </a:p>
              <a:p>
                <a:r>
                  <a:rPr lang="en-US" noProof="0" dirty="0"/>
                  <a:t>Resulting in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statistical hypotheses</a:t>
                </a:r>
                <a:r>
                  <a:rPr lang="en-US" noProof="0" dirty="0"/>
                  <a:t>, one for each dose-control comparison</a:t>
                </a:r>
              </a:p>
              <a:p>
                <a:pPr lvl="1"/>
                <a:r>
                  <a:rPr lang="en-US" noProof="0" dirty="0">
                    <a:solidFill>
                      <a:srgbClr val="5291DD"/>
                    </a:solidFill>
                  </a:rPr>
                  <a:t>Does it matter if we investigate one or two doses in a clinical trial?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7975798" cy="3263504"/>
              </a:xfrm>
              <a:blipFill>
                <a:blip r:embed="rId3"/>
                <a:stretch>
                  <a:fillRect l="-535" t="-1869" r="-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3">
            <a:extLst>
              <a:ext uri="{FF2B5EF4-FFF2-40B4-BE49-F238E27FC236}">
                <a16:creationId xmlns:a16="http://schemas.microsoft.com/office/drawing/2014/main" id="{CBF118EE-2095-C818-72DE-55B588A98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075806"/>
            <a:ext cx="4114800" cy="643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A96E1FB-9B66-5677-3FFE-ABDB9DAFE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4B1D9-E8AB-CA91-3D65-1570CF455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1879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pc="-100" noProof="0" dirty="0"/>
              <a:t>Example 2 – Multiple endpoints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8047806" cy="3263504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Double-blind, parallel-group trial to show that new drug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noProof="0" dirty="0"/>
                  <a:t> (available at a single dose) is better than a control drug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noProof="0" dirty="0"/>
                  <a:t> in patients with COPD</a:t>
                </a:r>
              </a:p>
              <a:p>
                <a:r>
                  <a:rPr lang="en-US" noProof="0" dirty="0"/>
                  <a:t>New drug is evaluated for two endpoints</a:t>
                </a:r>
              </a:p>
              <a:p>
                <a:pPr lvl="1">
                  <a:tabLst>
                    <a:tab pos="2420938" algn="l"/>
                  </a:tabLst>
                </a:pPr>
                <a:r>
                  <a:rPr lang="en-US" noProof="0" dirty="0">
                    <a:solidFill>
                      <a:srgbClr val="5291DD"/>
                    </a:solidFill>
                  </a:rPr>
                  <a:t>Primary</a:t>
                </a:r>
                <a:r>
                  <a:rPr lang="en-US" noProof="0" dirty="0"/>
                  <a:t> endpoint: 		FEV1</a:t>
                </a:r>
              </a:p>
              <a:p>
                <a:pPr lvl="1">
                  <a:tabLst>
                    <a:tab pos="2420938" algn="l"/>
                  </a:tabLst>
                </a:pPr>
                <a:r>
                  <a:rPr lang="en-US" noProof="0" dirty="0">
                    <a:solidFill>
                      <a:srgbClr val="5291DD"/>
                    </a:solidFill>
                  </a:rPr>
                  <a:t>Secondary</a:t>
                </a:r>
                <a:r>
                  <a:rPr lang="en-US" noProof="0" dirty="0"/>
                  <a:t> endpoint:	Time to exacerbation</a:t>
                </a:r>
              </a:p>
              <a:p>
                <a:r>
                  <a:rPr lang="en-US" noProof="0" dirty="0"/>
                  <a:t>Resulting in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statistical hypotheses</a:t>
                </a:r>
                <a:r>
                  <a:rPr lang="en-US" noProof="0" dirty="0"/>
                  <a:t>, one for each endpoint</a:t>
                </a:r>
              </a:p>
              <a:p>
                <a:pPr lvl="1"/>
                <a:r>
                  <a:rPr lang="en-US" noProof="0" dirty="0"/>
                  <a:t>We have again a problem of testing multiple hypotheses</a:t>
                </a:r>
              </a:p>
              <a:p>
                <a:pPr lvl="1"/>
                <a:r>
                  <a:rPr lang="en-US" noProof="0" dirty="0">
                    <a:solidFill>
                      <a:srgbClr val="5291DD"/>
                    </a:solidFill>
                  </a:rPr>
                  <a:t>Is this test problem structurally different to the one in Example 1?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8047806" cy="3263504"/>
              </a:xfrm>
              <a:blipFill>
                <a:blip r:embed="rId3"/>
                <a:stretch>
                  <a:fillRect l="-758" t="-2243" r="-1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3">
            <a:extLst>
              <a:ext uri="{FF2B5EF4-FFF2-40B4-BE49-F238E27FC236}">
                <a16:creationId xmlns:a16="http://schemas.microsoft.com/office/drawing/2014/main" id="{2546920C-1BD2-6DA4-7FC4-871984463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644" y="2166443"/>
            <a:ext cx="522706" cy="170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D2875-EC79-0590-7DD2-DB5E42929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40E94-F1FD-0420-C784-2263A6888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518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– Multiple endpoints </a:t>
            </a:r>
            <a:r>
              <a:rPr lang="en-US" sz="3200" spc="-100" noProof="0" dirty="0">
                <a:solidFill>
                  <a:srgbClr val="5291DD"/>
                </a:solidFill>
              </a:rPr>
              <a:t>and</a:t>
            </a:r>
            <a:r>
              <a:rPr lang="en-US" sz="3200" spc="-100" noProof="0" dirty="0"/>
              <a:t> multiple doses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8119814" cy="3263504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Double-blind, parallel-group trial to show that new drug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noProof="0" dirty="0"/>
                  <a:t> (available at two doses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solidFill>
                          <a:srgbClr val="5291D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) is better than a control drug 𝐶 in COPD patients with respect to two hierarchical endpoints (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FEV1</a:t>
                </a:r>
                <a:r>
                  <a:rPr lang="en-US" noProof="0" dirty="0"/>
                  <a:t>,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 time to exacerbation</a:t>
                </a:r>
                <a:r>
                  <a:rPr lang="en-US" noProof="0" dirty="0"/>
                  <a:t>)</a:t>
                </a:r>
              </a:p>
              <a:p>
                <a:r>
                  <a:rPr lang="en-US" noProof="0" dirty="0"/>
                  <a:t>Two sources of multiplicity</a:t>
                </a:r>
              </a:p>
              <a:p>
                <a:pPr lvl="1"/>
                <a:r>
                  <a:rPr lang="en-US" noProof="0" dirty="0"/>
                  <a:t>Comparing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doses </a:t>
                </a:r>
                <a:r>
                  <a:rPr lang="en-US" noProof="0" dirty="0"/>
                  <a:t>with control for each of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endpoints</a:t>
                </a:r>
              </a:p>
              <a:p>
                <a:r>
                  <a:rPr lang="en-US" noProof="0" dirty="0"/>
                  <a:t>Resulting in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four statistical hypotheses </a:t>
                </a:r>
                <a:r>
                  <a:rPr lang="en-US" noProof="0" dirty="0"/>
                  <a:t>of interest</a:t>
                </a:r>
              </a:p>
              <a:p>
                <a:pPr lvl="1"/>
                <a:r>
                  <a:rPr lang="en-US" noProof="0" dirty="0"/>
                  <a:t>Two primary hypotheses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(comparing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with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noProof="0" dirty="0"/>
                  <a:t> for FEV1)</a:t>
                </a:r>
              </a:p>
              <a:p>
                <a:pPr lvl="1"/>
                <a:r>
                  <a:rPr lang="en-US" noProof="0" dirty="0"/>
                  <a:t>Two secondary hypotheses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(comparing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with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noProof="0" dirty="0"/>
                  <a:t> for exacerbation)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8119814" cy="3263504"/>
              </a:xfrm>
              <a:blipFill>
                <a:blip r:embed="rId2"/>
                <a:stretch>
                  <a:fillRect l="-751" t="-2243" r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69126-E1D0-3B37-502D-1B752646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98C73-39AE-2B92-4B04-84818385E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1217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D783C04-F37C-E2A2-A6D7-AB46B7C701D6}"/>
              </a:ext>
            </a:extLst>
          </p:cNvPr>
          <p:cNvGrpSpPr/>
          <p:nvPr/>
        </p:nvGrpSpPr>
        <p:grpSpPr>
          <a:xfrm>
            <a:off x="5661248" y="1818878"/>
            <a:ext cx="3375248" cy="1905000"/>
            <a:chOff x="5220072" y="1934682"/>
            <a:chExt cx="3375248" cy="19050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49B42E2-85E5-B0F8-67EA-A5DBEA8FBA3B}"/>
                </a:ext>
              </a:extLst>
            </p:cNvPr>
            <p:cNvGrpSpPr/>
            <p:nvPr/>
          </p:nvGrpSpPr>
          <p:grpSpPr>
            <a:xfrm>
              <a:off x="5796136" y="1934682"/>
              <a:ext cx="2730656" cy="1905000"/>
              <a:chOff x="3441544" y="3810000"/>
              <a:chExt cx="2730656" cy="1905000"/>
            </a:xfrm>
          </p:grpSpPr>
          <p:pic>
            <p:nvPicPr>
              <p:cNvPr id="22" name="Picture 3">
                <a:extLst>
                  <a:ext uri="{FF2B5EF4-FFF2-40B4-BE49-F238E27FC236}">
                    <a16:creationId xmlns:a16="http://schemas.microsoft.com/office/drawing/2014/main" id="{8801CFB1-BFDC-9CCE-6C89-8E39058207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9841" y="3810000"/>
                <a:ext cx="2562359" cy="190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49483-7124-E87B-E93E-BE65586CA9C3}"/>
                  </a:ext>
                </a:extLst>
              </p:cNvPr>
              <p:cNvSpPr txBox="1"/>
              <p:nvPr/>
            </p:nvSpPr>
            <p:spPr>
              <a:xfrm>
                <a:off x="3441544" y="3945318"/>
                <a:ext cx="1143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noProof="0" dirty="0">
                    <a:solidFill>
                      <a:schemeClr val="bg1">
                        <a:lumMod val="50000"/>
                      </a:schemeClr>
                    </a:solidFill>
                    <a:cs typeface="Arial" charset="0"/>
                    <a:sym typeface="Symbol"/>
                  </a:rPr>
                  <a:t> vs</a:t>
                </a:r>
                <a:r>
                  <a:rPr lang="en-US" sz="1100" b="1" noProof="0" dirty="0">
                    <a:solidFill>
                      <a:schemeClr val="bg1">
                        <a:lumMod val="50000"/>
                      </a:schemeClr>
                    </a:solidFill>
                    <a:cs typeface="Arial" charset="0"/>
                  </a:rPr>
                  <a:t> Placebo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E0D15CC-6D30-6C50-8892-9DAB66361A43}"/>
                </a:ext>
              </a:extLst>
            </p:cNvPr>
            <p:cNvSpPr txBox="1"/>
            <p:nvPr/>
          </p:nvSpPr>
          <p:spPr>
            <a:xfrm>
              <a:off x="7452320" y="2069043"/>
              <a:ext cx="1143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noProof="0" dirty="0">
                  <a:solidFill>
                    <a:schemeClr val="bg1">
                      <a:lumMod val="50000"/>
                    </a:schemeClr>
                  </a:solidFill>
                  <a:cs typeface="Arial" charset="0"/>
                  <a:sym typeface="Symbol"/>
                </a:rPr>
                <a:t> vs</a:t>
              </a:r>
              <a:r>
                <a:rPr lang="en-US" sz="1100" b="1" noProof="0" dirty="0">
                  <a:solidFill>
                    <a:schemeClr val="bg1">
                      <a:lumMod val="50000"/>
                    </a:schemeClr>
                  </a:solidFill>
                  <a:cs typeface="Arial" charset="0"/>
                </a:rPr>
                <a:t> Placebo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917CB3-3B59-184A-8953-847D99EAEDF5}"/>
                </a:ext>
              </a:extLst>
            </p:cNvPr>
            <p:cNvSpPr txBox="1"/>
            <p:nvPr/>
          </p:nvSpPr>
          <p:spPr>
            <a:xfrm>
              <a:off x="5220072" y="2500432"/>
              <a:ext cx="1143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noProof="0" dirty="0">
                  <a:solidFill>
                    <a:schemeClr val="bg1">
                      <a:lumMod val="50000"/>
                    </a:schemeClr>
                  </a:solidFill>
                  <a:cs typeface="Arial" charset="0"/>
                </a:rPr>
                <a:t>Primary: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E160607-0B81-BF0F-DA27-C1D1605A68C5}"/>
                </a:ext>
              </a:extLst>
            </p:cNvPr>
            <p:cNvSpPr txBox="1"/>
            <p:nvPr/>
          </p:nvSpPr>
          <p:spPr>
            <a:xfrm>
              <a:off x="5220072" y="3357786"/>
              <a:ext cx="1143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noProof="0" dirty="0">
                  <a:solidFill>
                    <a:schemeClr val="bg1">
                      <a:lumMod val="50000"/>
                    </a:schemeClr>
                  </a:solidFill>
                  <a:cs typeface="Arial" charset="0"/>
                </a:rPr>
                <a:t>Secondary: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– Multiple endpoints </a:t>
            </a:r>
            <a:r>
              <a:rPr lang="en-US" sz="3200" spc="-100" noProof="0" dirty="0">
                <a:solidFill>
                  <a:srgbClr val="5291DD"/>
                </a:solidFill>
              </a:rPr>
              <a:t>and</a:t>
            </a:r>
            <a:r>
              <a:rPr lang="en-US" sz="3200" spc="-100" noProof="0" dirty="0"/>
              <a:t> multiple doses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5095478" cy="3263504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Four hypotheses are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not equally important</a:t>
                </a:r>
              </a:p>
              <a:p>
                <a:r>
                  <a:rPr lang="en-US" noProof="0" dirty="0"/>
                  <a:t>A secondary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) should be tested only if the corresponding primary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) has been rejected (i.e., declared statistically significant) </a:t>
                </a:r>
              </a:p>
              <a:p>
                <a:r>
                  <a:rPr lang="en-US" noProof="0" dirty="0"/>
                  <a:t>Need for suitable ways of addressing such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structured multiplicity problems</a:t>
                </a:r>
              </a:p>
              <a:p>
                <a:pPr lvl="1"/>
                <a:r>
                  <a:rPr lang="en-US" noProof="0" dirty="0"/>
                  <a:t>Graphical approaches can facilitate clinical team discussions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5095478" cy="3263504"/>
              </a:xfrm>
              <a:blipFill>
                <a:blip r:embed="rId3"/>
                <a:stretch>
                  <a:fillRect l="-1196" t="-2243" r="-1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D5094-0972-229C-A5FD-FF1BAC9F0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41525-687E-CD9F-CF45-F0A56507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429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686F-AE34-0D1F-12D0-5162DCA8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 i="0" kern="1200" spc="-100" baseline="0" noProof="0" dirty="0">
                <a:solidFill>
                  <a:schemeClr val="tx1"/>
                </a:solidFill>
                <a:latin typeface="+mj-lt"/>
                <a:ea typeface="Arial Black" charset="0"/>
                <a:cs typeface="Arial Black" charset="0"/>
              </a:rPr>
              <a:t>Dealing with multiplicity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C64B8-1F60-2685-F29D-5B204D843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5291DD"/>
                </a:solidFill>
              </a:rPr>
              <a:t>Reduce degree of multiplicity to the extent possible</a:t>
            </a:r>
          </a:p>
          <a:p>
            <a:pPr lvl="1"/>
            <a:r>
              <a:rPr lang="en-US" noProof="0" dirty="0"/>
              <a:t>Address limited number of questions</a:t>
            </a:r>
          </a:p>
          <a:p>
            <a:pPr lvl="1"/>
            <a:r>
              <a:rPr lang="en-US" noProof="0" dirty="0"/>
              <a:t>Minimize number of variables by using composite endpoints or summary scores</a:t>
            </a:r>
          </a:p>
          <a:p>
            <a:pPr lvl="1"/>
            <a:r>
              <a:rPr lang="en-US" noProof="0" dirty="0"/>
              <a:t>Prioritize questions</a:t>
            </a:r>
          </a:p>
          <a:p>
            <a:r>
              <a:rPr lang="en-US" noProof="0" dirty="0">
                <a:solidFill>
                  <a:srgbClr val="5291DD"/>
                </a:solidFill>
              </a:rPr>
              <a:t>If multiplicity still persists...</a:t>
            </a:r>
          </a:p>
          <a:p>
            <a:pPr lvl="1"/>
            <a:r>
              <a:rPr lang="en-US" noProof="0" dirty="0"/>
              <a:t>Multiplicity adjustment should always be considered</a:t>
            </a:r>
          </a:p>
          <a:p>
            <a:pPr lvl="1"/>
            <a:r>
              <a:rPr lang="en-US" noProof="0" dirty="0"/>
              <a:t>Regulatory guidelines require a description of the multiplicity adjustment in Phase III study protocols</a:t>
            </a:r>
          </a:p>
          <a:p>
            <a:pPr lvl="1"/>
            <a:r>
              <a:rPr lang="en-US" noProof="0" dirty="0"/>
              <a:t>If not thought necessary, explain why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2A7EF-B1C2-29E9-136B-1651DA2E2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50924-7CA9-EFA1-457D-6A0AAA7B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108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5FC7-C177-3AEC-2BCF-DD53AA628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FDA guideline on multiple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F6112-B442-E835-15CC-D053072225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5095478" cy="3263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>
                <a:solidFill>
                  <a:srgbClr val="5291DD"/>
                </a:solidFill>
              </a:rPr>
              <a:t>Focus on...</a:t>
            </a:r>
          </a:p>
          <a:p>
            <a:r>
              <a:rPr lang="en-US" noProof="0" dirty="0">
                <a:solidFill>
                  <a:srgbClr val="5291DD"/>
                </a:solidFill>
              </a:rPr>
              <a:t>confirmatory trials </a:t>
            </a:r>
            <a:r>
              <a:rPr lang="en-US" noProof="0" dirty="0"/>
              <a:t>but acknowledges multiplicity issues throughout drug development</a:t>
            </a:r>
          </a:p>
          <a:p>
            <a:r>
              <a:rPr lang="en-US" noProof="0" dirty="0">
                <a:solidFill>
                  <a:srgbClr val="5291DD"/>
                </a:solidFill>
              </a:rPr>
              <a:t>multiple endpoints</a:t>
            </a:r>
            <a:r>
              <a:rPr lang="en-US" noProof="0" dirty="0"/>
              <a:t>, though principles extend to other multiplicity issues</a:t>
            </a:r>
          </a:p>
          <a:p>
            <a:r>
              <a:rPr lang="en-US" noProof="0" dirty="0">
                <a:solidFill>
                  <a:srgbClr val="5291DD"/>
                </a:solidFill>
              </a:rPr>
              <a:t>efficacy endpoints</a:t>
            </a:r>
            <a:r>
              <a:rPr lang="en-US" noProof="0" dirty="0"/>
              <a:t>, though ideas apply to safety endpoints for confirmatory purposes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4FD228BD-C864-BC6B-5CA2-5D8C09591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1369219"/>
            <a:ext cx="2575198" cy="32768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3B4491-5943-C28C-9463-438EF556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A6C01-0B59-A04E-BD32-189031BD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409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8595D-2552-04D9-119F-A3310431A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BB58C4-52EC-E5F8-0092-A584A06F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C4F0D-D45B-43BF-A544-4CC466E16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FDA guideline on multiple endpoints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Rational clinical endpoint classification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5C141D-4065-B2F7-E2B1-D338A00C4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87243"/>
              </p:ext>
            </p:extLst>
          </p:nvPr>
        </p:nvGraphicFramePr>
        <p:xfrm>
          <a:off x="115410" y="1237148"/>
          <a:ext cx="8913180" cy="37213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8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9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u="none" noProof="0" dirty="0">
                          <a:solidFill>
                            <a:schemeClr val="bg1"/>
                          </a:solidFill>
                          <a:effectLst/>
                        </a:rPr>
                        <a:t>Endpoint</a:t>
                      </a:r>
                      <a:endParaRPr lang="en-US" sz="2400" u="none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u="none" noProof="0" dirty="0">
                          <a:solidFill>
                            <a:schemeClr val="bg1"/>
                          </a:solidFill>
                          <a:effectLst/>
                        </a:rPr>
                        <a:t>Characterization</a:t>
                      </a:r>
                      <a:endParaRPr lang="en-US" sz="2400" u="none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u="none" noProof="0" dirty="0">
                          <a:solidFill>
                            <a:schemeClr val="bg1"/>
                          </a:solidFill>
                          <a:effectLst/>
                        </a:rPr>
                        <a:t>Implication on approval and product labeling</a:t>
                      </a:r>
                      <a:endParaRPr lang="en-US" sz="2400" u="none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u="none" noProof="0" dirty="0">
                          <a:solidFill>
                            <a:schemeClr val="bg1"/>
                          </a:solidFill>
                          <a:effectLst/>
                        </a:rPr>
                        <a:t>Multiplicity adjustment</a:t>
                      </a:r>
                      <a:endParaRPr lang="en-US" sz="2400" u="none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0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solidFill>
                            <a:schemeClr val="bg1"/>
                          </a:solidFill>
                          <a:effectLst/>
                        </a:rPr>
                        <a:t>Primary</a:t>
                      </a:r>
                      <a:endParaRPr lang="en-US" sz="2400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Necessary and/or sufficient to establish efficacy (trial success)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Mandatory for approval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Yes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27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solidFill>
                            <a:schemeClr val="bg1"/>
                          </a:solidFill>
                          <a:effectLst/>
                        </a:rPr>
                        <a:t>Secondary</a:t>
                      </a:r>
                      <a:endParaRPr lang="en-US" sz="2400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Additional meaningful outcomes that represent alternative facets of the disease (not just minor variations on other endpoints)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Not sufficient for approval; could lead to additional labeling claims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Yes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99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solidFill>
                            <a:schemeClr val="bg1"/>
                          </a:solidFill>
                          <a:effectLst/>
                        </a:rPr>
                        <a:t>Exploratory</a:t>
                      </a:r>
                      <a:endParaRPr lang="en-US" sz="2400" noProof="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Hypothesis generating and variations on primary/secondary endpoints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Descriptive extensions (not considered as new claims)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noProof="0" dirty="0">
                          <a:effectLst/>
                        </a:rPr>
                        <a:t>No</a:t>
                      </a:r>
                      <a:endParaRPr lang="en-US" sz="2400" noProof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6549C5-43CB-B69D-1637-80064BE4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16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341B0-C999-7B41-8ED3-A5EF64C8355E}"/>
              </a:ext>
            </a:extLst>
          </p:cNvPr>
          <p:cNvSpPr txBox="1"/>
          <p:nvPr/>
        </p:nvSpPr>
        <p:spPr>
          <a:xfrm>
            <a:off x="7787640" y="1237148"/>
            <a:ext cx="1286670" cy="3744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D69EE-962D-3693-FECF-E39685FDAEA8}"/>
              </a:ext>
            </a:extLst>
          </p:cNvPr>
          <p:cNvSpPr txBox="1"/>
          <p:nvPr/>
        </p:nvSpPr>
        <p:spPr>
          <a:xfrm>
            <a:off x="5077380" y="1221145"/>
            <a:ext cx="3935970" cy="3744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E703D-BB8E-A4C5-7DB1-11879218DB06}"/>
              </a:ext>
            </a:extLst>
          </p:cNvPr>
          <p:cNvSpPr txBox="1"/>
          <p:nvPr/>
        </p:nvSpPr>
        <p:spPr>
          <a:xfrm>
            <a:off x="1408784" y="1244768"/>
            <a:ext cx="7650285" cy="3744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29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87094-FF75-6C18-EBC3-F95B1C5F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Other regulatory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14900-2FC3-DE74-6996-4024CE17E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A3FEE2E9-22C6-4549-2100-C46A39BE7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69" y="1369218"/>
            <a:ext cx="2310059" cy="32635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DEFF05-2D55-3CE8-9D62-1457A22CF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792" y="1369216"/>
            <a:ext cx="2592288" cy="32570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90A177-6784-5B22-19FC-D639EDB07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345" y="1369216"/>
            <a:ext cx="2312536" cy="32570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8D835EC-DD72-538B-08DC-93763245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82940-D09A-1338-4D64-F7ADBF05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4073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8079-C88B-5509-A24F-7619B725F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Notation</a:t>
            </a:r>
            <a:endParaRPr lang="en-US" sz="2200" i="1" noProof="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3F896-0111-DD09-49B8-9663137DA1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noProof="0" dirty="0"/>
                  <a:t>Assume a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‘family’ of </a:t>
                </a:r>
                <a14:m>
                  <m:oMath xmlns:m="http://schemas.openxmlformats.org/officeDocument/2006/math">
                    <m:r>
                      <a:rPr lang="en-US" noProof="0" smtClean="0">
                        <a:solidFill>
                          <a:srgbClr val="5291DD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noProof="0" dirty="0">
                    <a:solidFill>
                      <a:srgbClr val="5291DD"/>
                    </a:solidFill>
                  </a:rPr>
                  <a:t> inferences</a:t>
                </a:r>
                <a:endParaRPr lang="en-US" noProof="0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pPr>
                  <a:defRPr/>
                </a:pPr>
                <a:r>
                  <a:rPr lang="en-US" noProof="0" dirty="0"/>
                  <a:t>Parameters of interest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noProof="0" dirty="0"/>
              </a:p>
              <a:p>
                <a:pPr>
                  <a:spcAft>
                    <a:spcPts val="600"/>
                  </a:spcAft>
                  <a:defRPr/>
                </a:pPr>
                <a:r>
                  <a:rPr lang="en-US" noProof="0" dirty="0"/>
                  <a:t>Individual null hypotheses</a:t>
                </a:r>
              </a:p>
              <a:p>
                <a:pPr marL="0" indent="0">
                  <a:spcBef>
                    <a:spcPts val="6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/>
                        </a:rPr>
                        <m:t>=0,</m:t>
                      </m:r>
                      <m:r>
                        <a:rPr lang="en-US" i="1" noProof="0" smtClean="0">
                          <a:latin typeface="Cambria Math"/>
                        </a:rPr>
                        <m:t> </m:t>
                      </m:r>
                      <m:r>
                        <a:rPr lang="en-US" b="0" i="1" noProof="0" smtClean="0">
                          <a:latin typeface="Cambria Math"/>
                        </a:rPr>
                        <m:t>…,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i="1" noProof="0" smtClean="0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i="1" noProof="0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noProof="0" dirty="0"/>
              </a:p>
              <a:p>
                <a:pPr>
                  <a:defRPr/>
                </a:pPr>
                <a:r>
                  <a:rPr lang="en-US" noProof="0" dirty="0">
                    <a:solidFill>
                      <a:srgbClr val="5291DD"/>
                    </a:solidFill>
                  </a:rPr>
                  <a:t>Example</a:t>
                </a:r>
                <a:r>
                  <a:rPr lang="en-US" noProof="0" dirty="0"/>
                  <a:t>:</a:t>
                </a:r>
              </a:p>
              <a:p>
                <a:pPr lvl="1">
                  <a:defRPr/>
                </a:pPr>
                <a:r>
                  <a:rPr lang="en-US" noProof="0" dirty="0"/>
                  <a:t>Comparison of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noProof="0" dirty="0"/>
                  <a:t> treatments (e.g., dose levels) with a control (e.g., placebo)</a:t>
                </a:r>
              </a:p>
              <a:p>
                <a:pPr lvl="1">
                  <a:defRPr/>
                </a:pPr>
                <a:r>
                  <a:rPr lang="en-US" noProof="0" dirty="0"/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noProof="0" dirty="0"/>
                  <a:t> are the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noProof="0" dirty="0"/>
                  <a:t> treatment effect differences of interest, where </a:t>
                </a:r>
              </a:p>
              <a:p>
                <a:pPr lvl="2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denotes the average effect for treatment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/>
                      </a:rPr>
                      <m:t>𝑖</m:t>
                    </m:r>
                    <m:r>
                      <a:rPr lang="en-US" b="0" i="1" noProof="0" smtClean="0">
                        <a:latin typeface="Cambria Math"/>
                      </a:rPr>
                      <m:t>=1,…,</m:t>
                    </m:r>
                    <m:r>
                      <a:rPr lang="en-US" b="0" i="1" noProof="0" smtClean="0">
                        <a:latin typeface="Cambria Math"/>
                      </a:rPr>
                      <m:t>𝑚</m:t>
                    </m:r>
                  </m:oMath>
                </a14:m>
                <a:endParaRPr lang="en-US" noProof="0" dirty="0"/>
              </a:p>
              <a:p>
                <a:pPr lvl="2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noProof="0" dirty="0"/>
                  <a:t> denotes the average effect for the control therapy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3F896-0111-DD09-49B8-9663137DA1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243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A98F4-A1F5-0071-00A9-F4AF97200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60F15-7805-1DFC-C4F8-A1284D694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3328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8079-C88B-5509-A24F-7619B725F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Familywise error rate (FWER)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3F896-0111-DD09-49B8-9663137DA1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noProof="0" dirty="0"/>
                  <a:t>Need to extend the usual Type I error rate concept when testing a family of null hypotheses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noProof="0" dirty="0"/>
              </a:p>
              <a:p>
                <a:pPr>
                  <a:spcAft>
                    <a:spcPts val="600"/>
                  </a:spcAft>
                  <a:defRPr/>
                </a:pPr>
                <a:r>
                  <a:rPr lang="en-US" noProof="0" dirty="0"/>
                  <a:t>A multiple test procedure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controls the FWER at level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</m:oMath>
                </a14:m>
                <a:r>
                  <a:rPr lang="en-US" noProof="0" dirty="0">
                    <a:solidFill>
                      <a:srgbClr val="5291DD"/>
                    </a:solidFill>
                  </a:rPr>
                  <a:t> in the strong sense if</a:t>
                </a:r>
                <a:endParaRPr lang="en-US" noProof="0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pPr marL="0" indent="0" algn="ctr"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noProof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noProof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reject</m:t>
                              </m:r>
                              <m:r>
                                <m:rPr>
                                  <m:nor/>
                                </m:rPr>
                                <a:rPr lang="en-US" noProof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noProof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 noProof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noProof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least</m:t>
                              </m:r>
                              <m:r>
                                <m:rPr>
                                  <m:nor/>
                                </m:rPr>
                                <a:rPr lang="en-US" noProof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noProof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one</m:t>
                              </m:r>
                              <m:r>
                                <m:rPr>
                                  <m:nor/>
                                </m:rPr>
                                <a:rPr lang="en-US" noProof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noProof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true</m:t>
                              </m:r>
                              <m:r>
                                <m:rPr>
                                  <m:nor/>
                                </m:rPr>
                                <a:rPr lang="en-US" noProof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noProof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null</m:t>
                              </m:r>
                            </m:e>
                          </m:d>
                        </m:e>
                      </m:func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/>
                        </a:rPr>
                        <m:t>≤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pPr marL="0" indent="0">
                  <a:spcAft>
                    <a:spcPts val="600"/>
                  </a:spcAft>
                  <a:buNone/>
                  <a:tabLst>
                    <a:tab pos="172800" algn="l"/>
                    <a:tab pos="345600" algn="l"/>
                  </a:tabLst>
                  <a:defRPr/>
                </a:pPr>
                <a:r>
                  <a:rPr lang="en-US" noProof="0" dirty="0"/>
                  <a:t>	under any configuration of true/false null hypotheses</a:t>
                </a:r>
              </a:p>
              <a:p>
                <a:pPr>
                  <a:spcAft>
                    <a:spcPts val="600"/>
                  </a:spcAft>
                  <a:defRPr/>
                </a:pPr>
                <a:r>
                  <a:rPr lang="en-US" noProof="0" dirty="0"/>
                  <a:t>Strong FWER control is typically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required in confirmatory </a:t>
                </a:r>
                <a:r>
                  <a:rPr lang="en-US" noProof="0" dirty="0" err="1">
                    <a:solidFill>
                      <a:srgbClr val="5291DD"/>
                    </a:solidFill>
                  </a:rPr>
                  <a:t>clincal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 trials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3F896-0111-DD09-49B8-9663137DA1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 t="-2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75ACE-A689-75A2-9363-767EB5DA6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3729D-FD04-8F22-0491-31CF9E38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195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4CC0-B086-898D-B576-FA19566A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37C2-DC82-1C2D-5621-A43547E4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Adjusted p-values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88FD83-13F8-2F43-3FEC-821D0E775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369219"/>
                <a:ext cx="8244131" cy="3263504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Adjusted p-values extend conventional p-values by adjusting for a given multiple test procedure</a:t>
                </a:r>
              </a:p>
              <a:p>
                <a:pPr lvl="1"/>
                <a:r>
                  <a:rPr lang="en-US" noProof="0" dirty="0"/>
                  <a:t>Adjusted p-values can be compared directly with the significance level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US" noProof="0" dirty="0"/>
                  <a:t>, while controlling the FWER </a:t>
                </a:r>
              </a:p>
              <a:p>
                <a:pPr>
                  <a:spcAft>
                    <a:spcPts val="600"/>
                  </a:spcAft>
                  <a:defRPr/>
                </a:pPr>
                <a:r>
                  <a:rPr lang="en-US" noProof="0" dirty="0"/>
                  <a:t>Formally, the adjusted p-value is the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smallest significance level at which a given hypothesis is significant as part of the multiple test procedure</a:t>
                </a:r>
              </a:p>
              <a:p>
                <a:pPr>
                  <a:spcAft>
                    <a:spcPts val="600"/>
                  </a:spcAft>
                  <a:defRPr/>
                </a:pPr>
                <a:r>
                  <a:rPr lang="en-US" noProof="0" dirty="0">
                    <a:solidFill>
                      <a:srgbClr val="5291DD"/>
                    </a:solidFill>
                  </a:rPr>
                  <a:t>Example</a:t>
                </a:r>
                <a:r>
                  <a:rPr lang="en-US" noProof="0" dirty="0"/>
                  <a:t>: Bonferroni test</a:t>
                </a:r>
                <a:endParaRPr lang="en-US" noProof="0" dirty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pPr marL="0" indent="0" algn="ctr"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noProof="0" smtClean="0">
                              <a:latin typeface="Cambria Math" panose="02040503050406030204" pitchFamily="18" charset="0"/>
                              <a:ea typeface="Arial Unicode MS" pitchFamily="34" charset="-128"/>
                              <a:cs typeface="Arial Unicode MS" pitchFamily="34" charset="-128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latin typeface="Cambria Math"/>
                              <a:ea typeface="Arial Unicode MS" pitchFamily="34" charset="-128"/>
                              <a:cs typeface="Arial Unicode MS" pitchFamily="34" charset="-128"/>
                            </a:rPr>
                            <m:t>𝑝</m:t>
                          </m:r>
                        </m:e>
                        <m:sub>
                          <m:r>
                            <a:rPr lang="en-US" i="1" noProof="0" smtClean="0">
                              <a:latin typeface="Cambria Math"/>
                              <a:ea typeface="Arial Unicode MS" pitchFamily="34" charset="-128"/>
                              <a:cs typeface="Arial Unicode MS" pitchFamily="34" charset="-128"/>
                            </a:rPr>
                            <m:t>𝑖</m:t>
                          </m:r>
                        </m:sub>
                      </m:sSub>
                      <m:r>
                        <a:rPr lang="en-US" i="1" noProof="0" smtClean="0">
                          <a:latin typeface="Cambria Math"/>
                          <a:ea typeface="Arial Unicode MS" pitchFamily="34" charset="-128"/>
                          <a:cs typeface="Arial Unicode MS" pitchFamily="34" charset="-128"/>
                        </a:rPr>
                        <m:t>≤</m:t>
                      </m:r>
                      <m:f>
                        <m:fPr>
                          <m:type m:val="lin"/>
                          <m:ctrlPr>
                            <a:rPr lang="en-US" i="1" noProof="0" smtClean="0">
                              <a:latin typeface="Cambria Math" panose="02040503050406030204" pitchFamily="18" charset="0"/>
                              <a:ea typeface="Arial Unicode MS" pitchFamily="34" charset="-128"/>
                              <a:cs typeface="Arial Unicode MS" pitchFamily="34" charset="-128"/>
                            </a:rPr>
                          </m:ctrlPr>
                        </m:fPr>
                        <m:num>
                          <m:r>
                            <a:rPr lang="en-US" i="1" noProof="0" smtClean="0">
                              <a:latin typeface="Cambria Math"/>
                              <a:ea typeface="Arial Unicode MS" pitchFamily="34" charset="-128"/>
                              <a:cs typeface="Arial Unicode MS" pitchFamily="34" charset="-128"/>
                            </a:rPr>
                            <m:t>𝛼</m:t>
                          </m:r>
                        </m:num>
                        <m:den>
                          <m:r>
                            <a:rPr lang="en-US" i="1" noProof="0" smtClean="0">
                              <a:latin typeface="Cambria Math"/>
                              <a:ea typeface="Arial Unicode MS" pitchFamily="34" charset="-128"/>
                              <a:cs typeface="Arial Unicode MS" pitchFamily="34" charset="-128"/>
                            </a:rPr>
                            <m:t>𝑚</m:t>
                          </m:r>
                        </m:den>
                      </m:f>
                      <m:r>
                        <a:rPr lang="en-US" i="1" noProof="0" smtClean="0">
                          <a:latin typeface="Cambria Math"/>
                          <a:ea typeface="Arial Unicode MS" pitchFamily="34" charset="-128"/>
                          <a:cs typeface="Arial Unicode MS" pitchFamily="34" charset="-128"/>
                        </a:rPr>
                        <m:t>   </m:t>
                      </m:r>
                      <m:r>
                        <a:rPr lang="en-US" i="1" noProof="0" smtClean="0">
                          <a:latin typeface="Cambria Math"/>
                          <a:ea typeface="Cambria Math"/>
                          <a:sym typeface="Wingdings" pitchFamily="2" charset="2"/>
                        </a:rPr>
                        <m:t>⇔   </m:t>
                      </m:r>
                      <m:sSub>
                        <m:sSubPr>
                          <m:ctrlPr>
                            <a:rPr lang="en-US" i="1" noProof="0">
                              <a:latin typeface="Cambria Math" panose="02040503050406030204" pitchFamily="18" charset="0"/>
                              <a:ea typeface="Cambria Math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i="1" noProof="0">
                              <a:latin typeface="Cambria Math"/>
                              <a:ea typeface="Cambria Math"/>
                              <a:sym typeface="Wingdings" pitchFamily="2" charset="2"/>
                            </a:rPr>
                            <m:t>𝑞</m:t>
                          </m:r>
                        </m:e>
                        <m:sub>
                          <m:r>
                            <a:rPr lang="en-US" i="1" noProof="0" smtClean="0">
                              <a:latin typeface="Cambria Math"/>
                              <a:ea typeface="Cambria Math"/>
                              <a:sym typeface="Wingdings" pitchFamily="2" charset="2"/>
                            </a:rPr>
                            <m:t>𝑖</m:t>
                          </m:r>
                        </m:sub>
                      </m:sSub>
                      <m:r>
                        <a:rPr lang="en-US" i="1" noProof="0">
                          <a:latin typeface="Cambria Math"/>
                          <a:ea typeface="Cambria Math"/>
                          <a:sym typeface="Wingdings" pitchFamily="2" charset="2"/>
                        </a:rPr>
                        <m:t>=</m:t>
                      </m:r>
                      <m:func>
                        <m:funcPr>
                          <m:ctrlPr>
                            <a:rPr lang="en-US" i="1" noProof="0">
                              <a:latin typeface="Cambria Math" panose="02040503050406030204" pitchFamily="18" charset="0"/>
                              <a:ea typeface="Cambria Math"/>
                              <a:sym typeface="Wingdings" pitchFamily="2" charset="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noProof="0">
                              <a:latin typeface="Cambria Math"/>
                              <a:ea typeface="Cambria Math"/>
                              <a:sym typeface="Wingdings" pitchFamily="2" charset="2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i="1" noProof="0">
                                  <a:latin typeface="Cambria Math" panose="02040503050406030204" pitchFamily="18" charset="0"/>
                                  <a:ea typeface="Cambria Math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en-US" i="1" noProof="0">
                                  <a:latin typeface="Cambria Math"/>
                                  <a:ea typeface="Cambria Math"/>
                                  <a:sym typeface="Wingdings" pitchFamily="2" charset="2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i="1" noProof="0">
                                      <a:latin typeface="Cambria Math" panose="02040503050406030204" pitchFamily="18" charset="0"/>
                                      <a:ea typeface="Cambria Math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0">
                                      <a:latin typeface="Cambria Math"/>
                                      <a:ea typeface="Cambria Math"/>
                                      <a:sym typeface="Wingdings" pitchFamily="2" charset="2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 noProof="0" smtClean="0">
                                      <a:latin typeface="Cambria Math"/>
                                      <a:ea typeface="Cambria Math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noProof="0">
                                  <a:latin typeface="Cambria Math"/>
                                  <a:ea typeface="Cambria Math"/>
                                  <a:sym typeface="Wingdings" pitchFamily="2" charset="2"/>
                                </a:rPr>
                                <m:t>,1</m:t>
                              </m:r>
                            </m:e>
                          </m:d>
                        </m:e>
                      </m:func>
                      <m:r>
                        <a:rPr lang="en-US" i="1" noProof="0" smtClean="0">
                          <a:latin typeface="Cambria Math"/>
                          <a:ea typeface="Arial Unicode MS" pitchFamily="34" charset="-128"/>
                          <a:cs typeface="Arial Unicode MS" pitchFamily="34" charset="-128"/>
                        </a:rPr>
                        <m:t>≤</m:t>
                      </m:r>
                      <m:r>
                        <a:rPr lang="en-US" i="1" noProof="0" smtClean="0"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pPr marL="0" indent="0">
                  <a:spcAft>
                    <a:spcPts val="600"/>
                  </a:spcAft>
                  <a:buNone/>
                  <a:tabLst>
                    <a:tab pos="172800" algn="l"/>
                    <a:tab pos="345600" algn="l"/>
                  </a:tabLst>
                  <a:defRPr/>
                </a:pPr>
                <a:r>
                  <a:rPr lang="en-US" noProof="0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Arial Unicode MS" pitchFamily="34" charset="-128"/>
                            <a:cs typeface="Arial Unicode MS" pitchFamily="34" charset="-128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  <a:ea typeface="Arial Unicode MS" pitchFamily="34" charset="-128"/>
                            <a:cs typeface="Arial Unicode MS" pitchFamily="34" charset="-128"/>
                          </a:rPr>
                          <m:t>𝑝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  <a:ea typeface="Arial Unicode MS" pitchFamily="34" charset="-128"/>
                            <a:cs typeface="Arial Unicode MS" pitchFamily="34" charset="-128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is the conventional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Arial Unicode MS" pitchFamily="34" charset="-128"/>
                            <a:cs typeface="Arial Unicode MS" pitchFamily="34" charset="-128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/>
                            <a:ea typeface="Arial Unicode MS" pitchFamily="34" charset="-128"/>
                            <a:cs typeface="Arial Unicode MS" pitchFamily="34" charset="-128"/>
                          </a:rPr>
                          <m:t>𝑞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  <a:ea typeface="Arial Unicode MS" pitchFamily="34" charset="-128"/>
                            <a:cs typeface="Arial Unicode MS" pitchFamily="34" charset="-128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the adjusted p-value for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/>
                      </a:rPr>
                      <m:t>𝑖</m:t>
                    </m:r>
                    <m:r>
                      <a:rPr lang="en-US" i="1" noProof="0" smtClean="0">
                        <a:latin typeface="Cambria Math"/>
                      </a:rPr>
                      <m:t>=1,…,</m:t>
                    </m:r>
                    <m:r>
                      <a:rPr lang="en-US" i="1" noProof="0" smtClean="0">
                        <a:latin typeface="Cambria Math"/>
                      </a:rPr>
                      <m:t>𝑚</m:t>
                    </m:r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88FD83-13F8-2F43-3FEC-821D0E775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369219"/>
                <a:ext cx="8244131" cy="3263504"/>
              </a:xfrm>
              <a:blipFill>
                <a:blip r:embed="rId4"/>
                <a:stretch>
                  <a:fillRect l="-739" t="-2243" b="-6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665DE-C3CC-9B9C-C972-B862A13D9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C5997-5FD5-19A7-2F70-E509A9120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765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Common multiple test procedures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Single step and stepwise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5345B-CA64-E007-9C18-3F1E37CEF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975798" cy="3263504"/>
          </a:xfrm>
        </p:spPr>
        <p:txBody>
          <a:bodyPr>
            <a:normAutofit/>
          </a:bodyPr>
          <a:lstStyle/>
          <a:p>
            <a:pPr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>
                <a:solidFill>
                  <a:srgbClr val="5291DD"/>
                </a:solidFill>
              </a:rPr>
              <a:t>Single step test</a:t>
            </a:r>
          </a:p>
          <a:p>
            <a:pPr lvl="1"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/>
              <a:t>Use </a:t>
            </a:r>
            <a:r>
              <a:rPr lang="en-US" noProof="0" dirty="0">
                <a:solidFill>
                  <a:srgbClr val="5291DD"/>
                </a:solidFill>
              </a:rPr>
              <a:t>constant critical values </a:t>
            </a:r>
            <a:r>
              <a:rPr lang="en-US" noProof="0" dirty="0"/>
              <a:t>for all hypotheses.</a:t>
            </a:r>
          </a:p>
          <a:p>
            <a:pPr lvl="1"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/>
              <a:t>	Examples: Bonferroni, Simes, Dunnett, …</a:t>
            </a:r>
          </a:p>
          <a:p>
            <a:pPr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>
                <a:solidFill>
                  <a:srgbClr val="5291DD"/>
                </a:solidFill>
              </a:rPr>
              <a:t>Stepwise test procedures</a:t>
            </a:r>
          </a:p>
          <a:p>
            <a:pPr lvl="1"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/>
              <a:t>	</a:t>
            </a:r>
            <a:r>
              <a:rPr lang="en-US" noProof="0" dirty="0">
                <a:solidFill>
                  <a:srgbClr val="5291DD"/>
                </a:solidFill>
              </a:rPr>
              <a:t>Critical values may change </a:t>
            </a:r>
            <a:r>
              <a:rPr lang="en-US" noProof="0" dirty="0"/>
              <a:t>depending on the decision of a different null hypothesis</a:t>
            </a:r>
          </a:p>
          <a:p>
            <a:pPr lvl="1"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/>
              <a:t>Rely on closed testing (general principle to construct multiple test procedures)</a:t>
            </a:r>
          </a:p>
          <a:p>
            <a:pPr lvl="1">
              <a:tabLst>
                <a:tab pos="230400" algn="r"/>
                <a:tab pos="3999600" algn="r"/>
                <a:tab pos="8229600" algn="r"/>
              </a:tabLst>
            </a:pPr>
            <a:r>
              <a:rPr lang="en-US" noProof="0" dirty="0"/>
              <a:t>	Examples: Holm, Hochberg, Hommel, step-down Dunnett, …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21F66-BBC2-BD2B-D122-9DD16216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587B0-AAEA-164C-D5D1-109FBBE55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3215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9B1CCD7-960C-27DE-4B99-269455E05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Common multiple test procedures</a:t>
            </a:r>
            <a:br>
              <a:rPr lang="en-US" noProof="0" dirty="0"/>
            </a:br>
            <a:r>
              <a:rPr lang="en-US" sz="2000" i="1" noProof="0" dirty="0">
                <a:solidFill>
                  <a:srgbClr val="000000"/>
                </a:solidFill>
              </a:rPr>
              <a:t>Hochberg and Tamhane (1987); </a:t>
            </a:r>
            <a:r>
              <a:rPr lang="en-US" sz="2000" i="1" noProof="0" dirty="0" err="1">
                <a:solidFill>
                  <a:srgbClr val="000000"/>
                </a:solidFill>
              </a:rPr>
              <a:t>Dmitrienko</a:t>
            </a:r>
            <a:r>
              <a:rPr lang="en-US" sz="2000" i="1" noProof="0" dirty="0">
                <a:solidFill>
                  <a:srgbClr val="000000"/>
                </a:solidFill>
              </a:rPr>
              <a:t>, Tamhane and Bretz (2009)</a:t>
            </a:r>
            <a:endParaRPr lang="en-US" sz="2000" i="1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5345B-CA64-E007-9C18-3F1E37CEF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58808"/>
            <a:ext cx="7886700" cy="257561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000" noProof="0" dirty="0"/>
              <a:t>Stepwise procedures are </a:t>
            </a:r>
            <a:r>
              <a:rPr lang="en-US" sz="2000" noProof="0" dirty="0">
                <a:solidFill>
                  <a:srgbClr val="5291DD"/>
                </a:solidFill>
              </a:rPr>
              <a:t>more powerful </a:t>
            </a:r>
            <a:r>
              <a:rPr lang="en-US" sz="2000" noProof="0" dirty="0"/>
              <a:t>than single step tests</a:t>
            </a:r>
          </a:p>
          <a:p>
            <a:pPr lvl="1"/>
            <a:r>
              <a:rPr lang="en-US" sz="1600" noProof="0" dirty="0"/>
              <a:t>Single step methods are often used as ‘building blocks’ for advanced multiple test procedures (e.g., graphical approaches)</a:t>
            </a:r>
          </a:p>
          <a:p>
            <a:r>
              <a:rPr lang="en-US" sz="2000" noProof="0" dirty="0"/>
              <a:t>Simes-based methods are </a:t>
            </a:r>
            <a:r>
              <a:rPr lang="en-US" sz="2000" noProof="0" dirty="0">
                <a:solidFill>
                  <a:srgbClr val="5291DD"/>
                </a:solidFill>
              </a:rPr>
              <a:t>more powerful </a:t>
            </a:r>
            <a:r>
              <a:rPr lang="en-US" sz="2000" noProof="0" dirty="0"/>
              <a:t>than Bonferroni-based methods, but rely on ‘positivity’ assumption</a:t>
            </a:r>
          </a:p>
          <a:p>
            <a:r>
              <a:rPr lang="en-US" sz="2000" noProof="0" dirty="0"/>
              <a:t>Accounting for known correlations leads to </a:t>
            </a:r>
            <a:r>
              <a:rPr lang="en-US" sz="2000" noProof="0" dirty="0">
                <a:solidFill>
                  <a:srgbClr val="5291DD"/>
                </a:solidFill>
              </a:rPr>
              <a:t>power increase</a:t>
            </a:r>
          </a:p>
          <a:p>
            <a:r>
              <a:rPr lang="en-US" sz="2000" noProof="0" dirty="0"/>
              <a:t>All these methods treat the null </a:t>
            </a:r>
            <a:r>
              <a:rPr lang="en-US" sz="2000" noProof="0" dirty="0">
                <a:solidFill>
                  <a:srgbClr val="5291DD"/>
                </a:solidFill>
              </a:rPr>
              <a:t>hypotheses as equally important</a:t>
            </a:r>
          </a:p>
          <a:p>
            <a:pPr lvl="1"/>
            <a:r>
              <a:rPr lang="en-US" sz="1600" noProof="0" dirty="0">
                <a:solidFill>
                  <a:srgbClr val="5291DD"/>
                </a:solidFill>
              </a:rPr>
              <a:t>Need for tailored approaches </a:t>
            </a:r>
            <a:r>
              <a:rPr lang="en-US" sz="1600" noProof="0" dirty="0"/>
              <a:t>that address structured multiplicity problems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867AAA4-0A45-268E-14CB-0315C92275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958259"/>
              </p:ext>
            </p:extLst>
          </p:nvPr>
        </p:nvGraphicFramePr>
        <p:xfrm>
          <a:off x="419549" y="1236979"/>
          <a:ext cx="8616950" cy="1340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7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05">
                <a:tc rowSpan="2">
                  <a:txBody>
                    <a:bodyPr/>
                    <a:lstStyle/>
                    <a:p>
                      <a:pPr algn="ctr"/>
                      <a:endParaRPr lang="en-US" sz="1400" noProof="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Account for (known) correlations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noProof="0" dirty="0"/>
                        <a:t>No</a:t>
                      </a:r>
                      <a:endParaRPr lang="en-US" sz="14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noProof="0" dirty="0"/>
                        <a:t>Yes</a:t>
                      </a:r>
                      <a:endParaRPr lang="en-US" sz="14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755"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Single step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noProof="0" dirty="0"/>
                        <a:t>Bonferroni</a:t>
                      </a:r>
                      <a:endParaRPr lang="en-US" sz="14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noProof="0" dirty="0"/>
                        <a:t>Simes</a:t>
                      </a:r>
                      <a:endParaRPr lang="en-US" sz="14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Dunnett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755"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</a:rPr>
                        <a:t>Stepwise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Holm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Hochberg or Hommel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Stepdown Dunnett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BA9D55-D4EC-2A8B-3CD2-4D3281225FBD}"/>
              </a:ext>
            </a:extLst>
          </p:cNvPr>
          <p:cNvSpPr txBox="1"/>
          <p:nvPr/>
        </p:nvSpPr>
        <p:spPr>
          <a:xfrm>
            <a:off x="2062800" y="1138339"/>
            <a:ext cx="6973696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434CE8-B90D-2555-ED72-6FF6FB3A4F24}"/>
              </a:ext>
            </a:extLst>
          </p:cNvPr>
          <p:cNvSpPr txBox="1"/>
          <p:nvPr/>
        </p:nvSpPr>
        <p:spPr>
          <a:xfrm>
            <a:off x="6228184" y="1586573"/>
            <a:ext cx="2845966" cy="1008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400" noProof="0" dirty="0"/>
          </a:p>
          <a:p>
            <a:endParaRPr lang="en-US" sz="2400" noProof="0" dirty="0"/>
          </a:p>
          <a:p>
            <a:endParaRPr lang="en-US" sz="24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E858D-C3BF-228B-1140-FF340B9C6569}"/>
              </a:ext>
            </a:extLst>
          </p:cNvPr>
          <p:cNvSpPr txBox="1"/>
          <p:nvPr/>
        </p:nvSpPr>
        <p:spPr>
          <a:xfrm>
            <a:off x="2062800" y="1175507"/>
            <a:ext cx="705678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000" noProof="0" dirty="0"/>
          </a:p>
          <a:p>
            <a:endParaRPr lang="en-US" sz="20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F0C722-F5BA-7C7F-8CAF-014379EE7ECF}"/>
              </a:ext>
            </a:extLst>
          </p:cNvPr>
          <p:cNvSpPr txBox="1"/>
          <p:nvPr/>
        </p:nvSpPr>
        <p:spPr>
          <a:xfrm>
            <a:off x="107501" y="1134827"/>
            <a:ext cx="9012083" cy="147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000" noProof="0" dirty="0"/>
          </a:p>
          <a:p>
            <a:endParaRPr lang="en-US" sz="2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C5CC9-9B85-C722-F49E-0E7D5F956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580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A23A8-403D-F9FD-A412-795DDDB2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9E4F-1B7E-9AA5-95DB-B512B30B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0ADE5-32CA-4447-2CB2-A5EE99AFF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Introduction and basic concepts</a:t>
            </a:r>
          </a:p>
          <a:p>
            <a:r>
              <a:rPr lang="en-US" noProof="0" dirty="0"/>
              <a:t>Graphical approaches to multiple testing</a:t>
            </a:r>
          </a:p>
          <a:p>
            <a:pPr lvl="1"/>
            <a:r>
              <a:rPr lang="en-US" noProof="0" dirty="0"/>
              <a:t>Heuristics and conventions</a:t>
            </a:r>
          </a:p>
          <a:p>
            <a:pPr lvl="1"/>
            <a:r>
              <a:rPr lang="en-US" noProof="0" dirty="0"/>
              <a:t>Connection to common multiple test procedures</a:t>
            </a:r>
          </a:p>
          <a:p>
            <a:pPr lvl="1"/>
            <a:r>
              <a:rPr lang="en-US" noProof="0" dirty="0"/>
              <a:t>Formal description</a:t>
            </a:r>
          </a:p>
          <a:p>
            <a:pPr lvl="1"/>
            <a:r>
              <a:rPr lang="en-US" noProof="0" dirty="0"/>
              <a:t>Suggested workflow and Example 3 revisited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Optimizing graphical multiple comparison procedures</a:t>
            </a:r>
          </a:p>
          <a:p>
            <a:r>
              <a:rPr lang="en-US" noProof="0" dirty="0" err="1">
                <a:solidFill>
                  <a:schemeClr val="bg1">
                    <a:lumMod val="75000"/>
                  </a:schemeClr>
                </a:solidFill>
              </a:rPr>
              <a:t>graphicalMCP</a:t>
            </a:r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: implementation of graphical approaches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AACA5-8358-F423-E83F-DD3C990A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8E102-4138-2CDD-BD6B-4F1D1610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5471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Heuristics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As before: </a:t>
                </a:r>
              </a:p>
              <a:p>
                <a:pPr lvl="1"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Null hypotheses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b="0" noProof="0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Initial allocation of the significance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</m:oMath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Unadjusted p-values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solidFill>
                          <a:schemeClr val="tx1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pPr>
                  <a:defRPr/>
                </a:pPr>
                <a:endParaRPr lang="en-US" b="0" i="1" noProof="0" dirty="0">
                  <a:solidFill>
                    <a:schemeClr val="tx1"/>
                  </a:solidFill>
                  <a:latin typeface="Cambria Math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</m:oMath>
                </a14:m>
                <a:r>
                  <a:rPr lang="en-US" noProof="0" dirty="0">
                    <a:solidFill>
                      <a:srgbClr val="5291DD"/>
                    </a:solidFill>
                  </a:rPr>
                  <a:t>–propagation</a:t>
                </a:r>
              </a:p>
              <a:p>
                <a:pPr marL="234000" indent="-266700">
                  <a:buNone/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	If a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can be rejected at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≤</m:t>
                        </m:r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), reallocate its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to the remaining, not yet rejected hypotheses (according to a prefixed rule) and continue testing with the updated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levels</a:t>
                </a:r>
              </a:p>
              <a:p>
                <a:endParaRPr lang="en-US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243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A667F-40B2-886C-C186-3119D890E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17FAB-C018-F05A-4851-1042DAC4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328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Conventions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769D3AD-95D3-238B-730B-EE727DC73C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34" b="41325"/>
          <a:stretch/>
        </p:blipFill>
        <p:spPr bwMode="auto">
          <a:xfrm>
            <a:off x="628650" y="2125084"/>
            <a:ext cx="8362949" cy="1303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44E0FB7-40D2-6D7E-7408-B2FE76EF4B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621"/>
          <a:stretch/>
        </p:blipFill>
        <p:spPr bwMode="auto">
          <a:xfrm>
            <a:off x="628650" y="1131590"/>
            <a:ext cx="8362949" cy="948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5EBFE6F-D89D-BB71-74FE-93F1F1D5CC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36"/>
          <a:stretch/>
        </p:blipFill>
        <p:spPr bwMode="auto">
          <a:xfrm>
            <a:off x="628649" y="3722390"/>
            <a:ext cx="8362949" cy="132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7F72CE-0D89-CA19-F570-F1766FD17CFE}"/>
              </a:ext>
            </a:extLst>
          </p:cNvPr>
          <p:cNvSpPr txBox="1"/>
          <p:nvPr/>
        </p:nvSpPr>
        <p:spPr>
          <a:xfrm>
            <a:off x="4663442" y="3107744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noProof="0" dirty="0">
                <a:solidFill>
                  <a:srgbClr val="5291DD"/>
                </a:solidFill>
              </a:rPr>
              <a:t>Bonferroni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4B12F7-F20B-D447-6C3C-003E7AAC2B49}"/>
              </a:ext>
            </a:extLst>
          </p:cNvPr>
          <p:cNvSpPr txBox="1"/>
          <p:nvPr/>
        </p:nvSpPr>
        <p:spPr>
          <a:xfrm>
            <a:off x="4663442" y="4515966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noProof="0" dirty="0">
                <a:solidFill>
                  <a:srgbClr val="5291DD"/>
                </a:solidFill>
              </a:rPr>
              <a:t>Holm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62AF0-2894-DE60-D994-36005787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49AB48-4C9A-CC32-7B7E-605ED5EFD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8821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noProof="0" dirty="0"/>
                  <a:t>Common multiple test procedures</a:t>
                </a:r>
                <a:br>
                  <a:rPr lang="en-US" noProof="0" dirty="0"/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Bonferroni test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null hypotheses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5345B-CA64-E007-9C18-3F1E37CEF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No edges between nodes, therefore no 𝛼–propagation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F38B8E-68FE-A283-87BB-41E3579E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D7553-6408-1E21-8700-F8B9552FC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26</a:t>
            </a:fld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A2A129-E4F3-4FBC-5E6A-C7F32B4CD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1807472"/>
            <a:ext cx="7296150" cy="15285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EACAFB-BEA6-21FA-E7D9-66678147A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1807473"/>
            <a:ext cx="7296150" cy="152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5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Holm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hypotheses</a:t>
                </a:r>
                <a:endParaRPr lang="en-US" sz="2200" noProof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8C5F39-31C8-71AF-BA96-1533A9757514}"/>
                  </a:ext>
                </a:extLst>
              </p:cNvPr>
              <p:cNvSpPr txBox="1"/>
              <p:nvPr/>
            </p:nvSpPr>
            <p:spPr>
              <a:xfrm>
                <a:off x="510995" y="1981200"/>
                <a:ext cx="28087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noProof="0" dirty="0">
                    <a:solidFill>
                      <a:srgbClr val="5291DD"/>
                    </a:solidFill>
                  </a:rPr>
                  <a:t>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rgbClr val="5291DD"/>
                    </a:solidFill>
                  </a:rPr>
                  <a:t> at level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/2</m:t>
                    </m:r>
                  </m:oMath>
                </a14:m>
                <a:endParaRPr lang="en-US" sz="2000" baseline="-25000" noProof="0" dirty="0">
                  <a:solidFill>
                    <a:srgbClr val="5291DD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8C5F39-31C8-71AF-BA96-1533A9757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95" y="1981200"/>
                <a:ext cx="2808737" cy="400110"/>
              </a:xfrm>
              <a:prstGeom prst="rect">
                <a:avLst/>
              </a:prstGeom>
              <a:blipFill>
                <a:blip r:embed="rId3"/>
                <a:stretch>
                  <a:fillRect l="-2386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F13079-C56E-B3A5-C1D7-2C5966EE04F0}"/>
                  </a:ext>
                </a:extLst>
              </p:cNvPr>
              <p:cNvSpPr txBox="1"/>
              <p:nvPr/>
            </p:nvSpPr>
            <p:spPr>
              <a:xfrm>
                <a:off x="6106663" y="1981200"/>
                <a:ext cx="28849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noProof="0" dirty="0">
                    <a:solidFill>
                      <a:srgbClr val="5291DD"/>
                    </a:solidFill>
                  </a:rPr>
                  <a:t>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rgbClr val="5291DD"/>
                    </a:solidFill>
                  </a:rPr>
                  <a:t> at level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/2</m:t>
                    </m:r>
                  </m:oMath>
                </a14:m>
                <a:endParaRPr lang="en-US" sz="2000" baseline="-25000" noProof="0" dirty="0">
                  <a:solidFill>
                    <a:srgbClr val="5291DD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F13079-C56E-B3A5-C1D7-2C5966EE0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663" y="1981200"/>
                <a:ext cx="2884937" cy="400110"/>
              </a:xfrm>
              <a:prstGeom prst="rect">
                <a:avLst/>
              </a:prstGeom>
              <a:blipFill>
                <a:blip r:embed="rId4"/>
                <a:stretch>
                  <a:fillRect l="-2326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696AE-26F4-5F36-40A8-7D07D4BC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D2429A-5D4F-337F-31DA-07A831A5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27</a:t>
            </a:fld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B15794-9AA9-A24D-2EF0-8F9C8D363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2592000"/>
            <a:ext cx="7296150" cy="159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94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Holm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hypotheses</a:t>
                </a:r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00C295-3FA6-4C35-11D7-20D765935440}"/>
                  </a:ext>
                </a:extLst>
              </p:cNvPr>
              <p:cNvSpPr txBox="1"/>
              <p:nvPr/>
            </p:nvSpPr>
            <p:spPr>
              <a:xfrm>
                <a:off x="5943600" y="1981200"/>
                <a:ext cx="32004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&lt;</m:t>
                    </m:r>
                    <m:f>
                      <m:fPr>
                        <m:type m:val="lin"/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𝛼</m:t>
                        </m:r>
                      </m:num>
                      <m:den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  <a:ea typeface="Cambria Math"/>
                      </a:rPr>
                      <m:t>⟹</m:t>
                    </m:r>
                  </m:oMath>
                </a14:m>
                <a:r>
                  <a:rPr lang="en-US" sz="2000" noProof="0" dirty="0">
                    <a:solidFill>
                      <a:srgbClr val="5291DD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000" baseline="-25000" noProof="0" dirty="0">
                  <a:solidFill>
                    <a:srgbClr val="5291DD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00C295-3FA6-4C35-11D7-20D765935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1981200"/>
                <a:ext cx="3200400" cy="400110"/>
              </a:xfrm>
              <a:prstGeom prst="rect">
                <a:avLst/>
              </a:prstGeom>
              <a:blipFill>
                <a:blip r:embed="rId3"/>
                <a:stretch>
                  <a:fillRect t="-116667" b="-17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A5365-00D5-FE21-8FE1-A53026B6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8B25E-FC7E-837B-8CDF-38EB48CD9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28</a:t>
            </a:fld>
            <a:endParaRPr lang="en-US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22A2EF-F94E-1DC8-454B-69991B471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2592000"/>
            <a:ext cx="7296150" cy="159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23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Holm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hypotheses</a:t>
                </a:r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184153-0D09-E23F-3B50-476F0C9B4A54}"/>
                  </a:ext>
                </a:extLst>
              </p:cNvPr>
              <p:cNvSpPr txBox="1"/>
              <p:nvPr/>
            </p:nvSpPr>
            <p:spPr>
              <a:xfrm>
                <a:off x="6106663" y="1981200"/>
                <a:ext cx="28849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0" noProof="0" dirty="0">
                    <a:solidFill>
                      <a:srgbClr val="5291DD"/>
                    </a:solidFill>
                  </a:rPr>
                  <a:t>Propagate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/2</m:t>
                    </m:r>
                  </m:oMath>
                </a14:m>
                <a:endParaRPr lang="en-US" sz="2000" baseline="-25000" noProof="0" dirty="0">
                  <a:solidFill>
                    <a:srgbClr val="5291DD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184153-0D09-E23F-3B50-476F0C9B4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663" y="1981200"/>
                <a:ext cx="2884937" cy="400110"/>
              </a:xfrm>
              <a:prstGeom prst="rect">
                <a:avLst/>
              </a:prstGeom>
              <a:blipFill>
                <a:blip r:embed="rId3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5B023-C19D-5B04-D231-68760B6C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50CB6-FE42-EE3C-AE26-F86FBB9AF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29</a:t>
            </a:fld>
            <a:endParaRPr lang="en-U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2B17B6-A2C0-5361-74C2-C9CB9B369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2592000"/>
            <a:ext cx="7225097" cy="16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650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Holm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hypotheses</a:t>
                </a:r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D20507-E4E3-835F-2E47-B673A938E34C}"/>
                  </a:ext>
                </a:extLst>
              </p:cNvPr>
              <p:cNvSpPr txBox="1"/>
              <p:nvPr/>
            </p:nvSpPr>
            <p:spPr>
              <a:xfrm>
                <a:off x="6019801" y="1981200"/>
                <a:ext cx="3048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noProof="0" dirty="0">
                    <a:solidFill>
                      <a:srgbClr val="5291DD"/>
                    </a:solidFill>
                  </a:rPr>
                  <a:t>Remove node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000" baseline="-25000" noProof="0" dirty="0">
                  <a:solidFill>
                    <a:srgbClr val="5291DD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D20507-E4E3-835F-2E47-B673A938E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1" y="1981200"/>
                <a:ext cx="3048000" cy="400110"/>
              </a:xfrm>
              <a:prstGeom prst="rect">
                <a:avLst/>
              </a:prstGeom>
              <a:blipFill>
                <a:blip r:embed="rId3"/>
                <a:stretch>
                  <a:fillRect l="-2200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056AC-6D93-CB85-7886-F55F5B1E9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D56B2-3D0C-610F-6604-50BAFFE4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30</a:t>
            </a:fld>
            <a:endParaRPr lang="en-US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D52E0A-0A00-CC28-D4EC-F72449FA2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2592001"/>
            <a:ext cx="7296150" cy="16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26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Holm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200" i="1" noProof="0" dirty="0">
                    <a:solidFill>
                      <a:srgbClr val="000000"/>
                    </a:solidFill>
                  </a:rPr>
                  <a:t> hypotheses</a:t>
                </a:r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7BA196-49BC-BC15-7400-EE5C8B5F42A5}"/>
                  </a:ext>
                </a:extLst>
              </p:cNvPr>
              <p:cNvSpPr txBox="1"/>
              <p:nvPr/>
            </p:nvSpPr>
            <p:spPr>
              <a:xfrm>
                <a:off x="381000" y="1683603"/>
                <a:ext cx="4038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noProof="0" dirty="0">
                    <a:solidFill>
                      <a:srgbClr val="5291DD"/>
                    </a:solidFill>
                  </a:rPr>
                  <a:t>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rgbClr val="5291DD"/>
                    </a:solidFill>
                  </a:rPr>
                  <a:t> at level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</m:oMath>
                </a14:m>
                <a:endParaRPr lang="en-US" sz="2000" noProof="0" dirty="0">
                  <a:solidFill>
                    <a:srgbClr val="5291DD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𝛼</m:t>
                    </m:r>
                    <m:r>
                      <a:rPr lang="en-US" sz="2000" i="1" noProof="0" smtClean="0">
                        <a:solidFill>
                          <a:srgbClr val="5291DD"/>
                        </a:solidFill>
                        <a:latin typeface="Cambria Math"/>
                        <a:ea typeface="Cambria Math"/>
                      </a:rPr>
                      <m:t>⟹</m:t>
                    </m:r>
                  </m:oMath>
                </a14:m>
                <a:r>
                  <a:rPr lang="en-US" sz="2000" noProof="0" dirty="0">
                    <a:solidFill>
                      <a:srgbClr val="5291DD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rgbClr val="5291DD"/>
                    </a:solidFill>
                  </a:rPr>
                  <a:t> and stop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7BA196-49BC-BC15-7400-EE5C8B5F4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683603"/>
                <a:ext cx="4038600" cy="707886"/>
              </a:xfrm>
              <a:prstGeom prst="rect">
                <a:avLst/>
              </a:prstGeom>
              <a:blipFill>
                <a:blip r:embed="rId4"/>
                <a:stretch>
                  <a:fillRect l="-1662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E83DE-3200-2C9D-5937-05CFE76A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36B9B-384C-A19C-DC32-B4B80B06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31</a:t>
            </a:fld>
            <a:endParaRPr lang="en-US" noProof="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AEBBCBC-5530-7C2F-BEA8-55DC36308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2592000"/>
            <a:ext cx="7296150" cy="163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86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Common multiple test procedures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Weighted Holm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noProof="0" dirty="0"/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noProof="0" smtClean="0">
                        <a:latin typeface="Cambria Math"/>
                      </a:rPr>
                      <m:t>=</m:t>
                    </m:r>
                    <m:r>
                      <a:rPr lang="en-US" i="1" noProof="0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US" noProof="0" dirty="0"/>
                  <a:t>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noProof="0" smtClean="0">
                        <a:latin typeface="Cambria Math"/>
                      </a:rPr>
                      <m:t>=</m:t>
                    </m:r>
                    <m:r>
                      <a:rPr lang="en-US" i="1" noProof="0" smtClean="0">
                        <a:latin typeface="Cambria Math"/>
                      </a:rPr>
                      <m:t>𝛼</m:t>
                    </m:r>
                    <m:r>
                      <a:rPr lang="en-US" i="1" noProof="0" smtClean="0">
                        <a:latin typeface="Cambria Math"/>
                      </a:rPr>
                      <m:t>/2</m:t>
                    </m:r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 t="-2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C2BC5755-474C-3CEB-E868-6B1B9088E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862" y="1944222"/>
            <a:ext cx="3070275" cy="1255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E32EF-48C7-33BC-1E1F-B95FCCB8E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08CEF-80ED-6E85-0364-514905DB5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2654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708C0-825C-649E-7753-219F4D45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E4B7-252F-07F2-A5CD-9D5927842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047806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Common multiple test procedures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Fixed sequence tests (Maurer et al., 1995; Westfall and Krishen, 2001)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4F140E-B172-3E68-D1E4-1F5F9EBFB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8"/>
                <a:ext cx="8047806" cy="3398045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noProof="0" dirty="0">
                    <a:solidFill>
                      <a:schemeClr val="tx1"/>
                    </a:solidFill>
                  </a:rPr>
                  <a:t>Assume for </a:t>
                </a:r>
                <a14:m>
                  <m:oMath xmlns:m="http://schemas.openxmlformats.org/officeDocument/2006/math"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=3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 noProof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noProof="0" dirty="0">
                    <a:solidFill>
                      <a:schemeClr val="tx1"/>
                    </a:solidFill>
                  </a:rPr>
                  <a:t>The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fixed sequence procedure </a:t>
                </a:r>
                <a:r>
                  <a:rPr lang="en-US" noProof="0" dirty="0">
                    <a:solidFill>
                      <a:schemeClr val="tx1"/>
                    </a:solidFill>
                  </a:rPr>
                  <a:t>is visualized as follows:</a:t>
                </a:r>
                <a:endParaRPr lang="en-US" i="1" noProof="0" dirty="0">
                  <a:solidFill>
                    <a:schemeClr val="tx1"/>
                  </a:solidFill>
                  <a:latin typeface="Cambria Math"/>
                </a:endParaRP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defRPr/>
                </a:pPr>
                <a:endParaRPr lang="en-US" noProof="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  <a:defRPr/>
                </a:pPr>
                <a:endParaRPr lang="en-US" noProof="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  <a:defRPr/>
                </a:pPr>
                <a:r>
                  <a:rPr lang="en-US" noProof="0" dirty="0">
                    <a:solidFill>
                      <a:srgbClr val="5291DD"/>
                    </a:solidFill>
                  </a:rPr>
                  <a:t>Caution</a:t>
                </a:r>
                <a:r>
                  <a:rPr lang="en-US" noProof="0" dirty="0">
                    <a:solidFill>
                      <a:schemeClr val="tx1"/>
                    </a:solidFill>
                  </a:rPr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cannot be rejected,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cannot be rejected regardless of their p-values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4F140E-B172-3E68-D1E4-1F5F9EBFB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8"/>
                <a:ext cx="8047806" cy="3398045"/>
              </a:xfrm>
              <a:blipFill>
                <a:blip r:embed="rId3"/>
                <a:stretch>
                  <a:fillRect l="-758" t="-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4">
            <a:extLst>
              <a:ext uri="{FF2B5EF4-FFF2-40B4-BE49-F238E27FC236}">
                <a16:creationId xmlns:a16="http://schemas.microsoft.com/office/drawing/2014/main" id="{5C6488FA-1F05-80F0-4362-A91C3965A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609" y="2208249"/>
            <a:ext cx="3206057" cy="65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F8C15-B2A9-48DD-21E5-491504BE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BF53D-C31E-E270-096D-81D4BF08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5617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Common multiple test procedures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Fallback procedures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8"/>
                <a:ext cx="4087366" cy="3671889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  <a:spcBef>
                    <a:spcPts val="600"/>
                  </a:spcBef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Splitting the significance level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  <m:r>
                      <a:rPr lang="en-US" i="1" noProof="0">
                        <a:solidFill>
                          <a:schemeClr val="tx1"/>
                        </a:solidFill>
                        <a:latin typeface="Cambria Math"/>
                      </a:rPr>
                      <m:t>/3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) leads to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fallback procedures</a:t>
                </a:r>
                <a:endParaRPr lang="en-US" noProof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defRPr/>
                </a:pPr>
                <a:r>
                  <a:rPr lang="en-US" noProof="0" dirty="0">
                    <a:solidFill>
                      <a:schemeClr val="tx1"/>
                    </a:solidFill>
                  </a:rPr>
                  <a:t>Improved fallback procedures propagate significance levels back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and/or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8"/>
                <a:ext cx="4087366" cy="3671889"/>
              </a:xfrm>
              <a:blipFill>
                <a:blip r:embed="rId3"/>
                <a:stretch>
                  <a:fillRect l="-1490" t="-831" r="-1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D0EAC-9A0D-192E-BDF7-06055F382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DE148C-707F-427F-4262-8E3A76202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1567386"/>
            <a:ext cx="2492499" cy="5003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0C0EDB-6C43-7C40-0032-885919773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080" y="2598115"/>
            <a:ext cx="3745628" cy="9941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154A10-4E2F-16BD-F792-479CB2F30D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080" y="3867894"/>
            <a:ext cx="3745628" cy="9751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18FA5-4D88-0C3F-3046-6E6C4966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34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29978-3193-37DB-5C13-4D07C29DD1B7}"/>
              </a:ext>
            </a:extLst>
          </p:cNvPr>
          <p:cNvSpPr txBox="1"/>
          <p:nvPr/>
        </p:nvSpPr>
        <p:spPr>
          <a:xfrm>
            <a:off x="7146151" y="3340030"/>
            <a:ext cx="19978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noProof="0" dirty="0">
                <a:latin typeface="Arial" panose="020B0604020202020204" pitchFamily="34" charset="0"/>
                <a:cs typeface="Arial" panose="020B0604020202020204" pitchFamily="34" charset="0"/>
              </a:rPr>
              <a:t>(Wiens and </a:t>
            </a:r>
            <a:r>
              <a:rPr lang="en-US" sz="10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Dmitrienko</a:t>
            </a:r>
            <a:r>
              <a:rPr lang="en-US" sz="1050" noProof="0" dirty="0">
                <a:latin typeface="Arial" panose="020B0604020202020204" pitchFamily="34" charset="0"/>
                <a:cs typeface="Arial" panose="020B0604020202020204" pitchFamily="34" charset="0"/>
              </a:rPr>
              <a:t>, 2005)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FB1E8-7B5A-2F74-A238-F377FF1C5F3C}"/>
              </a:ext>
            </a:extLst>
          </p:cNvPr>
          <p:cNvSpPr txBox="1"/>
          <p:nvPr/>
        </p:nvSpPr>
        <p:spPr>
          <a:xfrm>
            <a:off x="7146150" y="1772494"/>
            <a:ext cx="19978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noProof="0" dirty="0">
                <a:latin typeface="Arial" panose="020B0604020202020204" pitchFamily="34" charset="0"/>
                <a:cs typeface="Arial" panose="020B0604020202020204" pitchFamily="34" charset="0"/>
              </a:rPr>
              <a:t>(Wiens, 2003)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328A4C-56C7-EC06-A717-51C5B3C1A32C}"/>
              </a:ext>
            </a:extLst>
          </p:cNvPr>
          <p:cNvSpPr txBox="1"/>
          <p:nvPr/>
        </p:nvSpPr>
        <p:spPr>
          <a:xfrm>
            <a:off x="7156177" y="4608046"/>
            <a:ext cx="19978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noProof="0" dirty="0">
                <a:latin typeface="Arial" panose="020B0604020202020204" pitchFamily="34" charset="0"/>
                <a:cs typeface="Arial" panose="020B0604020202020204" pitchFamily="34" charset="0"/>
              </a:rPr>
              <a:t>(Hommel and Bretz, 2008)</a:t>
            </a:r>
          </a:p>
        </p:txBody>
      </p:sp>
    </p:spTree>
    <p:extLst>
      <p:ext uri="{BB962C8B-B14F-4D97-AF65-F5344CB8AC3E}">
        <p14:creationId xmlns:p14="http://schemas.microsoft.com/office/powerpoint/2010/main" val="192255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Common multiple test procedures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Parallel gatekeeping procedure (</a:t>
            </a:r>
            <a:r>
              <a:rPr lang="en-US" sz="2200" i="1" noProof="0" dirty="0" err="1">
                <a:solidFill>
                  <a:srgbClr val="000000"/>
                </a:solidFill>
              </a:rPr>
              <a:t>Dmitrienko</a:t>
            </a:r>
            <a:r>
              <a:rPr lang="en-US" sz="2200" i="1" noProof="0" dirty="0">
                <a:solidFill>
                  <a:srgbClr val="000000"/>
                </a:solidFill>
              </a:rPr>
              <a:t> et al., 2003)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4644554" cy="326350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are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primary hypotheses 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noProof="0" dirty="0"/>
                  <a:t>For example, comparison of a new drug with placebo for two primary endpoints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are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two secondary hypotheses </a:t>
                </a:r>
                <a:endParaRPr lang="en-US" sz="2000" noProof="0" dirty="0">
                  <a:solidFill>
                    <a:srgbClr val="5291DD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noProof="0" dirty="0"/>
                  <a:t>For example, comparison of a new drug with placebo for two secondary endpoints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noProof="0" dirty="0">
                    <a:solidFill>
                      <a:srgbClr val="5291DD"/>
                    </a:solidFill>
                  </a:rPr>
                  <a:t>Parallel gatekeeping</a:t>
                </a:r>
                <a:r>
                  <a:rPr lang="en-US" noProof="0" dirty="0"/>
                  <a:t>: Testing of secondary hypotheses occurs if at least one primary hypothesis is rejected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buNone/>
                </a:pPr>
                <a:endParaRPr lang="en-US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4644554" cy="3263504"/>
              </a:xfrm>
              <a:blipFill>
                <a:blip r:embed="rId3"/>
                <a:stretch>
                  <a:fillRect l="-1312" t="-2243" r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7A94567-72BB-9DCD-CEC5-D64DE0C72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204" y="1371375"/>
            <a:ext cx="3674752" cy="235250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21D4A-B539-E83A-55C7-58F778E2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D5B7B-044F-796D-A21D-338612ADC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895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F5511C4-CD85-C924-5ED3-2ABC74C87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90" y="1472158"/>
            <a:ext cx="726022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DC6B8-E139-2F87-4A64-1303E2D0B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A6F21-440A-1D11-D80A-7EEDDCDD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8533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3">
            <a:extLst>
              <a:ext uri="{FF2B5EF4-FFF2-40B4-BE49-F238E27FC236}">
                <a16:creationId xmlns:a16="http://schemas.microsoft.com/office/drawing/2014/main" id="{EE7FAB13-4D2D-2322-6BF7-7531E18FF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067" y="1440000"/>
            <a:ext cx="7240341" cy="3147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0DF85-C68F-9ADB-3BDB-779DE90C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E1F37B-0564-385A-DDFD-C4722313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75451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A6C092F-633A-ED97-02E2-D7A76CBCA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046" y="1440000"/>
            <a:ext cx="7387362" cy="3075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EE94B-60B0-0DE8-1902-B11D8765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FF5A-7FB7-7DEF-2EF3-8A90E211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05305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3">
            <a:extLst>
              <a:ext uri="{FF2B5EF4-FFF2-40B4-BE49-F238E27FC236}">
                <a16:creationId xmlns:a16="http://schemas.microsoft.com/office/drawing/2014/main" id="{FFCA8036-53B5-257A-0BBB-0E61CF998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346" y="1347614"/>
            <a:ext cx="7365062" cy="314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74BCB-FAAD-8A55-12EF-49E8744FE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FE35-9555-16EE-E3AD-061342741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36726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34A5F3D-2BA8-2789-C487-C1AF0F8CC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1462718"/>
            <a:ext cx="7329159" cy="3003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D5B8A-3D33-4943-FF1B-923BAA07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6C257-564C-C4EC-B700-F4229D43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98060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C97B4C2F-BA5D-A924-D3AF-71E0AC760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1" y="1419622"/>
            <a:ext cx="7257151" cy="3127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0E1C31-238F-CE1C-340E-8E5321E7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311DC7-7E53-9492-B814-E536D2D3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28381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FB963222-0D8F-5130-DAA4-CDFDE91A9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840" y="1419622"/>
            <a:ext cx="6925568" cy="3125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A7542-F3C2-2DBF-E784-DB2BF988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3A65C4-03F5-9669-2EB6-BFE39796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15722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1740FACB-19B8-2D56-7EC5-B4CE324CC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121" y="1462718"/>
            <a:ext cx="2286000" cy="2974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68B6E-045A-F80F-78E9-5FC72339C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F07C39-EA4C-B0CD-323B-C8A600DA8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920856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1187F9A-F7C8-3466-ACD9-70429BCB8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563" y="1378433"/>
            <a:ext cx="2128837" cy="30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DD540-DA35-3942-6FB2-31D014646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6DE0E-1A4D-0AAC-5630-185AEA33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838059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Common multiple test procedures</a:t>
                </a:r>
                <a:br>
                  <a:rPr kumimoji="0" lang="en-US" sz="3200" b="1" i="0" u="none" strike="noStrike" kern="12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/>
                  </a:rPr>
                </a:br>
                <a:r>
                  <a:rPr lang="en-US" sz="2200" i="1" noProof="0" dirty="0">
                    <a:solidFill>
                      <a:srgbClr val="000000"/>
                    </a:solidFill>
                  </a:rPr>
                  <a:t>Parallel gatekeeping procedure – Example with </a:t>
                </a:r>
                <a14:m>
                  <m:oMath xmlns:m="http://schemas.openxmlformats.org/officeDocument/2006/math"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i="1" spc="-10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200" i="1" spc="-100" noProof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E0AF352-2209-23FE-DD43-EDD7915EA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24C1915-8330-1218-212C-FA2CA5830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3182587"/>
            <a:ext cx="2052637" cy="1254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B9603-4012-FE2A-AEF7-8E23CF40A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D45CF-EE7E-E048-C6F5-C3DEF48A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34656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Formal description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8407846" cy="3263504"/>
              </a:xfrm>
            </p:spPr>
            <p:txBody>
              <a:bodyPr/>
              <a:lstStyle/>
              <a:p>
                <a:r>
                  <a:rPr lang="en-US" noProof="0" dirty="0">
                    <a:solidFill>
                      <a:schemeClr val="tx1"/>
                    </a:solidFill>
                  </a:rPr>
                  <a:t>Define</a:t>
                </a:r>
              </a:p>
              <a:p>
                <a:pPr lvl="1"/>
                <a:r>
                  <a:rPr lang="en-US" noProof="0" dirty="0">
                    <a:solidFill>
                      <a:srgbClr val="5291DD"/>
                    </a:solidFill>
                  </a:rPr>
                  <a:t>Initial local significance levels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𝜶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d>
                      <m:d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0,1</m:t>
                        </m:r>
                      </m:e>
                    </m:d>
                  </m:oMath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pPr lvl="1">
                  <a:tabLst>
                    <a:tab pos="398463" algn="l"/>
                  </a:tabLst>
                </a:pPr>
                <a14:m>
                  <m:oMath xmlns:m="http://schemas.openxmlformats.org/officeDocument/2006/math"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×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transition matrix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/>
                      </a:rPr>
                      <m:t>𝑮</m:t>
                    </m:r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b="0" i="0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is the fraction of the level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that is propagated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0≤</m:t>
                    </m:r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≤1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𝑖𝑖</m:t>
                        </m:r>
                      </m:sub>
                    </m:sSub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b="0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noProof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/>
                      </a:rPr>
                      <m:t>≤1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/>
                      </a:rPr>
                      <m:t>𝑖</m:t>
                    </m:r>
                    <m:r>
                      <a:rPr lang="en-US" i="1" noProof="0" smtClean="0">
                        <a:latin typeface="Cambria Math"/>
                      </a:rPr>
                      <m:t>=1,…,</m:t>
                    </m:r>
                    <m:r>
                      <a:rPr lang="en-US" i="1" noProof="0" smtClean="0">
                        <a:latin typeface="Cambria Math"/>
                      </a:rPr>
                      <m:t>𝑚</m:t>
                    </m:r>
                  </m:oMath>
                </a14:m>
                <a:endParaRPr lang="en-US" noProof="0" dirty="0">
                  <a:solidFill>
                    <a:schemeClr val="tx1"/>
                  </a:solidFill>
                </a:endParaRPr>
              </a:p>
              <a:p>
                <a:endParaRPr lang="en-US" b="1" i="1" noProof="0" dirty="0">
                  <a:solidFill>
                    <a:schemeClr val="tx1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𝑮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𝜶</m:t>
                        </m:r>
                      </m:e>
                    </m:d>
                  </m:oMath>
                </a14:m>
                <a:r>
                  <a:rPr lang="en-US" noProof="0" dirty="0">
                    <a:solidFill>
                      <a:schemeClr val="tx1"/>
                    </a:solidFill>
                  </a:rPr>
                  <a:t> determine a graph with an associated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multiple test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8407846" cy="3263504"/>
              </a:xfrm>
              <a:blipFill>
                <a:blip r:embed="rId3"/>
                <a:stretch>
                  <a:fillRect l="-725" t="-4112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FD675-CF25-DA44-929F-EEC9F09B6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A39DE-2CF2-6DA0-3AA7-F16EF47C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604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Formal description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Update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8"/>
                <a:ext cx="7886700" cy="3500437"/>
              </a:xfrm>
            </p:spPr>
            <p:txBody>
              <a:bodyPr>
                <a:normAutofit/>
              </a:bodyPr>
              <a:lstStyle/>
              <a:p>
                <a:pPr marL="165100" lvl="1" indent="0">
                  <a:buClr>
                    <a:srgbClr val="FF6600"/>
                  </a:buClr>
                  <a:buSzPct val="70000"/>
                  <a:buNone/>
                </a:pPr>
                <a:r>
                  <a:rPr lang="en-US" sz="1800" noProof="0" dirty="0"/>
                  <a:t>Set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/>
                      </a:rPr>
                      <m:t>𝐽</m:t>
                    </m:r>
                    <m:r>
                      <a:rPr lang="en-US" sz="1800" b="0" i="1" noProof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1,…,</m:t>
                        </m:r>
                        <m:r>
                          <a:rPr lang="en-US" sz="1800" b="0" i="1" noProof="0" smtClean="0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endParaRPr lang="en-US" sz="1800" noProof="0" dirty="0"/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❶"/>
                </a:pPr>
                <a:r>
                  <a:rPr lang="en-US" sz="1800" noProof="0" dirty="0"/>
                  <a:t>Select a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1800" noProof="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1800" b="0" i="1" noProof="0" smtClean="0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525600" algn="l"/>
                  </a:tabLst>
                </a:pPr>
                <a:r>
                  <a:rPr lang="en-US" sz="1800" noProof="0" dirty="0"/>
                  <a:t>	If no such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1800" noProof="0" dirty="0"/>
                  <a:t> exists, stop; otherwise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rgbClr val="5291DD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❷"/>
                </a:pPr>
                <a:r>
                  <a:rPr lang="en-US" sz="1800" noProof="0" dirty="0"/>
                  <a:t>Update the graph:</a:t>
                </a:r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/>
                      </a:rPr>
                      <m:t>𝐽</m:t>
                    </m:r>
                  </m:oMath>
                </a14:m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𝐽</m:t>
                    </m:r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sz="180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800" i="1" noProof="0" smtClean="0">
                            <a:solidFill>
                              <a:srgbClr val="5291DD"/>
                            </a:solidFill>
                            <a:latin typeface="Cambria Math"/>
                            <a:ea typeface="Cambria Math"/>
                          </a:rPr>
                          <m:t>𝑗</m:t>
                        </m:r>
                      </m:e>
                    </m:d>
                  </m:oMath>
                </a14:m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1800" i="1" noProof="0" smtClean="0">
                            <a:latin typeface="Cambria Math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1800" noProof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i="1" noProof="0" smtClean="0">
                                <a:latin typeface="Cambria Math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</m:sub>
                            </m:sSub>
                            <m:r>
                              <a:rPr lang="en-US" sz="1800" i="1" noProof="0" smtClean="0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</m:sub>
                            </m:sSub>
                            <m:r>
                              <a:rPr lang="en-US" sz="1800" b="0" i="1" noProof="0" smtClean="0">
                                <a:latin typeface="Cambria Math"/>
                              </a:rPr>
                              <m:t>,   ℓ∈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𝐽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 </m:t>
                            </m:r>
                          </m:e>
                          <m:e>
                            <m:r>
                              <a:rPr lang="en-US" sz="1800" b="0" i="1" noProof="0" smtClean="0">
                                <a:latin typeface="Cambria Math"/>
                              </a:rPr>
                              <m:t> &amp;0, </m:t>
                            </m:r>
                            <m:r>
                              <m:rPr>
                                <m:nor/>
                              </m:rPr>
                              <a:rPr lang="en-US" sz="1800" b="0" i="0" noProof="0" smtClean="0">
                                <a:latin typeface="Cambria Math"/>
                              </a:rPr>
                              <m:t>                   </m:t>
                            </m:r>
                            <m:r>
                              <m:rPr>
                                <m:nor/>
                              </m:rPr>
                              <a:rPr lang="en-US" sz="1800" b="0" i="0" noProof="0" smtClean="0">
                                <a:latin typeface="Cambria Math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/>
                          </a:rPr>
                          <m:t>ℓ</m:t>
                        </m:r>
                        <m:r>
                          <a:rPr lang="en-US" sz="1800" b="0" i="1" noProof="0" smtClean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1800" noProof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noProof="0" smtClean="0">
                                <a:latin typeface="Cambria Math"/>
                              </a:rPr>
                              <m:t>&amp;</m:t>
                            </m:r>
                            <m:f>
                              <m:fPr>
                                <m:ctrlP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1800" b="0" i="1" noProof="0" smtClean="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𝑚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1800" b="0" i="1" noProof="0" smtClean="0">
                                    <a:latin typeface="Cambria Math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1800" b="0" i="1" noProof="0" smtClean="0">
                                <a:latin typeface="Cambria Math"/>
                              </a:rPr>
                              <m:t>,   ℓ,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𝑚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∈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𝐽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,ℓ≠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𝑚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</m:sub>
                            </m:sSub>
                            <m:r>
                              <a:rPr lang="en-US" sz="1800" b="0" i="1" noProof="0" smtClean="0">
                                <a:latin typeface="Cambria Math"/>
                              </a:rPr>
                              <m:t>&lt;1 </m:t>
                            </m:r>
                          </m:e>
                          <m:e>
                            <m:r>
                              <a:rPr lang="en-US" sz="1800" b="0" i="1" noProof="0" smtClean="0">
                                <a:latin typeface="Cambria Math"/>
                              </a:rPr>
                              <m:t> &amp;0, </m:t>
                            </m:r>
                            <m:r>
                              <m:rPr>
                                <m:nor/>
                              </m:rPr>
                              <a:rPr lang="en-US" sz="1800" b="0" i="0" noProof="0" smtClean="0">
                                <a:latin typeface="Cambria Math"/>
                              </a:rPr>
                              <m:t>                   </m:t>
                            </m:r>
                            <m:r>
                              <m:rPr>
                                <m:nor/>
                              </m:rPr>
                              <a:rPr lang="en-US" sz="1800" b="0" i="0" noProof="0" smtClean="0">
                                <a:latin typeface="Cambria Math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sz="1800" noProof="0" dirty="0"/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❸"/>
                </a:pPr>
                <a:r>
                  <a:rPr lang="en-US" noProof="0" dirty="0">
                    <a:solidFill>
                      <a:srgbClr val="000000"/>
                    </a:solidFill>
                  </a:rPr>
                  <a:t>Go to Step 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8"/>
                <a:ext cx="7886700" cy="3500437"/>
              </a:xfrm>
              <a:blipFill>
                <a:blip r:embed="rId3"/>
                <a:stretch>
                  <a:fillRect t="-1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E4822-2412-34C7-2CA3-6A5CEB89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0BBBE-32CA-00EE-B264-6E8A8730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47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4F8E9-B78B-A341-2E0C-DA37B9147C17}"/>
              </a:ext>
            </a:extLst>
          </p:cNvPr>
          <p:cNvSpPr txBox="1"/>
          <p:nvPr/>
        </p:nvSpPr>
        <p:spPr>
          <a:xfrm>
            <a:off x="6938682" y="3824123"/>
            <a:ext cx="22053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noProof="0" dirty="0">
                <a:latin typeface="Arial" panose="020B0604020202020204" pitchFamily="34" charset="0"/>
                <a:cs typeface="Arial" panose="020B0604020202020204" pitchFamily="34" charset="0"/>
              </a:rPr>
              <a:t>(Maurer, Bretz and Posch, 2022)</a:t>
            </a:r>
          </a:p>
        </p:txBody>
      </p:sp>
    </p:spTree>
    <p:extLst>
      <p:ext uri="{BB962C8B-B14F-4D97-AF65-F5344CB8AC3E}">
        <p14:creationId xmlns:p14="http://schemas.microsoft.com/office/powerpoint/2010/main" val="248690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Formal description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Main result (Bretz, Maurer, Brannath, and Posch 2009)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8"/>
                <a:ext cx="7886700" cy="367188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000" noProof="0" dirty="0"/>
                  <a:t>The initial levels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latin typeface="Cambria Math"/>
                      </a:rPr>
                      <m:t>𝜶</m:t>
                    </m:r>
                  </m:oMath>
                </a14:m>
                <a:r>
                  <a:rPr lang="en-US" sz="2000" noProof="0" dirty="0"/>
                  <a:t>, the transition matrix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noProof="0" dirty="0"/>
                  <a:t>, and the algorithm define a unique sequentially rejective test procedure that controls the familywise error rate (FWER) at level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US" sz="2000" noProof="0" dirty="0"/>
                  <a:t> in the strong sense.</a:t>
                </a:r>
              </a:p>
              <a:p>
                <a:pPr marL="0" indent="0">
                  <a:buNone/>
                </a:pPr>
                <a:r>
                  <a:rPr lang="en-US" noProof="0" dirty="0"/>
                  <a:t>Remarks:</a:t>
                </a:r>
              </a:p>
              <a:p>
                <a:r>
                  <a:rPr lang="en-US" noProof="0" dirty="0"/>
                  <a:t>Any multiple test procedure derived and visualized by a graph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latin typeface="Cambria Math"/>
                          </a:rPr>
                          <m:t>𝑮</m:t>
                        </m:r>
                        <m:r>
                          <a:rPr lang="en-US" b="1" i="1" noProof="0" smtClean="0">
                            <a:latin typeface="Cambria Math"/>
                          </a:rPr>
                          <m:t>,</m:t>
                        </m:r>
                        <m:r>
                          <a:rPr lang="en-US" b="1" i="1" noProof="0" smtClean="0">
                            <a:latin typeface="Cambria Math"/>
                          </a:rPr>
                          <m:t>𝜶</m:t>
                        </m:r>
                      </m:e>
                    </m:d>
                  </m:oMath>
                </a14:m>
                <a:r>
                  <a:rPr lang="en-US" noProof="0" dirty="0"/>
                  <a:t> is based on the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closed test principle</a:t>
                </a:r>
              </a:p>
              <a:p>
                <a:r>
                  <a:rPr lang="en-US" noProof="0" dirty="0"/>
                  <a:t>The graph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latin typeface="Cambria Math"/>
                          </a:rPr>
                          <m:t>𝑮</m:t>
                        </m:r>
                        <m:r>
                          <a:rPr lang="en-US" b="1" i="1" noProof="0" smtClean="0">
                            <a:latin typeface="Cambria Math"/>
                          </a:rPr>
                          <m:t>,</m:t>
                        </m:r>
                        <m:r>
                          <a:rPr lang="en-US" b="1" i="1" noProof="0" smtClean="0">
                            <a:latin typeface="Cambria Math"/>
                          </a:rPr>
                          <m:t>𝜶</m:t>
                        </m:r>
                      </m:e>
                    </m:d>
                    <m:r>
                      <a:rPr lang="en-US" b="1" i="1" noProof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noProof="0" dirty="0"/>
                  <a:t>and the algorithm define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weighted Bonferroni tests for each intersection hypothesis</a:t>
                </a:r>
                <a:r>
                  <a:rPr lang="en-US" noProof="0" dirty="0"/>
                  <a:t> in a closed test procedure</a:t>
                </a:r>
              </a:p>
              <a:p>
                <a:r>
                  <a:rPr lang="en-US" noProof="0" dirty="0"/>
                  <a:t>The algorithm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defines a shortcut </a:t>
                </a:r>
                <a:r>
                  <a:rPr lang="en-US" noProof="0" dirty="0"/>
                  <a:t>for the resulting closed test procedure, which does not depend on the rejection sequence</a:t>
                </a:r>
              </a:p>
              <a:p>
                <a:r>
                  <a:rPr lang="en-US" noProof="0" dirty="0"/>
                  <a:t>Alternative algorithm based on adjusted p-values (next slide) leads to the same test decisions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5345B-CA64-E007-9C18-3F1E37CEF3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8"/>
                <a:ext cx="7886700" cy="3671889"/>
              </a:xfrm>
              <a:blipFill>
                <a:blip r:embed="rId4"/>
                <a:stretch>
                  <a:fillRect l="-927" t="-2492" r="-1005" b="-2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B5B49-04CF-A5A6-C400-6B6D3EB24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BAFE8-BD6F-3DA4-245D-8B16C95F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8593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8944A-E3C2-D6FC-DD67-E12DCCA7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12B5A-53B4-F4F5-41D9-BE728380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Formal description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Adjusted p-values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EE067-7B25-1992-DE08-047E518D8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ECA6D-93DC-9DEA-3F9E-D1FDF973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49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6A0988-AF3E-CC3D-8070-70477C062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8"/>
                <a:ext cx="7886700" cy="3774282"/>
              </a:xfrm>
              <a:solidFill>
                <a:schemeClr val="bg1"/>
              </a:solidFill>
            </p:spPr>
            <p:txBody>
              <a:bodyPr>
                <a:normAutofit lnSpcReduction="10000"/>
              </a:bodyPr>
              <a:lstStyle/>
              <a:p>
                <a:pPr marL="165100" lvl="1" indent="0">
                  <a:buClr>
                    <a:srgbClr val="FF6600"/>
                  </a:buClr>
                  <a:buSzPct val="70000"/>
                  <a:buNone/>
                </a:pPr>
                <a:r>
                  <a:rPr lang="en-US" sz="1800" noProof="0" dirty="0"/>
                  <a:t>Set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/>
                      </a:rPr>
                      <m:t>𝐽</m:t>
                    </m:r>
                    <m:r>
                      <a:rPr lang="en-US" sz="1800" b="0" i="1" noProof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1,…,</m:t>
                        </m:r>
                        <m:r>
                          <a:rPr lang="en-US" sz="1800" b="0" i="1" noProof="0" smtClean="0">
                            <a:latin typeface="Cambria Math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1800" noProof="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noProof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800" noProof="0" dirty="0"/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❶"/>
                </a:pPr>
                <a:r>
                  <a:rPr lang="en-US" sz="1800" noProof="0" dirty="0"/>
                  <a:t>Select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rgbClr val="5291DD"/>
                        </a:solidFill>
                        <a:latin typeface="Cambria Math"/>
                      </a:rPr>
                      <m:t>𝑗</m:t>
                    </m:r>
                    <m:r>
                      <a:rPr lang="en-US" sz="18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sz="18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18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type m:val="lin"/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</m:e>
                    </m:func>
                  </m:oMath>
                </a14:m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525600" algn="l"/>
                  </a:tabLst>
                </a:pPr>
                <a:r>
                  <a:rPr lang="en-US" sz="1800" noProof="0" dirty="0"/>
                  <a:t>	</a:t>
                </a:r>
                <a:r>
                  <a:rPr lang="en-US" noProof="0" dirty="0"/>
                  <a:t>C</a:t>
                </a:r>
                <a:r>
                  <a:rPr lang="en-US" noProof="0" dirty="0">
                    <a:solidFill>
                      <a:prstClr val="black"/>
                    </a:solidFill>
                  </a:rPr>
                  <a:t>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noProof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i="1" noProof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i="1" noProof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 noProof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noProof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noProof="0" dirty="0">
                    <a:solidFill>
                      <a:prstClr val="black"/>
                    </a:solidFill>
                  </a:rPr>
                  <a:t> and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noProof="0" dirty="0"/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❷"/>
                </a:pPr>
                <a:r>
                  <a:rPr lang="en-US" sz="1800" noProof="0" dirty="0"/>
                  <a:t>Update the graph:</a:t>
                </a:r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/>
                      </a:rPr>
                      <m:t>𝐽</m:t>
                    </m:r>
                  </m:oMath>
                </a14:m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𝐽</m:t>
                    </m:r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sz="180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800" i="1" noProof="0" smtClean="0">
                            <a:solidFill>
                              <a:srgbClr val="5291DD"/>
                            </a:solidFill>
                            <a:latin typeface="Cambria Math"/>
                            <a:ea typeface="Cambria Math"/>
                          </a:rPr>
                          <m:t>𝑗</m:t>
                        </m:r>
                      </m:e>
                    </m:d>
                  </m:oMath>
                </a14:m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i="1" noProof="0" smtClean="0">
                            <a:latin typeface="Cambria Math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1800" noProof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i="1" noProof="0" smtClean="0">
                                <a:latin typeface="Cambria Math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</m:sub>
                            </m:sSub>
                            <m:r>
                              <a:rPr lang="en-US" sz="1800" i="1" noProof="0" smtClean="0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</m:sub>
                            </m:sSub>
                            <m:r>
                              <a:rPr lang="en-US" sz="1800" b="0" i="1" noProof="0" smtClean="0">
                                <a:latin typeface="Cambria Math"/>
                              </a:rPr>
                              <m:t>,   ℓ∈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𝐽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 </m:t>
                            </m:r>
                          </m:e>
                          <m:e>
                            <m:r>
                              <a:rPr lang="en-US" sz="1800" b="0" i="1" noProof="0" smtClean="0">
                                <a:latin typeface="Cambria Math"/>
                              </a:rPr>
                              <m:t> &amp;0, </m:t>
                            </m:r>
                            <m:r>
                              <m:rPr>
                                <m:nor/>
                              </m:rPr>
                              <a:rPr lang="en-US" sz="1800" b="0" i="0" noProof="0" smtClean="0">
                                <a:latin typeface="Cambria Math"/>
                              </a:rPr>
                              <m:t>                   </m:t>
                            </m:r>
                            <m:r>
                              <m:rPr>
                                <m:nor/>
                              </m:rPr>
                              <a:rPr lang="en-US" sz="1800" b="0" i="0" noProof="0" smtClean="0">
                                <a:latin typeface="Cambria Math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endParaRPr lang="en-US" sz="1800" noProof="0" dirty="0"/>
              </a:p>
              <a:p>
                <a:pPr marL="165100" lvl="1" indent="0">
                  <a:buClr>
                    <a:srgbClr val="FF6600"/>
                  </a:buClr>
                  <a:buSzPct val="70000"/>
                  <a:buNone/>
                  <a:tabLst>
                    <a:tab pos="1077913" algn="l"/>
                    <a:tab pos="1527175" algn="l"/>
                  </a:tabLst>
                </a:pPr>
                <a:r>
                  <a:rPr lang="en-US" sz="18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/>
                          </a:rPr>
                          <m:t>ℓ</m:t>
                        </m:r>
                        <m:r>
                          <a:rPr lang="en-US" sz="1800" b="0" i="1" noProof="0" smtClean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1800" i="1" noProof="0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1800" noProof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b="0" i="1" noProof="0" smtClean="0">
                                <a:latin typeface="Cambria Math"/>
                              </a:rPr>
                              <m:t>&amp;</m:t>
                            </m:r>
                            <m:f>
                              <m:fPr>
                                <m:ctrlP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1800" b="0" i="1" noProof="0" smtClean="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𝑚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1800" b="0" i="1" noProof="0" smtClean="0">
                                    <a:latin typeface="Cambria Math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b="0" i="1" noProof="0" smtClean="0">
                                        <a:solidFill>
                                          <a:srgbClr val="5291DD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sz="1800" b="0" i="1" noProof="0" smtClean="0">
                                        <a:latin typeface="Cambria Math"/>
                                      </a:rPr>
                                      <m:t>ℓ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1800" b="0" i="1" noProof="0" smtClean="0">
                                <a:latin typeface="Cambria Math"/>
                              </a:rPr>
                              <m:t>,   ℓ,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𝑚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∈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𝐽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,ℓ≠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𝑚</m:t>
                            </m:r>
                            <m:r>
                              <a:rPr lang="en-US" sz="1800" b="0" i="1" noProof="0" smtClean="0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800" i="1" noProof="0" smtClean="0">
                                    <a:solidFill>
                                      <a:srgbClr val="5291DD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1800" i="1" noProof="0" smtClean="0">
                                    <a:latin typeface="Cambria Math"/>
                                  </a:rPr>
                                  <m:t>ℓ</m:t>
                                </m:r>
                              </m:sub>
                            </m:sSub>
                            <m:r>
                              <a:rPr lang="en-US" sz="1800" b="0" i="1" noProof="0" smtClean="0">
                                <a:latin typeface="Cambria Math"/>
                              </a:rPr>
                              <m:t>&lt;1 </m:t>
                            </m:r>
                          </m:e>
                          <m:e>
                            <m:r>
                              <a:rPr lang="en-US" sz="1800" b="0" i="1" noProof="0" smtClean="0">
                                <a:latin typeface="Cambria Math"/>
                              </a:rPr>
                              <m:t> &amp;0, </m:t>
                            </m:r>
                            <m:r>
                              <m:rPr>
                                <m:nor/>
                              </m:rPr>
                              <a:rPr lang="en-US" sz="1800" b="0" i="0" noProof="0" smtClean="0">
                                <a:latin typeface="Cambria Math"/>
                              </a:rPr>
                              <m:t>                   </m:t>
                            </m:r>
                            <m:r>
                              <m:rPr>
                                <m:nor/>
                              </m:rPr>
                              <a:rPr lang="en-US" sz="1800" b="0" i="0" noProof="0" smtClean="0">
                                <a:latin typeface="Cambria Math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sz="1800" noProof="0" dirty="0"/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❸"/>
                </a:pPr>
                <a:r>
                  <a:rPr lang="en-US" noProof="0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d>
                    <m:r>
                      <a:rPr lang="en-US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noProof="0" dirty="0">
                    <a:solidFill>
                      <a:srgbClr val="000000"/>
                    </a:solidFill>
                  </a:rPr>
                  <a:t>, go to Step 1; otherwise stop</a:t>
                </a:r>
              </a:p>
              <a:p>
                <a:pPr marL="527050" lvl="1" indent="-361950" defTabSz="914400">
                  <a:lnSpc>
                    <a:spcPct val="100000"/>
                  </a:lnSpc>
                  <a:spcBef>
                    <a:spcPts val="300"/>
                  </a:spcBef>
                  <a:buClr>
                    <a:srgbClr val="5191DD">
                      <a:lumMod val="75000"/>
                    </a:srgbClr>
                  </a:buClr>
                  <a:buSzPct val="70000"/>
                  <a:buFont typeface="Cambria" panose="02040503050406030204" pitchFamily="18" charset="0"/>
                  <a:buChar char="❹"/>
                </a:pPr>
                <a:r>
                  <a:rPr lang="en-US" noProof="0" dirty="0">
                    <a:solidFill>
                      <a:srgbClr val="000000"/>
                    </a:solidFill>
                  </a:rPr>
                  <a:t>Reject all hypotheses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noProof="0" dirty="0">
                    <a:solidFill>
                      <a:srgbClr val="000000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0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i="1" noProof="0" smtClean="0">
                        <a:latin typeface="Cambria Math"/>
                      </a:rPr>
                      <m:t>𝑚</m:t>
                    </m:r>
                  </m:oMath>
                </a14:m>
                <a:endParaRPr lang="en-US" noProof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6A0988-AF3E-CC3D-8070-70477C062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8"/>
                <a:ext cx="7886700" cy="3774282"/>
              </a:xfrm>
              <a:blipFill>
                <a:blip r:embed="rId4"/>
                <a:stretch>
                  <a:fillRect t="-12763" b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05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revisited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8119814" cy="3263504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Objective: To demonstrate that dose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solidFill>
                          <a:srgbClr val="5291DD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of a new drug is better than control 𝐶 in COPD patients for two endpoints </a:t>
                </a:r>
              </a:p>
              <a:p>
                <a:pPr lvl="1">
                  <a:tabLst>
                    <a:tab pos="2511425" algn="l"/>
                  </a:tabLst>
                </a:pPr>
                <a:r>
                  <a:rPr lang="en-US" noProof="0" dirty="0">
                    <a:solidFill>
                      <a:srgbClr val="5291DD"/>
                    </a:solidFill>
                  </a:rPr>
                  <a:t>Primary</a:t>
                </a:r>
                <a:r>
                  <a:rPr lang="en-US" noProof="0" dirty="0"/>
                  <a:t> endpoint: 	FEV1</a:t>
                </a:r>
              </a:p>
              <a:p>
                <a:pPr lvl="1">
                  <a:tabLst>
                    <a:tab pos="2511425" algn="l"/>
                  </a:tabLst>
                </a:pPr>
                <a:r>
                  <a:rPr lang="en-US" noProof="0" dirty="0">
                    <a:solidFill>
                      <a:srgbClr val="5291DD"/>
                    </a:solidFill>
                  </a:rPr>
                  <a:t>Secondary</a:t>
                </a:r>
                <a:r>
                  <a:rPr lang="en-US" noProof="0" dirty="0"/>
                  <a:t> endpoint:	Time to exacerbation</a:t>
                </a:r>
              </a:p>
              <a:p>
                <a:r>
                  <a:rPr lang="en-US" noProof="0" dirty="0"/>
                  <a:t>There is a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natural order </a:t>
                </a:r>
                <a:r>
                  <a:rPr lang="en-US" noProof="0" dirty="0"/>
                  <a:t>in that the primary endpoint is more important than the secondary endpoint </a:t>
                </a:r>
              </a:p>
              <a:p>
                <a:pPr lvl="1"/>
                <a:r>
                  <a:rPr lang="en-US" noProof="0" dirty="0"/>
                  <a:t>Thus, we would like to test the primary null hypothesis first; only if that is rejected, we test the secondary hypothesis</a:t>
                </a:r>
              </a:p>
              <a:p>
                <a:r>
                  <a:rPr lang="en-US" noProof="0" dirty="0"/>
                  <a:t>Both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doses are equally important</a:t>
                </a:r>
              </a:p>
              <a:p>
                <a:pPr lvl="1"/>
                <a:r>
                  <a:rPr lang="en-US" noProof="0" dirty="0"/>
                  <a:t>Thus, both doses are simultaneously tested against the control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8119814" cy="3263504"/>
              </a:xfrm>
              <a:blipFill>
                <a:blip r:embed="rId2"/>
                <a:stretch>
                  <a:fillRect l="-751" t="-2243" r="-1351" b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84D33-D9E4-A532-FDCA-A9FF986D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E49BF-D4EA-F0E5-7A3A-072072DA3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1320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104C-6E61-C7A0-9AD3-B0F0760C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Suggested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3FC7-D824-F3D9-737C-B7B5A6551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/>
          <a:lstStyle/>
          <a:p>
            <a:pPr marL="525600" indent="-363600">
              <a:buFont typeface="+mj-lt"/>
              <a:buAutoNum type="arabicPeriod"/>
            </a:pPr>
            <a:r>
              <a:rPr lang="en-US" noProof="0" dirty="0"/>
              <a:t>In close </a:t>
            </a:r>
            <a:r>
              <a:rPr lang="en-US" noProof="0" dirty="0">
                <a:solidFill>
                  <a:srgbClr val="5291DD"/>
                </a:solidFill>
              </a:rPr>
              <a:t>collaboration between clinicians and statisticians </a:t>
            </a:r>
            <a:r>
              <a:rPr lang="en-US" noProof="0" dirty="0"/>
              <a:t>(LaLonde and Nissen, 2025), </a:t>
            </a:r>
            <a:r>
              <a:rPr lang="en-US" noProof="0" dirty="0">
                <a:solidFill>
                  <a:srgbClr val="5291DD"/>
                </a:solidFill>
              </a:rPr>
              <a:t>select a general graphical test strategy </a:t>
            </a:r>
            <a:r>
              <a:rPr lang="en-US" noProof="0" dirty="0"/>
              <a:t>that addresses the trial objectives</a:t>
            </a:r>
          </a:p>
          <a:p>
            <a:pPr marL="525600" indent="-363600">
              <a:buFont typeface="+mj-lt"/>
              <a:buAutoNum type="arabicPeriod"/>
            </a:pPr>
            <a:r>
              <a:rPr lang="en-US" noProof="0" dirty="0">
                <a:solidFill>
                  <a:srgbClr val="5291DD"/>
                </a:solidFill>
              </a:rPr>
              <a:t>Finetune it </a:t>
            </a:r>
            <a:r>
              <a:rPr lang="en-US" noProof="0" dirty="0"/>
              <a:t>based on</a:t>
            </a:r>
          </a:p>
          <a:p>
            <a:pPr marL="715963" lvl="1"/>
            <a:r>
              <a:rPr lang="en-US" noProof="0" dirty="0"/>
              <a:t>clinical importance relationships among trial objectives</a:t>
            </a:r>
          </a:p>
          <a:p>
            <a:pPr marL="715963" lvl="1"/>
            <a:r>
              <a:rPr lang="en-US" noProof="0" dirty="0"/>
              <a:t>assumptions about effect sizes, nuisance parameters, correlations, ...</a:t>
            </a:r>
          </a:p>
          <a:p>
            <a:pPr marL="525600" indent="-363600">
              <a:buFont typeface="+mj-lt"/>
              <a:buAutoNum type="arabicPeriod"/>
            </a:pPr>
            <a:r>
              <a:rPr lang="en-US" noProof="0" dirty="0"/>
              <a:t>Perform </a:t>
            </a:r>
            <a:r>
              <a:rPr lang="en-US" noProof="0" dirty="0">
                <a:solidFill>
                  <a:srgbClr val="5291DD"/>
                </a:solidFill>
              </a:rPr>
              <a:t>sample size calculations for a suitable power definition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5BB4D-D6CD-AFE2-C7EC-4D89CE69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57991-37AD-37AD-E7C7-89BD33BEE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8097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C8CE3-2BB9-16F4-F4F5-8250B49CD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AB84D-D0FC-B42E-017E-33B893A6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revisited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Building a multiple test procedure – </a:t>
            </a:r>
            <a:r>
              <a:rPr lang="en-US" sz="2200" i="1" noProof="0" dirty="0">
                <a:solidFill>
                  <a:srgbClr val="5291DD"/>
                </a:solidFill>
              </a:rPr>
              <a:t>Hypotheses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497F81C6-E744-0DC2-586A-DE58BC3E9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" y="1296102"/>
            <a:ext cx="6177279" cy="3147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EA03F-039E-8D86-37C6-E7C82152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A2B863-BC1C-771A-3705-B158F8CD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84087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85C2C-9B6C-46CD-421C-406D64CB5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66F96-477F-D07D-EF88-FBCF0BAC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revisited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Building a multiple test procedure – </a:t>
            </a:r>
            <a:r>
              <a:rPr lang="en-US" sz="2200" i="1" noProof="0" dirty="0">
                <a:solidFill>
                  <a:srgbClr val="5291DD"/>
                </a:solidFill>
              </a:rPr>
              <a:t>Initial significance levels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0799ACA2-95B1-F673-B956-FE729FC59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2" y="1286577"/>
            <a:ext cx="6171301" cy="3154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15F97-FFB0-901D-7C83-BAF755C5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0CE31-C437-BBEE-466A-FFC264AF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110808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CFECD-5F45-B94D-468D-AAA844F1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BF69-A16D-546E-D2E9-A40ACDAD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revisited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Building a multiple test procedure – </a:t>
            </a:r>
            <a:r>
              <a:rPr lang="en-US" sz="2200" i="1" noProof="0" dirty="0">
                <a:solidFill>
                  <a:srgbClr val="5291DD"/>
                </a:solidFill>
              </a:rPr>
              <a:t>Propagation of significance levels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703A3C-320B-E6EC-F8D2-C87859C57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1976"/>
            <a:ext cx="6186803" cy="3174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7CD261-C861-D6F8-BABD-5DDECDC01195}"/>
                  </a:ext>
                </a:extLst>
              </p:cNvPr>
              <p:cNvSpPr txBox="1"/>
              <p:nvPr/>
            </p:nvSpPr>
            <p:spPr>
              <a:xfrm>
                <a:off x="6551712" y="1836890"/>
                <a:ext cx="2592288" cy="15379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noProof="0" smtClean="0">
                          <a:latin typeface="Cambria Math"/>
                        </a:rPr>
                        <m:t>𝜶</m:t>
                      </m:r>
                      <m:r>
                        <a:rPr lang="en-US" b="0" i="1" noProof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𝛼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𝛼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 noProof="0" smtClean="0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600" noProof="0" dirty="0"/>
              </a:p>
              <a:p>
                <a:endParaRPr lang="en-US" sz="11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noProof="0" smtClean="0">
                          <a:latin typeface="Cambria Math"/>
                        </a:rPr>
                        <m:t>𝑮</m:t>
                      </m:r>
                      <m:r>
                        <a:rPr lang="en-US" b="0" i="1" noProof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7CD261-C861-D6F8-BABD-5DDECDC01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712" y="1836890"/>
                <a:ext cx="2592288" cy="1537922"/>
              </a:xfrm>
              <a:prstGeom prst="rect">
                <a:avLst/>
              </a:prstGeom>
              <a:blipFill>
                <a:blip r:embed="rId3"/>
                <a:stretch>
                  <a:fillRect b="-1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54B3F-8D5C-CB45-49A7-2FEC0324E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23FB8-BAA0-CC58-95DA-2CA689A3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217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E71EB-4EB0-00E7-F0BB-6D34560EF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F02A0-3A33-52AE-8624-57FC181C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revisited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Building a multiple test procedure – </a:t>
            </a:r>
            <a:r>
              <a:rPr lang="en-US" sz="2200" i="1" noProof="0" dirty="0">
                <a:solidFill>
                  <a:srgbClr val="5291DD"/>
                </a:solidFill>
              </a:rPr>
              <a:t>Alternative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2D95C0-AB3D-7E7D-576A-0EC6F0CA803E}"/>
                  </a:ext>
                </a:extLst>
              </p:cNvPr>
              <p:cNvSpPr txBox="1"/>
              <p:nvPr/>
            </p:nvSpPr>
            <p:spPr>
              <a:xfrm>
                <a:off x="6549405" y="1836890"/>
                <a:ext cx="2487091" cy="18893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noProof="0" smtClean="0">
                          <a:latin typeface="Cambria Math"/>
                        </a:rPr>
                        <m:t>𝜶</m:t>
                      </m:r>
                      <m:r>
                        <a:rPr lang="en-US" b="0" i="1" noProof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𝛼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𝛼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 noProof="0" smtClean="0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noProof="0" dirty="0"/>
              </a:p>
              <a:p>
                <a:endParaRPr lang="en-US" sz="11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noProof="0" smtClean="0">
                          <a:latin typeface="Cambria Math"/>
                        </a:rPr>
                        <m:t>𝑮</m:t>
                      </m:r>
                      <m:r>
                        <a:rPr lang="en-US" b="0" i="1" noProof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box>
                                        <m:box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b="0" i="1" noProof="0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2D95C0-AB3D-7E7D-576A-0EC6F0CA8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405" y="1836890"/>
                <a:ext cx="2487091" cy="1889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4">
            <a:extLst>
              <a:ext uri="{FF2B5EF4-FFF2-40B4-BE49-F238E27FC236}">
                <a16:creationId xmlns:a16="http://schemas.microsoft.com/office/drawing/2014/main" id="{52A7AF77-0E6B-6293-9A93-EAEFA13D1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19200"/>
            <a:ext cx="6228184" cy="322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4CE96-035B-C814-C5E2-7CA6A4F99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F9B54-1767-FAFF-6AE2-4204A93C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47288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8A71-1671-2F55-4849-EB5D14203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4736-2EC6-631E-41E8-2BE6AF534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Example 3 revisited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Building a multiple test procedure – </a:t>
            </a:r>
            <a:r>
              <a:rPr lang="en-US" sz="2200" i="1" noProof="0" dirty="0">
                <a:solidFill>
                  <a:srgbClr val="5291DD"/>
                </a:solidFill>
              </a:rPr>
              <a:t>General approach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6FD4D70A-C7F3-DA06-7296-449DD3F5D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303819"/>
            <a:ext cx="5631112" cy="2708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CED5D3-C38C-8E83-D048-1D78E821CB22}"/>
                  </a:ext>
                </a:extLst>
              </p:cNvPr>
              <p:cNvSpPr txBox="1"/>
              <p:nvPr/>
            </p:nvSpPr>
            <p:spPr>
              <a:xfrm>
                <a:off x="5796136" y="1836890"/>
                <a:ext cx="3347863" cy="157325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noProof="0" smtClean="0">
                          <a:latin typeface="Cambria Math"/>
                        </a:rPr>
                        <m:t>𝜶</m:t>
                      </m:r>
                      <m:r>
                        <a:rPr lang="en-US" b="0" i="1" noProof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 noProof="0" smtClean="0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noProof="0" dirty="0"/>
              </a:p>
              <a:p>
                <a:endParaRPr lang="en-US" sz="11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noProof="0" smtClean="0">
                          <a:latin typeface="Cambria Math"/>
                        </a:rPr>
                        <m:t>𝑮</m:t>
                      </m:r>
                      <m:r>
                        <a:rPr lang="en-US" b="0" i="1" noProof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noProof="0" smtClean="0">
                                              <a:latin typeface="Cambria Math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noProof="0" smtClean="0">
                                              <a:latin typeface="Cambria Math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i="1" noProof="0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noProof="0" smtClean="0">
                                              <a:latin typeface="Cambria Math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b="0" i="1" noProof="0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          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0          </m:t>
                                      </m:r>
                                    </m:e>
                                    <m:e>
                                      <m:r>
                                        <a:rPr lang="en-US" b="0" i="1" noProof="0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CED5D3-C38C-8E83-D048-1D78E821C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1836890"/>
                <a:ext cx="3347863" cy="15732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3C0E9-5559-83A6-8F56-24F06DA70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441F30-252A-C3B6-CB91-147270DB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56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FE004A-EDA2-87A8-55AB-8E4A263A7EA6}"/>
                  </a:ext>
                </a:extLst>
              </p:cNvPr>
              <p:cNvSpPr txBox="1"/>
              <p:nvPr/>
            </p:nvSpPr>
            <p:spPr>
              <a:xfrm>
                <a:off x="457200" y="4127972"/>
                <a:ext cx="8424936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Resulting graph depends on the remaining </a:t>
                </a:r>
                <a:r>
                  <a:rPr lang="en-US" noProof="0" dirty="0">
                    <a:solidFill>
                      <a:srgbClr val="5291DD"/>
                    </a:solidFill>
                  </a:rPr>
                  <a:t>design parameters</a:t>
                </a:r>
                <a:r>
                  <a:rPr lang="en-US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These need to be fine-tuned based on further clinical considerations, or assumptions about effect sizes, nuisance parameters, correlations, ...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FE004A-EDA2-87A8-55AB-8E4A263A7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127972"/>
                <a:ext cx="8424936" cy="923330"/>
              </a:xfrm>
              <a:prstGeom prst="rect">
                <a:avLst/>
              </a:prstGeom>
              <a:blipFill>
                <a:blip r:embed="rId4"/>
                <a:stretch>
                  <a:fillRect l="-434" t="-3289" r="-217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05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01FF-C77A-3AD8-CCB0-040B5B76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spc="-100" noProof="0" dirty="0"/>
              <a:t>Sample size and power calculations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C9CE-7024-0D8C-2AEA-9012A2470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8191822" cy="3398045"/>
          </a:xfrm>
        </p:spPr>
        <p:txBody>
          <a:bodyPr>
            <a:normAutofit/>
          </a:bodyPr>
          <a:lstStyle/>
          <a:p>
            <a:r>
              <a:rPr lang="en-US" noProof="0" dirty="0"/>
              <a:t>Calculating the power or sample size for a given test procedure should be done under a </a:t>
            </a:r>
            <a:r>
              <a:rPr lang="en-US" noProof="0" dirty="0">
                <a:solidFill>
                  <a:srgbClr val="5291DD"/>
                </a:solidFill>
              </a:rPr>
              <a:t>plausible range of assumptions ('scenarios')</a:t>
            </a:r>
          </a:p>
          <a:p>
            <a:pPr lvl="1"/>
            <a:r>
              <a:rPr lang="en-US" noProof="0" dirty="0"/>
              <a:t>This ensures a robust assessment of the performance of the proposed graphical test procedure</a:t>
            </a:r>
          </a:p>
          <a:p>
            <a:r>
              <a:rPr lang="en-US" noProof="0" dirty="0"/>
              <a:t>Assumptions may have to be made for a variety of parameters (e.g., effect sizes, nuisance parameters, correlations)</a:t>
            </a:r>
          </a:p>
          <a:p>
            <a:pPr lvl="1"/>
            <a:r>
              <a:rPr lang="en-US" noProof="0" dirty="0"/>
              <a:t>For some parameters there might be more information available (e.g., effect sizes) than for others (e.g., correlation between endpoints)</a:t>
            </a:r>
          </a:p>
          <a:p>
            <a:r>
              <a:rPr lang="en-US" noProof="0" dirty="0"/>
              <a:t>Parameters underlying the scenarios can take different forms</a:t>
            </a:r>
          </a:p>
          <a:p>
            <a:pPr lvl="1"/>
            <a:r>
              <a:rPr lang="en-US" noProof="0" dirty="0"/>
              <a:t>For example, standardized effect sizes can conveniently be expressed through marginal power values or non-centrality parameters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2125B-95BB-F2A9-F006-2BCDE79EE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9023F-232B-B16F-0F81-4FCFDCDF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646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8BD5B-861C-9073-E458-E9D450699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37EF-2871-31F4-8F71-6E4A15EE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spc="-100" noProof="0" dirty="0"/>
              <a:t>Sample size and power calculations</a:t>
            </a:r>
            <a:br>
              <a:rPr lang="en-US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Outcome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BA6B5-90FB-6AAA-AAB3-517745F0A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8191822" cy="33627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To calculate the power for a given graphical test procedure, </a:t>
            </a:r>
            <a:r>
              <a:rPr lang="en-US" noProof="0" dirty="0">
                <a:solidFill>
                  <a:srgbClr val="5291DD"/>
                </a:solidFill>
              </a:rPr>
              <a:t>distinguish between the probabilities</a:t>
            </a:r>
            <a:r>
              <a:rPr lang="en-US" noProof="0" dirty="0"/>
              <a:t> of </a:t>
            </a:r>
          </a:p>
          <a:p>
            <a:r>
              <a:rPr lang="en-US" noProof="0" dirty="0"/>
              <a:t>successful trial (as driven by the primary objectives)</a:t>
            </a:r>
          </a:p>
          <a:p>
            <a:r>
              <a:rPr lang="en-US" noProof="0" dirty="0"/>
              <a:t>rejecting an individual null hypotheses</a:t>
            </a:r>
          </a:p>
          <a:p>
            <a:r>
              <a:rPr lang="en-US" noProof="0" dirty="0"/>
              <a:t>(weighted) combination of individual rejections, e.g., probability of rejecting</a:t>
            </a:r>
          </a:p>
          <a:p>
            <a:pPr lvl="1"/>
            <a:r>
              <a:rPr lang="en-US" noProof="0" dirty="0"/>
              <a:t>at least one hypothesis ('disjunctive power')</a:t>
            </a:r>
          </a:p>
          <a:p>
            <a:pPr lvl="1"/>
            <a:r>
              <a:rPr lang="en-US" noProof="0" dirty="0"/>
              <a:t>the primary endpoint hypothesis for at least one dose</a:t>
            </a:r>
          </a:p>
          <a:p>
            <a:pPr lvl="1"/>
            <a:r>
              <a:rPr lang="en-US" noProof="0" dirty="0"/>
              <a:t>all primary and secondary endpoint hypotheses for at least one dose</a:t>
            </a:r>
          </a:p>
          <a:p>
            <a:pPr lvl="1"/>
            <a:r>
              <a:rPr lang="en-US" noProof="0" dirty="0"/>
              <a:t>all hypotheses ('conjunctive power')</a:t>
            </a:r>
          </a:p>
          <a:p>
            <a:pPr lvl="2"/>
            <a:endParaRPr lang="en-US" noProof="0" dirty="0"/>
          </a:p>
          <a:p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B09A6-B329-AD86-4922-53C53D669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7933D-E471-CAC6-D111-0082A3D1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9305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FEDF-C9F8-DE92-DFDE-6834C1E59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3E22-1157-6B98-9408-DCA243C67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3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Example 3 revisited</a:t>
            </a:r>
            <a:br>
              <a:rPr kumimoji="0" lang="en-US" sz="3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lang="en-US" sz="2200" i="1" noProof="0" dirty="0">
                <a:solidFill>
                  <a:srgbClr val="000000"/>
                </a:solidFill>
              </a:rPr>
              <a:t>Building a multiple test procedure –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5291DD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Power</a:t>
            </a:r>
            <a:endParaRPr lang="en-US" sz="2200" i="1" noProof="0" dirty="0">
              <a:solidFill>
                <a:srgbClr val="5291DD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93F16C-1E94-7C86-53FF-8B110ED03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125" y="102393"/>
            <a:ext cx="3347864" cy="154188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B315F-82E9-7817-299C-EDF7AEBA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DC138E-F4DD-AF2D-F1F6-807FFE40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59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1467899-66DD-101B-486E-BC272504D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2589256"/>
                  </p:ext>
                </p:extLst>
              </p:nvPr>
            </p:nvGraphicFramePr>
            <p:xfrm>
              <a:off x="628650" y="1698022"/>
              <a:ext cx="7886697" cy="29540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6669">
                      <a:extLst>
                        <a:ext uri="{9D8B030D-6E8A-4147-A177-3AD203B41FA5}">
                          <a16:colId xmlns:a16="http://schemas.microsoft.com/office/drawing/2014/main" val="2508677474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789123770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126093318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965697123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678347437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4015675292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828835640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032177015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62069575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1177163593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670408660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878452425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658767111"/>
                        </a:ext>
                      </a:extLst>
                    </a:gridCol>
                  </a:tblGrid>
                  <a:tr h="293355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b="1" noProof="0" dirty="0">
                              <a:solidFill>
                                <a:schemeClr val="bg1"/>
                              </a:solidFill>
                            </a:rPr>
                            <a:t>Design parameters</a:t>
                          </a:r>
                        </a:p>
                      </a:txBody>
                      <a:tcPr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5291D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b="1" noProof="0" dirty="0">
                              <a:solidFill>
                                <a:schemeClr val="bg1"/>
                              </a:solidFill>
                            </a:rPr>
                            <a:t>Scenarios</a:t>
                          </a:r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5291D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b="1" noProof="0" dirty="0">
                              <a:solidFill>
                                <a:schemeClr val="bg1"/>
                              </a:solidFill>
                            </a:rPr>
                            <a:t>Outcome measures</a:t>
                          </a:r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5291D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602655"/>
                      </a:ext>
                    </a:extLst>
                  </a:tr>
                  <a:tr h="3209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𝜸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𝜸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𝝆</m:t>
                                </m:r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𝐦𝐚𝐫𝐠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𝐦𝐚𝐫𝐠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𝐦𝐚𝐫𝐠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𝐦𝐚𝐫𝐠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𝐢𝐧𝐝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𝐢𝐧𝐝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𝐢𝐧𝐝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US" b="1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  <m:sup>
                                    <m:r>
                                      <a:rPr lang="en-US" b="1" i="0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𝐢𝐧𝐝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5291D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1298481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0.9372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0.8694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0.8694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0.7042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0.7046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778574799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0.9373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0.8697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0.8702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0.7385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64056494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0.9371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0.8706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0.7604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0.7607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33481700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0.9372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0.6988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0.6993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8757496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0.9373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0.7301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0.7307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711115523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0.9371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0.8748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0.7483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0.7486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529601395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1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100" noProof="0" dirty="0"/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0.9372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0.6717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0.6719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394969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1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100" noProof="0" dirty="0"/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0.9373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70597670"/>
                      </a:ext>
                    </a:extLst>
                  </a:tr>
                  <a:tr h="2557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100" noProof="0" dirty="0"/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100" noProof="0" dirty="0"/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0.9371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0.8815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0.8817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0.7236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0.7239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18407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1467899-66DD-101B-486E-BC272504D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2589256"/>
                  </p:ext>
                </p:extLst>
              </p:nvPr>
            </p:nvGraphicFramePr>
            <p:xfrm>
              <a:off x="628650" y="1698022"/>
              <a:ext cx="7886697" cy="29540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6669">
                      <a:extLst>
                        <a:ext uri="{9D8B030D-6E8A-4147-A177-3AD203B41FA5}">
                          <a16:colId xmlns:a16="http://schemas.microsoft.com/office/drawing/2014/main" val="2508677474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789123770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126093318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965697123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678347437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4015675292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828835640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032177015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62069575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1177163593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670408660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3878452425"/>
                        </a:ext>
                      </a:extLst>
                    </a:gridCol>
                    <a:gridCol w="606669">
                      <a:extLst>
                        <a:ext uri="{9D8B030D-6E8A-4147-A177-3AD203B41FA5}">
                          <a16:colId xmlns:a16="http://schemas.microsoft.com/office/drawing/2014/main" val="2658767111"/>
                        </a:ext>
                      </a:extLst>
                    </a:gridCol>
                  </a:tblGrid>
                  <a:tr h="29718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b="1" noProof="0" dirty="0">
                              <a:solidFill>
                                <a:schemeClr val="bg1"/>
                              </a:solidFill>
                            </a:rPr>
                            <a:t>Design parameters</a:t>
                          </a:r>
                        </a:p>
                      </a:txBody>
                      <a:tcPr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5291D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b="1" noProof="0" dirty="0">
                              <a:solidFill>
                                <a:schemeClr val="bg1"/>
                              </a:solidFill>
                            </a:rPr>
                            <a:t>Scenarios</a:t>
                          </a:r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5291D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b="1" noProof="0" dirty="0">
                              <a:solidFill>
                                <a:schemeClr val="bg1"/>
                              </a:solidFill>
                            </a:rPr>
                            <a:t>Outcome measures</a:t>
                          </a:r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5291DD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602655"/>
                      </a:ext>
                    </a:extLst>
                  </a:tr>
                  <a:tr h="325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94340" r="-119500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10" t="-94340" r="-1107071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00" t="-94340" r="-99600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020" t="-94340" r="-906061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000" t="-94340" r="-79700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3030" t="-94340" r="-705051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7000" t="-94340" r="-59800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4040" t="-94340" r="-50404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6000" t="-94340" r="-39900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5051" t="-94340" r="-30303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5000" t="-94340" r="-20000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06061" t="-94340" r="-102020" b="-73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94000" t="-94340" r="-1000" b="-7358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129848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0.9372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0.8694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0.8694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0.7042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0.7046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rgbClr val="5291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77857479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0.9373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0.8697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0.8702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0.7385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6405649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0.9371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0.8706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0.7604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0.7607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334817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0.9372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0.6988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0.6993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875749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0.9373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0.7301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0.7307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71111552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0.9371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0.8748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0.7483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0.7486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52960139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10" t="-834884" r="-1107071" b="-2116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99000" t="-834884" r="-996000" b="-2116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0.9372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0.6717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0.6719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39496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10" t="-957143" r="-1107071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99000" t="-957143" r="-996000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0.9373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7059767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0.0125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10" t="-1032558" r="-1107071" b="-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00" t="-1032558" r="-996000" b="-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0.95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0.9</a:t>
                          </a:r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noProof="0" dirty="0"/>
                            <a:t>0.8</a:t>
                          </a:r>
                        </a:p>
                      </a:txBody>
                      <a:tcPr anchor="ctr"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0.9371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0.8815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0.8817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0.7236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0.7239</a:t>
                          </a:r>
                        </a:p>
                      </a:txBody>
                      <a:tcPr marL="9525" marR="9525" marT="9525" marB="0" anchor="ctr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18407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290D2A-EEAB-37F8-B70B-3C3C23CFB707}"/>
                  </a:ext>
                </a:extLst>
              </p:cNvPr>
              <p:cNvSpPr txBox="1"/>
              <p:nvPr/>
            </p:nvSpPr>
            <p:spPr>
              <a:xfrm>
                <a:off x="628650" y="4655203"/>
                <a:ext cx="7554846" cy="45525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  <m:r>
                      <a:rPr lang="en-US" sz="11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→0</m:t>
                    </m:r>
                  </m:oMath>
                </a14:m>
                <a:r>
                  <a:rPr lang="en-US" sz="1100" noProof="0" dirty="0"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𝜌</m:t>
                    </m:r>
                    <m:r>
                      <a:rPr lang="en-US" sz="11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1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𝑐𝑜𝑟𝑟</m:t>
                    </m:r>
                    <m:d>
                      <m:dPr>
                        <m:ctrlPr>
                          <a:rPr lang="en-US" sz="11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1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𝑐𝑜𝑟𝑟</m:t>
                    </m:r>
                    <m:d>
                      <m:d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sz="11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denotes the test statistic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1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𝑐𝑜𝑟𝑟</m:t>
                    </m:r>
                    <m:d>
                      <m:d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𝑐𝑜𝑟𝑟</m:t>
                    </m:r>
                    <m:d>
                      <m:d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10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sz="11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=0.5</m:t>
                    </m:r>
                  </m:oMath>
                </a14:m>
                <a:endParaRPr lang="en-US" sz="11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10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𝜋</m:t>
                    </m:r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: probability of a for a successful trial;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𝜋</m:t>
                        </m:r>
                      </m:e>
                      <m:sub>
                        <m:r>
                          <a:rPr lang="en-US" sz="11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100" b="0" i="0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marg</m:t>
                        </m:r>
                      </m:sup>
                    </m:sSubSup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𝜋</m:t>
                        </m:r>
                      </m:e>
                      <m:sub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100" b="0" i="0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ind</m:t>
                        </m:r>
                      </m:sup>
                    </m:sSubSup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: marginal and individual power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1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respectively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290D2A-EEAB-37F8-B70B-3C3C23CFB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655203"/>
                <a:ext cx="7554846" cy="455253"/>
              </a:xfrm>
              <a:prstGeom prst="rect">
                <a:avLst/>
              </a:prstGeom>
              <a:blipFill>
                <a:blip r:embed="rId4"/>
                <a:stretch>
                  <a:fillRect t="-1351"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6626C74D-B200-5F97-AF03-0FCCDE717CB2}"/>
              </a:ext>
            </a:extLst>
          </p:cNvPr>
          <p:cNvSpPr txBox="1"/>
          <p:nvPr/>
        </p:nvSpPr>
        <p:spPr>
          <a:xfrm>
            <a:off x="628650" y="1694860"/>
            <a:ext cx="1809750" cy="648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212E7E-BF61-4A8F-ED7F-744083FF26E7}"/>
              </a:ext>
            </a:extLst>
          </p:cNvPr>
          <p:cNvSpPr txBox="1"/>
          <p:nvPr/>
        </p:nvSpPr>
        <p:spPr>
          <a:xfrm>
            <a:off x="2438400" y="1691699"/>
            <a:ext cx="3035300" cy="648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5767DE-EB30-B801-4B4A-5BA58525E76E}"/>
              </a:ext>
            </a:extLst>
          </p:cNvPr>
          <p:cNvSpPr txBox="1"/>
          <p:nvPr/>
        </p:nvSpPr>
        <p:spPr>
          <a:xfrm>
            <a:off x="5473697" y="1696691"/>
            <a:ext cx="3121662" cy="648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F51BE6-3CDE-E48B-3687-30717C7C638E}"/>
              </a:ext>
            </a:extLst>
          </p:cNvPr>
          <p:cNvSpPr txBox="1"/>
          <p:nvPr/>
        </p:nvSpPr>
        <p:spPr>
          <a:xfrm>
            <a:off x="628650" y="2327260"/>
            <a:ext cx="1883962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546976-B0FB-4E6C-83A6-57791F85B7CC}"/>
              </a:ext>
            </a:extLst>
          </p:cNvPr>
          <p:cNvSpPr txBox="1"/>
          <p:nvPr/>
        </p:nvSpPr>
        <p:spPr>
          <a:xfrm>
            <a:off x="628650" y="3137008"/>
            <a:ext cx="1883962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0215D6-28B4-997C-624D-5F811498DAB4}"/>
              </a:ext>
            </a:extLst>
          </p:cNvPr>
          <p:cNvSpPr txBox="1"/>
          <p:nvPr/>
        </p:nvSpPr>
        <p:spPr>
          <a:xfrm>
            <a:off x="628650" y="3893008"/>
            <a:ext cx="1883962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B6A4FF-DF20-09C0-14DF-6F5E4E049F1E}"/>
              </a:ext>
            </a:extLst>
          </p:cNvPr>
          <p:cNvSpPr txBox="1"/>
          <p:nvPr/>
        </p:nvSpPr>
        <p:spPr>
          <a:xfrm>
            <a:off x="2454301" y="2333583"/>
            <a:ext cx="3035299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24F28-CE44-FD0B-0FCA-4E9B1C77E360}"/>
              </a:ext>
            </a:extLst>
          </p:cNvPr>
          <p:cNvSpPr txBox="1"/>
          <p:nvPr/>
        </p:nvSpPr>
        <p:spPr>
          <a:xfrm>
            <a:off x="2454301" y="3067659"/>
            <a:ext cx="3035299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B5D2A2-99C5-29F3-8206-D6289FD607F0}"/>
              </a:ext>
            </a:extLst>
          </p:cNvPr>
          <p:cNvSpPr txBox="1"/>
          <p:nvPr/>
        </p:nvSpPr>
        <p:spPr>
          <a:xfrm>
            <a:off x="2454300" y="3893008"/>
            <a:ext cx="3035299" cy="756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5B4E76-0654-9E4A-0705-BBF580ADED17}"/>
              </a:ext>
            </a:extLst>
          </p:cNvPr>
          <p:cNvSpPr txBox="1"/>
          <p:nvPr/>
        </p:nvSpPr>
        <p:spPr>
          <a:xfrm>
            <a:off x="5489599" y="2327260"/>
            <a:ext cx="3121663" cy="225859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849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204B7-0C47-63C0-BC0B-16F83FB7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EE10-3281-CCFD-9610-BD62F0E1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62CA0-73FF-18A7-39B7-957C5315A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solidFill>
                  <a:srgbClr val="BFBFBF"/>
                </a:solidFill>
              </a:rPr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/>
              <a:t>Optimizing graphical multiple comparison procedures</a:t>
            </a:r>
          </a:p>
          <a:p>
            <a:pPr lvl="1"/>
            <a:r>
              <a:rPr lang="en-US" noProof="0" dirty="0"/>
              <a:t>Optimizing weighted Bonferroni test</a:t>
            </a:r>
          </a:p>
          <a:p>
            <a:pPr lvl="1"/>
            <a:r>
              <a:rPr lang="en-US" noProof="0" dirty="0"/>
              <a:t>Optimizing graphical approach</a:t>
            </a:r>
          </a:p>
          <a:p>
            <a:r>
              <a:rPr lang="en-US" noProof="0" dirty="0" err="1">
                <a:solidFill>
                  <a:schemeClr val="bg1">
                    <a:lumMod val="75000"/>
                  </a:schemeClr>
                </a:solidFill>
              </a:rPr>
              <a:t>graphicalMCP</a:t>
            </a:r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: implementation of graphical approaches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E482B-E426-BD74-B329-2840F0E4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86CBF-3BB9-8979-8B38-96F216B7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2998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289EF-A0DA-5375-FC5E-AE4F53F3B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596B-EAD8-1DC3-3C84-5E970A28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A76F3-98B8-B81D-C5F2-74A2E67D6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solidFill>
                  <a:srgbClr val="BFBFBF"/>
                </a:solidFill>
              </a:rPr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/>
              <a:t>Optimizing graphical multiple comparison procedures</a:t>
            </a:r>
          </a:p>
          <a:p>
            <a:pPr lvl="1"/>
            <a:r>
              <a:rPr lang="en-US" noProof="0" dirty="0"/>
              <a:t>Optimizing weighted Bonferroni test</a:t>
            </a:r>
          </a:p>
          <a:p>
            <a:pPr lvl="1"/>
            <a:r>
              <a:rPr lang="en-US" noProof="0" dirty="0">
                <a:solidFill>
                  <a:srgbClr val="BFBFBF"/>
                </a:solidFill>
              </a:rPr>
              <a:t>Optimizing graphical approach</a:t>
            </a:r>
          </a:p>
          <a:p>
            <a:r>
              <a:rPr lang="en-US" noProof="0" dirty="0" err="1">
                <a:solidFill>
                  <a:schemeClr val="bg1">
                    <a:lumMod val="75000"/>
                  </a:schemeClr>
                </a:solidFill>
              </a:rPr>
              <a:t>graphicalMCP</a:t>
            </a:r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: implementation of graphical approaches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5C935-AEE5-1CC9-954D-B81F7B5CC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72B75-47EB-2991-A43C-C323AD940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89603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C941A-3AED-1925-13B5-B063F463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1A197-D2FC-06F3-03B0-C5F0D628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How to design a graph</a:t>
            </a:r>
            <a:br>
              <a:rPr lang="en-US" noProof="0" dirty="0"/>
            </a:br>
            <a:r>
              <a:rPr lang="en-US" sz="2200" i="1" noProof="0" dirty="0"/>
              <a:t>Example 3 revisited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AE771-39DD-102F-986E-79E13CA936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152551"/>
                <a:ext cx="7886700" cy="1614712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Graph design normally depends on the clinical consideration and certain metrics</a:t>
                </a:r>
              </a:p>
              <a:p>
                <a:pPr lvl="1"/>
                <a:r>
                  <a:rPr lang="en-US" sz="1700" noProof="0" dirty="0"/>
                  <a:t>Is equal split always reasonable among primary endpoints? What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7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700" noProof="0" dirty="0"/>
                  <a:t> has smaller power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7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700" noProof="0" dirty="0"/>
                  <a:t>?</a:t>
                </a:r>
              </a:p>
              <a:p>
                <a:pPr lvl="1"/>
                <a:r>
                  <a:rPr lang="en-US" sz="17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700" dirty="0"/>
                  <a:t> is rejected, shall the weight be propagated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700" dirty="0"/>
                  <a:t>?</a:t>
                </a:r>
                <a:endParaRPr lang="en-US" sz="1700" noProof="0" dirty="0"/>
              </a:p>
              <a:p>
                <a:endParaRPr lang="en-US" noProof="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AE771-39DD-102F-986E-79E13CA93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152551"/>
                <a:ext cx="7886700" cy="1614712"/>
              </a:xfrm>
              <a:blipFill>
                <a:blip r:embed="rId2"/>
                <a:stretch>
                  <a:fillRect l="-773" t="-4151" r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5CE43-CCED-6FE2-6645-D1C7EB9C8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CD474-5104-0D5F-91C1-84228C7A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EF3A6F37-FE69-C8BD-210D-031C79FDF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914" y="1206683"/>
            <a:ext cx="4046172" cy="1945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45A8E9-7724-5D3F-E763-C2093854C022}"/>
              </a:ext>
            </a:extLst>
          </p:cNvPr>
          <p:cNvSpPr txBox="1"/>
          <p:nvPr/>
        </p:nvSpPr>
        <p:spPr>
          <a:xfrm>
            <a:off x="1955800" y="1476103"/>
            <a:ext cx="6727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CE755D"/>
                </a:solidFill>
              </a:rPr>
              <a:t>primary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47FA1-8126-DC84-39A7-1E2D8862904A}"/>
              </a:ext>
            </a:extLst>
          </p:cNvPr>
          <p:cNvSpPr txBox="1"/>
          <p:nvPr/>
        </p:nvSpPr>
        <p:spPr>
          <a:xfrm>
            <a:off x="1879497" y="2571750"/>
            <a:ext cx="825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CE755D"/>
                </a:solidFill>
              </a:rPr>
              <a:t>secondary</a:t>
            </a:r>
          </a:p>
        </p:txBody>
      </p:sp>
    </p:spTree>
    <p:extLst>
      <p:ext uri="{BB962C8B-B14F-4D97-AF65-F5344CB8AC3E}">
        <p14:creationId xmlns:p14="http://schemas.microsoft.com/office/powerpoint/2010/main" val="11519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738C-B43D-6EED-2EE1-238EDCE0E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C489-3803-3406-2B0C-3F0C82C7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Weighted Bonferroni test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9E882-ADE8-00AD-ECD0-ADEF28F15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D2E24-D4E9-F5FD-EF86-59602275F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6143023-6C19-2E8C-E0C6-39ED9D2C6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noProof="0" dirty="0"/>
                  <a:t>Consider testing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noProof="0" dirty="0"/>
                  <a:t> null hypotheses,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noProof="0" dirty="0"/>
                  <a:t> vs. upper alternatives</a:t>
                </a:r>
              </a:p>
              <a:p>
                <a:r>
                  <a:rPr lang="en-US" noProof="0" dirty="0"/>
                  <a:t>To control the FWER at an overall significance level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, weighted Bonferroni tests are considered</a:t>
                </a:r>
              </a:p>
              <a:p>
                <a:r>
                  <a:rPr lang="en-US" noProof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be the one-sided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noProof="0" dirty="0"/>
                  <a:t>-value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, marginal power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𝑚𝑎𝑟𝑔</m:t>
                        </m:r>
                      </m:sup>
                    </m:sSubSup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noProof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is the non-centrality parameter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noProof="0" dirty="0"/>
              </a:p>
              <a:p>
                <a:r>
                  <a:rPr lang="en-US" noProof="0" dirty="0"/>
                  <a:t>Assign a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noProof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and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noProof="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500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5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1500" i="1" noProof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500" noProof="0" dirty="0"/>
              </a:p>
              <a:p>
                <a:r>
                  <a:rPr lang="en-US" noProof="0" dirty="0"/>
                  <a:t>Question of interest: how to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for an “optimized” weighted Bonferroni test?</a:t>
                </a: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6143023-6C19-2E8C-E0C6-39ED9D2C6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1150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4FC0-B517-4C02-71C6-18AE4D64F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BB15-FE6F-C370-67FF-4B82E9B8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What to optimize?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4FFE3-5675-DD53-1235-21FB42A0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F45E9-3EF6-C513-0EC6-EB3E4834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838595E-D856-24FF-BF74-5B89F9EAE6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8800"/>
                <a:ext cx="7886700" cy="2938463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b="0" noProof="0" dirty="0"/>
                  <a:t>Average power</a:t>
                </a:r>
                <a:r>
                  <a:rPr lang="en-US" sz="1800" noProof="0" dirty="0"/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800" b="0" noProof="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noProof="0" dirty="0"/>
                  <a:t>Disjunctive power: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Sup>
                          <m:sSubSupPr>
                            <m:ctrlP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limLoc m:val="subSup"/>
                            <m:supHide m:val="on"/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sz="1800" noProof="0" dirty="0"/>
                  <a:t>, i.e., probability to reject at least one null hypothesis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noProof="0" dirty="0"/>
                  <a:t>Conjunctive power: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Sup>
                          <m:sSubSupPr>
                            <m:ctrlP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⋂"/>
                            <m:supHide m:val="on"/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sz="1800" noProof="0" dirty="0"/>
                  <a:t>, i.e., probability to reject all null hypotheses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noProof="0" dirty="0"/>
                  <a:t>Disjunctive power and conjunctive power are more commonly used but the computation depends on joint distribution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800" noProof="0" dirty="0"/>
                  <a:t>We will focus on disjunctive power today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838595E-D856-24FF-BF74-5B89F9EAE6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8800"/>
                <a:ext cx="7886700" cy="2938463"/>
              </a:xfrm>
              <a:blipFill>
                <a:blip r:embed="rId3"/>
                <a:stretch>
                  <a:fillRect l="-464" t="-14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43EBC7-4C85-3340-6110-6BD35F09D4E3}"/>
                  </a:ext>
                </a:extLst>
              </p:cNvPr>
              <p:cNvSpPr txBox="1"/>
              <p:nvPr/>
            </p:nvSpPr>
            <p:spPr>
              <a:xfrm>
                <a:off x="1897741" y="1082964"/>
                <a:ext cx="5348518" cy="70807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noProof="0" dirty="0"/>
                  <a:t>Maximize "power" of weighted Bonferroni tests </a:t>
                </a:r>
              </a:p>
              <a:p>
                <a:r>
                  <a:rPr lang="en-US" sz="2000" noProof="0" dirty="0"/>
                  <a:t>    </a:t>
                </a:r>
                <a14:m>
                  <m:oMath xmlns:m="http://schemas.openxmlformats.org/officeDocument/2006/math">
                    <m:r>
                      <a:rPr lang="en-US" sz="2000" i="1" noProof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.    0≤</m:t>
                    </m:r>
                    <m:sSub>
                      <m:sSubPr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noProof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noProof="0" dirty="0"/>
                  <a:t> for </a:t>
                </a:r>
                <a14:m>
                  <m:oMath xmlns:m="http://schemas.openxmlformats.org/officeDocument/2006/math">
                    <m:r>
                      <a:rPr lang="en-US" sz="2000" i="1" noProof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0" noProof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i="1" noProof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noProof="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43EBC7-4C85-3340-6110-6BD35F09D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741" y="1082964"/>
                <a:ext cx="5348518" cy="708079"/>
              </a:xfrm>
              <a:prstGeom prst="rect">
                <a:avLst/>
              </a:prstGeom>
              <a:blipFill>
                <a:blip r:embed="rId4"/>
                <a:stretch>
                  <a:fillRect l="-1023" t="-25424" b="-10084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8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4D5D6-2315-02CD-0398-DCE913D9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Existing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44AB7-0F1A-630D-2B50-E573053C7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51777"/>
            <a:ext cx="7886700" cy="349924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noProof="0" dirty="0"/>
              <a:t>Optimal weights for </a:t>
            </a:r>
            <a:r>
              <a:rPr lang="en-US" b="1" i="1" noProof="0" dirty="0"/>
              <a:t>fixed sequence procedures </a:t>
            </a:r>
            <a:r>
              <a:rPr lang="en-US" noProof="0" dirty="0"/>
              <a:t>are determined:</a:t>
            </a:r>
          </a:p>
          <a:p>
            <a:pPr lvl="1"/>
            <a:r>
              <a:rPr lang="en-US" noProof="0" dirty="0"/>
              <a:t>By maximizing </a:t>
            </a:r>
            <a:r>
              <a:rPr lang="en-US" i="1" noProof="0" dirty="0"/>
              <a:t>weighted power </a:t>
            </a:r>
            <a:r>
              <a:rPr lang="en-US" noProof="0" dirty="0"/>
              <a:t>(Westfall et al. 2001)</a:t>
            </a:r>
          </a:p>
          <a:p>
            <a:pPr lvl="1"/>
            <a:r>
              <a:rPr lang="en-US" noProof="0" dirty="0"/>
              <a:t>And the </a:t>
            </a:r>
            <a:r>
              <a:rPr lang="en-US" i="1" noProof="0" dirty="0"/>
              <a:t>expected number of rejections </a:t>
            </a:r>
            <a:r>
              <a:rPr lang="en-US" noProof="0" dirty="0"/>
              <a:t>(Zhang et al. 2015)</a:t>
            </a:r>
          </a:p>
          <a:p>
            <a:r>
              <a:rPr lang="en-US" noProof="0" dirty="0"/>
              <a:t>Analytical formulae are derived for</a:t>
            </a:r>
            <a:r>
              <a:rPr lang="en-US" b="1" noProof="0" dirty="0"/>
              <a:t> </a:t>
            </a:r>
            <a:r>
              <a:rPr lang="en-US" b="1" i="1" noProof="0" dirty="0"/>
              <a:t>weighted Bonferroni </a:t>
            </a:r>
            <a:r>
              <a:rPr lang="en-US" i="1" noProof="0" dirty="0"/>
              <a:t>tests </a:t>
            </a:r>
            <a:r>
              <a:rPr lang="en-US" noProof="0" dirty="0"/>
              <a:t>to achieve optimal </a:t>
            </a:r>
            <a:r>
              <a:rPr lang="en-US" b="1" i="1" noProof="0" dirty="0"/>
              <a:t>average power </a:t>
            </a:r>
            <a:r>
              <a:rPr lang="en-US" noProof="0" dirty="0"/>
              <a:t>(Roeder &amp; Wasserman 2009, Rubin et al. 2006)</a:t>
            </a:r>
          </a:p>
          <a:p>
            <a:r>
              <a:rPr lang="en-US" noProof="0" dirty="0"/>
              <a:t>Optimal design for </a:t>
            </a:r>
            <a:r>
              <a:rPr lang="en-US" b="1" i="1" noProof="0" dirty="0"/>
              <a:t>disjunctive power</a:t>
            </a:r>
            <a:r>
              <a:rPr lang="en-US" b="1" noProof="0" dirty="0"/>
              <a:t> </a:t>
            </a:r>
            <a:r>
              <a:rPr lang="en-US" noProof="0" dirty="0"/>
              <a:t>and </a:t>
            </a:r>
            <a:r>
              <a:rPr lang="en-US" b="1" i="1" noProof="0" dirty="0"/>
              <a:t>total number of rejection </a:t>
            </a:r>
            <a:r>
              <a:rPr lang="en-US" i="1" noProof="0" dirty="0"/>
              <a:t>with small number of hypotheses </a:t>
            </a:r>
            <a:r>
              <a:rPr lang="en-US" noProof="0" dirty="0"/>
              <a:t>(Heller et al. 2023)</a:t>
            </a:r>
          </a:p>
          <a:p>
            <a:r>
              <a:rPr lang="en-US" b="1" noProof="0" dirty="0"/>
              <a:t>Grid search</a:t>
            </a:r>
            <a:r>
              <a:rPr lang="en-US" noProof="0" dirty="0"/>
              <a:t> and </a:t>
            </a:r>
            <a:r>
              <a:rPr lang="en-US" b="1" noProof="0" dirty="0"/>
              <a:t>simulation</a:t>
            </a:r>
            <a:r>
              <a:rPr lang="en-US" noProof="0" dirty="0"/>
              <a:t> (Bretz et al. 2011, Wiens et al. 2013, </a:t>
            </a:r>
            <a:r>
              <a:rPr lang="en-US" noProof="0" dirty="0" err="1"/>
              <a:t>Dmitrienko</a:t>
            </a:r>
            <a:r>
              <a:rPr lang="en-US" noProof="0" dirty="0"/>
              <a:t> et al. 2015)</a:t>
            </a:r>
          </a:p>
          <a:p>
            <a:r>
              <a:rPr lang="en-US" noProof="0" dirty="0"/>
              <a:t>Optimization using </a:t>
            </a:r>
            <a:r>
              <a:rPr lang="en-US" i="1" noProof="0" dirty="0"/>
              <a:t>deep learning </a:t>
            </a:r>
            <a:r>
              <a:rPr lang="en-US" noProof="0" dirty="0"/>
              <a:t>to enhance </a:t>
            </a:r>
            <a:r>
              <a:rPr lang="en-US" b="1" i="1" noProof="0" dirty="0"/>
              <a:t>weighted power </a:t>
            </a:r>
            <a:r>
              <a:rPr lang="en-US" noProof="0" dirty="0"/>
              <a:t>in graphical approaches (Zhan et al. 2022)</a:t>
            </a:r>
          </a:p>
          <a:p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BF375C-5C11-6A36-AA1B-E0402831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761BF-7264-7195-D021-670DCC38D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65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540564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679A-3608-D4CD-9B5F-F53A4A6B2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828B9C-BBDC-E8FB-7A4A-52ACD3427DA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noProof="0" dirty="0"/>
                  <a:t>Why split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?</a:t>
                </a:r>
                <a:br>
                  <a:rPr lang="en-US" noProof="0" dirty="0"/>
                </a:br>
                <a:r>
                  <a:rPr lang="en-US" sz="2200" i="1" noProof="0" dirty="0"/>
                  <a:t>Comparison with fixed sequence procedure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828B9C-BBDC-E8FB-7A4A-52ACD3427D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81CD5-7350-4F05-0DAD-3976726E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C92D2-761E-ADAE-399D-893A6D7A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04C36F-E44B-5682-A0A1-7F712C6C694F}"/>
                  </a:ext>
                </a:extLst>
              </p:cNvPr>
              <p:cNvSpPr txBox="1"/>
              <p:nvPr/>
            </p:nvSpPr>
            <p:spPr>
              <a:xfrm>
                <a:off x="457200" y="1268016"/>
                <a:ext cx="822959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noProof="0" dirty="0"/>
                  <a:t>, test statistics follow asymptotic normal distribution and are independent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Marginal powers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(under full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) are 0.9, 0.8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are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noProof="0" dirty="0"/>
                  <a:t>-values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04C36F-E44B-5682-A0A1-7F712C6C6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68016"/>
                <a:ext cx="8229599" cy="1200329"/>
              </a:xfrm>
              <a:prstGeom prst="rect">
                <a:avLst/>
              </a:prstGeom>
              <a:blipFill>
                <a:blip r:embed="rId4"/>
                <a:stretch>
                  <a:fillRect l="-444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12FEBB8-09D8-D1BF-4506-D77B0FF6D926}"/>
              </a:ext>
            </a:extLst>
          </p:cNvPr>
          <p:cNvGrpSpPr/>
          <p:nvPr/>
        </p:nvGrpSpPr>
        <p:grpSpPr>
          <a:xfrm>
            <a:off x="1512359" y="2684369"/>
            <a:ext cx="2210119" cy="694553"/>
            <a:chOff x="1512359" y="2684369"/>
            <a:chExt cx="2210119" cy="6945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D7AC903C-04F4-8681-CC5C-35E5F2FDA904}"/>
                    </a:ext>
                  </a:extLst>
                </p:cNvPr>
                <p:cNvSpPr/>
                <p:nvPr/>
              </p:nvSpPr>
              <p:spPr>
                <a:xfrm>
                  <a:off x="1512359" y="2693122"/>
                  <a:ext cx="685800" cy="6858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noProof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D7AC903C-04F4-8681-CC5C-35E5F2FDA9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2359" y="2693122"/>
                  <a:ext cx="685800" cy="6858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5AB3C4C6-2B90-2162-B0A7-6DD638862A63}"/>
                    </a:ext>
                  </a:extLst>
                </p:cNvPr>
                <p:cNvSpPr/>
                <p:nvPr/>
              </p:nvSpPr>
              <p:spPr>
                <a:xfrm>
                  <a:off x="3036678" y="2684369"/>
                  <a:ext cx="685800" cy="6858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noProof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5AB3C4C6-2B90-2162-B0A7-6DD638862A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6678" y="2684369"/>
                  <a:ext cx="685800" cy="6858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390F8B5-A261-BDDC-D207-E3C87B271D2F}"/>
                </a:ext>
              </a:extLst>
            </p:cNvPr>
            <p:cNvCxnSpPr>
              <a:cxnSpLocks/>
              <a:stCxn id="11" idx="6"/>
              <a:endCxn id="12" idx="2"/>
            </p:cNvCxnSpPr>
            <p:nvPr/>
          </p:nvCxnSpPr>
          <p:spPr>
            <a:xfrm flipV="1">
              <a:off x="2198159" y="3027269"/>
              <a:ext cx="838519" cy="87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457301-C210-0C25-36DF-E8987F7B38F6}"/>
              </a:ext>
            </a:extLst>
          </p:cNvPr>
          <p:cNvGrpSpPr/>
          <p:nvPr/>
        </p:nvGrpSpPr>
        <p:grpSpPr>
          <a:xfrm>
            <a:off x="5732894" y="2200961"/>
            <a:ext cx="2210119" cy="1097229"/>
            <a:chOff x="5732894" y="2200961"/>
            <a:chExt cx="2210119" cy="10972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A08B8459-4FAF-8F34-9E2E-956126B852E2}"/>
                    </a:ext>
                  </a:extLst>
                </p:cNvPr>
                <p:cNvSpPr/>
                <p:nvPr/>
              </p:nvSpPr>
              <p:spPr>
                <a:xfrm>
                  <a:off x="5732894" y="2612390"/>
                  <a:ext cx="685800" cy="6858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noProof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A08B8459-4FAF-8F34-9E2E-956126B852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2894" y="2612390"/>
                  <a:ext cx="685800" cy="68580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7C6A6AFB-03CD-B1F6-0366-A548DF02C5C1}"/>
                    </a:ext>
                  </a:extLst>
                </p:cNvPr>
                <p:cNvSpPr/>
                <p:nvPr/>
              </p:nvSpPr>
              <p:spPr>
                <a:xfrm>
                  <a:off x="7257213" y="2608580"/>
                  <a:ext cx="685800" cy="6858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noProof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7C6A6AFB-03CD-B1F6-0366-A548DF02C5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7213" y="2608580"/>
                  <a:ext cx="685800" cy="685800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3B321125-311A-000A-4750-3038C80A0647}"/>
                </a:ext>
              </a:extLst>
            </p:cNvPr>
            <p:cNvCxnSpPr>
              <a:cxnSpLocks/>
              <a:stCxn id="15" idx="7"/>
              <a:endCxn id="16" idx="1"/>
            </p:cNvCxnSpPr>
            <p:nvPr/>
          </p:nvCxnSpPr>
          <p:spPr>
            <a:xfrm rot="5400000" flipH="1" flipV="1">
              <a:off x="6836048" y="2191226"/>
              <a:ext cx="3810" cy="1039385"/>
            </a:xfrm>
            <a:prstGeom prst="curvedConnector3">
              <a:avLst>
                <a:gd name="adj1" fmla="val 3669318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F8706339-33E1-9DA7-B071-75B93444182D}"/>
                </a:ext>
              </a:extLst>
            </p:cNvPr>
            <p:cNvCxnSpPr>
              <a:cxnSpLocks/>
              <a:stCxn id="16" idx="3"/>
              <a:endCxn id="15" idx="5"/>
            </p:cNvCxnSpPr>
            <p:nvPr/>
          </p:nvCxnSpPr>
          <p:spPr>
            <a:xfrm rot="5400000">
              <a:off x="6836049" y="2676160"/>
              <a:ext cx="3810" cy="1039385"/>
            </a:xfrm>
            <a:prstGeom prst="curvedConnector3">
              <a:avLst>
                <a:gd name="adj1" fmla="val 3935984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2FBC1C6-6C7A-721C-3EFB-C50840B59466}"/>
                    </a:ext>
                  </a:extLst>
                </p:cNvPr>
                <p:cNvSpPr txBox="1"/>
                <p:nvPr/>
              </p:nvSpPr>
              <p:spPr>
                <a:xfrm>
                  <a:off x="5757950" y="2219157"/>
                  <a:ext cx="6356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2FBC1C6-6C7A-721C-3EFB-C50840B59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7950" y="2219157"/>
                  <a:ext cx="635687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D43CE7F-21ED-6E82-0C44-526665C1A90F}"/>
                    </a:ext>
                  </a:extLst>
                </p:cNvPr>
                <p:cNvSpPr txBox="1"/>
                <p:nvPr/>
              </p:nvSpPr>
              <p:spPr>
                <a:xfrm>
                  <a:off x="7282269" y="2200961"/>
                  <a:ext cx="6356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D43CE7F-21ED-6E82-0C44-526665C1A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2269" y="2200961"/>
                  <a:ext cx="635687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295AAE-DDDD-38C0-F580-B6C44EBADFCE}"/>
              </a:ext>
            </a:extLst>
          </p:cNvPr>
          <p:cNvCxnSpPr>
            <a:cxnSpLocks/>
          </p:cNvCxnSpPr>
          <p:nvPr/>
        </p:nvCxnSpPr>
        <p:spPr>
          <a:xfrm>
            <a:off x="4572000" y="2482649"/>
            <a:ext cx="0" cy="2164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68B3A6-A783-77F9-E90A-A8EE83C7A6D9}"/>
                  </a:ext>
                </a:extLst>
              </p:cNvPr>
              <p:cNvSpPr txBox="1"/>
              <p:nvPr/>
            </p:nvSpPr>
            <p:spPr>
              <a:xfrm>
                <a:off x="475834" y="3508603"/>
                <a:ext cx="40233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Power of rejecting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is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endParaRPr lang="en-US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Power of rejecting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is </a:t>
                </a:r>
                <a14:m>
                  <m:oMath xmlns:m="http://schemas.openxmlformats.org/officeDocument/2006/math">
                    <m:r>
                      <a:rPr lang="en-US" noProof="0">
                        <a:latin typeface="Cambria Math" panose="02040503050406030204" pitchFamily="18" charset="0"/>
                      </a:rPr>
                      <m:t>0.72</m:t>
                    </m:r>
                  </m:oMath>
                </a14:m>
                <a:endParaRPr lang="en-US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Power of at least one rejection: 0.9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Expected # of rejections: 1.62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68B3A6-A783-77F9-E90A-A8EE83C7A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34" y="3508603"/>
                <a:ext cx="4023360" cy="1200329"/>
              </a:xfrm>
              <a:prstGeom prst="rect">
                <a:avLst/>
              </a:prstGeom>
              <a:blipFill>
                <a:blip r:embed="rId11"/>
                <a:stretch>
                  <a:fillRect l="-909" t="-3061" b="-7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C4FD236-C60E-0B93-ECE1-19049AB561C8}"/>
                  </a:ext>
                </a:extLst>
              </p:cNvPr>
              <p:cNvSpPr txBox="1"/>
              <p:nvPr/>
            </p:nvSpPr>
            <p:spPr>
              <a:xfrm>
                <a:off x="4826273" y="3503827"/>
                <a:ext cx="40233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Power of rejecting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is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0.883</m:t>
                    </m:r>
                  </m:oMath>
                </a14:m>
                <a:endParaRPr lang="en-US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Power of rejecting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is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0.786</m:t>
                    </m:r>
                  </m:oMath>
                </a14:m>
                <a:endParaRPr lang="en-US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Power of at least one rejection: 0.953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Expected # of rejection: 1.67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C4FD236-C60E-0B93-ECE1-19049AB56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273" y="3503827"/>
                <a:ext cx="4023360" cy="1200329"/>
              </a:xfrm>
              <a:prstGeom prst="rect">
                <a:avLst/>
              </a:prstGeom>
              <a:blipFill>
                <a:blip r:embed="rId12"/>
                <a:stretch>
                  <a:fillRect l="-1061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Speech Bubble: Rectangle 2">
                <a:extLst>
                  <a:ext uri="{FF2B5EF4-FFF2-40B4-BE49-F238E27FC236}">
                    <a16:creationId xmlns:a16="http://schemas.microsoft.com/office/drawing/2014/main" id="{123C227B-C057-D962-E704-3FCDF9CA4D08}"/>
                  </a:ext>
                </a:extLst>
              </p:cNvPr>
              <p:cNvSpPr/>
              <p:nvPr/>
            </p:nvSpPr>
            <p:spPr>
              <a:xfrm>
                <a:off x="1416851" y="2286265"/>
                <a:ext cx="4023359" cy="1157295"/>
              </a:xfrm>
              <a:prstGeom prst="wedgeRectCallout">
                <a:avLst>
                  <a:gd name="adj1" fmla="val 68663"/>
                  <a:gd name="adj2" fmla="val 6313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5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500" b="0" i="0" noProof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15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500" b="0" i="1" noProof="0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f>
                                <m:fPr>
                                  <m:ctrlP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0.025</m:t>
                                  </m:r>
                                </m:num>
                                <m:den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5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500" b="0" i="1" noProof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5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500" b="0" i="0" noProof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15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0.025</m:t>
                                  </m:r>
                                </m:num>
                                <m:den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500" b="0" i="1" noProof="0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5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500" b="0" i="1" noProof="0" smtClean="0">
                                  <a:latin typeface="Cambria Math" panose="02040503050406030204" pitchFamily="18" charset="0"/>
                                </a:rPr>
                                <m:t>&lt;0.025</m:t>
                              </m:r>
                            </m:e>
                          </m:d>
                        </m:e>
                      </m:func>
                      <m:r>
                        <a:rPr lang="en-US" sz="1500" b="0" i="1" noProof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sz="1500" b="0" i="0" noProof="0" smtClean="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en-US" sz="15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500" i="1" noProof="0"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0.025</m:t>
                              </m:r>
                            </m:num>
                            <m:den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500" b="0" i="1" noProof="0" smtClean="0"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lang="en-US" sz="1500" noProof="0" dirty="0"/>
              </a:p>
            </p:txBody>
          </p:sp>
        </mc:Choice>
        <mc:Fallback xmlns="">
          <p:sp>
            <p:nvSpPr>
              <p:cNvPr id="3" name="Speech Bubble: Rectangle 2">
                <a:extLst>
                  <a:ext uri="{FF2B5EF4-FFF2-40B4-BE49-F238E27FC236}">
                    <a16:creationId xmlns:a16="http://schemas.microsoft.com/office/drawing/2014/main" id="{123C227B-C057-D962-E704-3FCDF9CA4D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851" y="2286265"/>
                <a:ext cx="4023359" cy="1157295"/>
              </a:xfrm>
              <a:prstGeom prst="wedgeRectCallout">
                <a:avLst>
                  <a:gd name="adj1" fmla="val 68663"/>
                  <a:gd name="adj2" fmla="val 63130"/>
                </a:avLst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136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BE12E-DA3C-2D07-5CA0-582D7035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CD261E-323F-E31C-A5A5-91AE2F302A1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noProof="0" dirty="0"/>
                  <a:t>Why split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?</a:t>
                </a:r>
                <a:br>
                  <a:rPr lang="en-US" noProof="0" dirty="0"/>
                </a:br>
                <a:r>
                  <a:rPr lang="en-US" sz="2200" i="1" noProof="0" dirty="0"/>
                  <a:t>Intuition and conclusion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CD261E-323F-E31C-A5A5-91AE2F302A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26A01-BC17-E68E-F564-AA4CC02F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C98F1-2F01-99FA-7FE9-C2B3A34B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0DFDF-E18B-BA05-5FE0-55087F6FC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1268016"/>
            <a:ext cx="6324600" cy="2371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9CD5ED-A9E1-71F7-B5BC-EADD9CE65FC6}"/>
                  </a:ext>
                </a:extLst>
              </p:cNvPr>
              <p:cNvSpPr/>
              <p:nvPr/>
            </p:nvSpPr>
            <p:spPr>
              <a:xfrm>
                <a:off x="2195364" y="1330284"/>
                <a:ext cx="1216152" cy="1965960"/>
              </a:xfrm>
              <a:prstGeom prst="rect">
                <a:avLst/>
              </a:prstGeom>
              <a:solidFill>
                <a:srgbClr val="92D05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200" noProof="0" dirty="0"/>
              </a:p>
              <a:p>
                <a:pPr algn="ctr"/>
                <a:endParaRPr lang="en-US" sz="1200" noProof="0" dirty="0"/>
              </a:p>
              <a:p>
                <a:pPr algn="ctr"/>
                <a:endParaRPr lang="en-US" sz="1200" noProof="0" dirty="0"/>
              </a:p>
              <a:p>
                <a:pPr algn="ctr"/>
                <a:endParaRPr lang="en-US" sz="1200" noProof="0" dirty="0"/>
              </a:p>
              <a:p>
                <a:pPr algn="ctr"/>
                <a:endParaRPr lang="en-US" sz="1200" noProof="0" dirty="0"/>
              </a:p>
              <a:p>
                <a:pPr algn="ctr"/>
                <a:endParaRPr lang="en-US" sz="1200" noProof="0" dirty="0"/>
              </a:p>
              <a:p>
                <a:pPr algn="ctr"/>
                <a:endParaRPr lang="en-US" sz="1200" noProof="0" dirty="0"/>
              </a:p>
              <a:p>
                <a:pPr algn="ctr"/>
                <a:r>
                  <a:rPr lang="en-US" sz="1200" noProof="0" dirty="0">
                    <a:solidFill>
                      <a:srgbClr val="00B050"/>
                    </a:solidFill>
                  </a:rPr>
                  <a:t>More gain with increased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1200" noProof="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9CD5ED-A9E1-71F7-B5BC-EADD9CE65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364" y="1330284"/>
                <a:ext cx="1216152" cy="1965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D9D64C-4A35-6AFB-64CC-CFABAAF8A330}"/>
                  </a:ext>
                </a:extLst>
              </p:cNvPr>
              <p:cNvSpPr/>
              <p:nvPr/>
            </p:nvSpPr>
            <p:spPr>
              <a:xfrm>
                <a:off x="5776764" y="1330284"/>
                <a:ext cx="1216152" cy="1965960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1200" noProof="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1200" noProof="0" dirty="0">
                    <a:solidFill>
                      <a:srgbClr val="FF0000"/>
                    </a:solidFill>
                  </a:rPr>
                  <a:t>Less gain with increased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1200" noProof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D9D64C-4A35-6AFB-64CC-CFABAAF8A3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764" y="1330284"/>
                <a:ext cx="1216152" cy="1965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F26A55-04A4-C6B5-D53A-4BDBE25966CC}"/>
                  </a:ext>
                </a:extLst>
              </p:cNvPr>
              <p:cNvSpPr txBox="1"/>
              <p:nvPr/>
            </p:nvSpPr>
            <p:spPr>
              <a:xfrm>
                <a:off x="457200" y="3507854"/>
                <a:ext cx="8229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-splitting could achieve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higher disjunctive power (i.e., reject at least one hypothesis)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larger expected number of rejections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More robust when we have uncertainty with assumptions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F26A55-04A4-C6B5-D53A-4BDBE2596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07854"/>
                <a:ext cx="8229600" cy="1200329"/>
              </a:xfrm>
              <a:prstGeom prst="rect">
                <a:avLst/>
              </a:prstGeom>
              <a:blipFill>
                <a:blip r:embed="rId6"/>
                <a:stretch>
                  <a:fillRect l="-444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19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9FB14-5591-EE83-8248-37F11F4C1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6ABDFA-4788-71F7-615D-FEB113DF0F9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noProof="0" dirty="0"/>
                  <a:t>How to split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?</a:t>
                </a:r>
                <a:br>
                  <a:rPr lang="en-US" noProof="0" dirty="0"/>
                </a:br>
                <a:r>
                  <a:rPr lang="en-US" sz="2200" i="1" noProof="0" dirty="0"/>
                  <a:t>Under independence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6ABDFA-4788-71F7-615D-FEB113DF0F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EF568-BE89-0F8E-9857-2471C0D7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88513-111A-0225-0586-7B8E6199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8FA282-EA26-1FA1-19D0-2B320B3F7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1"/>
            <a:ext cx="8229600" cy="3257550"/>
          </a:xfrm>
        </p:spPr>
        <p:txBody>
          <a:bodyPr>
            <a:normAutofit fontScale="85000" lnSpcReduction="20000"/>
          </a:bodyPr>
          <a:lstStyle/>
          <a:p>
            <a:r>
              <a:rPr lang="en-US" b="0" noProof="0" dirty="0"/>
              <a:t>Consider two hypotheses with independent test statistics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b="1" noProof="0" dirty="0"/>
          </a:p>
          <a:p>
            <a:r>
              <a:rPr lang="en-US" b="1" noProof="0" dirty="0"/>
              <a:t>Hypotheses with larger marginal power get larger weights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C751FD-E089-6341-D243-CDA49FBD5F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082" r="6341" b="4521"/>
          <a:stretch/>
        </p:blipFill>
        <p:spPr>
          <a:xfrm>
            <a:off x="5006136" y="2001388"/>
            <a:ext cx="3203744" cy="1764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89D35D-EE77-5D5B-0617-FEC2FC8FCD1F}"/>
              </a:ext>
            </a:extLst>
          </p:cNvPr>
          <p:cNvSpPr txBox="1"/>
          <p:nvPr/>
        </p:nvSpPr>
        <p:spPr>
          <a:xfrm>
            <a:off x="952708" y="1579454"/>
            <a:ext cx="378652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noProof="0" dirty="0"/>
              <a:t>Scenario 1: Marginal power of 80% and 80%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3CA2D4-6B54-5311-0653-41448F77173C}"/>
              </a:ext>
            </a:extLst>
          </p:cNvPr>
          <p:cNvSpPr txBox="1"/>
          <p:nvPr/>
        </p:nvSpPr>
        <p:spPr>
          <a:xfrm>
            <a:off x="952708" y="3717522"/>
            <a:ext cx="35579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noProof="0" dirty="0"/>
              <a:t>Scenario 1: Optimal weights of 0.5 and 0.5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F501FC-2A37-BE30-ABBC-15DE2091EDDF}"/>
              </a:ext>
            </a:extLst>
          </p:cNvPr>
          <p:cNvSpPr txBox="1"/>
          <p:nvPr/>
        </p:nvSpPr>
        <p:spPr>
          <a:xfrm>
            <a:off x="4914560" y="1579454"/>
            <a:ext cx="371031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noProof="0" dirty="0"/>
              <a:t>Scenario 2: Marginal power of 90% and 70%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E9C058-A34B-29A7-53EC-4ED7450CCF26}"/>
              </a:ext>
            </a:extLst>
          </p:cNvPr>
          <p:cNvSpPr txBox="1"/>
          <p:nvPr/>
        </p:nvSpPr>
        <p:spPr>
          <a:xfrm>
            <a:off x="4914560" y="3717522"/>
            <a:ext cx="391410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noProof="0" dirty="0"/>
              <a:t>Scenario 2: Optimal weights of 0.679 and 0.321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7652D7-6015-AF60-4C04-15F1013CC7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t="14657" r="4842" b="5460"/>
          <a:stretch/>
        </p:blipFill>
        <p:spPr>
          <a:xfrm>
            <a:off x="1111789" y="1940524"/>
            <a:ext cx="3239758" cy="181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05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C86F-22AC-8274-CE1A-2B8B786D1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A5EBBF-6182-9BD3-9F50-F54729B029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noProof="0" dirty="0"/>
                  <a:t>How to split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?</a:t>
                </a:r>
                <a:br>
                  <a:rPr lang="en-US" noProof="0" dirty="0"/>
                </a:br>
                <a:r>
                  <a:rPr lang="en-US" sz="2200" i="1" noProof="0" dirty="0"/>
                  <a:t>Under dependence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A5EBBF-6182-9BD3-9F50-F54729B029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6135" b="-5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9F89F-2207-BF79-E270-5453BD40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D937D-A2A0-8A91-3A2C-C3F85E307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F0E5655-14B8-CB4D-651B-1D82B007D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017"/>
                <a:ext cx="8229600" cy="360164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1900" b="0" noProof="0" dirty="0"/>
                  <a:t>Consider two hypotheses with correlated test statistics</a:t>
                </a:r>
              </a:p>
              <a:p>
                <a:pPr lvl="1"/>
                <a:r>
                  <a:rPr lang="en-US" noProof="0" dirty="0"/>
                  <a:t>Marginal power of 80% and 80%</a:t>
                </a:r>
              </a:p>
              <a:p>
                <a:endParaRPr lang="en-US" sz="1700" noProof="0" dirty="0"/>
              </a:p>
              <a:p>
                <a:endParaRPr lang="en-US" sz="1700" noProof="0" dirty="0"/>
              </a:p>
              <a:p>
                <a:endParaRPr lang="en-US" sz="1700" noProof="0" dirty="0"/>
              </a:p>
              <a:p>
                <a:endParaRPr lang="en-US" sz="1700" noProof="0" dirty="0"/>
              </a:p>
              <a:p>
                <a:endParaRPr lang="en-US" sz="1700" noProof="0" dirty="0"/>
              </a:p>
              <a:p>
                <a:endParaRPr lang="en-US" sz="1700" noProof="0" dirty="0"/>
              </a:p>
              <a:p>
                <a:endParaRPr lang="en-US" sz="1700" noProof="0" dirty="0"/>
              </a:p>
              <a:p>
                <a:endParaRPr lang="en-US" sz="1700" b="1" noProof="0" dirty="0"/>
              </a:p>
              <a:p>
                <a:endParaRPr lang="en-US" sz="900" b="1" noProof="0" dirty="0"/>
              </a:p>
              <a:p>
                <a:r>
                  <a:rPr lang="en-US" sz="1700" b="1" noProof="0" dirty="0"/>
                  <a:t>When correlation presents, it is not always optimal to split </a:t>
                </a:r>
                <a14:m>
                  <m:oMath xmlns:m="http://schemas.openxmlformats.org/officeDocument/2006/math">
                    <m:r>
                      <a:rPr lang="en-US" sz="1700" b="1" i="1" noProof="0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endParaRPr lang="en-US" sz="1700" b="1" noProof="0" dirty="0"/>
              </a:p>
              <a:p>
                <a:r>
                  <a:rPr lang="en-US" sz="1700" b="1" noProof="0" dirty="0"/>
                  <a:t>Optimal </a:t>
                </a:r>
                <a14:m>
                  <m:oMath xmlns:m="http://schemas.openxmlformats.org/officeDocument/2006/math">
                    <m:r>
                      <a:rPr lang="en-US" sz="1700" b="1" i="1" noProof="0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1700" b="1" noProof="0" dirty="0"/>
                  <a:t> split may not be unique</a:t>
                </a: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AF0E5655-14B8-CB4D-651B-1D82B007D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017"/>
                <a:ext cx="8229600" cy="3601640"/>
              </a:xfrm>
              <a:blipFill>
                <a:blip r:embed="rId3"/>
                <a:stretch>
                  <a:fillRect l="-444" t="-2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43A8EFD-6098-1778-FC16-DEAD4B85B7BF}"/>
              </a:ext>
            </a:extLst>
          </p:cNvPr>
          <p:cNvSpPr txBox="1"/>
          <p:nvPr/>
        </p:nvSpPr>
        <p:spPr>
          <a:xfrm>
            <a:off x="1078710" y="1725797"/>
            <a:ext cx="2514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noProof="0" dirty="0"/>
              <a:t>Scenario 1: Correlation 0.9</a:t>
            </a:r>
            <a:endParaRPr lang="en-US" sz="15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563A1F-0EF4-1933-495F-C6390C430473}"/>
              </a:ext>
            </a:extLst>
          </p:cNvPr>
          <p:cNvSpPr txBox="1"/>
          <p:nvPr/>
        </p:nvSpPr>
        <p:spPr>
          <a:xfrm>
            <a:off x="5422110" y="1725796"/>
            <a:ext cx="268649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noProof="0" dirty="0"/>
              <a:t>Scenario 2: Correlation </a:t>
            </a:r>
            <a:r>
              <a:rPr lang="en-US" sz="1500" noProof="0" dirty="0"/>
              <a:t>0.797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116ACED-211A-6FBD-9255-27420A9502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34" t="17496" r="4609" b="5324"/>
          <a:stretch/>
        </p:blipFill>
        <p:spPr>
          <a:xfrm>
            <a:off x="653064" y="2048961"/>
            <a:ext cx="3365891" cy="18149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2112EE-C6B4-91FC-95A0-24D7CCF9CB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379" t="13352" r="4494" b="4806"/>
          <a:stretch/>
        </p:blipFill>
        <p:spPr>
          <a:xfrm>
            <a:off x="5170616" y="2048961"/>
            <a:ext cx="3189479" cy="18149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03EBE2-F259-BD15-DA83-81842FF7E567}"/>
              </a:ext>
            </a:extLst>
          </p:cNvPr>
          <p:cNvSpPr txBox="1"/>
          <p:nvPr/>
        </p:nvSpPr>
        <p:spPr>
          <a:xfrm>
            <a:off x="457200" y="3831851"/>
            <a:ext cx="37925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noProof="0" dirty="0"/>
              <a:t>Scenario 1: Optimal weights (1, 0) or (0, 1)</a:t>
            </a:r>
            <a:endParaRPr lang="en-US" sz="15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68015-0277-B710-6079-C18D7ACF4DFB}"/>
              </a:ext>
            </a:extLst>
          </p:cNvPr>
          <p:cNvSpPr txBox="1"/>
          <p:nvPr/>
        </p:nvSpPr>
        <p:spPr>
          <a:xfrm>
            <a:off x="4593064" y="3837763"/>
            <a:ext cx="43549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noProof="0" dirty="0"/>
              <a:t>Scenario 2: Optimal weights (1, 0) or (0.5, 0.5) or (0, 1)</a:t>
            </a: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168024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C817-AA3C-EE57-ECB9-364B809B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C9171-DC2C-B06C-745A-AEBD5CCDE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42353"/>
            <a:ext cx="7886700" cy="2421303"/>
          </a:xfrm>
        </p:spPr>
        <p:txBody>
          <a:bodyPr>
            <a:normAutofit fontScale="92500" lnSpcReduction="10000"/>
          </a:bodyPr>
          <a:lstStyle/>
          <a:p>
            <a:r>
              <a:rPr lang="en-US" sz="2000" noProof="0" dirty="0"/>
              <a:t>We choose </a:t>
            </a:r>
            <a:r>
              <a:rPr lang="en-US" noProof="0" dirty="0"/>
              <a:t>Sequential Least </a:t>
            </a:r>
            <a:r>
              <a:rPr lang="en-US" noProof="0" dirty="0" err="1"/>
              <a:t>SQuares</a:t>
            </a:r>
            <a:r>
              <a:rPr lang="en-US" noProof="0" dirty="0"/>
              <a:t> Programming</a:t>
            </a:r>
            <a:r>
              <a:rPr lang="en-US" sz="2000" noProof="0" dirty="0"/>
              <a:t> (SLSQP) algorithm in </a:t>
            </a:r>
            <a:r>
              <a:rPr lang="en-US" sz="2000" noProof="0" dirty="0" err="1"/>
              <a:t>Nloptr</a:t>
            </a:r>
            <a:r>
              <a:rPr lang="en-US" sz="2000" noProof="0" dirty="0"/>
              <a:t> library</a:t>
            </a:r>
          </a:p>
          <a:p>
            <a:pPr lvl="1"/>
            <a:r>
              <a:rPr lang="en-US" b="1" i="1" noProof="0" dirty="0">
                <a:solidFill>
                  <a:srgbClr val="5291DD"/>
                </a:solidFill>
              </a:rPr>
              <a:t>Explicit expression </a:t>
            </a:r>
            <a:r>
              <a:rPr lang="en-US" noProof="0" dirty="0"/>
              <a:t>on objective function and its gradients are available </a:t>
            </a:r>
          </a:p>
          <a:p>
            <a:pPr lvl="1"/>
            <a:r>
              <a:rPr lang="en-US" noProof="0" dirty="0"/>
              <a:t>The </a:t>
            </a:r>
            <a:r>
              <a:rPr lang="en-US" b="1" i="1" noProof="0" dirty="0">
                <a:solidFill>
                  <a:srgbClr val="5291DD"/>
                </a:solidFill>
              </a:rPr>
              <a:t>constraints </a:t>
            </a:r>
            <a:r>
              <a:rPr lang="en-US" noProof="0" dirty="0"/>
              <a:t>are needed when using optimization algorithms</a:t>
            </a:r>
          </a:p>
          <a:p>
            <a:r>
              <a:rPr lang="en-US" sz="2000" noProof="0" dirty="0"/>
              <a:t>For correlated case, searching with </a:t>
            </a:r>
            <a:r>
              <a:rPr lang="en-US" sz="2000" b="1" i="1" noProof="0" dirty="0">
                <a:solidFill>
                  <a:srgbClr val="5291DD"/>
                </a:solidFill>
              </a:rPr>
              <a:t>multiple starting points </a:t>
            </a:r>
            <a:r>
              <a:rPr lang="en-US" sz="2000" noProof="0" dirty="0"/>
              <a:t>can thoroughly investigating the space and return global optima in most cases</a:t>
            </a:r>
          </a:p>
          <a:p>
            <a:r>
              <a:rPr lang="en-US" sz="2000" b="1" i="1" noProof="0" dirty="0">
                <a:solidFill>
                  <a:srgbClr val="5291DD"/>
                </a:solidFill>
              </a:rPr>
              <a:t>Additional constraints </a:t>
            </a:r>
            <a:r>
              <a:rPr lang="en-US" sz="2000" noProof="0" dirty="0"/>
              <a:t>from clinical consideration can be incorporated in the upper/lower bound of the optimization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48A9A-F667-6FD3-505C-BDE18EC32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64BA6-D517-5772-2D1F-EE4895DFA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70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5A30F6-B45F-A3D9-AB9D-B873D68CDC6E}"/>
                  </a:ext>
                </a:extLst>
              </p:cNvPr>
              <p:cNvSpPr txBox="1"/>
              <p:nvPr/>
            </p:nvSpPr>
            <p:spPr>
              <a:xfrm>
                <a:off x="1476523" y="1121930"/>
                <a:ext cx="6190952" cy="101681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noProof="0" dirty="0"/>
                  <a:t>Maximize disjunctive power of weighted Bonferroni tests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noProof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∪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noProof="0" dirty="0"/>
              </a:p>
              <a:p>
                <a:r>
                  <a:rPr lang="en-US" sz="2000" noProof="0" dirty="0"/>
                  <a:t>          </a:t>
                </a:r>
                <a14:m>
                  <m:oMath xmlns:m="http://schemas.openxmlformats.org/officeDocument/2006/math">
                    <m:r>
                      <a:rPr lang="en-US" sz="2000" i="1" noProof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.    0≤</m:t>
                    </m:r>
                    <m:sSub>
                      <m:sSubPr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noProof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noProof="0" dirty="0"/>
                  <a:t> for </a:t>
                </a:r>
                <a14:m>
                  <m:oMath xmlns:m="http://schemas.openxmlformats.org/officeDocument/2006/math">
                    <m:r>
                      <a:rPr lang="en-US" sz="2000" i="1" noProof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sz="2000" i="1" noProof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, 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i="1" noProof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noProof="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5A30F6-B45F-A3D9-AB9D-B873D68CD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523" y="1121930"/>
                <a:ext cx="6190952" cy="1016817"/>
              </a:xfrm>
              <a:prstGeom prst="rect">
                <a:avLst/>
              </a:prstGeom>
              <a:blipFill>
                <a:blip r:embed="rId2"/>
                <a:stretch>
                  <a:fillRect l="-884" t="-2367" b="-698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18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88540-BB8F-9912-05F1-9549ECCA2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E8B6-A571-C66E-9183-54C9E14F5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Solution</a:t>
            </a:r>
            <a:endParaRPr lang="en-US" sz="2200" i="1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D9891-56E7-84B8-F523-99D7C584A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9EE02-F110-6866-E94E-D2B3BE7D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742915A-F599-8526-C2C5-39D5C57973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31590"/>
                <a:ext cx="8229600" cy="310537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p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𝒎𝒂𝒓𝒈</m:t>
                        </m:r>
                      </m:sup>
                    </m:sSup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=(90%, 75%, 60%)</m:t>
                    </m:r>
                  </m:oMath>
                </a14:m>
                <a:r>
                  <a:rPr lang="en-US" noProof="0" dirty="0"/>
                  <a:t> </a:t>
                </a:r>
              </a:p>
              <a:p>
                <a:endParaRPr lang="en-US" sz="1500" noProof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742915A-F599-8526-C2C5-39D5C5797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31590"/>
                <a:ext cx="8229600" cy="3105375"/>
              </a:xfrm>
              <a:blipFill>
                <a:blip r:embed="rId2"/>
                <a:stretch>
                  <a:fillRect l="-741"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4975EE-47ED-C233-6C48-7040220892BA}"/>
                  </a:ext>
                </a:extLst>
              </p:cNvPr>
              <p:cNvSpPr txBox="1"/>
              <p:nvPr/>
            </p:nvSpPr>
            <p:spPr>
              <a:xfrm>
                <a:off x="780429" y="1531216"/>
                <a:ext cx="3290777" cy="290848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noProof="0" dirty="0"/>
                  <a:t>Independence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500" noProof="0" dirty="0"/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endParaRPr lang="en-US" sz="1500" noProof="0" dirty="0"/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endParaRPr lang="en-US" sz="1500" noProof="0" dirty="0"/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Starting point: (1/3, 1/3, 1/3)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endParaRPr lang="en-US" sz="1500" noProof="0" dirty="0"/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Optimal weights: (0.536, 0.299, 0.164)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endParaRPr lang="en-US" sz="1500" noProof="0" dirty="0"/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Optimal disjunctive power: 95.7%</a:t>
                </a:r>
              </a:p>
              <a:p>
                <a:endParaRPr lang="en-US" sz="1500" noProof="0" dirty="0"/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Computing time: 0.00425s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4975EE-47ED-C233-6C48-704022089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29" y="1531216"/>
                <a:ext cx="3290777" cy="2908489"/>
              </a:xfrm>
              <a:prstGeom prst="rect">
                <a:avLst/>
              </a:prstGeom>
              <a:blipFill>
                <a:blip r:embed="rId4"/>
                <a:stretch>
                  <a:fillRect l="-1292" t="-835" b="-12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77264F-0E57-4625-E846-0B65A4D03B65}"/>
                  </a:ext>
                </a:extLst>
              </p:cNvPr>
              <p:cNvSpPr txBox="1"/>
              <p:nvPr/>
            </p:nvSpPr>
            <p:spPr>
              <a:xfrm>
                <a:off x="4480560" y="1531216"/>
                <a:ext cx="4072270" cy="28904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noProof="0" dirty="0"/>
                  <a:t>Dependence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500" i="1" noProof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500" i="1" noProof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5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 noProof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</m:mr>
                          <m:mr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mr>
                          <m:mr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15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500" noProof="0" dirty="0"/>
              </a:p>
              <a:p>
                <a:pPr marL="214313" indent="-214313">
                  <a:spcBef>
                    <a:spcPts val="450"/>
                  </a:spcBef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Starting points: (1, 0, 0), (0, 1, 0), (0, 0, 1), (1/2, 1/2, 0), (1/2, 0, 1/2), (0, 1/2, 1/2), (1/3, 1/3, 1/3)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Optimal weights: (0.953,         0, 0.047)</a:t>
                </a:r>
              </a:p>
              <a:p>
                <a:pPr marL="557213" lvl="1" indent="-214313">
                  <a:buFont typeface="Arial" panose="020B0604020202020204" pitchFamily="34" charset="0"/>
                  <a:buChar char="–"/>
                </a:pPr>
                <a:r>
                  <a:rPr lang="en-US" sz="1500" noProof="0" dirty="0"/>
                  <a:t>Benchmark:  (0.536, 0.299, 0.164)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Optimal disjunctive power: 90.2%</a:t>
                </a:r>
              </a:p>
              <a:p>
                <a:pPr marL="557213" lvl="1" indent="-214313">
                  <a:buFont typeface="Arial" panose="020B0604020202020204" pitchFamily="34" charset="0"/>
                  <a:buChar char="–"/>
                </a:pPr>
                <a:r>
                  <a:rPr lang="en-US" sz="1500" noProof="0" dirty="0"/>
                  <a:t>Benchmark: 87.7%</a:t>
                </a:r>
              </a:p>
              <a:p>
                <a:pPr marL="214313" indent="-214313">
                  <a:buFont typeface="Wingdings" panose="05000000000000000000" pitchFamily="2" charset="2"/>
                  <a:buChar char="§"/>
                </a:pPr>
                <a:r>
                  <a:rPr lang="en-US" sz="1500" noProof="0" dirty="0"/>
                  <a:t>Computing time: 0.0685s (&gt; 7*0.00425)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77264F-0E57-4625-E846-0B65A4D03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0" y="1531216"/>
                <a:ext cx="4072270" cy="2890471"/>
              </a:xfrm>
              <a:prstGeom prst="rect">
                <a:avLst/>
              </a:prstGeom>
              <a:blipFill>
                <a:blip r:embed="rId5"/>
                <a:stretch>
                  <a:fillRect l="-1045" t="-840" r="-149" b="-12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78D796EE-BBB5-A0A1-51BC-C0DADD161AC7}"/>
              </a:ext>
            </a:extLst>
          </p:cNvPr>
          <p:cNvSpPr/>
          <p:nvPr/>
        </p:nvSpPr>
        <p:spPr>
          <a:xfrm>
            <a:off x="6392117" y="2358747"/>
            <a:ext cx="2386123" cy="780693"/>
          </a:xfrm>
          <a:prstGeom prst="wedgeRectCallo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500" noProof="0" dirty="0"/>
              <a:t>No longer follows the order of marginal power due to correlation!</a:t>
            </a:r>
          </a:p>
        </p:txBody>
      </p:sp>
    </p:spTree>
    <p:extLst>
      <p:ext uri="{BB962C8B-B14F-4D97-AF65-F5344CB8AC3E}">
        <p14:creationId xmlns:p14="http://schemas.microsoft.com/office/powerpoint/2010/main" val="129126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000CD-0ADF-27A6-A517-806F07E2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4F59-C5A1-FBE6-CA21-D6322CAA4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DDBE8-3AE3-4572-4FDC-398A5E27E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solidFill>
                  <a:srgbClr val="BFBFBF"/>
                </a:solidFill>
              </a:rPr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/>
              <a:t>Optimizing graphical multiple comparison procedures</a:t>
            </a:r>
          </a:p>
          <a:p>
            <a:pPr lvl="1"/>
            <a:r>
              <a:rPr lang="en-US" noProof="0" dirty="0">
                <a:solidFill>
                  <a:srgbClr val="BFBFBF"/>
                </a:solidFill>
              </a:rPr>
              <a:t>Optimizing weighted Bonferroni test</a:t>
            </a:r>
          </a:p>
          <a:p>
            <a:pPr lvl="1"/>
            <a:r>
              <a:rPr lang="en-US" noProof="0" dirty="0"/>
              <a:t>Optimizing graphical approach</a:t>
            </a:r>
          </a:p>
          <a:p>
            <a:r>
              <a:rPr lang="en-US" noProof="0" dirty="0" err="1">
                <a:solidFill>
                  <a:schemeClr val="bg1">
                    <a:lumMod val="75000"/>
                  </a:schemeClr>
                </a:solidFill>
              </a:rPr>
              <a:t>graphicalMCP</a:t>
            </a:r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: implementation of graphical approaches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81718-C7BC-6354-45F9-8AC523789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46C66-E358-DADE-0B3C-571CD4D4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5242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BCBE0-CD8F-56EB-C94B-F9A64E5D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48400-F6C0-A92B-4FA3-BE0B6964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Graphical approach</a:t>
            </a:r>
            <a:br>
              <a:rPr lang="en-US" noProof="0" dirty="0"/>
            </a:br>
            <a:endParaRPr lang="en-US" sz="2200" i="1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8834B-5154-A323-EC84-4C1BB9BBA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9E742-CD74-3A05-14F1-C5D59E23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F1CC7-6955-452C-BF99-33858F670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30" y="1119761"/>
            <a:ext cx="5048250" cy="3499248"/>
          </a:xfrm>
        </p:spPr>
        <p:txBody>
          <a:bodyPr>
            <a:normAutofit/>
          </a:bodyPr>
          <a:lstStyle/>
          <a:p>
            <a:r>
              <a:rPr lang="en-US" noProof="0" dirty="0"/>
              <a:t>Graph is defined based on </a:t>
            </a:r>
            <a:r>
              <a:rPr lang="en-US" i="1" noProof="0" dirty="0"/>
              <a:t>hypothesis weights </a:t>
            </a:r>
            <a:r>
              <a:rPr lang="en-US" noProof="0" dirty="0"/>
              <a:t>and </a:t>
            </a:r>
            <a:r>
              <a:rPr lang="en-US" i="1" noProof="0" dirty="0"/>
              <a:t>transition matrix</a:t>
            </a:r>
          </a:p>
          <a:p>
            <a:pPr lvl="1"/>
            <a:r>
              <a:rPr lang="en-US" noProof="0" dirty="0"/>
              <a:t>Hypothesis weights </a:t>
            </a:r>
          </a:p>
          <a:p>
            <a:pPr lvl="2"/>
            <a:r>
              <a:rPr lang="en-US" sz="1600" noProof="0" dirty="0"/>
              <a:t>defines the </a:t>
            </a:r>
            <a:r>
              <a:rPr lang="en-US" sz="1600" b="1" i="1" noProof="0" dirty="0">
                <a:solidFill>
                  <a:srgbClr val="5291DD"/>
                </a:solidFill>
              </a:rPr>
              <a:t>initial state </a:t>
            </a:r>
            <a:r>
              <a:rPr lang="en-US" sz="1600" noProof="0" dirty="0"/>
              <a:t>of the MCP</a:t>
            </a:r>
          </a:p>
          <a:p>
            <a:pPr lvl="2"/>
            <a:r>
              <a:rPr lang="en-US" sz="1600" noProof="0" dirty="0"/>
              <a:t>Maximize the </a:t>
            </a:r>
            <a:r>
              <a:rPr lang="en-US" sz="1600" b="1" i="1" noProof="0" dirty="0">
                <a:solidFill>
                  <a:srgbClr val="5291DD"/>
                </a:solidFill>
              </a:rPr>
              <a:t>disjunctive power </a:t>
            </a:r>
            <a:r>
              <a:rPr lang="en-US" sz="1600" noProof="0" dirty="0"/>
              <a:t>at initial state</a:t>
            </a:r>
          </a:p>
          <a:p>
            <a:pPr lvl="1"/>
            <a:r>
              <a:rPr lang="en-US" noProof="0" dirty="0"/>
              <a:t>Transition matrix </a:t>
            </a:r>
          </a:p>
          <a:p>
            <a:pPr lvl="2"/>
            <a:r>
              <a:rPr lang="en-US" sz="1600" noProof="0" dirty="0"/>
              <a:t>defines </a:t>
            </a:r>
            <a:r>
              <a:rPr lang="en-US" sz="1600" b="1" i="1" noProof="0" dirty="0">
                <a:solidFill>
                  <a:srgbClr val="5291DD"/>
                </a:solidFill>
              </a:rPr>
              <a:t>next state</a:t>
            </a:r>
            <a:r>
              <a:rPr lang="en-US" sz="1600" noProof="0" dirty="0"/>
              <a:t>, i.e., updated graph given one hypothesis is rejected from the initial state</a:t>
            </a:r>
          </a:p>
          <a:p>
            <a:pPr lvl="2"/>
            <a:r>
              <a:rPr lang="en-US" sz="1600" noProof="0" dirty="0"/>
              <a:t>Maximize the </a:t>
            </a:r>
            <a:r>
              <a:rPr lang="en-US" sz="1600" b="1" i="1" noProof="0" dirty="0">
                <a:solidFill>
                  <a:srgbClr val="5291DD"/>
                </a:solidFill>
              </a:rPr>
              <a:t>disjunctive power of remaining hypotheses </a:t>
            </a:r>
            <a:r>
              <a:rPr lang="en-US" sz="1600" noProof="0" dirty="0"/>
              <a:t>at the next state</a:t>
            </a:r>
          </a:p>
          <a:p>
            <a:pPr lvl="2"/>
            <a:r>
              <a:rPr lang="en-US" sz="1600" b="1" i="1" noProof="0" dirty="0">
                <a:solidFill>
                  <a:srgbClr val="5291DD"/>
                </a:solidFill>
              </a:rPr>
              <a:t>Back-calculate</a:t>
            </a:r>
            <a:r>
              <a:rPr lang="en-US" sz="1600" noProof="0" dirty="0"/>
              <a:t> the transition weights that maximize the disjunctive power at next state</a:t>
            </a:r>
          </a:p>
          <a:p>
            <a:pPr lvl="1"/>
            <a:endParaRPr lang="en-US" i="1" noProof="0" dirty="0"/>
          </a:p>
          <a:p>
            <a:endParaRPr lang="en-US" noProof="0" dirty="0"/>
          </a:p>
        </p:txBody>
      </p:sp>
      <p:pic>
        <p:nvPicPr>
          <p:cNvPr id="5" name="Picture 4" descr="A black background with yellow numbers&#10;&#10;AI-generated content may be incorrect.">
            <a:extLst>
              <a:ext uri="{FF2B5EF4-FFF2-40B4-BE49-F238E27FC236}">
                <a16:creationId xmlns:a16="http://schemas.microsoft.com/office/drawing/2014/main" id="{C70117CF-6317-A2C2-FDFF-47E8B75F8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966" y="211033"/>
            <a:ext cx="3235345" cy="1817457"/>
          </a:xfrm>
          <a:prstGeom prst="rect">
            <a:avLst/>
          </a:prstGeom>
        </p:spPr>
      </p:pic>
      <p:pic>
        <p:nvPicPr>
          <p:cNvPr id="10" name="Picture 9" descr="A black screen with green text&#10;&#10;AI-generated content may be incorrect.">
            <a:extLst>
              <a:ext uri="{FF2B5EF4-FFF2-40B4-BE49-F238E27FC236}">
                <a16:creationId xmlns:a16="http://schemas.microsoft.com/office/drawing/2014/main" id="{D4FAC9D6-D7E4-AF64-2C6F-F68AF893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619" y="2692853"/>
            <a:ext cx="3632974" cy="194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1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CA23-9F01-46D3-284F-4EC7329A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9BF1-2E0B-6A5C-FE8F-118C54F55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Demo</a:t>
            </a:r>
            <a:br>
              <a:rPr lang="en-US" noProof="0" dirty="0"/>
            </a:br>
            <a:r>
              <a:rPr lang="en-US" sz="2200" i="1" noProof="0" dirty="0"/>
              <a:t>Set up constraints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3BF49-EC44-4F3D-B90B-5F6F0BC46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790C1-1EB7-A2CA-5537-6DE053DB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A45DE2-F4AD-EE1E-4BB9-A4EAE0120814}"/>
                  </a:ext>
                </a:extLst>
              </p:cNvPr>
              <p:cNvSpPr txBox="1"/>
              <p:nvPr/>
            </p:nvSpPr>
            <p:spPr>
              <a:xfrm>
                <a:off x="683568" y="2711285"/>
                <a:ext cx="7598452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Constraints on weights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Primary endpoints are more important than secondary endpoints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We will not test secondary hypotheses until at least one primary endpoint is significant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 0, 0)</m:t>
                    </m:r>
                  </m:oMath>
                </a14:m>
                <a:endParaRPr lang="en-US" noProof="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noProof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A45DE2-F4AD-EE1E-4BB9-A4EAE0120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711285"/>
                <a:ext cx="7598452" cy="2062103"/>
              </a:xfrm>
              <a:prstGeom prst="rect">
                <a:avLst/>
              </a:prstGeom>
              <a:blipFill>
                <a:blip r:embed="rId2"/>
                <a:stretch>
                  <a:fillRect l="-722" t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3">
            <a:extLst>
              <a:ext uri="{FF2B5EF4-FFF2-40B4-BE49-F238E27FC236}">
                <a16:creationId xmlns:a16="http://schemas.microsoft.com/office/drawing/2014/main" id="{9D059D60-C68B-6ABB-0EF5-4F1B5AA4E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478" y="1131590"/>
            <a:ext cx="3271043" cy="1573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49335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AEBA9-F64F-A29B-F100-81297331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6FBF9966-E650-4879-625C-DDCC1AEBB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480" y="234489"/>
            <a:ext cx="2433081" cy="117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987A0A-A9DB-9E9A-5916-B52394639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Demo</a:t>
            </a:r>
            <a:br>
              <a:rPr lang="en-US" noProof="0" dirty="0"/>
            </a:br>
            <a:r>
              <a:rPr lang="en-US" sz="2200" i="1" noProof="0" dirty="0"/>
              <a:t>Set up constraints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4B796-6681-9835-18A9-161D6730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EC93E-080B-7A7A-7E64-5F48EF98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5538C5-09FE-1D88-49D0-1515EC21BEBE}"/>
                  </a:ext>
                </a:extLst>
              </p:cNvPr>
              <p:cNvSpPr txBox="1"/>
              <p:nvPr/>
            </p:nvSpPr>
            <p:spPr>
              <a:xfrm>
                <a:off x="719128" y="1268016"/>
                <a:ext cx="7598452" cy="3129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Constraints on transition matrix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Secondary endpoint will not be tested unless its corresponding primary endpoint is significant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There will be no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noProof="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There will be no path between two secondary endpoints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Transition matrix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  <a:p>
                <a:pPr lvl="1"/>
                <a:r>
                  <a:rPr lang="en-US" noProof="0" dirty="0"/>
                  <a:t>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5538C5-09FE-1D88-49D0-1515EC21B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28" y="1268016"/>
                <a:ext cx="7598452" cy="3129062"/>
              </a:xfrm>
              <a:prstGeom prst="rect">
                <a:avLst/>
              </a:prstGeom>
              <a:blipFill>
                <a:blip r:embed="rId4"/>
                <a:stretch>
                  <a:fillRect l="-722" t="-975" r="-562" b="-20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5281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D1CB4-2155-A964-0A9F-15DF55FDF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508ED-1A39-340F-46DE-6FC58D82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Demo</a:t>
            </a:r>
            <a:br>
              <a:rPr lang="en-US" noProof="0" dirty="0"/>
            </a:br>
            <a:r>
              <a:rPr lang="en-US" sz="2200" i="1" noProof="0" dirty="0"/>
              <a:t>Scenario set up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F79D4-316C-C92E-B991-D14ACBF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9658-894A-6E25-F0E4-BD63F978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0DB2A9DE-D7DF-724E-2C1C-87975A713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375"/>
                <a:ext cx="8229600" cy="3105375"/>
              </a:xfrm>
            </p:spPr>
            <p:txBody>
              <a:bodyPr/>
              <a:lstStyle/>
              <a:p>
                <a:r>
                  <a:rPr lang="en-US" noProof="0" dirty="0"/>
                  <a:t>Assume the marginal powers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are 0.9, 0.7, 0.75, 0.625</a:t>
                </a:r>
              </a:p>
              <a:p>
                <a:r>
                  <a:rPr lang="en-US" noProof="0" dirty="0"/>
                  <a:t>There are equal number of patients in placebo arm and both dose arms. So the correlation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and correlation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are both 0.5</a:t>
                </a:r>
              </a:p>
              <a:p>
                <a:r>
                  <a:rPr lang="en-US" noProof="0" dirty="0"/>
                  <a:t>The correlations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are set to be 0.8</a:t>
                </a:r>
              </a:p>
            </p:txBody>
          </p:sp>
        </mc:Choice>
        <mc:Fallback xmlns="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0DB2A9DE-D7DF-724E-2C1C-87975A713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375"/>
                <a:ext cx="8229600" cy="3105375"/>
              </a:xfrm>
              <a:blipFill>
                <a:blip r:embed="rId2"/>
                <a:stretch>
                  <a:fillRect l="-741" t="-2161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1EC964-0148-9A9B-AB8E-C6F3D8E1F079}"/>
                  </a:ext>
                </a:extLst>
              </p:cNvPr>
              <p:cNvSpPr txBox="1"/>
              <p:nvPr/>
            </p:nvSpPr>
            <p:spPr>
              <a:xfrm>
                <a:off x="2286000" y="3453134"/>
                <a:ext cx="4572000" cy="1126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1EC964-0148-9A9B-AB8E-C6F3D8E1F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453134"/>
                <a:ext cx="4572000" cy="11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89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C04BA-77D9-E325-CBAF-5735406B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FA6B-9053-F81D-33DF-D47529979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Demo</a:t>
            </a:r>
            <a:br>
              <a:rPr lang="en-US" noProof="0" dirty="0"/>
            </a:br>
            <a:r>
              <a:rPr lang="en-US" sz="2200" i="1" noProof="0" dirty="0"/>
              <a:t>Hypothesis weight optimization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185A9-3EEB-9787-A7B3-6667453F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866D4-428D-2CA1-3386-D111A64E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5E95CE25-284D-A746-C6E3-81FCD13E4C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2925" y="1268016"/>
                <a:ext cx="8058150" cy="1594926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Step 1: optimize the hypotheses weights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=(0.</m:t>
                    </m:r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93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, 0.</m:t>
                    </m:r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07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, 0, 0)</m:t>
                    </m:r>
                  </m:oMath>
                </a14:m>
                <a:r>
                  <a:rPr lang="en-US" sz="1600" noProof="0" dirty="0"/>
                  <a:t> with disjunctive power of 0.9007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=(0.5, 0.5, 0, 0)</m:t>
                    </m:r>
                  </m:oMath>
                </a14:m>
                <a:r>
                  <a:rPr lang="en-US" sz="1600" noProof="0" dirty="0"/>
                  <a:t> yields disjunctive power of 0.886</a:t>
                </a:r>
              </a:p>
              <a:p>
                <a:pPr lvl="1"/>
                <a:r>
                  <a:rPr lang="en-US" sz="1600" noProof="0" dirty="0"/>
                  <a:t>Due to the existence of correlation, </a:t>
                </a:r>
                <a:r>
                  <a:rPr lang="en-US" sz="1600" b="1" noProof="0" dirty="0">
                    <a:solidFill>
                      <a:srgbClr val="5291DD"/>
                    </a:solidFill>
                  </a:rPr>
                  <a:t>split</a:t>
                </a:r>
                <a:r>
                  <a:rPr lang="en-US" sz="1600" noProof="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600" noProof="0" dirty="0"/>
                  <a:t> </a:t>
                </a:r>
                <a:r>
                  <a:rPr lang="en-US" sz="1600" b="1" noProof="0" dirty="0">
                    <a:solidFill>
                      <a:srgbClr val="5291DD"/>
                    </a:solidFill>
                  </a:rPr>
                  <a:t>equally</a:t>
                </a:r>
                <a:r>
                  <a:rPr lang="en-US" sz="1600" noProof="0" dirty="0"/>
                  <a:t>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noProof="0" dirty="0"/>
                  <a:t> </a:t>
                </a:r>
                <a:r>
                  <a:rPr lang="en-US" sz="1600" b="1" noProof="0" dirty="0">
                    <a:solidFill>
                      <a:srgbClr val="5291DD"/>
                    </a:solidFill>
                  </a:rPr>
                  <a:t>is not reasonable </a:t>
                </a:r>
                <a:r>
                  <a:rPr lang="en-US" sz="1600" noProof="0" dirty="0"/>
                  <a:t>even compare with fixed sequence test.</a:t>
                </a:r>
              </a:p>
            </p:txBody>
          </p:sp>
        </mc:Choice>
        <mc:Fallback xmlns="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5E95CE25-284D-A746-C6E3-81FCD13E4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2925" y="1268016"/>
                <a:ext cx="8058150" cy="1594926"/>
              </a:xfrm>
              <a:blipFill>
                <a:blip r:embed="rId2"/>
                <a:stretch>
                  <a:fillRect l="-756" t="-4198" r="-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07230A8C-86E9-2CCB-01A6-FD3EF0F315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0583" b="80750"/>
          <a:stretch>
            <a:fillRect/>
          </a:stretch>
        </p:blipFill>
        <p:spPr>
          <a:xfrm>
            <a:off x="1371164" y="2770251"/>
            <a:ext cx="739793" cy="6417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990941-02D8-ADD0-964C-1B53B6ED98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583" b="80749"/>
          <a:stretch>
            <a:fillRect/>
          </a:stretch>
        </p:blipFill>
        <p:spPr>
          <a:xfrm>
            <a:off x="2549869" y="2767849"/>
            <a:ext cx="739794" cy="6417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AC6A6E-145C-BF3F-D60A-95CB574DFA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749" r="80583"/>
          <a:stretch>
            <a:fillRect/>
          </a:stretch>
        </p:blipFill>
        <p:spPr>
          <a:xfrm>
            <a:off x="1371163" y="3779737"/>
            <a:ext cx="739794" cy="6417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20D953-871E-7BCE-2026-33D296E3DF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583" t="80749"/>
          <a:stretch>
            <a:fillRect/>
          </a:stretch>
        </p:blipFill>
        <p:spPr>
          <a:xfrm>
            <a:off x="2549869" y="3779737"/>
            <a:ext cx="739794" cy="6417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A861A6F-2526-781D-B478-A06EEF69A14C}"/>
              </a:ext>
            </a:extLst>
          </p:cNvPr>
          <p:cNvSpPr txBox="1"/>
          <p:nvPr/>
        </p:nvSpPr>
        <p:spPr>
          <a:xfrm>
            <a:off x="1656991" y="4421505"/>
            <a:ext cx="134684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noProof="0" dirty="0"/>
              <a:t>Original design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07EE12-95B1-D3A7-3386-4BDFF410EC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0583" b="80749"/>
          <a:stretch>
            <a:fillRect/>
          </a:stretch>
        </p:blipFill>
        <p:spPr>
          <a:xfrm>
            <a:off x="5211644" y="2767849"/>
            <a:ext cx="739793" cy="6417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CC98DDA-9B1B-9852-442F-8B8256556B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583" b="80749"/>
          <a:stretch>
            <a:fillRect/>
          </a:stretch>
        </p:blipFill>
        <p:spPr>
          <a:xfrm>
            <a:off x="6395572" y="2767848"/>
            <a:ext cx="739795" cy="6417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7861136-EDE2-EC15-34A9-41B67A382E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749" r="80583"/>
          <a:stretch>
            <a:fillRect/>
          </a:stretch>
        </p:blipFill>
        <p:spPr>
          <a:xfrm>
            <a:off x="5211644" y="3779737"/>
            <a:ext cx="739794" cy="6417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8441678-6044-5F38-9716-EB703275E0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583" t="80749"/>
          <a:stretch>
            <a:fillRect/>
          </a:stretch>
        </p:blipFill>
        <p:spPr>
          <a:xfrm>
            <a:off x="6395571" y="3779737"/>
            <a:ext cx="739795" cy="64177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2899284-F22B-B684-98AE-30EE68DB4D0F}"/>
              </a:ext>
            </a:extLst>
          </p:cNvPr>
          <p:cNvSpPr txBox="1"/>
          <p:nvPr/>
        </p:nvSpPr>
        <p:spPr>
          <a:xfrm>
            <a:off x="5492158" y="4421504"/>
            <a:ext cx="13620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noProof="0" dirty="0"/>
              <a:t>Optimal design</a:t>
            </a:r>
          </a:p>
        </p:txBody>
      </p:sp>
    </p:spTree>
    <p:extLst>
      <p:ext uri="{BB962C8B-B14F-4D97-AF65-F5344CB8AC3E}">
        <p14:creationId xmlns:p14="http://schemas.microsoft.com/office/powerpoint/2010/main" val="28177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E8CC2-D6C4-D27D-9B69-D260EF55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39415-3AFC-3FF5-B9AD-1F8598C0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Demo</a:t>
            </a:r>
            <a:br>
              <a:rPr lang="en-US" noProof="0" dirty="0"/>
            </a:br>
            <a:r>
              <a:rPr lang="en-US" sz="2200" i="1" noProof="0" dirty="0"/>
              <a:t>Transition matrix optimization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345A0-5F9D-8E4E-CA1C-68DBF6D2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C2097-D6AB-954F-49D7-266A6455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D0F0A758-FC52-235A-B3DE-BB965B3D09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8971" y="1268016"/>
                <a:ext cx="8036379" cy="2007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noProof="0" dirty="0"/>
                  <a:t>Step 2: optimize the transition matrix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00" i="1" noProof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 noProof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4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noProof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0.36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0.64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0.06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0.94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400" noProof="0" dirty="0"/>
                  <a:t> </a:t>
                </a:r>
                <a:r>
                  <a:rPr lang="en-US" sz="1400" noProof="0" dirty="0" err="1"/>
                  <a:t>v.s</a:t>
                </a:r>
                <a:r>
                  <a:rPr lang="en-US" sz="1400" noProof="0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00" i="1" noProof="0">
                            <a:latin typeface="Cambria Math" panose="02040503050406030204" pitchFamily="18" charset="0"/>
                          </a:rPr>
                          <m:t>𝑜𝑟𝑖𝑔</m:t>
                        </m:r>
                      </m:sub>
                    </m:sSub>
                    <m:r>
                      <a:rPr lang="en-US" sz="1400" i="1" noProof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4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noProof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400" noProof="0" dirty="0"/>
                  <a:t> </a:t>
                </a:r>
                <a:endParaRPr lang="en-US" sz="1600" noProof="0" dirty="0"/>
              </a:p>
              <a:p>
                <a:pPr lvl="1"/>
                <a:r>
                  <a:rPr lang="en-US" sz="1600" noProof="0" dirty="0"/>
                  <a:t>Due to the already large weight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/>
                  <a:t>, there is </a:t>
                </a:r>
                <a:r>
                  <a:rPr lang="en-US" sz="1600" b="1" noProof="0" dirty="0">
                    <a:solidFill>
                      <a:srgbClr val="5291DD"/>
                    </a:solidFill>
                  </a:rPr>
                  <a:t>no</a:t>
                </a:r>
                <a:r>
                  <a:rPr lang="en-US" sz="1600" noProof="0" dirty="0"/>
                  <a:t> need for </a:t>
                </a:r>
                <a:r>
                  <a:rPr lang="en-US" sz="1600" b="1" noProof="0" dirty="0">
                    <a:solidFill>
                      <a:srgbClr val="5291DD"/>
                    </a:solidFill>
                  </a:rPr>
                  <a:t>large</a:t>
                </a:r>
                <a:r>
                  <a:rPr lang="en-US" sz="1600" noProof="0" dirty="0"/>
                  <a:t> or any </a:t>
                </a:r>
                <a14:m>
                  <m:oMath xmlns:m="http://schemas.openxmlformats.org/officeDocument/2006/math">
                    <m:r>
                      <a:rPr lang="en-US" sz="1600" b="1" i="1" noProof="0">
                        <a:solidFill>
                          <a:srgbClr val="5291DD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1600" b="1" noProof="0" dirty="0">
                    <a:solidFill>
                      <a:srgbClr val="5291DD"/>
                    </a:solidFill>
                  </a:rPr>
                  <a:t> propagation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1600" b="1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b="1" noProof="0" dirty="0">
                    <a:solidFill>
                      <a:srgbClr val="5291DD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1600" b="1" i="1" noProof="0">
                            <a:solidFill>
                              <a:srgbClr val="5291DD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600" b="1" noProof="0" dirty="0"/>
              </a:p>
            </p:txBody>
          </p:sp>
        </mc:Choice>
        <mc:Fallback xmlns="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D0F0A758-FC52-235A-B3DE-BB965B3D0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1" y="1268016"/>
                <a:ext cx="8036379" cy="2007472"/>
              </a:xfrm>
              <a:prstGeom prst="rect">
                <a:avLst/>
              </a:prstGeom>
              <a:blipFill>
                <a:blip r:embed="rId2"/>
                <a:stretch>
                  <a:fillRect l="-759" t="-3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DC7EDA9D-489B-24A3-14D5-76867A90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231" y="2759791"/>
            <a:ext cx="2031865" cy="17778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5E7AC3-C71A-D5B7-A908-ABCC00BE7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111" y="2759790"/>
            <a:ext cx="2031866" cy="17778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B3664F-DC0D-F24D-F03F-DEFA0B325ECA}"/>
              </a:ext>
            </a:extLst>
          </p:cNvPr>
          <p:cNvSpPr txBox="1"/>
          <p:nvPr/>
        </p:nvSpPr>
        <p:spPr>
          <a:xfrm>
            <a:off x="3189622" y="4490886"/>
            <a:ext cx="134684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noProof="0" dirty="0"/>
              <a:t>Original design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B5DF5B-358A-EA27-AD92-421A6925AC8C}"/>
              </a:ext>
            </a:extLst>
          </p:cNvPr>
          <p:cNvSpPr txBox="1"/>
          <p:nvPr/>
        </p:nvSpPr>
        <p:spPr>
          <a:xfrm>
            <a:off x="6016143" y="4537673"/>
            <a:ext cx="13620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noProof="0" dirty="0"/>
              <a:t>Optimal design</a:t>
            </a:r>
          </a:p>
        </p:txBody>
      </p:sp>
    </p:spTree>
    <p:extLst>
      <p:ext uri="{BB962C8B-B14F-4D97-AF65-F5344CB8AC3E}">
        <p14:creationId xmlns:p14="http://schemas.microsoft.com/office/powerpoint/2010/main" val="332005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8562-BD19-ADDB-F40E-DF93A6783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1E86-280D-7D71-378E-1CDFBF1F6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Power comparison</a:t>
            </a:r>
            <a:br>
              <a:rPr lang="en-US" noProof="0" dirty="0"/>
            </a:br>
            <a:endParaRPr lang="en-US" sz="2200" i="1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3E6D1-B21E-7095-F747-333D65D79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4F628-886B-3E59-162B-11DAE3D9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576C0B0-264E-C5ED-3A20-8574C5215B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5308717"/>
                  </p:ext>
                </p:extLst>
              </p:nvPr>
            </p:nvGraphicFramePr>
            <p:xfrm>
              <a:off x="1901002" y="3285061"/>
              <a:ext cx="5198990" cy="1509780"/>
            </p:xfrm>
            <a:graphic>
              <a:graphicData uri="http://schemas.openxmlformats.org/drawingml/2006/table">
                <a:tbl>
                  <a:tblPr firstRow="1" bandRow="1">
                    <a:tableStyleId>{1C5780E6-A8F4-46B0-B82D-9E7F56C639EF}</a:tableStyleId>
                  </a:tblPr>
                  <a:tblGrid>
                    <a:gridCol w="707517">
                      <a:extLst>
                        <a:ext uri="{9D8B030D-6E8A-4147-A177-3AD203B41FA5}">
                          <a16:colId xmlns:a16="http://schemas.microsoft.com/office/drawing/2014/main" val="2145028759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3164938917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130894867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560855384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367424655"/>
                        </a:ext>
                      </a:extLst>
                    </a:gridCol>
                    <a:gridCol w="952605">
                      <a:extLst>
                        <a:ext uri="{9D8B030D-6E8A-4147-A177-3AD203B41FA5}">
                          <a16:colId xmlns:a16="http://schemas.microsoft.com/office/drawing/2014/main" val="3684113865"/>
                        </a:ext>
                      </a:extLst>
                    </a:gridCol>
                    <a:gridCol w="1392088">
                      <a:extLst>
                        <a:ext uri="{9D8B030D-6E8A-4147-A177-3AD203B41FA5}">
                          <a16:colId xmlns:a16="http://schemas.microsoft.com/office/drawing/2014/main" val="2656662041"/>
                        </a:ext>
                      </a:extLst>
                    </a:gridCol>
                  </a:tblGrid>
                  <a:tr h="455578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Method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US" sz="1200" b="1" i="1" noProof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Disjunctive power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Expected number of rejection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66453215"/>
                      </a:ext>
                    </a:extLst>
                  </a:tr>
                  <a:tr h="35086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Original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0.858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0.667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0.523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0.8862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2.688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70650947"/>
                      </a:ext>
                    </a:extLst>
                  </a:tr>
                  <a:tr h="35086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Optimal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0.894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0.691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0.510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0.9025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2.73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88616770"/>
                      </a:ext>
                    </a:extLst>
                  </a:tr>
                  <a:tr h="35086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Gain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3.6%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FF0000"/>
                              </a:solidFill>
                            </a:rPr>
                            <a:t>-3.2%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5.1%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FF0000"/>
                              </a:solidFill>
                            </a:rPr>
                            <a:t>-1.3%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1.63%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0.042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289489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576C0B0-264E-C5ED-3A20-8574C5215B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5308717"/>
                  </p:ext>
                </p:extLst>
              </p:nvPr>
            </p:nvGraphicFramePr>
            <p:xfrm>
              <a:off x="1901002" y="3285061"/>
              <a:ext cx="5198990" cy="1509780"/>
            </p:xfrm>
            <a:graphic>
              <a:graphicData uri="http://schemas.openxmlformats.org/drawingml/2006/table">
                <a:tbl>
                  <a:tblPr firstRow="1" bandRow="1">
                    <a:tableStyleId>{1C5780E6-A8F4-46B0-B82D-9E7F56C639EF}</a:tableStyleId>
                  </a:tblPr>
                  <a:tblGrid>
                    <a:gridCol w="707517">
                      <a:extLst>
                        <a:ext uri="{9D8B030D-6E8A-4147-A177-3AD203B41FA5}">
                          <a16:colId xmlns:a16="http://schemas.microsoft.com/office/drawing/2014/main" val="2145028759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3164938917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130894867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560855384"/>
                        </a:ext>
                      </a:extLst>
                    </a:gridCol>
                    <a:gridCol w="536695">
                      <a:extLst>
                        <a:ext uri="{9D8B030D-6E8A-4147-A177-3AD203B41FA5}">
                          <a16:colId xmlns:a16="http://schemas.microsoft.com/office/drawing/2014/main" val="367424655"/>
                        </a:ext>
                      </a:extLst>
                    </a:gridCol>
                    <a:gridCol w="952605">
                      <a:extLst>
                        <a:ext uri="{9D8B030D-6E8A-4147-A177-3AD203B41FA5}">
                          <a16:colId xmlns:a16="http://schemas.microsoft.com/office/drawing/2014/main" val="3684113865"/>
                        </a:ext>
                      </a:extLst>
                    </a:gridCol>
                    <a:gridCol w="1392088">
                      <a:extLst>
                        <a:ext uri="{9D8B030D-6E8A-4147-A177-3AD203B41FA5}">
                          <a16:colId xmlns:a16="http://schemas.microsoft.com/office/drawing/2014/main" val="265666204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Method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131818" r="-740909" b="-2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29213" r="-632584" b="-2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332955" r="-539773" b="-2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432955" r="-439773" b="-23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Disjunctive power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Expected number of rejection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66453215"/>
                      </a:ext>
                    </a:extLst>
                  </a:tr>
                  <a:tr h="35086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Original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0.858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0.667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0.523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0.8862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2.688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70650947"/>
                      </a:ext>
                    </a:extLst>
                  </a:tr>
                  <a:tr h="35086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Optimal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0.894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0.691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0.510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0.9025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/>
                            <a:t>2.73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688616770"/>
                      </a:ext>
                    </a:extLst>
                  </a:tr>
                  <a:tr h="350860">
                    <a:tc>
                      <a:txBody>
                        <a:bodyPr/>
                        <a:lstStyle/>
                        <a:p>
                          <a:r>
                            <a:rPr lang="en-US" sz="1200" noProof="0" dirty="0"/>
                            <a:t>Gain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3.6%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FF0000"/>
                              </a:solidFill>
                            </a:rPr>
                            <a:t>-3.2%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5.1%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FF0000"/>
                              </a:solidFill>
                            </a:rPr>
                            <a:t>-1.3%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1.63%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200" noProof="0" dirty="0">
                              <a:solidFill>
                                <a:srgbClr val="00B050"/>
                              </a:solidFill>
                            </a:rPr>
                            <a:t>0.042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8289489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7B88630-52AE-8AF3-20AA-5C23666D116E}"/>
              </a:ext>
            </a:extLst>
          </p:cNvPr>
          <p:cNvSpPr txBox="1"/>
          <p:nvPr/>
        </p:nvSpPr>
        <p:spPr>
          <a:xfrm>
            <a:off x="2053512" y="2854129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Original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772BC2-3CD1-DC54-BCFF-6B61ABABF3B4}"/>
              </a:ext>
            </a:extLst>
          </p:cNvPr>
          <p:cNvSpPr txBox="1"/>
          <p:nvPr/>
        </p:nvSpPr>
        <p:spPr>
          <a:xfrm>
            <a:off x="5509608" y="2858378"/>
            <a:ext cx="1599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Optimal design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D01187-731E-71F9-4012-4D9C156C7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080" y="1051163"/>
            <a:ext cx="2375747" cy="17818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056ADB-6434-5452-2676-0DE2D4561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076" y="1045768"/>
            <a:ext cx="2375747" cy="178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42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2D6E6-D957-F9FC-D9B6-0D573071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D1E9-E17D-BA3B-39E9-2A37CB3BF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Summary and conclusion</a:t>
            </a:r>
            <a:br>
              <a:rPr lang="en-US" noProof="0" dirty="0"/>
            </a:br>
            <a:endParaRPr lang="en-US" sz="2200" i="1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F3F52-4B69-250E-1A3E-FB421ADD1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3EBF6-6D2C-88BE-BEED-1A6D0359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D9F39-F344-41AE-B531-1D3ECACBC82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FF3BFBB-5D4E-2ADE-88B0-1B4B4DB53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80639"/>
            <a:ext cx="8229600" cy="3499247"/>
          </a:xfrm>
        </p:spPr>
        <p:txBody>
          <a:bodyPr>
            <a:normAutofit fontScale="92500" lnSpcReduction="10000"/>
          </a:bodyPr>
          <a:lstStyle/>
          <a:p>
            <a:r>
              <a:rPr lang="en-US" noProof="0" dirty="0"/>
              <a:t>Optimal weighted Bonferroni test for disjunctive power</a:t>
            </a:r>
          </a:p>
          <a:p>
            <a:pPr lvl="1"/>
            <a:r>
              <a:rPr lang="en-US" noProof="0" dirty="0"/>
              <a:t>Hypotheses with larger power are usually assigned with larger weights</a:t>
            </a:r>
          </a:p>
          <a:p>
            <a:pPr lvl="1"/>
            <a:r>
              <a:rPr lang="en-US" noProof="0" dirty="0"/>
              <a:t>Correlation has an impact on optimal weights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noProof="0" dirty="0"/>
              <a:t>Higher correlation could lead to </a:t>
            </a:r>
            <a:r>
              <a:rPr lang="en-US" b="1" i="1" noProof="0" dirty="0"/>
              <a:t>non-unique solutions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noProof="0" dirty="0"/>
              <a:t>Higher correlation could lead to </a:t>
            </a:r>
            <a:r>
              <a:rPr lang="en-US" b="1" i="1" noProof="0" dirty="0"/>
              <a:t>more extreme weights </a:t>
            </a:r>
            <a:r>
              <a:rPr lang="en-US" noProof="0" dirty="0"/>
              <a:t>on the boundary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noProof="0" dirty="0"/>
              <a:t>Optimal graphical approach with 2-step approach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noProof="0" dirty="0"/>
              <a:t>Step 1: Maximize the disjunctive power at initial state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noProof="0" dirty="0"/>
              <a:t>Step 2: Back-calculate the transition weight for the optimal disjunctive power at next state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noProof="0" dirty="0"/>
              <a:t>Suggested workflow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noProof="0" dirty="0"/>
              <a:t>Include all clinical consideration, i.e. constraints, for graph design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noProof="0" dirty="0"/>
              <a:t>Run optimization with constraints and get the optimal graph design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noProof="0" dirty="0"/>
              <a:t>Simulate power and compare with original design (if there is any)</a:t>
            </a:r>
          </a:p>
        </p:txBody>
      </p:sp>
    </p:spTree>
    <p:extLst>
      <p:ext uri="{BB962C8B-B14F-4D97-AF65-F5344CB8AC3E}">
        <p14:creationId xmlns:p14="http://schemas.microsoft.com/office/powerpoint/2010/main" val="358271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3582A-5391-D9B8-C544-F9E40FA4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53710-26AC-2C08-2794-72AE54EC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A466D-0BE5-8880-8FA5-814948397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Optimizing graphical multiple comparison procedures</a:t>
            </a:r>
          </a:p>
          <a:p>
            <a:r>
              <a:rPr lang="en-US" noProof="0" dirty="0" err="1"/>
              <a:t>graphicalMCP</a:t>
            </a:r>
            <a:r>
              <a:rPr lang="en-US" noProof="0" dirty="0"/>
              <a:t>: implementation of graphical approaches</a:t>
            </a:r>
          </a:p>
          <a:p>
            <a:pPr lvl="1"/>
            <a:r>
              <a:rPr lang="en-US" noProof="0" dirty="0"/>
              <a:t>Bonferroni-based approaches</a:t>
            </a:r>
          </a:p>
          <a:p>
            <a:pPr lvl="1"/>
            <a:r>
              <a:rPr lang="en-US" noProof="0" dirty="0"/>
              <a:t>Beyond Bonferroni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A2C27-9AC6-7F3A-A7EB-B02E68F2C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59268-826B-56D4-CE55-ED568631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81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41954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CA334-CBB6-DE39-2923-69012E258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FD10E-DC99-E6E0-BF3D-BB826AD6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9ECBF-9F45-3BCA-C846-517DB0077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Optimizing graphical multiple comparison procedures</a:t>
            </a:r>
          </a:p>
          <a:p>
            <a:r>
              <a:rPr lang="en-US" noProof="0" dirty="0" err="1"/>
              <a:t>graphicalMCP</a:t>
            </a:r>
            <a:r>
              <a:rPr lang="en-US" noProof="0" dirty="0"/>
              <a:t>: implementation of graphical approaches</a:t>
            </a:r>
          </a:p>
          <a:p>
            <a:pPr lvl="1"/>
            <a:r>
              <a:rPr lang="en-US" noProof="0" dirty="0"/>
              <a:t>Bonferroni-based approaches</a:t>
            </a:r>
          </a:p>
          <a:p>
            <a:pPr lvl="1"/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Beyond Bonferroni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518BA-197C-B21C-9265-24F0ED31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5335B-A3DF-60D4-606E-982DA1CC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82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12277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47827-0720-02A3-351E-1FA05007C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369C-8D81-0802-347F-57041D44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Graphical approaches using 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8A941-1255-8874-9470-C576DD9D2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83</a:t>
            </a:fld>
            <a:endParaRPr lang="en-US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C7753-1B44-382C-0437-F9CBCE51C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003" y="1788954"/>
            <a:ext cx="3816424" cy="2915595"/>
          </a:xfrm>
        </p:spPr>
        <p:txBody>
          <a:bodyPr>
            <a:normAutofit/>
          </a:bodyPr>
          <a:lstStyle/>
          <a:p>
            <a:r>
              <a:rPr lang="en-US" sz="1800" noProof="0" dirty="0"/>
              <a:t>       Pioneer R package for graphical MCPs</a:t>
            </a:r>
          </a:p>
          <a:p>
            <a:r>
              <a:rPr lang="en-US" sz="1800" noProof="0" dirty="0"/>
              <a:t>       Allows efficient power simulation for Bonferroni graphs</a:t>
            </a:r>
          </a:p>
          <a:p>
            <a:r>
              <a:rPr lang="en-US" sz="1800" noProof="0" dirty="0"/>
              <a:t>       Flexible GUI for visualization</a:t>
            </a:r>
          </a:p>
          <a:p>
            <a:r>
              <a:rPr lang="en-US" sz="1800" noProof="0" dirty="0"/>
              <a:t>       Incomplete beyond Bonferroni</a:t>
            </a:r>
          </a:p>
          <a:p>
            <a:r>
              <a:rPr lang="en-US" sz="1800" noProof="0" dirty="0"/>
              <a:t>       GUI depends on JAVA which is difficult to install and maintain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E8AC7-1C8D-71CD-0852-A9834B679F97}"/>
              </a:ext>
            </a:extLst>
          </p:cNvPr>
          <p:cNvSpPr txBox="1"/>
          <p:nvPr/>
        </p:nvSpPr>
        <p:spPr>
          <a:xfrm>
            <a:off x="2016299" y="1419622"/>
            <a:ext cx="773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 err="1">
                <a:solidFill>
                  <a:srgbClr val="5291DD"/>
                </a:solidFill>
              </a:rPr>
              <a:t>gMCP</a:t>
            </a:r>
            <a:endParaRPr lang="en-US" b="1" noProof="0" dirty="0">
              <a:solidFill>
                <a:srgbClr val="5291DD"/>
              </a:solidFill>
            </a:endParaRPr>
          </a:p>
        </p:txBody>
      </p:sp>
      <p:pic>
        <p:nvPicPr>
          <p:cNvPr id="10" name="Graphic 9" descr="Climbing with solid fill">
            <a:extLst>
              <a:ext uri="{FF2B5EF4-FFF2-40B4-BE49-F238E27FC236}">
                <a16:creationId xmlns:a16="http://schemas.microsoft.com/office/drawing/2014/main" id="{17ADAC54-0D18-8DB5-7A31-3FFABB6CC6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760110" y="1779662"/>
            <a:ext cx="274320" cy="274320"/>
          </a:xfrm>
          <a:prstGeom prst="rect">
            <a:avLst/>
          </a:prstGeom>
        </p:spPr>
      </p:pic>
      <p:pic>
        <p:nvPicPr>
          <p:cNvPr id="11" name="Graphic 10" descr="Rocket with solid fill">
            <a:extLst>
              <a:ext uri="{FF2B5EF4-FFF2-40B4-BE49-F238E27FC236}">
                <a16:creationId xmlns:a16="http://schemas.microsoft.com/office/drawing/2014/main" id="{32A86F45-0914-039D-D7E7-0C6003BCDA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803" y="2413389"/>
            <a:ext cx="274320" cy="274320"/>
          </a:xfrm>
          <a:prstGeom prst="rect">
            <a:avLst/>
          </a:prstGeom>
        </p:spPr>
      </p:pic>
      <p:pic>
        <p:nvPicPr>
          <p:cNvPr id="12" name="Graphic 11" descr="Image with solid fill">
            <a:extLst>
              <a:ext uri="{FF2B5EF4-FFF2-40B4-BE49-F238E27FC236}">
                <a16:creationId xmlns:a16="http://schemas.microsoft.com/office/drawing/2014/main" id="{F98DBBA3-A752-E41C-5B9B-2CB53B207C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576" y="3000380"/>
            <a:ext cx="274320" cy="274320"/>
          </a:xfrm>
          <a:prstGeom prst="rect">
            <a:avLst/>
          </a:prstGeom>
        </p:spPr>
      </p:pic>
      <p:pic>
        <p:nvPicPr>
          <p:cNvPr id="13" name="Graphic 12" descr="Chocolate with solid fill">
            <a:extLst>
              <a:ext uri="{FF2B5EF4-FFF2-40B4-BE49-F238E27FC236}">
                <a16:creationId xmlns:a16="http://schemas.microsoft.com/office/drawing/2014/main" id="{F00DD236-0694-6E99-1246-DE9F041BAC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576" y="3372089"/>
            <a:ext cx="274320" cy="274320"/>
          </a:xfrm>
          <a:prstGeom prst="rect">
            <a:avLst/>
          </a:prstGeom>
        </p:spPr>
      </p:pic>
      <p:pic>
        <p:nvPicPr>
          <p:cNvPr id="14" name="Graphic 13" descr="Broken Heart with solid fill">
            <a:extLst>
              <a:ext uri="{FF2B5EF4-FFF2-40B4-BE49-F238E27FC236}">
                <a16:creationId xmlns:a16="http://schemas.microsoft.com/office/drawing/2014/main" id="{FC4648B4-6466-BFFF-33BB-7E6FAFC104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597" y="3723878"/>
            <a:ext cx="274320" cy="274320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61C71EB-7E0B-193B-C8FE-8F6A603D9470}"/>
              </a:ext>
            </a:extLst>
          </p:cNvPr>
          <p:cNvSpPr txBox="1">
            <a:spLocks/>
          </p:cNvSpPr>
          <p:nvPr/>
        </p:nvSpPr>
        <p:spPr>
          <a:xfrm>
            <a:off x="4572000" y="1788954"/>
            <a:ext cx="3943350" cy="2915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noProof="0" dirty="0"/>
              <a:t>       Similar performance for Bonferroni graphs</a:t>
            </a:r>
          </a:p>
          <a:p>
            <a:r>
              <a:rPr lang="en-US" sz="1800" noProof="0" dirty="0"/>
              <a:t>       Flexible to extend to other types, e.g., Hochberg, Simes, parametric etc.</a:t>
            </a:r>
          </a:p>
          <a:p>
            <a:r>
              <a:rPr lang="en-US" sz="1800" noProof="0" dirty="0"/>
              <a:t>      Low dependency and only R-based</a:t>
            </a:r>
          </a:p>
          <a:p>
            <a:r>
              <a:rPr lang="en-US" sz="1800" noProof="0" dirty="0"/>
              <a:t>      Efficient power simulation</a:t>
            </a:r>
          </a:p>
          <a:p>
            <a:r>
              <a:rPr lang="en-US" sz="1800" noProof="0" dirty="0"/>
              <a:t>      Actively maintained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AF1182-7D1F-FDB9-9C88-A287AC5DE999}"/>
              </a:ext>
            </a:extLst>
          </p:cNvPr>
          <p:cNvSpPr txBox="1"/>
          <p:nvPr/>
        </p:nvSpPr>
        <p:spPr>
          <a:xfrm>
            <a:off x="5868144" y="1419622"/>
            <a:ext cx="150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 err="1">
                <a:solidFill>
                  <a:srgbClr val="5291DD"/>
                </a:solidFill>
              </a:rPr>
              <a:t>graphicalMCP</a:t>
            </a:r>
            <a:endParaRPr lang="en-US" b="1" noProof="0" dirty="0">
              <a:solidFill>
                <a:srgbClr val="5291DD"/>
              </a:solidFill>
            </a:endParaRPr>
          </a:p>
        </p:txBody>
      </p:sp>
      <p:pic>
        <p:nvPicPr>
          <p:cNvPr id="17" name="Graphic 16" descr="Muscular arm with solid fill">
            <a:extLst>
              <a:ext uri="{FF2B5EF4-FFF2-40B4-BE49-F238E27FC236}">
                <a16:creationId xmlns:a16="http://schemas.microsoft.com/office/drawing/2014/main" id="{19CB138F-0809-5DD3-557F-0B24D8B81C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9614" y="2384719"/>
            <a:ext cx="274320" cy="274320"/>
          </a:xfrm>
          <a:prstGeom prst="rect">
            <a:avLst/>
          </a:prstGeom>
        </p:spPr>
      </p:pic>
      <p:pic>
        <p:nvPicPr>
          <p:cNvPr id="18" name="Graphic 17" descr="Mittens with solid fill">
            <a:extLst>
              <a:ext uri="{FF2B5EF4-FFF2-40B4-BE49-F238E27FC236}">
                <a16:creationId xmlns:a16="http://schemas.microsoft.com/office/drawing/2014/main" id="{5CF744D2-73A2-6288-6198-AE7CD5D4D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5341" y="1812517"/>
            <a:ext cx="274320" cy="274320"/>
          </a:xfrm>
          <a:prstGeom prst="rect">
            <a:avLst/>
          </a:prstGeom>
        </p:spPr>
      </p:pic>
      <p:pic>
        <p:nvPicPr>
          <p:cNvPr id="19" name="Graphic 18" descr="Chopsticks with solid fill">
            <a:extLst>
              <a:ext uri="{FF2B5EF4-FFF2-40B4-BE49-F238E27FC236}">
                <a16:creationId xmlns:a16="http://schemas.microsoft.com/office/drawing/2014/main" id="{771C5E0F-4050-E7AF-54F9-F010CC5877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29614" y="2994983"/>
            <a:ext cx="274320" cy="274320"/>
          </a:xfrm>
          <a:prstGeom prst="rect">
            <a:avLst/>
          </a:prstGeom>
        </p:spPr>
      </p:pic>
      <p:pic>
        <p:nvPicPr>
          <p:cNvPr id="20" name="Graphic 19" descr="Rocket with solid fill">
            <a:extLst>
              <a:ext uri="{FF2B5EF4-FFF2-40B4-BE49-F238E27FC236}">
                <a16:creationId xmlns:a16="http://schemas.microsoft.com/office/drawing/2014/main" id="{F5349D61-ECC7-C844-988F-3D7473226D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9614" y="3363838"/>
            <a:ext cx="274320" cy="274320"/>
          </a:xfrm>
          <a:prstGeom prst="rect">
            <a:avLst/>
          </a:prstGeom>
        </p:spPr>
      </p:pic>
      <p:pic>
        <p:nvPicPr>
          <p:cNvPr id="21" name="Graphic 20" descr="Body builder with solid fill">
            <a:extLst>
              <a:ext uri="{FF2B5EF4-FFF2-40B4-BE49-F238E27FC236}">
                <a16:creationId xmlns:a16="http://schemas.microsoft.com/office/drawing/2014/main" id="{5A20C519-47CF-1CCA-448C-A536C2811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29614" y="3709178"/>
            <a:ext cx="274320" cy="27432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AFEA2BA-733B-BAFB-8E87-79C20C87DE42}"/>
              </a:ext>
            </a:extLst>
          </p:cNvPr>
          <p:cNvSpPr txBox="1"/>
          <p:nvPr/>
        </p:nvSpPr>
        <p:spPr>
          <a:xfrm>
            <a:off x="628650" y="4299356"/>
            <a:ext cx="7807427" cy="6555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 noProof="0" dirty="0">
                <a:ea typeface="Calibri"/>
              </a:rPr>
              <a:t>Other useful R packages</a:t>
            </a:r>
            <a:r>
              <a:rPr lang="en-US" noProof="0" dirty="0">
                <a:ea typeface="Calibri"/>
              </a:rPr>
              <a:t>/shiny apps</a:t>
            </a:r>
            <a:r>
              <a:rPr lang="en-US" sz="1800" noProof="0" dirty="0">
                <a:ea typeface="Calibri"/>
              </a:rPr>
              <a:t>: </a:t>
            </a:r>
            <a:r>
              <a:rPr lang="en-US" sz="1800" noProof="0" dirty="0" err="1">
                <a:ea typeface="Calibri"/>
              </a:rPr>
              <a:t>gMCPLite</a:t>
            </a:r>
            <a:r>
              <a:rPr lang="en-US" sz="1800" noProof="0" dirty="0">
                <a:ea typeface="Calibri"/>
              </a:rPr>
              <a:t>, </a:t>
            </a:r>
            <a:r>
              <a:rPr lang="en-US" sz="1800" noProof="0" dirty="0" err="1">
                <a:ea typeface="Calibri"/>
              </a:rPr>
              <a:t>lrstat</a:t>
            </a:r>
            <a:r>
              <a:rPr lang="en-US" sz="1800" noProof="0" dirty="0">
                <a:ea typeface="Calibri"/>
              </a:rPr>
              <a:t>, etc.</a:t>
            </a:r>
            <a:endParaRPr lang="en-US" noProof="0" dirty="0">
              <a:ea typeface="Calibri"/>
            </a:endParaRPr>
          </a:p>
          <a:p>
            <a:r>
              <a:rPr lang="en-US" noProof="0" dirty="0">
                <a:ea typeface="Calibri"/>
              </a:rPr>
              <a:t>Shiny app based on </a:t>
            </a:r>
            <a:r>
              <a:rPr lang="en-US" noProof="0" dirty="0" err="1">
                <a:ea typeface="Calibri"/>
              </a:rPr>
              <a:t>gMCP</a:t>
            </a:r>
            <a:r>
              <a:rPr lang="en-US" noProof="0" dirty="0">
                <a:ea typeface="Calibri"/>
              </a:rPr>
              <a:t>: </a:t>
            </a:r>
            <a:r>
              <a:rPr lang="en-US" noProof="0" dirty="0">
                <a:ea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https://mrc-bsu.shinyapps.io/20MRC_BSU_GraphApp/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25621-35D1-4684-C0AF-F74E8E5C6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3594570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/>
      <p:bldP spid="2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Graphical approaches using R</a:t>
            </a:r>
            <a:br>
              <a:rPr lang="en-US" noProof="0" dirty="0"/>
            </a:br>
            <a:r>
              <a:rPr lang="en-US" sz="2200" i="1" noProof="0" dirty="0" err="1"/>
              <a:t>graphicalMCP</a:t>
            </a:r>
            <a:r>
              <a:rPr lang="en-US" sz="2200" i="1" noProof="0" dirty="0"/>
              <a:t>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5345B-CA64-E007-9C18-3F1E37CEF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6031582" cy="3263504"/>
          </a:xfrm>
        </p:spPr>
        <p:txBody>
          <a:bodyPr>
            <a:normAutofit lnSpcReduction="10000"/>
          </a:bodyPr>
          <a:lstStyle/>
          <a:p>
            <a:pPr marL="285750" lvl="1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Open-source package on CRAN at </a:t>
            </a:r>
            <a:r>
              <a:rPr lang="en-US" noProof="0" dirty="0">
                <a:hlinkClick r:id="rId3"/>
              </a:rPr>
              <a:t>https://cran.r-project.org/web/packages/graphicalMCP/index.html</a:t>
            </a:r>
            <a:r>
              <a:rPr lang="en-US" noProof="0" dirty="0"/>
              <a:t> </a:t>
            </a:r>
          </a:p>
          <a:p>
            <a:pPr marL="285750" lvl="1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 err="1"/>
              <a:t>Github</a:t>
            </a:r>
            <a:r>
              <a:rPr lang="en-US" noProof="0" dirty="0"/>
              <a:t> repository on </a:t>
            </a:r>
            <a:r>
              <a:rPr lang="en-US" noProof="0" dirty="0" err="1"/>
              <a:t>OpenPharma</a:t>
            </a:r>
            <a:r>
              <a:rPr lang="en-US" noProof="0" dirty="0"/>
              <a:t> </a:t>
            </a:r>
            <a:r>
              <a:rPr lang="en-US" noProof="0" dirty="0">
                <a:hlinkClick r:id="rId4"/>
              </a:rPr>
              <a:t>https://openpharma.github.io/graphicalMCP/</a:t>
            </a:r>
            <a:endParaRPr lang="en-US" noProof="0" dirty="0"/>
          </a:p>
          <a:p>
            <a:pPr marL="285750" lvl="1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Following good practice for open-source package development</a:t>
            </a:r>
          </a:p>
          <a:p>
            <a:pPr marL="628650" lvl="2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&gt;95% unit test coverage</a:t>
            </a:r>
          </a:p>
          <a:p>
            <a:pPr marL="285750" lvl="1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Validation documentation</a:t>
            </a:r>
          </a:p>
          <a:p>
            <a:pPr marL="628650" lvl="2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Internal consistency</a:t>
            </a:r>
          </a:p>
          <a:p>
            <a:pPr marL="628650" lvl="2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Comparisons with other packages</a:t>
            </a:r>
          </a:p>
          <a:p>
            <a:pPr marL="285750" lvl="1" indent="-285750">
              <a:lnSpc>
                <a:spcPct val="100000"/>
              </a:lnSpc>
              <a:spcBef>
                <a:spcPct val="20000"/>
              </a:spcBef>
              <a:buSzPct val="110000"/>
            </a:pPr>
            <a:r>
              <a:rPr lang="en-US" noProof="0" dirty="0"/>
              <a:t>Detailed documentation and vignettes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EF11C-AA5F-EA6B-116F-F6F8233A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84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5D05B9-9515-F344-ACF8-CD74C7897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0232" y="1273271"/>
            <a:ext cx="1919967" cy="222472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8F369-5190-E2B6-FBAA-DDB3DFD2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319536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GraphicalMCP package</a:t>
            </a:r>
            <a:br>
              <a:rPr lang="en-US" noProof="0" dirty="0"/>
            </a:br>
            <a:r>
              <a:rPr lang="en-US" sz="2200" i="1" noProof="0" dirty="0"/>
              <a:t>Structure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EF11C-AA5F-EA6B-116F-F6F8233A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85</a:t>
            </a:fld>
            <a:endParaRPr lang="en-US" noProof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B07D16-98B4-3DB0-3A2B-EB5180E0CB01}"/>
              </a:ext>
            </a:extLst>
          </p:cNvPr>
          <p:cNvSpPr/>
          <p:nvPr/>
        </p:nvSpPr>
        <p:spPr>
          <a:xfrm>
            <a:off x="2354187" y="1203598"/>
            <a:ext cx="1080120" cy="360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 Graph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488A50-F064-E595-BB17-6AA72AE25C2B}"/>
              </a:ext>
            </a:extLst>
          </p:cNvPr>
          <p:cNvSpPr/>
          <p:nvPr/>
        </p:nvSpPr>
        <p:spPr>
          <a:xfrm>
            <a:off x="2245338" y="1761566"/>
            <a:ext cx="1297818" cy="72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Shortcut algorithm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3208A0-F2FE-97A4-1FC1-BB6C6494B751}"/>
              </a:ext>
            </a:extLst>
          </p:cNvPr>
          <p:cNvSpPr/>
          <p:nvPr/>
        </p:nvSpPr>
        <p:spPr>
          <a:xfrm>
            <a:off x="684447" y="1855465"/>
            <a:ext cx="1080120" cy="532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Test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B3F179-E2DB-1F92-9DF4-67809097A70F}"/>
              </a:ext>
            </a:extLst>
          </p:cNvPr>
          <p:cNvSpPr/>
          <p:nvPr/>
        </p:nvSpPr>
        <p:spPr>
          <a:xfrm>
            <a:off x="3923928" y="1855465"/>
            <a:ext cx="1080120" cy="532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Power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A81CF1-A817-F997-2854-8E0AC3BEEFA8}"/>
              </a:ext>
            </a:extLst>
          </p:cNvPr>
          <p:cNvSpPr/>
          <p:nvPr/>
        </p:nvSpPr>
        <p:spPr>
          <a:xfrm>
            <a:off x="288402" y="4230321"/>
            <a:ext cx="1872208" cy="5736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Test results</a:t>
            </a:r>
          </a:p>
          <a:p>
            <a:pPr algn="ctr"/>
            <a:r>
              <a:rPr lang="en-US" sz="1600" noProof="0" dirty="0"/>
              <a:t>Step-wise decisions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0F8D1A-2117-AB7D-B08A-A3E3B3362FCB}"/>
              </a:ext>
            </a:extLst>
          </p:cNvPr>
          <p:cNvSpPr/>
          <p:nvPr/>
        </p:nvSpPr>
        <p:spPr>
          <a:xfrm>
            <a:off x="3733542" y="4156055"/>
            <a:ext cx="1439652" cy="360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Power results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FE61B4-3128-80ED-1F43-A317C6CC1699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894247" y="1563638"/>
            <a:ext cx="0" cy="1979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61A19F7-F666-F471-4C89-1453920F9CDC}"/>
              </a:ext>
            </a:extLst>
          </p:cNvPr>
          <p:cNvCxnSpPr>
            <a:stCxn id="10" idx="1"/>
            <a:endCxn id="13" idx="0"/>
          </p:cNvCxnSpPr>
          <p:nvPr/>
        </p:nvCxnSpPr>
        <p:spPr>
          <a:xfrm rot="10800000" flipV="1">
            <a:off x="1224507" y="1383617"/>
            <a:ext cx="1129680" cy="4718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905F187-7C29-4A2A-78E1-55018BCAE2C1}"/>
              </a:ext>
            </a:extLst>
          </p:cNvPr>
          <p:cNvCxnSpPr>
            <a:stCxn id="10" idx="3"/>
            <a:endCxn id="14" idx="0"/>
          </p:cNvCxnSpPr>
          <p:nvPr/>
        </p:nvCxnSpPr>
        <p:spPr>
          <a:xfrm>
            <a:off x="3434307" y="1383618"/>
            <a:ext cx="1029681" cy="4718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2CA6BA7-A121-7819-EF02-39F931A85936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1224506" y="2387747"/>
            <a:ext cx="1" cy="18425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BAC73C-D97A-223B-0DE2-FF2FA92B9671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H="1">
            <a:off x="4453368" y="2387747"/>
            <a:ext cx="10620" cy="17683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4A193D-78D1-BD2E-6E8E-204A0B6A28FB}"/>
              </a:ext>
            </a:extLst>
          </p:cNvPr>
          <p:cNvCxnSpPr>
            <a:cxnSpLocks/>
            <a:stCxn id="11" idx="1"/>
            <a:endCxn id="13" idx="3"/>
          </p:cNvCxnSpPr>
          <p:nvPr/>
        </p:nvCxnSpPr>
        <p:spPr>
          <a:xfrm flipH="1">
            <a:off x="1764567" y="2121606"/>
            <a:ext cx="480771" cy="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C066647-55AA-41AF-599D-6CA62DB3678D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3543156" y="2121606"/>
            <a:ext cx="380772" cy="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3DF56FC-F5AB-0999-AF56-F3339A1C2B3B}"/>
              </a:ext>
            </a:extLst>
          </p:cNvPr>
          <p:cNvSpPr/>
          <p:nvPr/>
        </p:nvSpPr>
        <p:spPr>
          <a:xfrm>
            <a:off x="5684902" y="1203598"/>
            <a:ext cx="1080120" cy="360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 Graph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61B5B9-D418-940C-FF24-68DDBA4C502E}"/>
              </a:ext>
            </a:extLst>
          </p:cNvPr>
          <p:cNvSpPr/>
          <p:nvPr/>
        </p:nvSpPr>
        <p:spPr>
          <a:xfrm>
            <a:off x="5578438" y="1763442"/>
            <a:ext cx="1297818" cy="72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Weighting strategy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BFD1A9-5D35-8809-7E97-7675A70588CD}"/>
              </a:ext>
            </a:extLst>
          </p:cNvPr>
          <p:cNvSpPr/>
          <p:nvPr/>
        </p:nvSpPr>
        <p:spPr>
          <a:xfrm>
            <a:off x="7385494" y="1854435"/>
            <a:ext cx="1080120" cy="532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Test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23D9F20-6E4B-9B24-DCD5-80715A4FCE4F}"/>
              </a:ext>
            </a:extLst>
          </p:cNvPr>
          <p:cNvSpPr/>
          <p:nvPr/>
        </p:nvSpPr>
        <p:spPr>
          <a:xfrm>
            <a:off x="6989450" y="4228193"/>
            <a:ext cx="1872208" cy="5758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Test results</a:t>
            </a:r>
          </a:p>
          <a:p>
            <a:pPr algn="ctr"/>
            <a:r>
              <a:rPr lang="en-US" sz="1600" noProof="0" dirty="0"/>
              <a:t>Closed tests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D0DD9A5-CCC4-3489-636F-F6ED8049260E}"/>
              </a:ext>
            </a:extLst>
          </p:cNvPr>
          <p:cNvCxnSpPr>
            <a:stCxn id="45" idx="2"/>
            <a:endCxn id="46" idx="0"/>
          </p:cNvCxnSpPr>
          <p:nvPr/>
        </p:nvCxnSpPr>
        <p:spPr>
          <a:xfrm>
            <a:off x="6224962" y="1563638"/>
            <a:ext cx="2385" cy="1998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7B84A769-CEE0-4185-F4AE-90D3B9F3E2E7}"/>
              </a:ext>
            </a:extLst>
          </p:cNvPr>
          <p:cNvCxnSpPr>
            <a:cxnSpLocks/>
            <a:stCxn id="45" idx="3"/>
            <a:endCxn id="47" idx="0"/>
          </p:cNvCxnSpPr>
          <p:nvPr/>
        </p:nvCxnSpPr>
        <p:spPr>
          <a:xfrm>
            <a:off x="6765022" y="1383618"/>
            <a:ext cx="1160532" cy="47081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E5A32A0-703F-3D14-EB3B-3F2D665D2CE4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7925554" y="2386717"/>
            <a:ext cx="0" cy="18414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0687E5C1-ACC3-B3CA-7689-C46D5B5F1C9B}"/>
              </a:ext>
            </a:extLst>
          </p:cNvPr>
          <p:cNvCxnSpPr>
            <a:stCxn id="45" idx="1"/>
            <a:endCxn id="14" idx="0"/>
          </p:cNvCxnSpPr>
          <p:nvPr/>
        </p:nvCxnSpPr>
        <p:spPr>
          <a:xfrm rot="10800000" flipV="1">
            <a:off x="4463988" y="1383617"/>
            <a:ext cx="1220914" cy="4718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6B9AA0F-8F93-32FC-8097-669DD94370D3}"/>
              </a:ext>
            </a:extLst>
          </p:cNvPr>
          <p:cNvCxnSpPr>
            <a:cxnSpLocks/>
            <a:stCxn id="46" idx="1"/>
            <a:endCxn id="14" idx="3"/>
          </p:cNvCxnSpPr>
          <p:nvPr/>
        </p:nvCxnSpPr>
        <p:spPr>
          <a:xfrm flipH="1" flipV="1">
            <a:off x="5004048" y="2121606"/>
            <a:ext cx="574390" cy="1876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22E9A68-910A-EBAC-ED4F-870CBF528496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6876256" y="2120576"/>
            <a:ext cx="509238" cy="2906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FF654EC-56E9-C7DF-096C-E1E1016F190C}"/>
              </a:ext>
            </a:extLst>
          </p:cNvPr>
          <p:cNvSpPr/>
          <p:nvPr/>
        </p:nvSpPr>
        <p:spPr>
          <a:xfrm>
            <a:off x="5578438" y="2752299"/>
            <a:ext cx="1297818" cy="1239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Bonferroni</a:t>
            </a:r>
          </a:p>
          <a:p>
            <a:pPr algn="ctr"/>
            <a:r>
              <a:rPr lang="en-US" sz="1600" noProof="0" dirty="0"/>
              <a:t>Hochberg</a:t>
            </a:r>
          </a:p>
          <a:p>
            <a:pPr algn="ctr"/>
            <a:r>
              <a:rPr lang="en-US" sz="1600" noProof="0" dirty="0"/>
              <a:t>Parametric</a:t>
            </a:r>
          </a:p>
          <a:p>
            <a:pPr algn="ctr"/>
            <a:r>
              <a:rPr lang="en-US" sz="1600" noProof="0" dirty="0"/>
              <a:t>Simes</a:t>
            </a:r>
          </a:p>
          <a:p>
            <a:pPr algn="ctr"/>
            <a:r>
              <a:rPr lang="en-US" sz="1600" noProof="0" dirty="0"/>
              <a:t>Etc.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0A5F9E2-78CA-5162-45CF-A0B1960B4EC0}"/>
              </a:ext>
            </a:extLst>
          </p:cNvPr>
          <p:cNvSpPr/>
          <p:nvPr/>
        </p:nvSpPr>
        <p:spPr>
          <a:xfrm>
            <a:off x="7144968" y="3021471"/>
            <a:ext cx="1872205" cy="6966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Mixed types of tests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A487753-E0A3-45BB-D834-73228B314F07}"/>
              </a:ext>
            </a:extLst>
          </p:cNvPr>
          <p:cNvCxnSpPr>
            <a:cxnSpLocks/>
            <a:stCxn id="80" idx="1"/>
          </p:cNvCxnSpPr>
          <p:nvPr/>
        </p:nvCxnSpPr>
        <p:spPr>
          <a:xfrm flipH="1">
            <a:off x="4463988" y="3371847"/>
            <a:ext cx="1114450" cy="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763897C-FFDF-9C5F-7312-99A5C6E01FF6}"/>
              </a:ext>
            </a:extLst>
          </p:cNvPr>
          <p:cNvCxnSpPr>
            <a:cxnSpLocks/>
            <a:stCxn id="80" idx="3"/>
            <a:endCxn id="83" idx="2"/>
          </p:cNvCxnSpPr>
          <p:nvPr/>
        </p:nvCxnSpPr>
        <p:spPr>
          <a:xfrm flipV="1">
            <a:off x="6876256" y="3369805"/>
            <a:ext cx="268712" cy="2042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25ADF32E-D616-EBE9-60F4-F887FC832F76}"/>
              </a:ext>
            </a:extLst>
          </p:cNvPr>
          <p:cNvSpPr/>
          <p:nvPr/>
        </p:nvSpPr>
        <p:spPr>
          <a:xfrm>
            <a:off x="380187" y="3082967"/>
            <a:ext cx="1691305" cy="5736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Bonferroni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B01C9B8-83CC-AEEC-7B69-6DE90C5EB015}"/>
              </a:ext>
            </a:extLst>
          </p:cNvPr>
          <p:cNvCxnSpPr>
            <a:cxnSpLocks/>
            <a:stCxn id="92" idx="6"/>
          </p:cNvCxnSpPr>
          <p:nvPr/>
        </p:nvCxnSpPr>
        <p:spPr>
          <a:xfrm flipV="1">
            <a:off x="2071492" y="3369805"/>
            <a:ext cx="2381876" cy="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AA93B-49F5-DA3F-78ED-95D31837A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287825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4" grpId="2" animBg="1"/>
      <p:bldP spid="15" grpId="0" animBg="1"/>
      <p:bldP spid="15" grpId="1" animBg="1"/>
      <p:bldP spid="16" grpId="0" animBg="1"/>
      <p:bldP spid="16" grpId="1" animBg="1"/>
      <p:bldP spid="16" grpId="2" animBg="1"/>
      <p:bldP spid="45" grpId="0" animBg="1"/>
      <p:bldP spid="46" grpId="0" animBg="1"/>
      <p:bldP spid="47" grpId="0" animBg="1"/>
      <p:bldP spid="48" grpId="0" animBg="1"/>
      <p:bldP spid="80" grpId="0" animBg="1"/>
      <p:bldP spid="83" grpId="0" animBg="1"/>
      <p:bldP spid="92" grpId="0" animBg="1"/>
      <p:bldP spid="92" grpId="1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GraphicalMCP package</a:t>
            </a:r>
            <a:br>
              <a:rPr lang="en-US" noProof="0" dirty="0"/>
            </a:br>
            <a:r>
              <a:rPr lang="en-US" sz="2200" i="1" noProof="0" dirty="0"/>
              <a:t>Function reference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EF11C-AA5F-EA6B-116F-F6F8233A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86</a:t>
            </a:fld>
            <a:endParaRPr lang="en-US" noProof="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B5D6EC3-A226-CF52-F192-E853D0C88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504798"/>
              </p:ext>
            </p:extLst>
          </p:nvPr>
        </p:nvGraphicFramePr>
        <p:xfrm>
          <a:off x="228600" y="1196023"/>
          <a:ext cx="8686800" cy="35712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759224">
                  <a:extLst>
                    <a:ext uri="{9D8B030D-6E8A-4147-A177-3AD203B41FA5}">
                      <a16:colId xmlns:a16="http://schemas.microsoft.com/office/drawing/2014/main" val="704366715"/>
                    </a:ext>
                  </a:extLst>
                </a:gridCol>
                <a:gridCol w="3458696">
                  <a:extLst>
                    <a:ext uri="{9D8B030D-6E8A-4147-A177-3AD203B41FA5}">
                      <a16:colId xmlns:a16="http://schemas.microsoft.com/office/drawing/2014/main" val="4029918686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342118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latin typeface="+mn-lt"/>
                        </a:rPr>
                        <a:t>Graph operations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latin typeface="+mn-lt"/>
                        </a:rPr>
                        <a:t>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latin typeface="+mn-lt"/>
                        </a:rPr>
                        <a:t>Power simulation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04184851"/>
                  </a:ext>
                </a:extLst>
              </a:tr>
              <a:tr h="2595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graph_create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Create an initial graph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graph_update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Update an initial graphical after deleting hypotheses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as_initial_graph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 other graph classes (e.g., </a:t>
                      </a:r>
                      <a:r>
                        <a:rPr lang="en-US" sz="1400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gMCP</a:t>
                      </a: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to  </a:t>
                      </a:r>
                      <a:r>
                        <a:rPr lang="en-US" sz="1400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graphicalMCP</a:t>
                      </a:r>
                      <a:endParaRPr lang="en-US" sz="1400" b="0" i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graph_generate_weights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Generate the weighting strategy based on a graph</a:t>
                      </a:r>
                    </a:p>
                  </a:txBody>
                  <a:tcPr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graph_test_shortcut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Shortcut (sequentially rejective) test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graph_test_closure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Closed test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adjust_p</a:t>
                      </a:r>
                      <a:r>
                        <a:rPr lang="en-US" sz="1600" noProof="0" dirty="0">
                          <a:latin typeface="+mn-lt"/>
                        </a:rPr>
                        <a:t>_*()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Calculate adjusted p-values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adjust_weights</a:t>
                      </a:r>
                      <a:r>
                        <a:rPr lang="en-US" sz="1600" noProof="0" dirty="0">
                          <a:latin typeface="+mn-lt"/>
                        </a:rPr>
                        <a:t>_*()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noProof="0" dirty="0">
                          <a:latin typeface="+mn-lt"/>
                        </a:rPr>
                        <a:t>Calculate adjusted hypothesis weights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graph_rejection_orderings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alternative rejection sequences for shortcut tests</a:t>
                      </a:r>
                      <a:endParaRPr lang="en-US" sz="1400" noProof="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 err="1">
                          <a:latin typeface="+mn-lt"/>
                        </a:rPr>
                        <a:t>graph_calculate_power</a:t>
                      </a:r>
                      <a:r>
                        <a:rPr lang="en-US" sz="1600" noProof="0" dirty="0">
                          <a:latin typeface="+mn-lt"/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63158637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2D385E-57F5-9074-5048-1EAF1FE15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39803233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7975798" cy="3263504"/>
              </a:xfrm>
            </p:spPr>
            <p:txBody>
              <a:bodyPr>
                <a:normAutofit/>
              </a:bodyPr>
              <a:lstStyle/>
              <a:p>
                <a:pPr marL="228600" lvl="0" indent="-228600" defTabSz="914400">
                  <a:lnSpc>
                    <a:spcPct val="100000"/>
                  </a:lnSpc>
                  <a:spcBef>
                    <a:spcPct val="20000"/>
                  </a:spcBef>
                  <a:buSzPct val="100000"/>
                  <a:buFont typeface="Wingdings" charset="2"/>
                  <a:buChar char="§"/>
                  <a:tabLst>
                    <a:tab pos="3998913" algn="r"/>
                    <a:tab pos="8229600" algn="r"/>
                  </a:tabLst>
                </a:pPr>
                <a:r>
                  <a:rPr lang="en-US" sz="1800" noProof="0" dirty="0">
                    <a:solidFill>
                      <a:srgbClr val="000000"/>
                    </a:solidFill>
                  </a:rPr>
                  <a:t>Objective: To demonstrate that dose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solidFill>
                              <a:srgbClr val="5191D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solidFill>
                              <a:srgbClr val="5191D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800" i="1" noProof="0" smtClean="0">
                            <a:solidFill>
                              <a:srgbClr val="5191D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>
                    <a:solidFill>
                      <a:srgbClr val="5191DD">
                        <a:lumMod val="75000"/>
                      </a:srgbClr>
                    </a:solidFill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solidFill>
                              <a:srgbClr val="5191D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solidFill>
                              <a:srgbClr val="5191D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800" i="1" noProof="0" smtClean="0">
                            <a:solidFill>
                              <a:srgbClr val="5191DD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 smtClean="0">
                        <a:solidFill>
                          <a:srgbClr val="5191DD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noProof="0" dirty="0">
                    <a:solidFill>
                      <a:srgbClr val="000000"/>
                    </a:solidFill>
                  </a:rPr>
                  <a:t>of a new drug is better than control 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800" noProof="0" dirty="0">
                    <a:solidFill>
                      <a:srgbClr val="000000"/>
                    </a:solidFill>
                  </a:rPr>
                  <a:t> in COPD patients for two endpoints</a:t>
                </a:r>
              </a:p>
              <a:p>
                <a:pPr marL="457200" lvl="1" indent="-228600" defTabSz="914400">
                  <a:lnSpc>
                    <a:spcPct val="100000"/>
                  </a:lnSpc>
                  <a:spcBef>
                    <a:spcPct val="20000"/>
                  </a:spcBef>
                  <a:buSzPct val="100000"/>
                  <a:buFont typeface="Arial" pitchFamily="34" charset="0"/>
                  <a:buChar char="–"/>
                  <a:tabLst>
                    <a:tab pos="2419350" algn="l"/>
                  </a:tabLst>
                </a:pPr>
                <a:r>
                  <a:rPr lang="en-US" sz="1600" noProof="0" dirty="0">
                    <a:solidFill>
                      <a:srgbClr val="5191DD">
                        <a:lumMod val="75000"/>
                      </a:srgbClr>
                    </a:solidFill>
                  </a:rPr>
                  <a:t>Primary</a:t>
                </a:r>
                <a:r>
                  <a:rPr lang="en-US" sz="1600" noProof="0" dirty="0">
                    <a:solidFill>
                      <a:srgbClr val="000000"/>
                    </a:solidFill>
                  </a:rPr>
                  <a:t> endpoint: 	FEV1</a:t>
                </a:r>
              </a:p>
              <a:p>
                <a:pPr marL="457200" lvl="1" indent="-228600" defTabSz="914400">
                  <a:lnSpc>
                    <a:spcPct val="100000"/>
                  </a:lnSpc>
                  <a:spcBef>
                    <a:spcPct val="20000"/>
                  </a:spcBef>
                  <a:buSzPct val="100000"/>
                  <a:buFont typeface="Arial" pitchFamily="34" charset="0"/>
                  <a:buChar char="–"/>
                  <a:tabLst>
                    <a:tab pos="2419350" algn="l"/>
                  </a:tabLst>
                </a:pPr>
                <a:r>
                  <a:rPr lang="en-US" sz="1600" noProof="0" dirty="0">
                    <a:solidFill>
                      <a:srgbClr val="5191DD">
                        <a:lumMod val="75000"/>
                      </a:srgbClr>
                    </a:solidFill>
                  </a:rPr>
                  <a:t>Secondary</a:t>
                </a:r>
                <a:r>
                  <a:rPr lang="en-US" sz="1600" noProof="0" dirty="0">
                    <a:solidFill>
                      <a:srgbClr val="000000"/>
                    </a:solidFill>
                  </a:rPr>
                  <a:t> endpoint:	Time to exacerbation</a:t>
                </a:r>
              </a:p>
              <a:p>
                <a:pPr marL="228600" lvl="0" indent="-228600" defTabSz="914400">
                  <a:lnSpc>
                    <a:spcPct val="100000"/>
                  </a:lnSpc>
                  <a:spcBef>
                    <a:spcPts val="900"/>
                  </a:spcBef>
                  <a:buSzPct val="100000"/>
                  <a:buFont typeface="Wingdings" charset="2"/>
                  <a:buChar char="§"/>
                  <a:tabLst>
                    <a:tab pos="3998913" algn="r"/>
                    <a:tab pos="8229600" algn="r"/>
                  </a:tabLst>
                </a:pPr>
                <a:r>
                  <a:rPr lang="en-US" sz="1800" noProof="0" dirty="0">
                    <a:solidFill>
                      <a:srgbClr val="000000"/>
                    </a:solidFill>
                  </a:rPr>
                  <a:t>There is a </a:t>
                </a:r>
                <a:r>
                  <a:rPr lang="en-US" sz="1800" noProof="0" dirty="0">
                    <a:solidFill>
                      <a:srgbClr val="5191DD">
                        <a:lumMod val="75000"/>
                      </a:srgbClr>
                    </a:solidFill>
                  </a:rPr>
                  <a:t>natural order </a:t>
                </a:r>
                <a:r>
                  <a:rPr lang="en-US" sz="1800" noProof="0" dirty="0">
                    <a:solidFill>
                      <a:srgbClr val="000000"/>
                    </a:solidFill>
                  </a:rPr>
                  <a:t>in that the primary endpoint is more important than the secondary endpoint </a:t>
                </a:r>
              </a:p>
              <a:p>
                <a:pPr marL="457200" lvl="1" indent="-228600" defTabSz="914400">
                  <a:lnSpc>
                    <a:spcPct val="100000"/>
                  </a:lnSpc>
                  <a:spcBef>
                    <a:spcPts val="300"/>
                  </a:spcBef>
                  <a:buSzPct val="100000"/>
                  <a:buFont typeface="Arial" pitchFamily="34" charset="0"/>
                  <a:buChar char="–"/>
                </a:pPr>
                <a:r>
                  <a:rPr lang="en-US" sz="1600" noProof="0" dirty="0">
                    <a:solidFill>
                      <a:srgbClr val="000000"/>
                    </a:solidFill>
                  </a:rPr>
                  <a:t>Thus, we would like to test the primary null hypothesis first; only if that is rejected, we test the secondary hypothesis</a:t>
                </a:r>
              </a:p>
              <a:p>
                <a:pPr marL="228600" lvl="0" indent="-228600" defTabSz="914400">
                  <a:lnSpc>
                    <a:spcPct val="100000"/>
                  </a:lnSpc>
                  <a:spcBef>
                    <a:spcPts val="900"/>
                  </a:spcBef>
                  <a:buSzPct val="100000"/>
                  <a:buFont typeface="Wingdings" charset="2"/>
                  <a:buChar char="§"/>
                  <a:tabLst>
                    <a:tab pos="3998913" algn="r"/>
                    <a:tab pos="8229600" algn="r"/>
                  </a:tabLst>
                </a:pPr>
                <a:r>
                  <a:rPr lang="en-US" sz="1800" noProof="0" dirty="0">
                    <a:solidFill>
                      <a:srgbClr val="000000"/>
                    </a:solidFill>
                  </a:rPr>
                  <a:t>Both </a:t>
                </a:r>
                <a:r>
                  <a:rPr lang="en-US" sz="1800" noProof="0" dirty="0">
                    <a:solidFill>
                      <a:srgbClr val="5191DD">
                        <a:lumMod val="75000"/>
                      </a:srgbClr>
                    </a:solidFill>
                  </a:rPr>
                  <a:t>doses are equally important</a:t>
                </a:r>
              </a:p>
              <a:p>
                <a:pPr marL="457200" lvl="1" indent="-228600" defTabSz="914400">
                  <a:lnSpc>
                    <a:spcPct val="100000"/>
                  </a:lnSpc>
                  <a:spcBef>
                    <a:spcPts val="300"/>
                  </a:spcBef>
                  <a:buSzPct val="100000"/>
                  <a:buFont typeface="Arial" pitchFamily="34" charset="0"/>
                  <a:buChar char="–"/>
                </a:pPr>
                <a:r>
                  <a:rPr lang="en-US" sz="1600" noProof="0" dirty="0">
                    <a:solidFill>
                      <a:srgbClr val="000000"/>
                    </a:solidFill>
                  </a:rPr>
                  <a:t>Thus, both doses are simultaneously tested against the control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ECF94-E3B2-2027-9E29-D84B307B1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7975798" cy="3263504"/>
              </a:xfrm>
              <a:blipFill>
                <a:blip r:embed="rId2"/>
                <a:stretch>
                  <a:fillRect l="-459" t="-1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87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70D6B-EF81-32FB-120E-41014C4B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329975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Create an initial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88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294477"/>
            <a:ext cx="5354491" cy="32470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hypotheses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transitions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rbind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</a:t>
            </a:r>
            <a:endParaRPr lang="en-US" sz="1600" noProof="0" dirty="0">
              <a:solidFill>
                <a:srgbClr val="003B4F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hyp_names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20794D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"H1"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20794D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"H2"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20794D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"H3"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20794D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"H4"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graph_create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hypotheses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transitions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hyp_names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endParaRPr lang="en-US" sz="1600" noProof="0" dirty="0">
              <a:solidFill>
                <a:srgbClr val="5E5E5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vertex.size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30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r>
              <a:rPr lang="en-US" sz="1600" noProof="0" dirty="0">
                <a:solidFill>
                  <a:srgbClr val="54565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C1D356-7124-2471-DA86-5624A31E1F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2108" y="1296556"/>
            <a:ext cx="2834640" cy="259509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C50903-794D-05CA-A892-407E9CD45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283539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Update the initial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89</a:t>
            </a:fld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F6496E-F4A7-2447-C566-FA9B6D18D8E5}"/>
              </a:ext>
            </a:extLst>
          </p:cNvPr>
          <p:cNvSpPr txBox="1"/>
          <p:nvPr/>
        </p:nvSpPr>
        <p:spPr>
          <a:xfrm>
            <a:off x="447615" y="2541562"/>
            <a:ext cx="5420529" cy="984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updated_g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</a:t>
            </a: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/>
              </a:rPr>
              <a:t>graph_update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delete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3"/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8F5902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F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8F5902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8F5902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F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8F5902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F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updated_g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vertex.size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30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r>
              <a:rPr lang="en-US" sz="1600" noProof="0" dirty="0">
                <a:solidFill>
                  <a:srgbClr val="54565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522B80-54FC-F84E-A3A6-8CA2864C55D3}"/>
                  </a:ext>
                </a:extLst>
              </p:cNvPr>
              <p:cNvSpPr txBox="1"/>
              <p:nvPr/>
            </p:nvSpPr>
            <p:spPr>
              <a:xfrm>
                <a:off x="447615" y="1290807"/>
                <a:ext cx="7257519" cy="697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>
                    <a:ea typeface="黑体"/>
                  </a:rPr>
                  <a:t> is rejected</a:t>
                </a:r>
              </a:p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Obtain an updated graph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>
                    <a:ea typeface="黑体"/>
                  </a:rPr>
                  <a:t> removed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522B80-54FC-F84E-A3A6-8CA2864C5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15" y="1290807"/>
                <a:ext cx="7257519" cy="697627"/>
              </a:xfrm>
              <a:prstGeom prst="rect">
                <a:avLst/>
              </a:prstGeom>
              <a:blipFill>
                <a:blip r:embed="rId5"/>
                <a:stretch>
                  <a:fillRect l="-504" t="-526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EDA7154-85C6-D84C-2FA3-C9F00AD71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421" y="1290807"/>
            <a:ext cx="2834640" cy="2600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9FA5F-FF5F-A15A-3D8E-3DCBFB7FC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370421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Perform testing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90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E92B4E-A0D6-BF73-ED5A-5C3896852F50}"/>
              </a:ext>
            </a:extLst>
          </p:cNvPr>
          <p:cNvSpPr txBox="1"/>
          <p:nvPr/>
        </p:nvSpPr>
        <p:spPr>
          <a:xfrm>
            <a:off x="406877" y="2269717"/>
            <a:ext cx="8269579" cy="26007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p_value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2"/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0.018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0.01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0.105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0.006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test_results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 </a:t>
            </a: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3"/>
              </a:rPr>
              <a:t>graph_test_shortcut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p =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p_value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alpha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0.025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test_results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outputs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rejected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H1      H2      H3        H4</a:t>
            </a: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TRUE   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TRUE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FALSE     TRUE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test_results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outputs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adjusted_p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H1      H2     H3      H4</a:t>
            </a: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0.024 0.020 0.105 0.024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/>
              <p:nvPr/>
            </p:nvSpPr>
            <p:spPr>
              <a:xfrm>
                <a:off x="395536" y="1275606"/>
                <a:ext cx="7257519" cy="10259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Assume p-values obtained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  <a:ea typeface="黑体"/>
                      </a:rPr>
                      <m:t>−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endParaRPr lang="en-US" noProof="0" dirty="0">
                  <a:ea typeface="黑体"/>
                </a:endParaRPr>
              </a:p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Perform the shortcut procedure at one-sided significance level 0.025</a:t>
                </a:r>
              </a:p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>
                    <a:ea typeface="黑体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noProof="0" dirty="0">
                    <a:ea typeface="黑体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600" noProof="0" dirty="0">
                    <a:ea typeface="黑体"/>
                  </a:rPr>
                  <a:t> are rejected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75606"/>
                <a:ext cx="7257519" cy="1025922"/>
              </a:xfrm>
              <a:prstGeom prst="rect">
                <a:avLst/>
              </a:prstGeom>
              <a:blipFill>
                <a:blip r:embed="rId5"/>
                <a:stretch>
                  <a:fillRect l="-588" t="-2959" b="-5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3DF5E9A-A0F0-3C66-8FD9-4B6E176E0F71}"/>
              </a:ext>
            </a:extLst>
          </p:cNvPr>
          <p:cNvSpPr txBox="1"/>
          <p:nvPr/>
        </p:nvSpPr>
        <p:spPr>
          <a:xfrm>
            <a:off x="4818856" y="3498562"/>
            <a:ext cx="205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ea typeface="黑体"/>
              </a:rPr>
              <a:t>Rejection decisions</a:t>
            </a:r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62932-D333-B175-6B3D-B9177F5E51C8}"/>
              </a:ext>
            </a:extLst>
          </p:cNvPr>
          <p:cNvSpPr txBox="1"/>
          <p:nvPr/>
        </p:nvSpPr>
        <p:spPr>
          <a:xfrm>
            <a:off x="4355976" y="4492673"/>
            <a:ext cx="1872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ea typeface="黑体"/>
              </a:rPr>
              <a:t>Adjusted p-values</a:t>
            </a:r>
            <a:endParaRPr lang="en-US" noProof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BBDCE4-7196-9644-7166-4701ED72B5A7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427984" y="3683228"/>
            <a:ext cx="3908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375F5A-2C05-DE64-AC9A-77757939F07D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707904" y="4677339"/>
            <a:ext cx="6480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F3441-BF4E-3163-0F7F-883A1332E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203286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  <p:bldP spid="6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Stepwise decisions using </a:t>
            </a:r>
            <a:r>
              <a:rPr lang="en-US" sz="2200" i="1" noProof="0" dirty="0" err="1"/>
              <a:t>test_values</a:t>
            </a:r>
            <a:endParaRPr lang="en-US" sz="2200" i="1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91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/>
              <p:nvPr/>
            </p:nvSpPr>
            <p:spPr>
              <a:xfrm>
                <a:off x="395536" y="1131590"/>
                <a:ext cx="72575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>
                    <a:ea typeface="黑体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>
                    <a:ea typeface="黑体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>
                    <a:ea typeface="黑体"/>
                  </a:rPr>
                  <a:t> are rejected?</a:t>
                </a:r>
                <a:endParaRPr lang="en-US" sz="1600" noProof="0" dirty="0">
                  <a:ea typeface="黑体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131590"/>
                <a:ext cx="7257519" cy="369332"/>
              </a:xfrm>
              <a:prstGeom prst="rect">
                <a:avLst/>
              </a:prstGeom>
              <a:blipFill>
                <a:blip r:embed="rId2"/>
                <a:stretch>
                  <a:fillRect l="-58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CD5FC2A-F33E-7D5A-E5C5-432367C6242F}"/>
              </a:ext>
            </a:extLst>
          </p:cNvPr>
          <p:cNvSpPr txBox="1"/>
          <p:nvPr/>
        </p:nvSpPr>
        <p:spPr>
          <a:xfrm>
            <a:off x="395536" y="1624860"/>
            <a:ext cx="8568952" cy="2523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test_results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3"/>
              </a:rPr>
              <a:t>graph_test_shortcut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p =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p_value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alpha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0.025</a:t>
            </a:r>
            <a:r>
              <a:rPr lang="en-US" sz="1600" noProof="0" dirty="0"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solidFill>
                  <a:srgbClr val="003B4F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test_values</a:t>
            </a:r>
            <a:r>
              <a:rPr lang="en-US" sz="1600" noProof="0" dirty="0">
                <a:solidFill>
                  <a:srgbClr val="003B4F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8F5902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test_results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test_values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results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Step Hypothesis p   &lt;=  Weight * Alpha 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Inequality_holds</a:t>
            </a:r>
            <a:endParaRPr lang="en-US" sz="1600" noProof="0" dirty="0">
              <a:solidFill>
                <a:srgbClr val="003B4F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1      H2     0.010      0.50    0.025 TRUE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endParaRPr lang="en-US" sz="1600" noProof="0" dirty="0">
              <a:solidFill>
                <a:srgbClr val="5E5E5E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2      H1     0.018      0.75    0.025 TRUE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endParaRPr lang="en-US" sz="1600" noProof="0" dirty="0">
              <a:solidFill>
                <a:srgbClr val="5E5E5E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3      H4     0.006      0.50    0.025 TRUE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endParaRPr lang="en-US" sz="1600" noProof="0" dirty="0">
              <a:solidFill>
                <a:srgbClr val="5E5E5E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4      H3     0.105      1.00    0.025 FALSE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4B742B-281B-1355-CAA8-A8CBB8EF1A63}"/>
                  </a:ext>
                </a:extLst>
              </p:cNvPr>
              <p:cNvSpPr txBox="1"/>
              <p:nvPr/>
            </p:nvSpPr>
            <p:spPr>
              <a:xfrm>
                <a:off x="6372200" y="2787774"/>
                <a:ext cx="2283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 rejected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4B742B-281B-1355-CAA8-A8CBB8EF1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2787774"/>
                <a:ext cx="2283786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A3E0A4-EC47-1C0C-44B9-8088AD8B1768}"/>
                  </a:ext>
                </a:extLst>
              </p:cNvPr>
              <p:cNvSpPr txBox="1"/>
              <p:nvPr/>
            </p:nvSpPr>
            <p:spPr>
              <a:xfrm>
                <a:off x="6372200" y="3087659"/>
                <a:ext cx="2283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rejected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A3E0A4-EC47-1C0C-44B9-8088AD8B1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3087659"/>
                <a:ext cx="2283786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FF5921-B1D2-19C0-807A-284D98CA135A}"/>
                  </a:ext>
                </a:extLst>
              </p:cNvPr>
              <p:cNvSpPr txBox="1"/>
              <p:nvPr/>
            </p:nvSpPr>
            <p:spPr>
              <a:xfrm>
                <a:off x="6372200" y="3406409"/>
                <a:ext cx="2283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/>
                  <a:t> rejected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FF5921-B1D2-19C0-807A-284D98CA1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3406409"/>
                <a:ext cx="2283786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1134BC-3225-3928-CEEF-131DC291371F}"/>
                  </a:ext>
                </a:extLst>
              </p:cNvPr>
              <p:cNvSpPr txBox="1"/>
              <p:nvPr/>
            </p:nvSpPr>
            <p:spPr>
              <a:xfrm>
                <a:off x="6372200" y="3719282"/>
                <a:ext cx="2283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noProof="0" dirty="0"/>
                  <a:t> not rejected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1134BC-3225-3928-CEEF-131DC2913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3719282"/>
                <a:ext cx="2283786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8819F-A2C1-33DA-84C8-F8F7C2F3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218320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/>
      <p:bldP spid="6" grpId="0"/>
      <p:bldP spid="7" grpId="0"/>
      <p:bldP spid="8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Alternative rejection sequences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92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/>
              <p:nvPr/>
            </p:nvSpPr>
            <p:spPr>
              <a:xfrm>
                <a:off x="395536" y="1131590"/>
                <a:ext cx="8451264" cy="9951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The default sequence of rejections is </a:t>
                </a:r>
                <a:r>
                  <a:rPr lang="en-US" noProof="0" dirty="0">
                    <a:solidFill>
                      <a:schemeClr val="accent1"/>
                    </a:solidFill>
                    <a:ea typeface="黑体"/>
                  </a:rPr>
                  <a:t>from the smallest adjusted p-value to the largest</a:t>
                </a:r>
              </a:p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There may be other possible rejection sequences after rejecting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</m:oMath>
                </a14:m>
                <a:endParaRPr lang="en-US" noProof="0" dirty="0">
                  <a:ea typeface="黑体"/>
                </a:endParaRPr>
              </a:p>
              <a:p>
                <a:pPr marL="742950" lvl="1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  <a:ea typeface="黑体"/>
                          </a:rPr>
                          <m:t>𝑝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  <a:ea typeface="黑体"/>
                      </a:rPr>
                      <m:t>&lt;0.75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  <a:ea typeface="黑体"/>
                      </a:rPr>
                      <m:t>𝛼</m:t>
                    </m:r>
                  </m:oMath>
                </a14:m>
                <a:r>
                  <a:rPr lang="en-US" sz="1600" noProof="0" dirty="0">
                    <a:ea typeface="黑体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  <a:ea typeface="黑体"/>
                          </a:rPr>
                          <m:t>𝑝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  <a:ea typeface="黑体"/>
                      </a:rPr>
                      <m:t>&lt;0.25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  <a:ea typeface="黑体"/>
                      </a:rPr>
                      <m:t>𝛼</m:t>
                    </m:r>
                  </m:oMath>
                </a14:m>
                <a:endParaRPr lang="en-US" sz="1600" noProof="0" dirty="0">
                  <a:ea typeface="黑体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131590"/>
                <a:ext cx="8451264" cy="995144"/>
              </a:xfrm>
              <a:prstGeom prst="rect">
                <a:avLst/>
              </a:prstGeom>
              <a:blipFill>
                <a:blip r:embed="rId3"/>
                <a:stretch>
                  <a:fillRect l="-505" t="-3681" r="-505" b="-7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6FDF763-F8EE-3A61-00FE-256009C2EE77}"/>
              </a:ext>
            </a:extLst>
          </p:cNvPr>
          <p:cNvSpPr txBox="1"/>
          <p:nvPr/>
        </p:nvSpPr>
        <p:spPr>
          <a:xfrm>
            <a:off x="467545" y="2173089"/>
            <a:ext cx="5112567" cy="28469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graph_rejection_orderings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test_results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)$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valid_orderings</a:t>
            </a:r>
            <a:endParaRPr lang="en-US" sz="1600" noProof="0" dirty="0">
              <a:solidFill>
                <a:srgbClr val="003B4F"/>
              </a:solidFill>
              <a:highlight>
                <a:srgbClr val="FFFF00"/>
              </a:highlight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[[1]]</a:t>
            </a:r>
            <a:endParaRPr lang="en-US" sz="1600" noProof="0" dirty="0">
              <a:solidFill>
                <a:srgbClr val="003B4F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H2 H1 H4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2   1    4 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[[2]]</a:t>
            </a:r>
            <a:endParaRPr lang="en-US" sz="1600" noProof="0" dirty="0">
              <a:solidFill>
                <a:srgbClr val="003B4F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H2 H4 H1 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2   4    1</a:t>
            </a:r>
            <a:r>
              <a:rPr lang="en-US" sz="1600" noProof="0" dirty="0">
                <a:solidFill>
                  <a:srgbClr val="54565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EB98D7-CF42-6927-FDE8-DF68A6311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160" y="2129311"/>
            <a:ext cx="2834640" cy="26003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C7701-1876-9096-5A17-1C10AF7BFBF5}"/>
                  </a:ext>
                </a:extLst>
              </p:cNvPr>
              <p:cNvSpPr txBox="1"/>
              <p:nvPr/>
            </p:nvSpPr>
            <p:spPr>
              <a:xfrm>
                <a:off x="2771800" y="3291830"/>
                <a:ext cx="17281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  <m:r>
                      <a:rPr lang="en-US" b="0" i="0" noProof="0" smtClean="0">
                        <a:latin typeface="Cambria Math" panose="02040503050406030204" pitchFamily="18" charset="0"/>
                        <a:ea typeface="黑体"/>
                      </a:rPr>
                      <m:t>→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  <m:r>
                      <a:rPr lang="en-US" sz="1800" b="0" i="1" noProof="0" smtClean="0">
                        <a:latin typeface="Cambria Math" panose="02040503050406030204" pitchFamily="18" charset="0"/>
                        <a:ea typeface="黑体"/>
                      </a:rPr>
                      <m:t>→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800" noProof="0" dirty="0">
                    <a:ea typeface="黑体"/>
                  </a:rPr>
                  <a:t> </a:t>
                </a:r>
                <a:endParaRPr lang="en-US" noProof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C7701-1876-9096-5A17-1C10AF7BF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3291830"/>
                <a:ext cx="172819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B67B42-00F3-321C-B45C-147ACDAC42EE}"/>
                  </a:ext>
                </a:extLst>
              </p:cNvPr>
              <p:cNvSpPr txBox="1"/>
              <p:nvPr/>
            </p:nvSpPr>
            <p:spPr>
              <a:xfrm>
                <a:off x="2771800" y="4582597"/>
                <a:ext cx="17281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2</m:t>
                        </m:r>
                      </m:sub>
                    </m:sSub>
                    <m:r>
                      <a:rPr lang="en-US" b="0" i="0" noProof="0" smtClean="0">
                        <a:latin typeface="Cambria Math" panose="02040503050406030204" pitchFamily="18" charset="0"/>
                        <a:ea typeface="黑体"/>
                      </a:rPr>
                      <m:t>→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  <m:r>
                      <a:rPr lang="en-US" sz="1800" b="0" i="1" noProof="0" smtClean="0">
                        <a:latin typeface="Cambria Math" panose="02040503050406030204" pitchFamily="18" charset="0"/>
                        <a:ea typeface="黑体"/>
                      </a:rPr>
                      <m:t>→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>
                    <a:ea typeface="黑体"/>
                  </a:rPr>
                  <a:t> </a:t>
                </a:r>
                <a:endParaRPr lang="en-US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B67B42-00F3-321C-B45C-147ACDAC4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4582597"/>
                <a:ext cx="172819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4784F-645A-8CC5-B214-685392ECB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93679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8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Perform power simulation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93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/>
              <p:nvPr/>
            </p:nvSpPr>
            <p:spPr>
              <a:xfrm>
                <a:off x="395536" y="1131590"/>
                <a:ext cx="8352928" cy="1912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Assume the marginal power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  <a:ea typeface="黑体"/>
                      </a:rPr>
                      <m:t>−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noProof="0" dirty="0">
                    <a:ea typeface="黑体"/>
                  </a:rPr>
                  <a:t> is 90%, 90%, 80%, and 80% </a:t>
                </a:r>
              </a:p>
              <a:p>
                <a:pPr marL="742950" lvl="1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sz="1600" noProof="0" dirty="0">
                    <a:solidFill>
                      <a:schemeClr val="accent1"/>
                    </a:solidFill>
                    <a:ea typeface="黑体"/>
                  </a:rPr>
                  <a:t>Marginal power</a:t>
                </a:r>
                <a:r>
                  <a:rPr lang="en-US" sz="1600" noProof="0" dirty="0">
                    <a:ea typeface="黑体"/>
                  </a:rPr>
                  <a:t>: power to reject a single hypothesis </a:t>
                </a:r>
                <a:r>
                  <a:rPr lang="en-US" sz="1600" noProof="0" dirty="0">
                    <a:solidFill>
                      <a:schemeClr val="accent1"/>
                    </a:solidFill>
                    <a:ea typeface="黑体"/>
                  </a:rPr>
                  <a:t>without multiplicity adjustment</a:t>
                </a:r>
              </a:p>
              <a:p>
                <a:pPr marL="742950" lvl="1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sz="1600" noProof="0" dirty="0">
                    <a:ea typeface="黑体"/>
                  </a:rPr>
                  <a:t>Often readily available from statistical software</a:t>
                </a:r>
              </a:p>
              <a:p>
                <a:pPr marL="285750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ea typeface="黑体"/>
                  </a:rPr>
                  <a:t>Assume all test statistics are independent of each other (for illustration)</a:t>
                </a:r>
              </a:p>
              <a:p>
                <a:pPr marL="742950" lvl="1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sz="1600" noProof="0" dirty="0">
                    <a:ea typeface="黑体"/>
                  </a:rPr>
                  <a:t>Local power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1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  <a:ea typeface="黑体"/>
                      </a:rPr>
                      <m:t>−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  <a:ea typeface="黑体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600" noProof="0" dirty="0">
                    <a:ea typeface="黑体"/>
                  </a:rPr>
                  <a:t> is 88%, 88%, 67%, 67%</a:t>
                </a:r>
              </a:p>
              <a:p>
                <a:pPr marL="742950" lvl="1" indent="-285750">
                  <a:spcBef>
                    <a:spcPts val="432"/>
                  </a:spcBef>
                  <a:buFont typeface="Arial" panose="020B0604020202020204" pitchFamily="34" charset="0"/>
                  <a:buChar char="•"/>
                </a:pPr>
                <a:r>
                  <a:rPr lang="en-US" sz="1600" noProof="0" dirty="0">
                    <a:solidFill>
                      <a:schemeClr val="accent1"/>
                    </a:solidFill>
                    <a:ea typeface="黑体"/>
                  </a:rPr>
                  <a:t>Local power</a:t>
                </a:r>
                <a:r>
                  <a:rPr lang="en-US" sz="1600" noProof="0" dirty="0">
                    <a:ea typeface="黑体"/>
                  </a:rPr>
                  <a:t>: power to reject a single hypothesis </a:t>
                </a:r>
                <a:r>
                  <a:rPr lang="en-US" sz="1600" noProof="0" dirty="0">
                    <a:solidFill>
                      <a:schemeClr val="accent1"/>
                    </a:solidFill>
                    <a:ea typeface="黑体"/>
                  </a:rPr>
                  <a:t>with multiplicity adjustment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9AC4D-4B3B-817D-E7B5-9D163203F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131590"/>
                <a:ext cx="8352928" cy="1912127"/>
              </a:xfrm>
              <a:prstGeom prst="rect">
                <a:avLst/>
              </a:prstGeom>
              <a:blipFill>
                <a:blip r:embed="rId2"/>
                <a:stretch>
                  <a:fillRect l="-511" t="-1917" b="-2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6FDF763-F8EE-3A61-00FE-256009C2EE77}"/>
              </a:ext>
            </a:extLst>
          </p:cNvPr>
          <p:cNvSpPr txBox="1"/>
          <p:nvPr/>
        </p:nvSpPr>
        <p:spPr>
          <a:xfrm>
            <a:off x="112643" y="2998569"/>
            <a:ext cx="7699717" cy="1877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3"/>
              </a:rPr>
              <a:t>set.seed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1234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endParaRPr lang="en-US" sz="1600" noProof="0" dirty="0">
              <a:solidFill>
                <a:srgbClr val="003B4F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power_results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&lt;-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 err="1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4"/>
              </a:rPr>
              <a:t>graph_calculate_power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sim_n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1e6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sim_corr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diag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4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</a:t>
            </a:r>
            <a:r>
              <a:rPr lang="en-US" sz="1600" noProof="0" dirty="0" err="1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power_marginal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=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  <a:r>
              <a:rPr lang="en-US" sz="1600" noProof="0" dirty="0">
                <a:solidFill>
                  <a:srgbClr val="4758AB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hlinkClick r:id="rId5"/>
              </a:rPr>
              <a:t>c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0.9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0.9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0.8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AD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0.8</a:t>
            </a: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power_results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</a:t>
            </a:r>
            <a:r>
              <a:rPr lang="en-US" sz="1600" noProof="0" dirty="0" err="1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power_local</a:t>
            </a:r>
            <a:r>
              <a:rPr lang="en-US" sz="1600" noProof="0" dirty="0">
                <a:solidFill>
                  <a:srgbClr val="003B4F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H1    H2     H3    H4 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sz="1600" noProof="0" dirty="0">
                <a:solidFill>
                  <a:srgbClr val="5E5E5E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&gt; 0.88  0.88  0.67  0.67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A1B46-2A6C-3B15-708C-84050E68E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99635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A2159-F367-53C6-25E4-B2EFCC554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78EAB-3595-A84D-B99B-BFFB29B9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Example 3 Revisited</a:t>
            </a:r>
            <a:br>
              <a:rPr lang="en-US" sz="2800" noProof="0" dirty="0"/>
            </a:br>
            <a:r>
              <a:rPr lang="en-US" sz="2200" i="1" noProof="0" dirty="0"/>
              <a:t>Customizable success objectives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F2CB3-989A-45AB-F2BB-07F5E6FA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94</a:t>
            </a:fld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723930-B601-ABAA-FEAD-CB2E0560357A}"/>
              </a:ext>
            </a:extLst>
          </p:cNvPr>
          <p:cNvSpPr txBox="1"/>
          <p:nvPr/>
        </p:nvSpPr>
        <p:spPr>
          <a:xfrm>
            <a:off x="395536" y="1131590"/>
            <a:ext cx="8352928" cy="16825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ea typeface="黑体"/>
              </a:rPr>
              <a:t>Default objectives for outputs</a:t>
            </a:r>
            <a:endParaRPr lang="en-US" noProof="0" dirty="0">
              <a:ea typeface="黑体"/>
              <a:cs typeface="Calibri"/>
            </a:endParaRPr>
          </a:p>
          <a:p>
            <a:pPr marL="742950" lvl="1" indent="-28575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  <a:ea typeface="黑体"/>
                <a:cs typeface="Calibri" panose="020F0502020204030204"/>
              </a:rPr>
              <a:t>Local power</a:t>
            </a:r>
          </a:p>
          <a:p>
            <a:pPr marL="742950" lvl="1" indent="-28575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  <a:ea typeface="黑体"/>
                <a:cs typeface="Calibri" panose="020F0502020204030204"/>
              </a:rPr>
              <a:t>Expected number of rejections</a:t>
            </a:r>
            <a:endParaRPr lang="en-US" noProof="0" dirty="0">
              <a:solidFill>
                <a:srgbClr val="000000"/>
              </a:solidFill>
              <a:ea typeface="黑体"/>
            </a:endParaRPr>
          </a:p>
          <a:p>
            <a:pPr marL="742950" lvl="1" indent="-28575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  <a:ea typeface="黑体"/>
                <a:cs typeface="Calibri"/>
              </a:rPr>
              <a:t>Disjunctive and conjunctive power</a:t>
            </a:r>
            <a:endParaRPr lang="en-US" noProof="0" dirty="0">
              <a:solidFill>
                <a:srgbClr val="000000"/>
              </a:solidFill>
              <a:ea typeface="黑体"/>
            </a:endParaRPr>
          </a:p>
          <a:p>
            <a:pPr marL="285750" indent="-28575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accent1"/>
                </a:solidFill>
                <a:ea typeface="黑体"/>
              </a:rPr>
              <a:t>User-defined success objectives</a:t>
            </a:r>
            <a:endParaRPr lang="en-US" noProof="0" dirty="0">
              <a:solidFill>
                <a:schemeClr val="accent1"/>
              </a:solidFill>
              <a:ea typeface="黑体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0F0A0-F8F1-0896-5A86-5FBCADED1526}"/>
              </a:ext>
            </a:extLst>
          </p:cNvPr>
          <p:cNvSpPr txBox="1"/>
          <p:nvPr/>
        </p:nvSpPr>
        <p:spPr>
          <a:xfrm>
            <a:off x="112643" y="2793058"/>
            <a:ext cx="8918671" cy="20467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noProof="0" dirty="0" err="1">
                <a:latin typeface="Courier New"/>
                <a:ea typeface="+mn-lt"/>
                <a:cs typeface="+mn-lt"/>
              </a:rPr>
              <a:t>success_fns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 &lt;- </a:t>
            </a:r>
            <a:r>
              <a:rPr lang="en-US" sz="1600" u="sng" noProof="0" dirty="0">
                <a:solidFill>
                  <a:srgbClr val="023760"/>
                </a:solidFill>
                <a:latin typeface="Courier New"/>
                <a:ea typeface="+mn-lt"/>
                <a:cs typeface="+mn-lt"/>
              </a:rPr>
              <a:t>list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(# Prob to reject both hypotheses for either dose `(H1andH3)or(H2andH4)` = </a:t>
            </a:r>
            <a:r>
              <a:rPr lang="en-US" sz="1600" u="sng" noProof="0" dirty="0">
                <a:solidFill>
                  <a:srgbClr val="023760"/>
                </a:solidFill>
                <a:latin typeface="Courier New"/>
                <a:ea typeface="+mn-lt"/>
                <a:cs typeface="+mn-lt"/>
              </a:rPr>
              <a:t>function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(x) (x[1] &amp; x[3]) | (x[2] &amp; x[4])) </a:t>
            </a:r>
            <a:endParaRPr lang="en-US" noProof="0" dirty="0">
              <a:latin typeface="Courier New"/>
              <a:ea typeface="+mn-lt"/>
              <a:cs typeface="Courier New"/>
            </a:endParaRPr>
          </a:p>
          <a:p>
            <a:pPr>
              <a:spcBef>
                <a:spcPts val="600"/>
              </a:spcBef>
            </a:pPr>
            <a:r>
              <a:rPr lang="en-US" sz="1600" noProof="0" dirty="0" err="1">
                <a:latin typeface="Courier New"/>
                <a:ea typeface="+mn-lt"/>
                <a:cs typeface="+mn-lt"/>
              </a:rPr>
              <a:t>power_results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 &lt;- </a:t>
            </a:r>
            <a:r>
              <a:rPr lang="en-US" sz="1600" u="sng" noProof="0" dirty="0" err="1">
                <a:solidFill>
                  <a:srgbClr val="023760"/>
                </a:solidFill>
                <a:latin typeface="Courier New"/>
                <a:ea typeface="+mn-lt"/>
                <a:cs typeface="+mn-lt"/>
              </a:rPr>
              <a:t>graph_calculate_power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(g, </a:t>
            </a:r>
            <a:r>
              <a:rPr lang="en-US" sz="1600" noProof="0" dirty="0" err="1">
                <a:latin typeface="Courier New"/>
                <a:ea typeface="+mn-lt"/>
                <a:cs typeface="+mn-lt"/>
              </a:rPr>
              <a:t>sim_n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 = 1e6, </a:t>
            </a:r>
            <a:r>
              <a:rPr lang="en-US" sz="1600" noProof="0" dirty="0" err="1">
                <a:latin typeface="Courier New"/>
                <a:ea typeface="+mn-lt"/>
                <a:cs typeface="+mn-lt"/>
              </a:rPr>
              <a:t>sim_corr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 = </a:t>
            </a:r>
            <a:r>
              <a:rPr lang="en-US" sz="1600" noProof="0" dirty="0" err="1">
                <a:latin typeface="Courier New"/>
                <a:ea typeface="+mn-lt"/>
                <a:cs typeface="+mn-lt"/>
              </a:rPr>
              <a:t>diag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(4), </a:t>
            </a:r>
            <a:r>
              <a:rPr lang="en-US" sz="1600" noProof="0" dirty="0" err="1">
                <a:latin typeface="Courier New"/>
                <a:ea typeface="+mn-lt"/>
                <a:cs typeface="+mn-lt"/>
              </a:rPr>
              <a:t>power_marginal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 = </a:t>
            </a:r>
            <a:r>
              <a:rPr lang="en-US" sz="1600" u="sng" noProof="0" dirty="0">
                <a:solidFill>
                  <a:srgbClr val="023760"/>
                </a:solidFill>
                <a:latin typeface="Courier New"/>
                <a:ea typeface="+mn-lt"/>
                <a:cs typeface="+mn-lt"/>
              </a:rPr>
              <a:t>c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(0.9, 0.9, 0.8, 0.8), </a:t>
            </a:r>
            <a:r>
              <a:rPr lang="en-US" sz="1600" noProof="0" dirty="0" err="1">
                <a:highlight>
                  <a:srgbClr val="FFFF00"/>
                </a:highlight>
                <a:latin typeface="Courier New"/>
                <a:ea typeface="+mn-lt"/>
                <a:cs typeface="+mn-lt"/>
              </a:rPr>
              <a:t>sim_success</a:t>
            </a:r>
            <a:r>
              <a:rPr lang="en-US" sz="1600" noProof="0" dirty="0">
                <a:highlight>
                  <a:srgbClr val="FFFF00"/>
                </a:highlight>
                <a:latin typeface="Courier New"/>
                <a:ea typeface="+mn-lt"/>
                <a:cs typeface="+mn-lt"/>
              </a:rPr>
              <a:t> = </a:t>
            </a:r>
            <a:r>
              <a:rPr lang="en-US" sz="1600" noProof="0" dirty="0" err="1">
                <a:highlight>
                  <a:srgbClr val="FFFF00"/>
                </a:highlight>
                <a:latin typeface="Courier New"/>
                <a:ea typeface="+mn-lt"/>
                <a:cs typeface="+mn-lt"/>
              </a:rPr>
              <a:t>success_fns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)</a:t>
            </a:r>
            <a:endParaRPr lang="en-US" noProof="0" dirty="0">
              <a:latin typeface="Courier New"/>
              <a:ea typeface="+mn-lt"/>
              <a:cs typeface="Courier New"/>
            </a:endParaRPr>
          </a:p>
          <a:p>
            <a:pPr>
              <a:spcBef>
                <a:spcPts val="600"/>
              </a:spcBef>
            </a:pPr>
            <a:r>
              <a:rPr lang="en-US" sz="1600" noProof="0" dirty="0" err="1">
                <a:latin typeface="Courier New"/>
                <a:ea typeface="+mn-lt"/>
                <a:cs typeface="+mn-lt"/>
              </a:rPr>
              <a:t>power_results$power$power_success</a:t>
            </a:r>
            <a:r>
              <a:rPr lang="en-US" sz="1600" noProof="0" dirty="0">
                <a:latin typeface="Courier New"/>
                <a:ea typeface="+mn-lt"/>
                <a:cs typeface="+mn-lt"/>
              </a:rPr>
              <a:t> </a:t>
            </a:r>
            <a:endParaRPr lang="en-US" noProof="0" dirty="0">
              <a:latin typeface="Courier New"/>
              <a:ea typeface="+mn-lt"/>
              <a:cs typeface="Courier New"/>
            </a:endParaRPr>
          </a:p>
          <a:p>
            <a:pPr>
              <a:spcBef>
                <a:spcPts val="600"/>
              </a:spcBef>
            </a:pPr>
            <a:r>
              <a:rPr lang="en-US" sz="1600" noProof="0" dirty="0">
                <a:solidFill>
                  <a:srgbClr val="5E5E5E"/>
                </a:solidFill>
                <a:latin typeface="Courier New"/>
                <a:ea typeface="+mn-lt"/>
                <a:cs typeface="+mn-lt"/>
              </a:rPr>
              <a:t>&gt; (H1andH3)or(H2andH4) 0.83281</a:t>
            </a:r>
            <a:endParaRPr lang="en-US" noProof="0" dirty="0">
              <a:latin typeface="Courier New"/>
              <a:cs typeface="Courier New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99145-8E3A-E417-654D-25F1E0D20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286853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3BA9B-6BF1-4C7F-C317-FE86EA3E6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DF57F-8AE3-B6D1-7DAD-B67A5A3CB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259D2-34A5-2F63-8813-9D9B498C5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Introduction and basic concepts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Graphical approaches to multiple testing</a:t>
            </a:r>
          </a:p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Optimizing graphical multiple comparison procedures</a:t>
            </a:r>
          </a:p>
          <a:p>
            <a:r>
              <a:rPr lang="en-US" noProof="0" dirty="0" err="1"/>
              <a:t>graphicalMCP</a:t>
            </a:r>
            <a:r>
              <a:rPr lang="en-US" noProof="0" dirty="0"/>
              <a:t>: implementation of graphical approaches</a:t>
            </a:r>
          </a:p>
          <a:p>
            <a:pPr lvl="1"/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Bonferroni-based approaches</a:t>
            </a:r>
          </a:p>
          <a:p>
            <a:pPr lvl="1"/>
            <a:r>
              <a:rPr lang="en-US" noProof="0" dirty="0"/>
              <a:t>Beyond Bonferroni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FA027-BE60-5F73-F5F2-E4E20475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072DE-FD33-5D13-B509-7C581D1B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95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535886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Graphical approaches beyond Bonferroni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8119814" cy="3263504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2000" noProof="0" dirty="0">
                    <a:solidFill>
                      <a:schemeClr val="accent1"/>
                    </a:solidFill>
                  </a:rPr>
                  <a:t>Bonferroni-based graphs </a:t>
                </a:r>
                <a:r>
                  <a:rPr lang="en-US" sz="2000" noProof="0" dirty="0"/>
                  <a:t>are simple using a </a:t>
                </a:r>
                <a:r>
                  <a:rPr lang="en-US" sz="2000" noProof="0" dirty="0">
                    <a:solidFill>
                      <a:schemeClr val="accent1"/>
                    </a:solidFill>
                  </a:rPr>
                  <a:t>shortcut procedure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At most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noProof="0" dirty="0"/>
                  <a:t> tests for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noProof="0" dirty="0"/>
                  <a:t> hypotheses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2000" noProof="0" dirty="0"/>
                  <a:t>But it may be improved for </a:t>
                </a:r>
                <a:r>
                  <a:rPr lang="en-US" sz="2000" noProof="0" dirty="0">
                    <a:solidFill>
                      <a:schemeClr val="accent1"/>
                    </a:solidFill>
                  </a:rPr>
                  <a:t>power gain </a:t>
                </a:r>
                <a:r>
                  <a:rPr lang="en-US" sz="2000" noProof="0" dirty="0"/>
                  <a:t>using </a:t>
                </a:r>
                <a:r>
                  <a:rPr lang="en-US" sz="2000" noProof="0" dirty="0">
                    <a:solidFill>
                      <a:schemeClr val="accent1"/>
                    </a:solidFill>
                  </a:rPr>
                  <a:t>closed test procedures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Hochberg- or Simes-based tests for non-negatively correlated test statistics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Parametric-based tests for exact correlations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More computationally intensive, e.g.,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noProof="0" dirty="0"/>
                  <a:t> tests for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noProof="0" dirty="0"/>
                  <a:t> hypotheses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2000" noProof="0" dirty="0">
                    <a:solidFill>
                      <a:schemeClr val="accent1"/>
                    </a:solidFill>
                  </a:rPr>
                  <a:t>Mixed types of tests </a:t>
                </a:r>
                <a:r>
                  <a:rPr lang="en-US" sz="2000" noProof="0" dirty="0"/>
                  <a:t>may be needed for interpretability and power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E.g., parametric-based tests for primary hypotheses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Hochberg- or Simes-based tests for groups of secondary hypotheses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Bonferroni-based tests for the rest (and connecting all tests)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8119814" cy="3263504"/>
              </a:xfrm>
              <a:blipFill>
                <a:blip r:embed="rId3"/>
                <a:stretch>
                  <a:fillRect l="-676" t="-2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75C6F-FC5F-EC09-25BF-CC116768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235982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Closed test procedures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Two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1369219"/>
                <a:ext cx="8712968" cy="3500438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General principle to construct powerful multiple test procedures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Schematic diagram for 2 hypotheses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endParaRPr lang="en-US" sz="20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endParaRPr lang="en-US" sz="20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endParaRPr lang="en-US" sz="20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endParaRPr lang="en-US" sz="20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>
                    <a:solidFill>
                      <a:srgbClr val="C00000"/>
                    </a:solidFill>
                  </a:rPr>
                  <a:t>Rejection rule</a:t>
                </a:r>
                <a:r>
                  <a:rPr lang="en-US" noProof="0" dirty="0"/>
                  <a:t>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(say) at overall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noProof="0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noProof="0" dirty="0"/>
                  <a:t> are rejected, each at local level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noProof="0" dirty="0"/>
                  <a:t>Operationally: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900" noProof="0" dirty="0"/>
                  <a:t> at </a:t>
                </a:r>
                <a:r>
                  <a:rPr lang="en-US" sz="1900" noProof="0" dirty="0">
                    <a:solidFill>
                      <a:srgbClr val="C00000"/>
                    </a:solidFill>
                  </a:rPr>
                  <a:t>local level </a:t>
                </a:r>
                <a14:m>
                  <m:oMath xmlns:m="http://schemas.openxmlformats.org/officeDocument/2006/math">
                    <m:r>
                      <a:rPr lang="en-US" sz="1900" b="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 noProof="0" dirty="0"/>
                  <a:t>; if rejected, proceed; otherwise stop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00" noProof="0" dirty="0"/>
                  <a:t> each at </a:t>
                </a:r>
                <a:r>
                  <a:rPr lang="en-US" sz="1900" noProof="0" dirty="0">
                    <a:solidFill>
                      <a:srgbClr val="C00000"/>
                    </a:solidFill>
                  </a:rPr>
                  <a:t>local level </a:t>
                </a:r>
                <a14:m>
                  <m:oMath xmlns:m="http://schemas.openxmlformats.org/officeDocument/2006/math">
                    <m:r>
                      <a:rPr lang="en-US" sz="1900" b="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 noProof="0" dirty="0"/>
                  <a:t>.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noProof="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00" noProof="0" dirty="0"/>
                  <a:t>) overall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900" noProof="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noProof="0" dirty="0">
                    <a:solidFill>
                      <a:srgbClr val="C00000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9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00" noProof="0" dirty="0">
                    <a:solidFill>
                      <a:srgbClr val="C00000"/>
                    </a:solidFill>
                  </a:rPr>
                  <a:t>) are rejected locally</a:t>
                </a:r>
                <a:endParaRPr lang="en-US" sz="1900" noProof="0" dirty="0"/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Overall Type I error rate control in the strong sense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369219"/>
                <a:ext cx="8712968" cy="3500438"/>
              </a:xfrm>
              <a:blipFill>
                <a:blip r:embed="rId2"/>
                <a:stretch>
                  <a:fillRect l="-420" t="-1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97</a:t>
            </a:fld>
            <a:endParaRPr lang="en-US" noProof="0" dirty="0"/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DFF334BB-FEEA-F3DC-748F-1AF788F51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073" y="1995686"/>
            <a:ext cx="2423854" cy="1125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080B1-6355-85C9-4CFF-67FCE29F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310842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Closed test procedures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Three hypotheses and Venn-type diagram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98</a:t>
            </a:fld>
            <a:endParaRPr lang="en-US" noProof="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FF776C5-2043-C512-F12C-1A34CABAC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374" y="1711840"/>
            <a:ext cx="4495800" cy="30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13">
            <a:extLst>
              <a:ext uri="{FF2B5EF4-FFF2-40B4-BE49-F238E27FC236}">
                <a16:creationId xmlns:a16="http://schemas.microsoft.com/office/drawing/2014/main" id="{4FAE668F-CBEF-4682-6873-EF6197483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47" y="1267494"/>
            <a:ext cx="2286000" cy="2286000"/>
          </a:xfrm>
          <a:prstGeom prst="ellipse">
            <a:avLst/>
          </a:prstGeom>
          <a:solidFill>
            <a:srgbClr val="00B0F0">
              <a:alpha val="25098"/>
            </a:srgbClr>
          </a:solidFill>
          <a:ln w="19050" algn="ctr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sz="1400" noProof="0" dirty="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10" name="Oval 14">
            <a:extLst>
              <a:ext uri="{FF2B5EF4-FFF2-40B4-BE49-F238E27FC236}">
                <a16:creationId xmlns:a16="http://schemas.microsoft.com/office/drawing/2014/main" id="{D6445723-4C59-6F20-000B-5446C1A43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944" y="1230982"/>
            <a:ext cx="2286000" cy="2286000"/>
          </a:xfrm>
          <a:prstGeom prst="ellipse">
            <a:avLst/>
          </a:prstGeom>
          <a:solidFill>
            <a:schemeClr val="accent2">
              <a:alpha val="25098"/>
            </a:schemeClr>
          </a:solidFill>
          <a:ln w="19050" algn="ctr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sz="1400" noProof="0" dirty="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5">
                <a:extLst>
                  <a:ext uri="{FF2B5EF4-FFF2-40B4-BE49-F238E27FC236}">
                    <a16:creationId xmlns:a16="http://schemas.microsoft.com/office/drawing/2014/main" id="{99A7D927-C51F-858A-BACE-D7EC00239A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0256" y="2028671"/>
                <a:ext cx="48577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1" name="TextBox 15">
                <a:extLst>
                  <a:ext uri="{FF2B5EF4-FFF2-40B4-BE49-F238E27FC236}">
                    <a16:creationId xmlns:a16="http://schemas.microsoft.com/office/drawing/2014/main" id="{99A7D927-C51F-858A-BACE-D7EC00239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0256" y="2028671"/>
                <a:ext cx="485775" cy="400110"/>
              </a:xfrm>
              <a:prstGeom prst="rect">
                <a:avLst/>
              </a:prstGeom>
              <a:blipFill>
                <a:blip r:embed="rId3"/>
                <a:stretch>
                  <a:fillRect b="-30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6">
                <a:extLst>
                  <a:ext uri="{FF2B5EF4-FFF2-40B4-BE49-F238E27FC236}">
                    <a16:creationId xmlns:a16="http://schemas.microsoft.com/office/drawing/2014/main" id="{C176D182-00F5-4EF8-CA60-58B32E4C9E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4944" y="1973872"/>
                <a:ext cx="4826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2" name="TextBox 16">
                <a:extLst>
                  <a:ext uri="{FF2B5EF4-FFF2-40B4-BE49-F238E27FC236}">
                    <a16:creationId xmlns:a16="http://schemas.microsoft.com/office/drawing/2014/main" id="{C176D182-00F5-4EF8-CA60-58B32E4C9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4944" y="1973872"/>
                <a:ext cx="482600" cy="400110"/>
              </a:xfrm>
              <a:prstGeom prst="rect">
                <a:avLst/>
              </a:prstGeom>
              <a:blipFill>
                <a:blip r:embed="rId4"/>
                <a:stretch>
                  <a:fillRect b="-30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20">
                <a:extLst>
                  <a:ext uri="{FF2B5EF4-FFF2-40B4-BE49-F238E27FC236}">
                    <a16:creationId xmlns:a16="http://schemas.microsoft.com/office/drawing/2014/main" id="{C6A45F4C-3535-2051-C88A-AA179D3C77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228" y="1865421"/>
                <a:ext cx="6619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3" name="TextBox 20">
                <a:extLst>
                  <a:ext uri="{FF2B5EF4-FFF2-40B4-BE49-F238E27FC236}">
                    <a16:creationId xmlns:a16="http://schemas.microsoft.com/office/drawing/2014/main" id="{C6A45F4C-3535-2051-C88A-AA179D3C7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4228" y="1865421"/>
                <a:ext cx="661988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0">
            <a:extLst>
              <a:ext uri="{FF2B5EF4-FFF2-40B4-BE49-F238E27FC236}">
                <a16:creationId xmlns:a16="http://schemas.microsoft.com/office/drawing/2014/main" id="{40C26A75-F641-8D84-02FD-736BB52C6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222" y="2373982"/>
            <a:ext cx="2286000" cy="2286000"/>
          </a:xfrm>
          <a:prstGeom prst="ellipse">
            <a:avLst/>
          </a:prstGeom>
          <a:solidFill>
            <a:srgbClr val="7030A0">
              <a:alpha val="25098"/>
            </a:srgbClr>
          </a:solidFill>
          <a:ln w="19050" algn="ctr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sz="1400" noProof="0" dirty="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1">
                <a:extLst>
                  <a:ext uri="{FF2B5EF4-FFF2-40B4-BE49-F238E27FC236}">
                    <a16:creationId xmlns:a16="http://schemas.microsoft.com/office/drawing/2014/main" id="{84053469-F28E-9AD9-7F44-B5A638CB08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228" y="2465586"/>
                <a:ext cx="6619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5" name="TextBox 11">
                <a:extLst>
                  <a:ext uri="{FF2B5EF4-FFF2-40B4-BE49-F238E27FC236}">
                    <a16:creationId xmlns:a16="http://schemas.microsoft.com/office/drawing/2014/main" id="{84053469-F28E-9AD9-7F44-B5A638CB0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4228" y="2465586"/>
                <a:ext cx="661988" cy="400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81D7B4F5-3E95-DDFE-4CCB-A16912D42A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0653" y="2871604"/>
                <a:ext cx="66357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81D7B4F5-3E95-DDFE-4CCB-A16912D42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0653" y="2871604"/>
                <a:ext cx="663575" cy="400110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D515FF0F-3B0F-2CAC-882F-FA1DBFECF3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4460" y="2852399"/>
                <a:ext cx="6619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D515FF0F-3B0F-2CAC-882F-FA1DBFECF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4460" y="2852399"/>
                <a:ext cx="661988" cy="400110"/>
              </a:xfrm>
              <a:prstGeom prst="rect">
                <a:avLst/>
              </a:prstGeom>
              <a:blipFill>
                <a:blip r:embed="rId8"/>
                <a:stretch>
                  <a:fillRect b="-15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7028EF18-A38A-669E-7046-964840E861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1860" y="3740252"/>
                <a:ext cx="4826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mc:Choice>
        <mc:Fallback xmlns=""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7028EF18-A38A-669E-7046-964840E86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1860" y="3740252"/>
                <a:ext cx="482600" cy="400110"/>
              </a:xfrm>
              <a:prstGeom prst="rect">
                <a:avLst/>
              </a:prstGeom>
              <a:blipFill>
                <a:blip r:embed="rId9"/>
                <a:stretch>
                  <a:fillRect b="-30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A07791-285B-B86F-1379-6DD136E0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165550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Holm procedure: Closed test using Bonferroni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Two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536" y="1369218"/>
                <a:ext cx="5976664" cy="3500437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800" noProof="0" dirty="0"/>
                  <a:t> using </a:t>
                </a:r>
                <a:r>
                  <a:rPr lang="en-US" sz="1800" noProof="0" dirty="0">
                    <a:solidFill>
                      <a:schemeClr val="accent1"/>
                    </a:solidFill>
                  </a:rPr>
                  <a:t>Bonferroni</a:t>
                </a:r>
                <a:r>
                  <a:rPr lang="en-US" sz="1800" noProof="0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8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Followed by unadjusted tests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When the decision rules are combined, we obtain the Holm procedure: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The procedure begins with the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more significant p-value </a:t>
                </a:r>
                <a:r>
                  <a:rPr lang="en-US" sz="1600" noProof="0" dirty="0"/>
                  <a:t>and rejects the corresponding hypothesis if the p-value is no greater than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1600" noProof="0" dirty="0">
                  <a:solidFill>
                    <a:srgbClr val="C00000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If the first hypothesis is rejected, the other hypothesis is tested at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level </a:t>
                </a:r>
                <a14:m>
                  <m:oMath xmlns:m="http://schemas.openxmlformats.org/officeDocument/2006/math">
                    <m:r>
                      <a:rPr lang="en-US" sz="1600" i="1" noProof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600" noProof="0" dirty="0"/>
                  <a:t>. Otherwise, the other hypothesis is retained without testing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Graph for Holm procedure determines hypothesis weights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1/2</m:t>
                    </m:r>
                  </m:oMath>
                </a14:m>
                <a:r>
                  <a:rPr lang="en-US" sz="1600" noProof="0" dirty="0"/>
                  <a:t>, </a:t>
                </a:r>
                <a14:m>
                  <m:oMath xmlns:m="http://schemas.openxmlformats.org/officeDocument/2006/math">
                    <m:r>
                      <a:rPr lang="en-US" sz="1600" b="0" i="0" noProof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b="0" i="1" noProof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0" i="1" noProof="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noProof="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noProof="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369218"/>
                <a:ext cx="5976664" cy="3500437"/>
              </a:xfrm>
              <a:blipFill>
                <a:blip r:embed="rId3"/>
                <a:stretch>
                  <a:fillRect l="-714" t="-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99</a:t>
            </a:fld>
            <a:endParaRPr lang="en-US" noProof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6AD69EA-97B3-31E7-C165-9A809897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1369219"/>
            <a:ext cx="2807406" cy="1039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7ABED96-BE4B-B849-1FC9-5B1C633F8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578" y="3291830"/>
            <a:ext cx="2651969" cy="928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8585DDA-4220-18A3-6953-000D1B9D3F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73" b="85796"/>
          <a:stretch/>
        </p:blipFill>
        <p:spPr bwMode="auto">
          <a:xfrm>
            <a:off x="6457950" y="4353764"/>
            <a:ext cx="2468880" cy="477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66DDD2-E685-0E4A-B76D-E7D1C64A99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191" y="4231299"/>
            <a:ext cx="137160" cy="1224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BDA531-D626-61CB-CC71-795656396E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448" y="4231299"/>
            <a:ext cx="137160" cy="1224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FDEC17-4A3D-E6B3-77D3-DFB25F5490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7270" y="4205783"/>
            <a:ext cx="171001" cy="1598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6E4798-AB7B-80DD-E9B3-84B1F9E5E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3367" y="4223804"/>
            <a:ext cx="171001" cy="159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C60B19-E3F7-C2E3-0BF4-1BA362EB50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935" y="3354164"/>
            <a:ext cx="137160" cy="1282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C9FAE99-4592-75F1-9A1D-85BAED5E2A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3766" y="3354164"/>
            <a:ext cx="137160" cy="128216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6CCE2-7199-0B63-3BD8-878B2246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126728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Hommel procedure: Closed test using Simes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Two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536" y="1369218"/>
                <a:ext cx="6062414" cy="3500437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800" noProof="0" dirty="0"/>
                  <a:t> using </a:t>
                </a:r>
                <a:r>
                  <a:rPr lang="en-US" sz="1800" noProof="0" dirty="0">
                    <a:solidFill>
                      <a:schemeClr val="accent1"/>
                    </a:solidFill>
                  </a:rPr>
                  <a:t>Simes</a:t>
                </a:r>
                <a:r>
                  <a:rPr lang="en-US" sz="1800" noProof="0" dirty="0"/>
                  <a:t>, 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noProof="0" dirty="0"/>
                  <a:t>)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8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Followed by unadjusted tests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When the decision rules are combined, we obtain the Hommel procedure: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The procedure begins with the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less significant p-value </a:t>
                </a:r>
                <a:r>
                  <a:rPr lang="en-US" sz="1600" noProof="0" dirty="0"/>
                  <a:t>and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rejects</a:t>
                </a:r>
                <a:r>
                  <a:rPr lang="en-US" sz="1600" noProof="0" dirty="0"/>
                  <a:t>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both hypothesis </a:t>
                </a:r>
                <a:r>
                  <a:rPr lang="en-US" sz="1600" noProof="0" dirty="0"/>
                  <a:t>if the p-value is no greater than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1600" noProof="0" dirty="0"/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If both hypotheses are not rejected, the hypothesis with the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more significant p-value </a:t>
                </a:r>
                <a:r>
                  <a:rPr lang="en-US" sz="1600" noProof="0" dirty="0"/>
                  <a:t>is tested at an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b="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noProof="0" dirty="0"/>
                  <a:t> level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Graph for Hommel procedure determines hypothesis weights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1/2</m:t>
                    </m:r>
                  </m:oMath>
                </a14:m>
                <a:r>
                  <a:rPr lang="en-US" sz="1600" noProof="0" dirty="0"/>
                  <a:t>, </a:t>
                </a:r>
                <a14:m>
                  <m:oMath xmlns:m="http://schemas.openxmlformats.org/officeDocument/2006/math">
                    <m:r>
                      <a:rPr lang="en-US" sz="1600" noProof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i="1" noProof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i="1" noProof="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noProof="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noProof="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369218"/>
                <a:ext cx="6062414" cy="3500437"/>
              </a:xfrm>
              <a:blipFill>
                <a:blip r:embed="rId3"/>
                <a:stretch>
                  <a:fillRect l="-704" t="-697" r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100</a:t>
            </a:fld>
            <a:endParaRPr lang="en-US" noProof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6AD69EA-97B3-31E7-C165-9A809897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1369219"/>
            <a:ext cx="2807406" cy="1039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A5AB26-FDED-31DE-B548-E125ADEA4F24}"/>
              </a:ext>
            </a:extLst>
          </p:cNvPr>
          <p:cNvSpPr txBox="1"/>
          <p:nvPr/>
        </p:nvSpPr>
        <p:spPr>
          <a:xfrm>
            <a:off x="6718453" y="1094779"/>
            <a:ext cx="1944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(p</a:t>
            </a:r>
            <a:r>
              <a:rPr lang="en-US" sz="1400" b="1" i="0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≤ α</a:t>
            </a:r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1" i="0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≤ α) or</a:t>
            </a:r>
            <a:endParaRPr lang="en-US" sz="1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B662EE1-404D-BE6E-E91D-8E487451C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578" y="3291830"/>
            <a:ext cx="2651969" cy="928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F6CB8D7B-185E-8870-7ACB-2FC32740E6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73" b="85796"/>
          <a:stretch/>
        </p:blipFill>
        <p:spPr bwMode="auto">
          <a:xfrm>
            <a:off x="6457950" y="4353764"/>
            <a:ext cx="2468880" cy="477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DDF2EF-BA41-FA1A-C292-0DD7D480B5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191" y="4231299"/>
            <a:ext cx="137160" cy="1224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1531D9-8856-9A01-337A-1B5B9C9449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448" y="4231299"/>
            <a:ext cx="137160" cy="1224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5DBA07-038E-98F9-BE67-BCD6D06E0B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7270" y="4205783"/>
            <a:ext cx="171001" cy="1598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19C71A-4AAA-725E-E5DE-89CB156889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3367" y="4223804"/>
            <a:ext cx="171001" cy="159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EE0003-F0FC-8B35-1A65-D4CE63B16B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935" y="3354164"/>
            <a:ext cx="137160" cy="1282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5C6F939-F489-0F1A-C0B1-1776C9D8A9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3766" y="3354164"/>
            <a:ext cx="137160" cy="128216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FF5FEE-34A8-50B8-455D-0A8D8B90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197506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 fontScale="90000"/>
          </a:bodyPr>
          <a:lstStyle/>
          <a:p>
            <a:r>
              <a:rPr lang="en-US" sz="3200" spc="-100" noProof="0" dirty="0"/>
              <a:t>Hochberg procedure: Conservative shortcut to Hommel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Two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535" y="1369217"/>
                <a:ext cx="6160455" cy="3671889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800" noProof="0" dirty="0"/>
                  <a:t> using a </a:t>
                </a:r>
                <a:r>
                  <a:rPr lang="en-US" sz="1800" noProof="0" dirty="0">
                    <a:solidFill>
                      <a:schemeClr val="accent1"/>
                    </a:solidFill>
                  </a:rPr>
                  <a:t>conservative Simes</a:t>
                </a:r>
                <a:r>
                  <a:rPr lang="en-US" sz="1800" noProof="0" dirty="0"/>
                  <a:t>, 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noProof="0" dirty="0"/>
                  <a:t>)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8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800" noProof="0" dirty="0"/>
                  <a:t> (same as Simes for two hypotheses)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Followed by unadjusted tests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When the decision rules are combined, we obtain the Hochberg procedure: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The procedure begins with the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less significant p-value </a:t>
                </a:r>
                <a:r>
                  <a:rPr lang="en-US" sz="1600" noProof="0" dirty="0"/>
                  <a:t>and rejects both hypothesis if the p-value is no greater than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1600" noProof="0" dirty="0"/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If both hypotheses are not rejected, the hypothesis with the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more significant p-value </a:t>
                </a:r>
                <a:r>
                  <a:rPr lang="en-US" sz="1600" noProof="0" dirty="0"/>
                  <a:t>is tested at an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b="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noProof="0" dirty="0"/>
                  <a:t> level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Graph for Hochberg procedure determines hypothesis weights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1/2</m:t>
                    </m:r>
                  </m:oMath>
                </a14:m>
                <a:r>
                  <a:rPr lang="en-US" sz="1600" noProof="0" dirty="0"/>
                  <a:t>, </a:t>
                </a:r>
                <a14:m>
                  <m:oMath xmlns:m="http://schemas.openxmlformats.org/officeDocument/2006/math">
                    <m:r>
                      <a:rPr lang="en-US" sz="1600" noProof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i="1" noProof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i="1" noProof="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noProof="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noProof="0" dirty="0"/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>
                    <a:solidFill>
                      <a:schemeClr val="accent1"/>
                    </a:solidFill>
                  </a:rPr>
                  <a:t>Hochberg procedure </a:t>
                </a:r>
                <a:r>
                  <a:rPr lang="en-US" sz="1900" noProof="0" dirty="0"/>
                  <a:t>is only applicable to </a:t>
                </a:r>
                <a:r>
                  <a:rPr lang="en-US" sz="1900" noProof="0" dirty="0">
                    <a:solidFill>
                      <a:schemeClr val="accent1"/>
                    </a:solidFill>
                  </a:rPr>
                  <a:t>equally weighted hypotheses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5" y="1369217"/>
                <a:ext cx="6160455" cy="3671889"/>
              </a:xfrm>
              <a:blipFill>
                <a:blip r:embed="rId3"/>
                <a:stretch>
                  <a:fillRect l="-693" t="-1329" r="-792" b="-1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101</a:t>
            </a:fld>
            <a:endParaRPr lang="en-US" noProof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6AD69EA-97B3-31E7-C165-9A809897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1369219"/>
            <a:ext cx="2807406" cy="1039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A5AB26-FDED-31DE-B548-E125ADEA4F24}"/>
              </a:ext>
            </a:extLst>
          </p:cNvPr>
          <p:cNvSpPr txBox="1"/>
          <p:nvPr/>
        </p:nvSpPr>
        <p:spPr>
          <a:xfrm>
            <a:off x="6718453" y="1094779"/>
            <a:ext cx="1944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(p</a:t>
            </a:r>
            <a:r>
              <a:rPr lang="en-US" sz="1400" b="1" i="0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≤ α</a:t>
            </a:r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1" i="0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≤ α) or</a:t>
            </a:r>
            <a:endParaRPr lang="en-US" sz="1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D74E679-FC66-DEDE-DEE7-9A65EDF3C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578" y="3291830"/>
            <a:ext cx="2651969" cy="928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CACFC7C-E1CF-DA74-2E53-0A5B48286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73" b="85796"/>
          <a:stretch/>
        </p:blipFill>
        <p:spPr bwMode="auto">
          <a:xfrm>
            <a:off x="6457950" y="4353764"/>
            <a:ext cx="2468880" cy="477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A5F8FE-2B67-A7A5-4C62-8C9C2D80B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191" y="4231299"/>
            <a:ext cx="137160" cy="1224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BC97B0-BA7C-5C1C-96C0-CFE785B764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448" y="4231299"/>
            <a:ext cx="137160" cy="1224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62B5A2-7DBB-7F67-B320-D71D5E2113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7270" y="4205783"/>
            <a:ext cx="171001" cy="1598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3EAD907-728D-5A75-20E9-5F0E7235F0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3367" y="4223804"/>
            <a:ext cx="171001" cy="159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590F4A-E3AF-0681-AF2D-E81E8AF0E4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935" y="3354164"/>
            <a:ext cx="137160" cy="1282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E327874-CA2E-38AB-5956-76E7857E91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3766" y="3354164"/>
            <a:ext cx="137160" cy="128216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D2A2AB9-5CF5-19D4-EF8A-5EC9B275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120822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Dunnett procedure: Closed test using parametric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Two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536" y="1369217"/>
                <a:ext cx="5976664" cy="3671889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800" noProof="0" dirty="0"/>
                  <a:t> using </a:t>
                </a:r>
                <a:r>
                  <a:rPr lang="en-US" sz="1800" noProof="0" dirty="0">
                    <a:solidFill>
                      <a:schemeClr val="accent1"/>
                    </a:solidFill>
                  </a:rPr>
                  <a:t>parametric</a:t>
                </a:r>
                <a:r>
                  <a:rPr lang="en-US" sz="1800" noProof="0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8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Followed by unadjusted tests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800" noProof="0" dirty="0"/>
                  <a:t> is determined such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noProof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f>
                              <m:fPr>
                                <m:ctrlP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𝑜𝑟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f>
                              <m:fPr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noProof="0" dirty="0"/>
                  <a:t>, where the test statistics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noProof="0" dirty="0"/>
                  <a:t> follow a bivariate normal distribution with mean 0 and a known correlation matrix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When the decision rules are combined, we obtain the Dunnett step-down procedure: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The procedure begins with the </a:t>
                </a:r>
                <a:r>
                  <a:rPr lang="en-US" sz="1600" noProof="0" dirty="0">
                    <a:solidFill>
                      <a:srgbClr val="C00000"/>
                    </a:solidFill>
                  </a:rPr>
                  <a:t>more significant p-value </a:t>
                </a:r>
                <a:r>
                  <a:rPr lang="en-US" sz="1600" noProof="0" dirty="0"/>
                  <a:t>and rejects the corresponding hypothesis if the p-value is no greater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1600" i="1" noProof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i="1" noProof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1600" noProof="0" dirty="0"/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If the first hypothesis is rejected, the other hypothesis is tested at an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600" noProof="0" dirty="0">
                    <a:solidFill>
                      <a:srgbClr val="C00000"/>
                    </a:solidFill>
                  </a:rPr>
                  <a:t> level</a:t>
                </a:r>
                <a:r>
                  <a:rPr lang="en-US" sz="1600" noProof="0" dirty="0"/>
                  <a:t>. Otherwise, the other hypothesis is retained without testing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900" noProof="0" dirty="0"/>
                  <a:t>Graph for the Dunnett procedure determines hypothesis weights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1/2</m:t>
                    </m:r>
                  </m:oMath>
                </a14:m>
                <a:r>
                  <a:rPr lang="en-US" sz="1600" noProof="0" dirty="0"/>
                  <a:t>, </a:t>
                </a:r>
                <a14:m>
                  <m:oMath xmlns:m="http://schemas.openxmlformats.org/officeDocument/2006/math">
                    <m:r>
                      <a:rPr lang="en-US" sz="1600" noProof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i="1" noProof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i="1" noProof="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noProof="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noProof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noProof="0" dirty="0"/>
                  <a:t>)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600" noProof="0" dirty="0"/>
                  <a:t> is further determined by the correlation between test statistics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B2553-946E-669C-82B2-050F35B8D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369217"/>
                <a:ext cx="5976664" cy="3671889"/>
              </a:xfrm>
              <a:blipFill>
                <a:blip r:embed="rId3"/>
                <a:stretch>
                  <a:fillRect l="-408" t="-997" b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102</a:t>
            </a:fld>
            <a:endParaRPr lang="en-US" noProof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6AD69EA-97B3-31E7-C165-9A809897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1369219"/>
            <a:ext cx="2807406" cy="1039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A5AB26-FDED-31DE-B548-E125ADEA4F24}"/>
              </a:ext>
            </a:extLst>
          </p:cNvPr>
          <p:cNvSpPr txBox="1"/>
          <p:nvPr/>
        </p:nvSpPr>
        <p:spPr>
          <a:xfrm>
            <a:off x="6725850" y="1303824"/>
            <a:ext cx="1944217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1" i="0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≤ cα/2</a:t>
            </a:r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1" i="0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400" b="1" i="0" noProof="0" dirty="0">
                <a:latin typeface="Arial" panose="020B0604020202020204" pitchFamily="34" charset="0"/>
                <a:cs typeface="Arial" panose="020B0604020202020204" pitchFamily="34" charset="0"/>
              </a:rPr>
              <a:t>≤ cα/2</a:t>
            </a:r>
            <a:endParaRPr lang="en-US" sz="1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EB09BAC-9F00-70E5-D9CF-E539C1863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578" y="3291830"/>
            <a:ext cx="2651969" cy="928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0428A5B6-5CB5-C19E-B885-6ECC9051F8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73" b="85796"/>
          <a:stretch/>
        </p:blipFill>
        <p:spPr bwMode="auto">
          <a:xfrm>
            <a:off x="6457950" y="4353764"/>
            <a:ext cx="2468880" cy="477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85EA24-E693-A050-09A8-BDF721B16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191" y="4231299"/>
            <a:ext cx="137160" cy="1224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57C4C3-CEAB-2538-CBF4-E0CF132547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448" y="4231299"/>
            <a:ext cx="137160" cy="1224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993377-4699-16DE-FAF6-5AA03295C3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7270" y="4205783"/>
            <a:ext cx="171001" cy="1598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4DB328-3DC9-F462-37CA-089F02A0E3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3367" y="4223804"/>
            <a:ext cx="171001" cy="159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0C942B-1BB1-46B6-1A94-5BED9D1EC6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935" y="3354164"/>
            <a:ext cx="137160" cy="1282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4D5F0C1-B2CA-3371-2842-05199DFFE6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3766" y="3354164"/>
            <a:ext cx="137160" cy="128216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ACE7D8-2073-0C38-950F-21130291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22392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2553-946E-669C-82B2-050F35B8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Randomized, double-blind Phase 3 trial of canakinumab for patients with previous myocardial infarction and an elevated HS-CRP level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noProof="0" dirty="0">
                <a:solidFill>
                  <a:schemeClr val="accent1"/>
                </a:solidFill>
              </a:rPr>
              <a:t>Three canakinumab doses </a:t>
            </a:r>
            <a:r>
              <a:rPr lang="en-US" noProof="0" dirty="0"/>
              <a:t>(50mg, 150mg, 300mg) versus placebo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noProof="0" dirty="0"/>
              <a:t>Lasted over 6 years with 10,061 patients enrolled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noProof="0" dirty="0"/>
              <a:t>Total number of events for the primary endpoint was 955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Primary endpoint (PE): nonfatal myocardial infarction, nonfatal stroke, or cardiovascular death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Secondary endpoint 1 (SE1): PE + hospitalization for unstable angina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Secondary endpoint 2 (SE2): new-onset type 2 diabetes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103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5F8BB8-FD73-0159-9FB2-5F75AC3C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105190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C6584A26-9D6F-0050-34FD-897E9D530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4" y="1181614"/>
            <a:ext cx="8172400" cy="37456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Graphical multiple comparison procedure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104</a:t>
            </a:fld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0D48DF-DA5A-FDDC-18DD-BE5B5FF57D29}"/>
              </a:ext>
            </a:extLst>
          </p:cNvPr>
          <p:cNvSpPr txBox="1"/>
          <p:nvPr/>
        </p:nvSpPr>
        <p:spPr>
          <a:xfrm>
            <a:off x="1259632" y="1177986"/>
            <a:ext cx="84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300mg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B9D38B-C0B8-B711-6AD8-7C42A8EB3191}"/>
              </a:ext>
            </a:extLst>
          </p:cNvPr>
          <p:cNvSpPr txBox="1"/>
          <p:nvPr/>
        </p:nvSpPr>
        <p:spPr>
          <a:xfrm>
            <a:off x="3838474" y="1156724"/>
            <a:ext cx="84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150mg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1ED22-340E-FEDA-A930-034C13358F43}"/>
              </a:ext>
            </a:extLst>
          </p:cNvPr>
          <p:cNvSpPr txBox="1"/>
          <p:nvPr/>
        </p:nvSpPr>
        <p:spPr>
          <a:xfrm>
            <a:off x="7127626" y="1177986"/>
            <a:ext cx="84584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noProof="0" dirty="0"/>
              <a:t>50mg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72F531-1658-17CE-49BD-4CDC5478957D}"/>
              </a:ext>
            </a:extLst>
          </p:cNvPr>
          <p:cNvSpPr txBox="1"/>
          <p:nvPr/>
        </p:nvSpPr>
        <p:spPr>
          <a:xfrm>
            <a:off x="830765" y="1635646"/>
            <a:ext cx="413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843256-F0A7-4721-93FE-74C3CE3CBC4D}"/>
              </a:ext>
            </a:extLst>
          </p:cNvPr>
          <p:cNvSpPr txBox="1"/>
          <p:nvPr/>
        </p:nvSpPr>
        <p:spPr>
          <a:xfrm>
            <a:off x="496943" y="4719079"/>
            <a:ext cx="540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SE1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1DD43D-9BF1-8C64-C7C5-AC93045AB1F9}"/>
              </a:ext>
            </a:extLst>
          </p:cNvPr>
          <p:cNvSpPr txBox="1"/>
          <p:nvPr/>
        </p:nvSpPr>
        <p:spPr>
          <a:xfrm>
            <a:off x="2267744" y="4739509"/>
            <a:ext cx="540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SE2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6836C-27A6-BC72-A4F0-B2D7086A7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143913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Mixed types of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2553-946E-669C-82B2-050F35B8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Closed test based on the graph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>
                <a:solidFill>
                  <a:schemeClr val="accent1"/>
                </a:solidFill>
              </a:rPr>
              <a:t>Primary hypotheses </a:t>
            </a:r>
            <a:r>
              <a:rPr lang="en-US" sz="2000" noProof="0" dirty="0"/>
              <a:t>are tested using </a:t>
            </a:r>
            <a:r>
              <a:rPr lang="en-US" sz="2000" noProof="0" dirty="0">
                <a:solidFill>
                  <a:schemeClr val="accent1"/>
                </a:solidFill>
              </a:rPr>
              <a:t>weighted Dunnett tests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noProof="0" dirty="0"/>
              <a:t>Correlation between test statistics are calculated based on the common control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>
                <a:solidFill>
                  <a:schemeClr val="accent1"/>
                </a:solidFill>
              </a:rPr>
              <a:t>Secondary hypotheses for each dose </a:t>
            </a:r>
            <a:r>
              <a:rPr lang="en-US" sz="2000" noProof="0" dirty="0"/>
              <a:t>are tested using </a:t>
            </a:r>
            <a:r>
              <a:rPr lang="en-US" sz="2000" noProof="0" dirty="0">
                <a:solidFill>
                  <a:schemeClr val="accent1"/>
                </a:solidFill>
              </a:rPr>
              <a:t>weighted Holm tests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Bonferroni tests for remaining tests, e.g., to connect mixed types</a:t>
            </a:r>
            <a:endParaRPr lang="en-US" sz="2000" noProof="0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At the final analysis, the total significance level is 0.0245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0.0001 and 0.0004 are spent at the 1</a:t>
            </a:r>
            <a:r>
              <a:rPr lang="en-US" sz="1700" baseline="30000" noProof="0" dirty="0"/>
              <a:t>st</a:t>
            </a:r>
            <a:r>
              <a:rPr lang="en-US" sz="1700" noProof="0" dirty="0"/>
              <a:t> and 2</a:t>
            </a:r>
            <a:r>
              <a:rPr lang="en-US" sz="1700" baseline="30000" noProof="0" dirty="0"/>
              <a:t>nd</a:t>
            </a:r>
            <a:r>
              <a:rPr lang="en-US" sz="1700" noProof="0" dirty="0"/>
              <a:t> interim analyses, respectively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105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2FBE2B-CC5B-80F4-A315-6C7B9AD7A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271578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Graphical multiple comparison procedure  with mixed types of tests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106</a:t>
            </a:fld>
            <a:endParaRPr lang="en-US" noProof="0" dirty="0"/>
          </a:p>
        </p:txBody>
      </p:sp>
      <p:pic>
        <p:nvPicPr>
          <p:cNvPr id="7" name="Picture 6" descr="A diagram of a network&#10;&#10;Description automatically generated">
            <a:extLst>
              <a:ext uri="{FF2B5EF4-FFF2-40B4-BE49-F238E27FC236}">
                <a16:creationId xmlns:a16="http://schemas.microsoft.com/office/drawing/2014/main" id="{E522012C-AE0C-208F-1E9E-43E2C51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8" r="3906"/>
          <a:stretch/>
        </p:blipFill>
        <p:spPr>
          <a:xfrm>
            <a:off x="1322498" y="1288345"/>
            <a:ext cx="6499003" cy="32196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091BEE-EFDA-8619-E2FA-9BAFE4F304B9}"/>
              </a:ext>
            </a:extLst>
          </p:cNvPr>
          <p:cNvSpPr txBox="1"/>
          <p:nvPr/>
        </p:nvSpPr>
        <p:spPr>
          <a:xfrm>
            <a:off x="1674590" y="1304779"/>
            <a:ext cx="684076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r>
              <a:rPr lang="en-US" noProof="0" dirty="0"/>
              <a:t>Parametric</a:t>
            </a:r>
          </a:p>
          <a:p>
            <a:pPr algn="r"/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88560-DCBD-A42D-844D-41F422D9D00F}"/>
              </a:ext>
            </a:extLst>
          </p:cNvPr>
          <p:cNvSpPr txBox="1"/>
          <p:nvPr/>
        </p:nvSpPr>
        <p:spPr>
          <a:xfrm>
            <a:off x="251520" y="3795886"/>
            <a:ext cx="2952328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r>
              <a:rPr lang="en-US" noProof="0" dirty="0"/>
              <a:t>Bonferroni</a:t>
            </a:r>
          </a:p>
          <a:p>
            <a:pPr algn="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77BF03-79B4-A3AC-D6FF-559B0D126BB2}"/>
              </a:ext>
            </a:extLst>
          </p:cNvPr>
          <p:cNvSpPr txBox="1"/>
          <p:nvPr/>
        </p:nvSpPr>
        <p:spPr>
          <a:xfrm>
            <a:off x="3599892" y="3802931"/>
            <a:ext cx="2016224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endParaRPr lang="en-US" noProof="0" dirty="0"/>
          </a:p>
          <a:p>
            <a:pPr algn="ctr"/>
            <a:r>
              <a:rPr lang="en-US" noProof="0" dirty="0"/>
              <a:t>Bonferroni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822E53-2CB4-8C4F-EEFE-4CC5C8D84E8A}"/>
              </a:ext>
            </a:extLst>
          </p:cNvPr>
          <p:cNvSpPr txBox="1"/>
          <p:nvPr/>
        </p:nvSpPr>
        <p:spPr>
          <a:xfrm>
            <a:off x="6012160" y="3789399"/>
            <a:ext cx="2880319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r>
              <a:rPr lang="en-US" noProof="0" dirty="0"/>
              <a:t>Bonferroni</a:t>
            </a:r>
          </a:p>
          <a:p>
            <a:pPr algn="r"/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7E236-DC72-6175-D9FD-E13BD1FA73DA}"/>
              </a:ext>
            </a:extLst>
          </p:cNvPr>
          <p:cNvSpPr txBox="1"/>
          <p:nvPr/>
        </p:nvSpPr>
        <p:spPr>
          <a:xfrm>
            <a:off x="11282" y="2453727"/>
            <a:ext cx="1674591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noProof="0" dirty="0"/>
              <a:t>Bonferroni to connect mixed types of tests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AA0FEA-1D4A-71BD-A2BF-84AEA9F07310}"/>
              </a:ext>
            </a:extLst>
          </p:cNvPr>
          <p:cNvCxnSpPr>
            <a:cxnSpLocks/>
            <a:stCxn id="9" idx="0"/>
            <a:endCxn id="14" idx="1"/>
          </p:cNvCxnSpPr>
          <p:nvPr/>
        </p:nvCxnSpPr>
        <p:spPr>
          <a:xfrm flipV="1">
            <a:off x="848578" y="1766444"/>
            <a:ext cx="826012" cy="687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A68F4C-DDFB-F1FF-B30D-981325614E3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48578" y="3377057"/>
            <a:ext cx="543150" cy="412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F26CDC-81D1-C322-C698-7E07BE54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202005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  <p:bldP spid="4" grpId="0" animBg="1"/>
      <p:bldP spid="6" grpId="0" animBg="1"/>
      <p:bldP spid="9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E3CD475-84DC-1AC9-D0AA-914B3FF17E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1347614"/>
                <a:ext cx="8515672" cy="3600399"/>
              </a:xfrm>
            </p:spPr>
            <p:txBody>
              <a:bodyPr>
                <a:noAutofit/>
              </a:bodyPr>
              <a:lstStyle/>
              <a:p>
                <a:pPr marL="173736" indent="-173736">
                  <a:lnSpc>
                    <a:spcPct val="100000"/>
                  </a:lnSpc>
                  <a:spcBef>
                    <a:spcPts val="432"/>
                  </a:spcBef>
                  <a:buFont typeface="+mj-lt"/>
                  <a:buAutoNum type="arabicPeriod"/>
                </a:pPr>
                <a:r>
                  <a:rPr lang="en-US" sz="2000" noProof="0" dirty="0"/>
                  <a:t> Generate the whole closure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sz="2000" i="1" noProof="0" smtClean="0">
                        <a:latin typeface="Cambria Math" panose="02040503050406030204" pitchFamily="18" charset="0"/>
                      </a:rPr>
                      <m:t>−1=511</m:t>
                    </m:r>
                  </m:oMath>
                </a14:m>
                <a:r>
                  <a:rPr lang="en-US" sz="2000" noProof="0" dirty="0"/>
                  <a:t> intersection hypotheses)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en-US" sz="1600" b="0" noProof="0" dirty="0"/>
                  <a:t> (overall intersection hypothesis)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en-US" sz="1600" b="0" noProof="0" dirty="0"/>
                  <a:t> (intersection hypothesis without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sz="1600" b="0" noProof="0" dirty="0"/>
                  <a:t>)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…</a:t>
                </a:r>
                <a:endParaRPr lang="en-US" sz="1600" b="0" noProof="0" dirty="0"/>
              </a:p>
              <a:p>
                <a:pPr marL="173736" indent="-173736">
                  <a:lnSpc>
                    <a:spcPct val="100000"/>
                  </a:lnSpc>
                  <a:spcBef>
                    <a:spcPts val="432"/>
                  </a:spcBef>
                  <a:buFont typeface="+mj-lt"/>
                  <a:buAutoNum type="arabicPeriod"/>
                </a:pPr>
                <a:r>
                  <a:rPr lang="en-US" sz="2000" b="0" noProof="0" dirty="0"/>
                  <a:t> Find hypothesis weights from the corresponding (initial and updated) graph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700" noProof="0" dirty="0"/>
                  <a:t>Algorithm 1 in Bretz et al. (2011)</a:t>
                </a:r>
                <a:endParaRPr lang="en-US" sz="1700" b="0" noProof="0" dirty="0"/>
              </a:p>
              <a:p>
                <a:pPr marL="173736" indent="-173736">
                  <a:lnSpc>
                    <a:spcPct val="100000"/>
                  </a:lnSpc>
                  <a:spcBef>
                    <a:spcPts val="432"/>
                  </a:spcBef>
                  <a:buFont typeface="+mj-lt"/>
                  <a:buAutoNum type="arabicPeriod"/>
                </a:pPr>
                <a:r>
                  <a:rPr lang="en-US" sz="2000" noProof="0" dirty="0"/>
                  <a:t> Calculate the critical values based on the types of tests</a:t>
                </a:r>
              </a:p>
              <a:p>
                <a:pPr marL="173736" indent="-173736">
                  <a:lnSpc>
                    <a:spcPct val="100000"/>
                  </a:lnSpc>
                  <a:spcBef>
                    <a:spcPts val="432"/>
                  </a:spcBef>
                  <a:buFont typeface="+mj-lt"/>
                  <a:buAutoNum type="arabicPeriod"/>
                </a:pPr>
                <a:r>
                  <a:rPr lang="en-US" sz="2000" b="0" noProof="0" dirty="0"/>
                  <a:t> Perform testing for rejections and non-rejections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E3CD475-84DC-1AC9-D0AA-914B3FF17E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347614"/>
                <a:ext cx="8515672" cy="3600399"/>
              </a:xfrm>
              <a:blipFill>
                <a:blip r:embed="rId3"/>
                <a:stretch>
                  <a:fillRect l="-787" t="-1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Closed test procedure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107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E93789-C360-04DD-19B7-66C42834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364831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E295-6447-5719-6202-AC63113CE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4351095-4FCA-043B-86D6-543C8E1297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1347614"/>
                <a:ext cx="3456384" cy="360039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432"/>
                  </a:spcBef>
                  <a:buNone/>
                </a:pPr>
                <a:r>
                  <a:rPr lang="en-US" sz="1800" noProof="0" dirty="0"/>
                  <a:t>Consider the overall intersection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>
                    <a:solidFill>
                      <a:schemeClr val="accent1"/>
                    </a:solidFill>
                  </a:rPr>
                  <a:t>Weighted parametric test </a:t>
                </a:r>
                <a:r>
                  <a:rPr lang="en-US" sz="1800" noProof="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lang="en-US" sz="1800" noProof="0" dirty="0"/>
                  <a:t> based on hypothesis weights: 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0.2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600" noProof="0" dirty="0"/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0.4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sz="16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endParaRPr lang="en-US" sz="16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Note weights 0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, …,</m:t>
                    </m:r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1800" noProof="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4351095-4FCA-043B-86D6-543C8E129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347614"/>
                <a:ext cx="3456384" cy="3600399"/>
              </a:xfrm>
              <a:blipFill>
                <a:blip r:embed="rId3"/>
                <a:stretch>
                  <a:fillRect l="-1411" t="-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8E932AD-14C8-4D83-0F55-5FA80F77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An illustration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6CCFA8-5A1F-16AE-D3C2-FA0B84B6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108</a:t>
            </a:fld>
            <a:endParaRPr lang="en-US" noProof="0" dirty="0"/>
          </a:p>
        </p:txBody>
      </p:sp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0E29150D-8014-AF75-B154-6061CA191E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78" r="3906"/>
          <a:stretch/>
        </p:blipFill>
        <p:spPr>
          <a:xfrm>
            <a:off x="3927287" y="1347614"/>
            <a:ext cx="4965192" cy="24597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21ECAB-4743-F1C6-247F-0F2BD49F4F60}"/>
              </a:ext>
            </a:extLst>
          </p:cNvPr>
          <p:cNvSpPr txBox="1"/>
          <p:nvPr/>
        </p:nvSpPr>
        <p:spPr>
          <a:xfrm>
            <a:off x="4439728" y="930964"/>
            <a:ext cx="4075622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r>
              <a:rPr lang="en-US" noProof="0" dirty="0"/>
              <a:t>Parametric</a:t>
            </a:r>
          </a:p>
          <a:p>
            <a:pPr algn="r"/>
            <a:endParaRPr lang="en-US" noProof="0" dirty="0"/>
          </a:p>
          <a:p>
            <a:pPr algn="r"/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040230-3D19-7A6D-0D4D-DA5A0A733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55683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DC6A5-DAC2-869A-A0D4-22B5B9B9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D1293CF-3628-5B17-1ADB-0D25725D00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7" y="1347614"/>
                <a:ext cx="3597543" cy="360039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432"/>
                  </a:spcBef>
                  <a:buNone/>
                </a:pPr>
                <a:r>
                  <a:rPr lang="en-US" sz="1800" noProof="0" dirty="0"/>
                  <a:t>Consider the intersection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en-US" sz="1800" noProof="0" dirty="0"/>
                  <a:t> (i.e., without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sz="1800" noProof="0" dirty="0"/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>
                    <a:solidFill>
                      <a:schemeClr val="accent1"/>
                    </a:solidFill>
                  </a:rPr>
                  <a:t>Weighted parametric test </a:t>
                </a:r>
                <a:r>
                  <a:rPr lang="en-US" sz="1800" noProof="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lang="en-US" sz="1800" noProof="0" dirty="0"/>
                  <a:t> based on weights: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0.49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sz="1600" noProof="0" dirty="0"/>
                  <a:t> 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600" noProof="0" dirty="0"/>
                  <a:t>0.45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endParaRPr lang="en-US" sz="16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>
                    <a:solidFill>
                      <a:schemeClr val="accent1"/>
                    </a:solidFill>
                  </a:rPr>
                  <a:t>Weighted Bonferroni test </a:t>
                </a:r>
                <a:r>
                  <a:rPr lang="en-US" sz="1800" noProof="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8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lang="en-US" sz="1800" noProof="0" dirty="0"/>
                  <a:t> based on weights:</a:t>
                </a:r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700" noProof="0" dirty="0"/>
                  <a:t>0.054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700" i="1" noProof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endParaRPr lang="en-US" sz="1700" noProof="0" dirty="0"/>
              </a:p>
              <a:p>
                <a:pPr lvl="1"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700" noProof="0" dirty="0"/>
                  <a:t>0.006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700" i="1" noProof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endParaRPr lang="en-US" sz="1700" noProof="0" dirty="0"/>
              </a:p>
              <a:p>
                <a:pPr>
                  <a:lnSpc>
                    <a:spcPct val="100000"/>
                  </a:lnSpc>
                  <a:spcBef>
                    <a:spcPts val="432"/>
                  </a:spcBef>
                </a:pPr>
                <a:r>
                  <a:rPr lang="en-US" sz="1800" noProof="0" dirty="0"/>
                  <a:t>Note weights 0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noProof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1800" noProof="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D1293CF-3628-5B17-1ADB-0D25725D00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7" y="1347614"/>
                <a:ext cx="3597543" cy="3600399"/>
              </a:xfrm>
              <a:blipFill>
                <a:blip r:embed="rId3"/>
                <a:stretch>
                  <a:fillRect l="-1356" t="-846" r="-2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50EF08F-F99C-1F0C-8002-AABD95AB4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An illustration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45135-4A7C-E76B-788A-0D03B1D5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109</a:t>
            </a:fld>
            <a:endParaRPr lang="en-US" noProof="0" dirty="0"/>
          </a:p>
        </p:txBody>
      </p:sp>
      <p:pic>
        <p:nvPicPr>
          <p:cNvPr id="7" name="Picture 6" descr="A diagram of a network&#10;&#10;Description automatically generated">
            <a:extLst>
              <a:ext uri="{FF2B5EF4-FFF2-40B4-BE49-F238E27FC236}">
                <a16:creationId xmlns:a16="http://schemas.microsoft.com/office/drawing/2014/main" id="{540C63D3-024B-D60E-D3F3-93F953C538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42" t="6395" r="2988"/>
          <a:stretch/>
        </p:blipFill>
        <p:spPr>
          <a:xfrm>
            <a:off x="3851920" y="1262265"/>
            <a:ext cx="4968552" cy="27986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A76538-7C61-66AD-98CB-3A74F297439E}"/>
              </a:ext>
            </a:extLst>
          </p:cNvPr>
          <p:cNvSpPr txBox="1"/>
          <p:nvPr/>
        </p:nvSpPr>
        <p:spPr>
          <a:xfrm>
            <a:off x="5868144" y="1341255"/>
            <a:ext cx="264720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Parametric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0D65F-E4F2-80ED-B37E-6B1333D31352}"/>
              </a:ext>
            </a:extLst>
          </p:cNvPr>
          <p:cNvSpPr txBox="1"/>
          <p:nvPr/>
        </p:nvSpPr>
        <p:spPr>
          <a:xfrm>
            <a:off x="3767765" y="3605021"/>
            <a:ext cx="1596325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ctr"/>
            <a:r>
              <a:rPr lang="en-US" noProof="0" dirty="0"/>
              <a:t>Bonferroni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14F75-2FAA-66C3-5D7B-FF644CF09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413674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3" grpId="0" animBg="1"/>
      <p:bldP spid="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110</a:t>
            </a:fld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61C82C-0916-7F8A-FF20-2E339569B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820163"/>
              </p:ext>
            </p:extLst>
          </p:nvPr>
        </p:nvGraphicFramePr>
        <p:xfrm>
          <a:off x="971600" y="1200627"/>
          <a:ext cx="749808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142375994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353592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537137796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3176779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Dose vs. Placebo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P-value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P-value threshold for statistical significance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97671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300mg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0.0157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0.00529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6164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150mg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0.010375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&lt; 0.010575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19529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0.010575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28037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SE1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300mg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2605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150mg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0.0025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noProof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&lt; 0.002645</a:t>
                      </a:r>
                      <a:endParaRPr lang="en-US" sz="1600" noProof="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0757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94757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SE2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300mg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0482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150mg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0.00294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7498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407725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79FA92-CA1C-8C31-9283-AEC1D4C76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136121845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spc="-100" noProof="0" dirty="0"/>
              <a:t>CANTOS trial</a:t>
            </a:r>
            <a:br>
              <a:rPr lang="en-US" sz="3200" spc="-100" noProof="0" dirty="0"/>
            </a:br>
            <a:r>
              <a:rPr lang="en-US" sz="2200" i="1" noProof="0" dirty="0">
                <a:solidFill>
                  <a:srgbClr val="000000"/>
                </a:solidFill>
              </a:rPr>
              <a:t>What if Bonferroni tests had been used for primary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111</a:t>
            </a:fld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8A25C8F-A5EC-546D-EFC7-0852C8ED1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122715"/>
              </p:ext>
            </p:extLst>
          </p:nvPr>
        </p:nvGraphicFramePr>
        <p:xfrm>
          <a:off x="913229" y="1347614"/>
          <a:ext cx="7498080" cy="193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400342792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59333152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89837739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5432713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22300993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Dose vs. Placebo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P-value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P-value threshold for statistical significance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4537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endParaRPr lang="en-US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Dunnett (prespecified)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Bonferroni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22315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300mg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0.0157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0.00529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0.0049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9389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150mg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0.010375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&lt; 0.010575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highlight>
                            <a:srgbClr val="FFFF00"/>
                          </a:highlight>
                        </a:rPr>
                        <a:t>&gt; 0.0098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2995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0.010575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/>
                        <a:t>&gt; 0.0098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156912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A22DCC8-94F5-B4A7-E364-C832D3A2E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435845"/>
            <a:ext cx="8119814" cy="1196877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PE for 150mg vs. placebo was </a:t>
            </a:r>
            <a:r>
              <a:rPr lang="en-US" sz="2000" noProof="0" dirty="0">
                <a:solidFill>
                  <a:schemeClr val="accent1"/>
                </a:solidFill>
              </a:rPr>
              <a:t>statistically significant </a:t>
            </a:r>
            <a:r>
              <a:rPr lang="en-US" sz="2000" noProof="0" dirty="0"/>
              <a:t>using the pre-specified Dunnett tests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It would </a:t>
            </a:r>
            <a:r>
              <a:rPr lang="en-US" sz="2000" noProof="0" dirty="0">
                <a:solidFill>
                  <a:schemeClr val="accent1"/>
                </a:solidFill>
              </a:rPr>
              <a:t>not have been significant</a:t>
            </a:r>
            <a:r>
              <a:rPr lang="en-US" sz="2000" noProof="0" dirty="0"/>
              <a:t>, had a Bonferroni-based graph been used</a:t>
            </a:r>
            <a:endParaRPr lang="en-US" sz="1700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0A451D-EC29-5BA3-750C-D1F2A89E3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200400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Hypothetical example based on CANTOS trial</a:t>
            </a:r>
            <a:br>
              <a:rPr lang="en-US" sz="2800" noProof="0" dirty="0"/>
            </a:br>
            <a:r>
              <a:rPr lang="en-US" sz="2200" i="1" noProof="0" dirty="0"/>
              <a:t>Create an initial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112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294477"/>
            <a:ext cx="8450835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hypotheses &lt;- </a:t>
            </a:r>
            <a:r>
              <a:rPr lang="en-US" sz="1200" u="sng" noProof="0" dirty="0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c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0.2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0.4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0.4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epsilon &lt;-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1e-5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transitions &lt;- </a:t>
            </a:r>
            <a:r>
              <a:rPr lang="en-US" sz="1200" u="sng" noProof="0" dirty="0" err="1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rbind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(H11=c(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0.45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0.25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0.27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H21=c(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0.07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0.63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0.27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H31=c(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0.07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0.13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0.72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0.08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H12=c(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H22=c(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H32=c(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epsilon,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- epsilon),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H13=c(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epsilon,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- epsilon,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H23=c(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epsilon,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1 - epsilon,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              H33=c(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 &lt;- </a:t>
            </a:r>
            <a:r>
              <a:rPr lang="en-US" sz="1200" u="sng" noProof="0" dirty="0" err="1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graph_create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(hypotheses, transitions)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plot_layout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&lt;- </a:t>
            </a:r>
            <a:r>
              <a:rPr lang="en-US" sz="1200" u="sng" noProof="0" dirty="0" err="1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rbind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0.15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0.65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1.15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0.8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1.3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200" u="sng" noProof="0" dirty="0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plot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(g, layout = </a:t>
            </a:r>
            <a:r>
              <a:rPr lang="en-US" sz="12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plot_layout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eps = epsilon, </a:t>
            </a:r>
            <a:r>
              <a:rPr lang="en-US" sz="12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edge_curves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c(pairs =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0.95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</a:t>
            </a:r>
            <a:r>
              <a:rPr lang="en-US" sz="12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vertex.size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15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margins = c(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3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  <a:r>
              <a:rPr lang="en-US" sz="12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</a:t>
            </a:r>
            <a:r>
              <a:rPr lang="en-US" sz="12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</a:t>
            </a:r>
            <a:endParaRPr lang="en-US" sz="12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066D2-F42E-8198-42B5-920D5EF58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122289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3000" noProof="0" dirty="0">
                <a:ea typeface="Calibri Light"/>
                <a:cs typeface="Calibri Light"/>
              </a:rPr>
            </a:br>
            <a:r>
              <a:rPr lang="en-US" sz="2200" i="1" noProof="0" dirty="0"/>
              <a:t>Perform testing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113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294477"/>
            <a:ext cx="4274371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en-US" sz="1600" noProof="0" dirty="0" err="1">
                <a:latin typeface="Courier New"/>
                <a:ea typeface="var(--bs-font-monospace)"/>
                <a:cs typeface="Courier New"/>
              </a:rPr>
              <a:t>corr</a:t>
            </a:r>
            <a:r>
              <a:rPr lang="en-US" sz="1600" noProof="0" dirty="0">
                <a:latin typeface="Courier New"/>
                <a:ea typeface="var(--bs-font-monospace)"/>
                <a:cs typeface="Courier New"/>
              </a:rPr>
              <a:t> &lt;- matrix(0.4, </a:t>
            </a:r>
            <a:r>
              <a:rPr lang="en-US" sz="1600" noProof="0" dirty="0" err="1">
                <a:latin typeface="Courier New"/>
                <a:ea typeface="var(--bs-font-monospace)"/>
                <a:cs typeface="Courier New"/>
              </a:rPr>
              <a:t>nrow</a:t>
            </a:r>
            <a:r>
              <a:rPr lang="en-US" sz="1600" noProof="0" dirty="0">
                <a:latin typeface="Courier New"/>
                <a:ea typeface="var(--bs-font-monospace)"/>
                <a:cs typeface="Courier New"/>
              </a:rPr>
              <a:t> = 3, </a:t>
            </a:r>
            <a:r>
              <a:rPr lang="en-US" sz="1600" noProof="0" dirty="0" err="1">
                <a:latin typeface="Courier New"/>
                <a:ea typeface="var(--bs-font-monospace)"/>
                <a:cs typeface="Courier New"/>
              </a:rPr>
              <a:t>ncol</a:t>
            </a:r>
            <a:r>
              <a:rPr lang="en-US" sz="1600" noProof="0" dirty="0">
                <a:latin typeface="Courier New"/>
                <a:ea typeface="var(--bs-font-monospace)"/>
                <a:cs typeface="Courier New"/>
              </a:rPr>
              <a:t> = 3)</a:t>
            </a:r>
          </a:p>
          <a:p>
            <a:pPr>
              <a:spcAft>
                <a:spcPct val="0"/>
              </a:spcAft>
            </a:pPr>
            <a:r>
              <a:rPr lang="en-US" sz="1600" noProof="0" dirty="0" err="1">
                <a:latin typeface="Courier New"/>
                <a:ea typeface="var(--bs-font-monospace)"/>
                <a:cs typeface="Courier New"/>
              </a:rPr>
              <a:t>diag</a:t>
            </a:r>
            <a:r>
              <a:rPr lang="en-US" sz="1600" noProof="0" dirty="0">
                <a:latin typeface="Courier New"/>
                <a:ea typeface="var(--bs-font-monospace)"/>
                <a:cs typeface="Courier New"/>
              </a:rPr>
              <a:t>(</a:t>
            </a:r>
            <a:r>
              <a:rPr lang="en-US" sz="1600" noProof="0" dirty="0" err="1">
                <a:latin typeface="Courier New"/>
                <a:ea typeface="var(--bs-font-monospace)"/>
                <a:cs typeface="Courier New"/>
              </a:rPr>
              <a:t>corr</a:t>
            </a:r>
            <a:r>
              <a:rPr lang="en-US" sz="1600" noProof="0" dirty="0">
                <a:latin typeface="Courier New"/>
                <a:ea typeface="var(--bs-font-monospace)"/>
                <a:cs typeface="Courier New"/>
              </a:rPr>
              <a:t>) &lt;- 1</a:t>
            </a:r>
          </a:p>
          <a:p>
            <a:pPr>
              <a:spcAft>
                <a:spcPct val="0"/>
              </a:spcAft>
            </a:pPr>
            <a:endParaRPr lang="en-US" sz="1600" u="sng" noProof="0" dirty="0">
              <a:solidFill>
                <a:schemeClr val="accent1"/>
              </a:solidFill>
              <a:latin typeface="Courier New"/>
              <a:ea typeface="var(--bs-font-monospace)"/>
              <a:cs typeface="Courier New"/>
            </a:endParaRPr>
          </a:p>
          <a:p>
            <a:pPr lvl="0">
              <a:spcAft>
                <a:spcPct val="0"/>
              </a:spcAft>
            </a:pPr>
            <a:r>
              <a:rPr lang="en-US" sz="1600" u="sng" noProof="0" dirty="0" err="1">
                <a:solidFill>
                  <a:schemeClr val="accent1"/>
                </a:solidFill>
                <a:latin typeface="Courier New"/>
                <a:ea typeface="var(--bs-font-monospace)"/>
                <a:cs typeface="Courier New"/>
              </a:rPr>
              <a:t>graph_test_closure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(</a:t>
            </a:r>
            <a:endParaRPr lang="en-US" noProof="0" dirty="0">
              <a:latin typeface="Courier New"/>
              <a:cs typeface="Courier New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   g,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   p =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pvalues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   alpha = </a:t>
            </a:r>
            <a:r>
              <a:rPr lang="en-US" sz="1600" noProof="0" dirty="0">
                <a:solidFill>
                  <a:srgbClr val="C00000"/>
                </a:solidFill>
                <a:latin typeface="Courier New"/>
                <a:ea typeface="var(--bs-font-monospace)"/>
                <a:cs typeface="Courier New"/>
              </a:rPr>
              <a:t>0.0245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test_groups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list(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1:3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4:9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test_types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c("parametric",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"),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list(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, NA))</a:t>
            </a:r>
            <a:endParaRPr lang="en-US" sz="1600" noProof="0" dirty="0">
              <a:solidFill>
                <a:srgbClr val="54565B"/>
              </a:solidFill>
              <a:highlight>
                <a:srgbClr val="FFFF00"/>
              </a:highlight>
              <a:latin typeface="Courier New"/>
              <a:cs typeface="Courier Ne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804CF-E195-BEB1-AC9D-08628CC3E24C}"/>
              </a:ext>
            </a:extLst>
          </p:cNvPr>
          <p:cNvSpPr txBox="1"/>
          <p:nvPr/>
        </p:nvSpPr>
        <p:spPr>
          <a:xfrm>
            <a:off x="4932040" y="1294477"/>
            <a:ext cx="3888432" cy="28007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 summary ($outputs) 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Hypothesis Adj. P-value Reject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H11      0.06489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H21      0.02406   TRUE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H31      0.15000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H12      0.06489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H22      0.02405   TRUE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H32      0.15000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H13      0.06489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H23      0.06483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 H33      0.15000  FALSE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F25BC-F86A-439D-9C9C-E9257D09E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94017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2800" noProof="0" dirty="0"/>
            </a:br>
            <a:r>
              <a:rPr lang="en-US" sz="2200" i="1" noProof="0" dirty="0"/>
              <a:t>Closed tests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114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275606"/>
            <a:ext cx="830681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u="sng" noProof="0" dirty="0" err="1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graph_test_closure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(g, p =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pvalues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alpha =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0.0245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test_groups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list(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1:3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4:9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test_types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c("parametric", "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"),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test_corr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list(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corr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NA),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test_values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TRUE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804CF-E195-BEB1-AC9D-08628CC3E24C}"/>
              </a:ext>
            </a:extLst>
          </p:cNvPr>
          <p:cNvSpPr txBox="1"/>
          <p:nvPr/>
        </p:nvSpPr>
        <p:spPr>
          <a:xfrm>
            <a:off x="107505" y="2546773"/>
            <a:ext cx="892899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Hypothesis Test       p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c_value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Weight Alpha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Inequality_holds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H21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parametric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0.010375 1.0495852959 0.490 0.0245   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TRUE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H31    parametric 0.150000 1.0495852959 0.450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H12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0.002000              0.054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H22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0.002500              0.000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H32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0.060000              0.000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H13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0.003000              0.006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H23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0.010000              0.000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H33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0.035000              0.000 0.0245       FALSE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B43666-BF82-C5AF-684E-CF0D1408FA2A}"/>
                  </a:ext>
                </a:extLst>
              </p:cNvPr>
              <p:cNvSpPr txBox="1"/>
              <p:nvPr/>
            </p:nvSpPr>
            <p:spPr>
              <a:xfrm>
                <a:off x="0" y="2211710"/>
                <a:ext cx="46308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noProof="0" dirty="0"/>
                  <a:t>I</a:t>
                </a:r>
                <a:r>
                  <a:rPr lang="en-US" sz="1800" noProof="0" dirty="0"/>
                  <a:t>ntersection hypothesis without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B43666-BF82-C5AF-684E-CF0D1408F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11710"/>
                <a:ext cx="4630820" cy="369332"/>
              </a:xfrm>
              <a:prstGeom prst="rect">
                <a:avLst/>
              </a:prstGeom>
              <a:blipFill>
                <a:blip r:embed="rId2"/>
                <a:stretch>
                  <a:fillRect l="-105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14FBC-14F2-4A5C-F300-AEB5F4D0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123581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6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3000" noProof="0" dirty="0">
                <a:ea typeface="Calibri Light"/>
                <a:cs typeface="Calibri Light"/>
              </a:rPr>
            </a:br>
            <a:r>
              <a:rPr lang="en-US" sz="2200" i="1" noProof="0" dirty="0"/>
              <a:t>Perform power simulation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115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275606"/>
            <a:ext cx="8306819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u="sng" noProof="0" dirty="0" err="1">
                <a:solidFill>
                  <a:schemeClr val="accent1"/>
                </a:solidFill>
                <a:latin typeface="Courier New"/>
                <a:ea typeface="var(--bs-font-monospace)"/>
                <a:cs typeface="Courier New"/>
              </a:rPr>
              <a:t>graph_calculate_power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(g, alpha = </a:t>
            </a:r>
            <a:r>
              <a:rPr lang="en-US" sz="1600" noProof="0" dirty="0">
                <a:solidFill>
                  <a:srgbClr val="C00000"/>
                </a:solidFill>
                <a:latin typeface="Courier New"/>
                <a:ea typeface="var(--bs-font-monospace)"/>
                <a:cs typeface="Courier New"/>
              </a:rPr>
              <a:t>0.0245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sim_corr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corr_sim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sim_n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</a:t>
            </a:r>
            <a:r>
              <a:rPr lang="en-US" sz="1600" noProof="0" dirty="0">
                <a:solidFill>
                  <a:srgbClr val="C00000"/>
                </a:solidFill>
                <a:latin typeface="Courier New"/>
                <a:ea typeface="var(--bs-font-monospace)"/>
                <a:cs typeface="Courier New"/>
              </a:rPr>
              <a:t>1e5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power_marginal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c(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marginal_power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test_groups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list(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1:3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4:9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test_types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c("parametric",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bonferroni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"),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list(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, NA)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sim_success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success_fns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)</a:t>
            </a:r>
            <a:endParaRPr lang="en-US" sz="1600" noProof="0" dirty="0">
              <a:solidFill>
                <a:srgbClr val="54565B"/>
              </a:solidFill>
              <a:latin typeface="Courier New"/>
              <a:cs typeface="Courier Ne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804CF-E195-BEB1-AC9D-08628CC3E24C}"/>
              </a:ext>
            </a:extLst>
          </p:cNvPr>
          <p:cNvSpPr txBox="1"/>
          <p:nvPr/>
        </p:nvSpPr>
        <p:spPr>
          <a:xfrm>
            <a:off x="107505" y="2427734"/>
            <a:ext cx="8928992" cy="28007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power_local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H11    H21     H31     H12     H22     H32     H13     H23     H33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0.71632 0.78361 0.79903 0.44600 0.52279 0.59799 0.34676 0.40382 0.47063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rejection_expected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[1] 5.08695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$power_at_least_1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[1] 0.91791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power_all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[1] 0.27901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power_success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AllPE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0.59057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64646-008E-F5BF-0A71-335ACE4DC1B6}"/>
              </a:ext>
            </a:extLst>
          </p:cNvPr>
          <p:cNvSpPr txBox="1"/>
          <p:nvPr/>
        </p:nvSpPr>
        <p:spPr>
          <a:xfrm>
            <a:off x="3059832" y="3363838"/>
            <a:ext cx="3168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ea typeface="黑体"/>
              </a:rPr>
              <a:t>Expected number of rejections</a:t>
            </a:r>
            <a:endParaRPr lang="en-US" noProof="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367FEC-5B9A-10C7-EDF4-05C0DBBF457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68960" y="3548504"/>
            <a:ext cx="3908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35D11E-13DE-2F11-161D-B57E3B7C5ECB}"/>
              </a:ext>
            </a:extLst>
          </p:cNvPr>
          <p:cNvSpPr txBox="1"/>
          <p:nvPr/>
        </p:nvSpPr>
        <p:spPr>
          <a:xfrm>
            <a:off x="3044200" y="3834505"/>
            <a:ext cx="3688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ea typeface="黑体"/>
              </a:rPr>
              <a:t>Power to reject at least 1 hypothesis</a:t>
            </a:r>
            <a:endParaRPr lang="en-US" noProof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90DCF5-EB06-A9B6-1F14-A44FDAAF8E59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653329" y="4019171"/>
            <a:ext cx="3908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F4163D1-DC58-EA53-47D7-6443EB59CAAC}"/>
              </a:ext>
            </a:extLst>
          </p:cNvPr>
          <p:cNvSpPr txBox="1"/>
          <p:nvPr/>
        </p:nvSpPr>
        <p:spPr>
          <a:xfrm>
            <a:off x="3033191" y="4346837"/>
            <a:ext cx="3168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ea typeface="黑体"/>
              </a:rPr>
              <a:t>Power to reject all hypotheses</a:t>
            </a:r>
            <a:endParaRPr lang="en-US" noProof="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E0FBC4-C3F0-E1AA-5D27-BB55D73440C1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2642319" y="4531503"/>
            <a:ext cx="3908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C5BD5D7-BE52-D506-F215-CA514AF3F5C4}"/>
              </a:ext>
            </a:extLst>
          </p:cNvPr>
          <p:cNvSpPr txBox="1"/>
          <p:nvPr/>
        </p:nvSpPr>
        <p:spPr>
          <a:xfrm>
            <a:off x="3014292" y="4774168"/>
            <a:ext cx="4438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ea typeface="黑体"/>
              </a:rPr>
              <a:t>User-defined power of success to reject all PE</a:t>
            </a:r>
            <a:endParaRPr lang="en-US" noProof="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62FEF0-3C64-0F38-CD33-673791FE6867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2623421" y="4958834"/>
            <a:ext cx="3908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69B66D6-A8BA-5344-1149-C5862395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261016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4" grpId="0"/>
      <p:bldP spid="9" grpId="0"/>
      <p:bldP spid="12" grpId="0"/>
      <p:bldP spid="14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3000" noProof="0" dirty="0">
                <a:solidFill>
                  <a:srgbClr val="000000"/>
                </a:solidFill>
                <a:ea typeface="Calibri Light"/>
              </a:rPr>
            </a:br>
            <a:r>
              <a:rPr lang="en-US" sz="2200" i="1" noProof="0" dirty="0">
                <a:solidFill>
                  <a:srgbClr val="000000"/>
                </a:solidFill>
                <a:ea typeface="等线 Light"/>
              </a:rPr>
              <a:t>Simes tests for secondary hypotheses</a:t>
            </a:r>
            <a:endParaRPr lang="en-US" sz="2200" i="1" noProof="0" dirty="0">
              <a:solidFill>
                <a:srgbClr val="000000"/>
              </a:solidFill>
              <a:ea typeface="等线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2553-946E-669C-82B2-050F35B8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Closed test based on the graph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>
                <a:solidFill>
                  <a:schemeClr val="accent1"/>
                </a:solidFill>
              </a:rPr>
              <a:t>Primary hypotheses </a:t>
            </a:r>
            <a:r>
              <a:rPr lang="en-US" sz="2000" noProof="0" dirty="0"/>
              <a:t>are tested using </a:t>
            </a:r>
            <a:r>
              <a:rPr lang="en-US" sz="2000" noProof="0" dirty="0">
                <a:solidFill>
                  <a:schemeClr val="accent1"/>
                </a:solidFill>
              </a:rPr>
              <a:t>weighted Dunnett tests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noProof="0" dirty="0"/>
              <a:t>Correlation between test statistics are calculated based on the common control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>
                <a:solidFill>
                  <a:schemeClr val="accent1"/>
                </a:solidFill>
              </a:rPr>
              <a:t>Secondary hypotheses for each dose </a:t>
            </a:r>
            <a:r>
              <a:rPr lang="en-US" sz="2000" noProof="0" dirty="0"/>
              <a:t>are tested using </a:t>
            </a:r>
            <a:r>
              <a:rPr lang="en-US" sz="2000" noProof="0" dirty="0">
                <a:solidFill>
                  <a:srgbClr val="C00000"/>
                </a:solidFill>
              </a:rPr>
              <a:t>weighted Simes tests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Positive correlations are expected between secondary endpoints for each dose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Three groups of hypotheses using separate weighted Simes tests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Bonferroni tests for remaining tests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EB002-DDAF-15B9-6F7A-B05B8395B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176088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3000" noProof="0" dirty="0">
                <a:solidFill>
                  <a:srgbClr val="000000"/>
                </a:solidFill>
                <a:ea typeface="Calibri Light"/>
                <a:cs typeface="Calibri Light"/>
              </a:rPr>
            </a:br>
            <a:r>
              <a:rPr lang="en-US" sz="2200" i="1" noProof="0" dirty="0">
                <a:solidFill>
                  <a:srgbClr val="000000"/>
                </a:solidFill>
                <a:ea typeface="等线 Light"/>
              </a:rPr>
              <a:t>Simes tests for secondary hypotheses</a:t>
            </a:r>
            <a:endParaRPr lang="en-US" sz="2200" i="1" noProof="0" dirty="0">
              <a:solidFill>
                <a:srgbClr val="000000"/>
              </a:solidFill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117</a:t>
            </a:fld>
            <a:endParaRPr lang="en-US" noProof="0" dirty="0"/>
          </a:p>
        </p:txBody>
      </p:sp>
      <p:pic>
        <p:nvPicPr>
          <p:cNvPr id="7" name="Picture 6" descr="A diagram of a network&#10;&#10;Description automatically generated">
            <a:extLst>
              <a:ext uri="{FF2B5EF4-FFF2-40B4-BE49-F238E27FC236}">
                <a16:creationId xmlns:a16="http://schemas.microsoft.com/office/drawing/2014/main" id="{E522012C-AE0C-208F-1E9E-43E2C51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8" r="3906"/>
          <a:stretch/>
        </p:blipFill>
        <p:spPr>
          <a:xfrm>
            <a:off x="1322498" y="1288345"/>
            <a:ext cx="6499003" cy="32196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091BEE-EFDA-8619-E2FA-9BAFE4F304B9}"/>
              </a:ext>
            </a:extLst>
          </p:cNvPr>
          <p:cNvSpPr txBox="1"/>
          <p:nvPr/>
        </p:nvSpPr>
        <p:spPr>
          <a:xfrm>
            <a:off x="1674590" y="1304779"/>
            <a:ext cx="684076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r>
              <a:rPr lang="en-US" noProof="0" dirty="0"/>
              <a:t>Parametric</a:t>
            </a:r>
          </a:p>
          <a:p>
            <a:pPr algn="r"/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88560-DCBD-A42D-844D-41F422D9D00F}"/>
              </a:ext>
            </a:extLst>
          </p:cNvPr>
          <p:cNvSpPr txBox="1"/>
          <p:nvPr/>
        </p:nvSpPr>
        <p:spPr>
          <a:xfrm>
            <a:off x="628648" y="3795886"/>
            <a:ext cx="2575199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r>
              <a:rPr lang="en-US" noProof="0" dirty="0"/>
              <a:t>Simes</a:t>
            </a:r>
          </a:p>
          <a:p>
            <a:pPr algn="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77BF03-79B4-A3AC-D6FF-559B0D126BB2}"/>
              </a:ext>
            </a:extLst>
          </p:cNvPr>
          <p:cNvSpPr txBox="1"/>
          <p:nvPr/>
        </p:nvSpPr>
        <p:spPr>
          <a:xfrm>
            <a:off x="3599892" y="3802931"/>
            <a:ext cx="2016224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endParaRPr lang="en-US" noProof="0" dirty="0"/>
          </a:p>
          <a:p>
            <a:pPr algn="ctr"/>
            <a:r>
              <a:rPr lang="en-US" noProof="0" dirty="0"/>
              <a:t>Simes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822E53-2CB4-8C4F-EEFE-4CC5C8D84E8A}"/>
              </a:ext>
            </a:extLst>
          </p:cNvPr>
          <p:cNvSpPr txBox="1"/>
          <p:nvPr/>
        </p:nvSpPr>
        <p:spPr>
          <a:xfrm>
            <a:off x="6012161" y="3789399"/>
            <a:ext cx="250319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endParaRPr lang="en-US" noProof="0" dirty="0"/>
          </a:p>
          <a:p>
            <a:pPr algn="r"/>
            <a:r>
              <a:rPr lang="en-US" noProof="0" dirty="0"/>
              <a:t>Simes</a:t>
            </a:r>
          </a:p>
          <a:p>
            <a:pPr algn="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B92DD-6C0B-9AB0-B5A5-6A9F3CF0940B}"/>
              </a:ext>
            </a:extLst>
          </p:cNvPr>
          <p:cNvSpPr txBox="1"/>
          <p:nvPr/>
        </p:nvSpPr>
        <p:spPr>
          <a:xfrm>
            <a:off x="11282" y="2453727"/>
            <a:ext cx="1674591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noProof="0" dirty="0"/>
              <a:t>Bonferroni to connect mixed types of tests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4971A9-061F-B450-6E82-930C36E8AAE8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848578" y="1766444"/>
            <a:ext cx="826012" cy="687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699FC1-1820-AC39-B879-F2EB16CE34A5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48578" y="3377057"/>
            <a:ext cx="543150" cy="412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14BA7F9-04C2-9228-5471-559C56C5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305146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3000" noProof="0" dirty="0">
                <a:ea typeface="Calibri Light"/>
                <a:cs typeface="Calibri Light"/>
              </a:rPr>
            </a:br>
            <a:r>
              <a:rPr lang="en-US" sz="2200" i="1" noProof="0" dirty="0"/>
              <a:t>Perform testing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118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179513" y="1294477"/>
            <a:ext cx="4824535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</a:t>
            </a:r>
            <a:r>
              <a:rPr lang="en-US" sz="1600" u="sng" noProof="0" dirty="0" err="1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graph_test_closure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g,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p =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pvalues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alpha =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0.0245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test_groups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list(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1:3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c(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4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7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5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8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6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9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test_types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c("parametric",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"),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list(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NA, NA, NA)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804CF-E195-BEB1-AC9D-08628CC3E24C}"/>
              </a:ext>
            </a:extLst>
          </p:cNvPr>
          <p:cNvSpPr txBox="1"/>
          <p:nvPr/>
        </p:nvSpPr>
        <p:spPr>
          <a:xfrm>
            <a:off x="5076056" y="1294477"/>
            <a:ext cx="3888432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Hypothesis Adj. P-value Reject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H11      0.06489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H21      0.02406   TRUE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H31      0.15000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H12      0.06489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H22      0.02405   TRUE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H32      0.15000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H13      0.06489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H23      0.06483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  H33      0.15000  FALSE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7C6AA-407C-008B-FCCB-B2AA708C7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324979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3000" noProof="0" dirty="0">
                <a:ea typeface="Calibri Light"/>
                <a:cs typeface="Calibri Light"/>
              </a:rPr>
            </a:br>
            <a:r>
              <a:rPr lang="en-US" sz="2200" i="1" noProof="0" dirty="0"/>
              <a:t>Closed tests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119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347614"/>
            <a:ext cx="8306819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u="sng" noProof="0" dirty="0" err="1">
                <a:solidFill>
                  <a:schemeClr val="accent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graph_test_closure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(g, p =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pvalues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alpha =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0.0245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test_groups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list(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1:3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c(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4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7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5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8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), c(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6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</a:t>
            </a:r>
            <a:r>
              <a:rPr lang="en-US" sz="1600" noProof="0" dirty="0">
                <a:solidFill>
                  <a:srgbClr val="C00000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9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)),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test_types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c("parametric", "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", "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", "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"),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test_corr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list(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corr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, NA, NA, NA),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test_values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= TRUE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)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804CF-E195-BEB1-AC9D-08628CC3E24C}"/>
              </a:ext>
            </a:extLst>
          </p:cNvPr>
          <p:cNvSpPr txBox="1"/>
          <p:nvPr/>
        </p:nvSpPr>
        <p:spPr>
          <a:xfrm>
            <a:off x="369637" y="2711698"/>
            <a:ext cx="866685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Hypothesis Test       p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c_value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   Weight Alpha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Inequality_holds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H21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parametric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0.010375 1.0495852959 0.490 0.0245       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TRUE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H31    parametric 0.150000 1.0495852959 0.450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H12        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0.002000              0.054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H22   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0.002500              0.000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H32   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0.060000              0.000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H13   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0.003000              0.006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H23   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0.010000              0.000 0.0245       FALSE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H33         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0.035000              0.000 0.0245       FALSE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CCC4A0-89F4-BDB5-C20F-A8DF447B1C09}"/>
                  </a:ext>
                </a:extLst>
              </p:cNvPr>
              <p:cNvSpPr txBox="1"/>
              <p:nvPr/>
            </p:nvSpPr>
            <p:spPr>
              <a:xfrm>
                <a:off x="251520" y="2387084"/>
                <a:ext cx="46308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noProof="0" dirty="0"/>
                  <a:t>I</a:t>
                </a:r>
                <a:r>
                  <a:rPr lang="en-US" sz="1800" noProof="0" dirty="0"/>
                  <a:t>ntersection hypothesis without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CCC4A0-89F4-BDB5-C20F-A8DF447B1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387084"/>
                <a:ext cx="4630820" cy="369332"/>
              </a:xfrm>
              <a:prstGeom prst="rect">
                <a:avLst/>
              </a:prstGeom>
              <a:blipFill>
                <a:blip r:embed="rId2"/>
                <a:stretch>
                  <a:fillRect l="-105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BAD9-2DC4-13BB-B2DE-478D58608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204670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4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C35-2954-4E52-BE3F-E02DED7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000" noProof="0" dirty="0"/>
              <a:t>Hypothetical example based on CANTOS trial</a:t>
            </a:r>
            <a:br>
              <a:rPr lang="en-US" sz="2800" noProof="0" dirty="0"/>
            </a:br>
            <a:r>
              <a:rPr lang="en-US" sz="2200" i="1" noProof="0" dirty="0"/>
              <a:t>Perform power simulation</a:t>
            </a:r>
            <a:endParaRPr lang="en-US" sz="2200" i="1" noProof="0" dirty="0">
              <a:ea typeface="Calibri Light"/>
              <a:cs typeface="Calibri Ligh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66AEC-4B4B-11CF-8433-A8F84D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120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498DC-1F05-087D-3844-0DFBE213463A}"/>
              </a:ext>
            </a:extLst>
          </p:cNvPr>
          <p:cNvSpPr txBox="1"/>
          <p:nvPr/>
        </p:nvSpPr>
        <p:spPr>
          <a:xfrm>
            <a:off x="369637" y="1203598"/>
            <a:ext cx="830681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graph_calculate_power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(g, alpha = 0.0245,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sim_corr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corr_sim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sim_n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1e5,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power_marginal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c(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marginal_power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test_groups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list(1:3, c(4, 7), c(5, 8), c(6, 9)),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test_types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c("parametric",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", "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simes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"), 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test_corr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 = list(</a:t>
            </a:r>
            <a:r>
              <a:rPr lang="en-US" sz="1600" noProof="0" dirty="0" err="1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corr</a:t>
            </a:r>
            <a:r>
              <a:rPr lang="en-US" sz="1600" noProof="0" dirty="0">
                <a:solidFill>
                  <a:srgbClr val="111111"/>
                </a:solidFill>
                <a:highlight>
                  <a:srgbClr val="FFFF00"/>
                </a:highlight>
                <a:latin typeface="Courier New"/>
                <a:ea typeface="var(--bs-font-monospace)"/>
                <a:cs typeface="Courier New"/>
              </a:rPr>
              <a:t>, NA, NA, NA)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,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sim_success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 = </a:t>
            </a:r>
            <a:r>
              <a:rPr lang="en-US" sz="1600" noProof="0" dirty="0" err="1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success_fns</a:t>
            </a:r>
            <a:r>
              <a:rPr lang="en-US" sz="1600" noProof="0" dirty="0">
                <a:solidFill>
                  <a:srgbClr val="111111"/>
                </a:solidFill>
                <a:latin typeface="Courier New"/>
                <a:ea typeface="var(--bs-font-monospace)"/>
                <a:cs typeface="Courier New"/>
              </a:rPr>
              <a:t>)</a:t>
            </a:r>
            <a:endParaRPr lang="en-US" sz="1600" noProof="0" dirty="0">
              <a:solidFill>
                <a:srgbClr val="54565B"/>
              </a:solidFill>
              <a:latin typeface="Courier New"/>
              <a:cs typeface="Courier Ne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804CF-E195-BEB1-AC9D-08628CC3E24C}"/>
              </a:ext>
            </a:extLst>
          </p:cNvPr>
          <p:cNvSpPr txBox="1"/>
          <p:nvPr/>
        </p:nvSpPr>
        <p:spPr>
          <a:xfrm>
            <a:off x="369637" y="2643758"/>
            <a:ext cx="8666859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H11     H21     H31     H12     H22     H32     H13     H23     H33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0.7186 0.7851 0.8000  0.4504  0.5256  0.6016  0.3500  0.4087  0.4750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rejection_expected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[1] 5.1151 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sym typeface="Wingdings" panose="05000000000000000000" pitchFamily="2" charset="2"/>
              </a:rPr>
              <a:t>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5.08695)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$power_at_least_1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[1] 0.91879 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sym typeface="Wingdings" panose="05000000000000000000" pitchFamily="2" charset="2"/>
              </a:rPr>
              <a:t>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0.91791)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power_all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[1] 0.28348 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sym typeface="Wingdings" panose="05000000000000000000" pitchFamily="2" charset="2"/>
              </a:rPr>
              <a:t>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0.27901)</a:t>
            </a: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$</a:t>
            </a: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power_success</a:t>
            </a:r>
            <a:endParaRPr lang="en-US" sz="1600" noProof="0" dirty="0">
              <a:solidFill>
                <a:srgbClr val="111111"/>
              </a:solidFill>
              <a:latin typeface="Courier New" panose="02070309020205020404" pitchFamily="49" charset="0"/>
              <a:ea typeface="var(--bs-font-monospace)"/>
              <a:cs typeface="Courier New" panose="02070309020205020404" pitchFamily="49" charset="0"/>
            </a:endParaRPr>
          </a:p>
          <a:p>
            <a:pPr lvl="0" eaLnBrk="0" fontAlgn="base" hangingPunct="0">
              <a:spcAft>
                <a:spcPct val="0"/>
              </a:spcAft>
            </a:pPr>
            <a:r>
              <a:rPr lang="en-US" sz="1600" noProof="0" dirty="0" err="1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AllPE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0.593 (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  <a:sym typeface="Wingdings" panose="05000000000000000000" pitchFamily="2" charset="2"/>
              </a:rPr>
              <a:t></a:t>
            </a:r>
            <a:r>
              <a:rPr lang="en-US" sz="1600" noProof="0" dirty="0">
                <a:solidFill>
                  <a:srgbClr val="111111"/>
                </a:solidFill>
                <a:latin typeface="Courier New" panose="02070309020205020404" pitchFamily="49" charset="0"/>
                <a:ea typeface="var(--bs-font-monospace)"/>
                <a:cs typeface="Courier New" panose="02070309020205020404" pitchFamily="49" charset="0"/>
              </a:rPr>
              <a:t> 0.59057)</a:t>
            </a:r>
            <a:endParaRPr lang="en-US" sz="1600" noProof="0" dirty="0">
              <a:solidFill>
                <a:srgbClr val="54565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E3755-4BB9-57F2-B17B-B76590B201B4}"/>
              </a:ext>
            </a:extLst>
          </p:cNvPr>
          <p:cNvSpPr/>
          <p:nvPr/>
        </p:nvSpPr>
        <p:spPr>
          <a:xfrm>
            <a:off x="369637" y="3209026"/>
            <a:ext cx="8306819" cy="19344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spcBef>
                <a:spcPts val="600"/>
              </a:spcBef>
            </a:pPr>
            <a:r>
              <a:rPr lang="en-US" sz="1600" noProof="0" dirty="0">
                <a:solidFill>
                  <a:schemeClr val="tx1"/>
                </a:solidFill>
              </a:rPr>
              <a:t>Increasing power compared to Bonferroni tests for secondary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416A6-1F77-E126-315F-645C0BFE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344592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6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352-2209-23FE-DD43-EDD7915E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GraphicalMCP package</a:t>
            </a:r>
            <a:br>
              <a:rPr lang="en-US" noProof="0" dirty="0"/>
            </a:br>
            <a:r>
              <a:rPr lang="en-US" sz="2200" i="1" noProof="0" dirty="0"/>
              <a:t>Resources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EF11C-AA5F-EA6B-116F-F6F8233A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121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FFC6A-4989-6EC9-C133-D9618C0183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54" t="5657" r="21238" b="10511"/>
          <a:stretch/>
        </p:blipFill>
        <p:spPr>
          <a:xfrm>
            <a:off x="4644008" y="1268016"/>
            <a:ext cx="4176464" cy="309634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F25C4B3-ED6A-8A15-EA36-18805FDA6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369218"/>
            <a:ext cx="4464496" cy="343477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 err="1"/>
              <a:t>Github</a:t>
            </a:r>
            <a:r>
              <a:rPr lang="en-US" sz="2000" noProof="0" dirty="0"/>
              <a:t> repository on </a:t>
            </a:r>
            <a:r>
              <a:rPr lang="en-US" sz="2000" noProof="0" dirty="0" err="1"/>
              <a:t>OpenPharma</a:t>
            </a:r>
            <a:r>
              <a:rPr lang="en-US" sz="2000" noProof="0" dirty="0"/>
              <a:t> </a:t>
            </a:r>
            <a:r>
              <a:rPr lang="en-US" sz="2000" noProof="0" dirty="0">
                <a:hlinkClick r:id="rId4"/>
              </a:rPr>
              <a:t>https://openpharma.github.io/graphicalMCP/</a:t>
            </a:r>
            <a:endParaRPr lang="en-US" sz="2000" noProof="0" dirty="0"/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Get Started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Glossary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Function reference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Articles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Bonferroni-based graphs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Closed tests for mixed types of tests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Common MCPs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Internal validation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Comparisons with other packages</a:t>
            </a:r>
          </a:p>
          <a:p>
            <a:pPr lvl="1">
              <a:lnSpc>
                <a:spcPct val="100000"/>
              </a:lnSpc>
              <a:spcBef>
                <a:spcPts val="432"/>
              </a:spcBef>
            </a:pPr>
            <a:r>
              <a:rPr lang="en-US" sz="1700" noProof="0" dirty="0"/>
              <a:t>Rationales to generate the weighting strategy</a:t>
            </a:r>
          </a:p>
          <a:p>
            <a:pPr>
              <a:lnSpc>
                <a:spcPct val="100000"/>
              </a:lnSpc>
              <a:spcBef>
                <a:spcPts val="432"/>
              </a:spcBef>
            </a:pPr>
            <a:r>
              <a:rPr lang="en-US" sz="2000" noProof="0" dirty="0"/>
              <a:t>Changelog</a:t>
            </a:r>
            <a:endParaRPr lang="en-US" sz="1700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5A9E87-9903-D137-5305-0744D175B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85497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4D93-BD3A-5A0C-EB89-1BA38E2A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2FC2-7628-ACE0-6591-42F70A73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noProof="0" dirty="0"/>
              <a:t>Summary</a:t>
            </a:r>
            <a:endParaRPr lang="en-US" sz="2200" i="1" noProof="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2553-946E-669C-82B2-050F35B8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noProof="0" dirty="0"/>
              <a:t>The </a:t>
            </a:r>
            <a:r>
              <a:rPr lang="en-US" noProof="0" dirty="0">
                <a:solidFill>
                  <a:srgbClr val="5291DD"/>
                </a:solidFill>
              </a:rPr>
              <a:t>graphical approach </a:t>
            </a:r>
            <a:r>
              <a:rPr lang="en-US" noProof="0" dirty="0"/>
              <a:t>offers the possibility to:</a:t>
            </a:r>
          </a:p>
          <a:p>
            <a:pPr lvl="1"/>
            <a:r>
              <a:rPr lang="en-US" noProof="0" dirty="0">
                <a:solidFill>
                  <a:srgbClr val="5291DD"/>
                </a:solidFill>
              </a:rPr>
              <a:t>tailor advanced multiple test procedures</a:t>
            </a:r>
            <a:r>
              <a:rPr lang="en-US" noProof="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noProof="0" dirty="0"/>
              <a:t>to structured families of hypotheses reflecting clinical considerations</a:t>
            </a:r>
            <a:endParaRPr lang="en-US" noProof="0" dirty="0">
              <a:ea typeface="Calibri"/>
              <a:cs typeface="Calibri"/>
            </a:endParaRPr>
          </a:p>
          <a:p>
            <a:pPr lvl="1"/>
            <a:r>
              <a:rPr lang="en-US" noProof="0" dirty="0">
                <a:solidFill>
                  <a:srgbClr val="5291DD"/>
                </a:solidFill>
              </a:rPr>
              <a:t>visualize complex decision strategies </a:t>
            </a:r>
            <a:r>
              <a:rPr lang="en-US" noProof="0" dirty="0"/>
              <a:t>in an easily communicable way </a:t>
            </a:r>
            <a:endParaRPr lang="en-US" noProof="0" dirty="0">
              <a:ea typeface="Calibri"/>
              <a:cs typeface="Calibri"/>
            </a:endParaRPr>
          </a:p>
          <a:p>
            <a:pPr lvl="1"/>
            <a:r>
              <a:rPr lang="en-US" noProof="0" dirty="0"/>
              <a:t>ensures </a:t>
            </a:r>
            <a:r>
              <a:rPr lang="en-US" noProof="0" dirty="0">
                <a:solidFill>
                  <a:srgbClr val="5291DD"/>
                </a:solidFill>
              </a:rPr>
              <a:t>strong FWER control</a:t>
            </a:r>
            <a:endParaRPr lang="en-US" noProof="0" dirty="0">
              <a:solidFill>
                <a:srgbClr val="5291DD"/>
              </a:solidFill>
              <a:ea typeface="Calibri"/>
              <a:cs typeface="Calibri"/>
            </a:endParaRPr>
          </a:p>
          <a:p>
            <a:r>
              <a:rPr lang="en-US" noProof="0" dirty="0">
                <a:solidFill>
                  <a:srgbClr val="5291DD"/>
                </a:solidFill>
              </a:rPr>
              <a:t>Covers many common multiple test procedures</a:t>
            </a:r>
            <a:r>
              <a:rPr lang="en-US" noProof="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noProof="0" dirty="0"/>
              <a:t>as special cases</a:t>
            </a:r>
            <a:endParaRPr lang="en-US" noProof="0" dirty="0">
              <a:ea typeface="Calibri"/>
              <a:cs typeface="Calibri"/>
            </a:endParaRPr>
          </a:p>
          <a:p>
            <a:r>
              <a:rPr lang="en-US" noProof="0" dirty="0">
                <a:ea typeface="等线"/>
              </a:rPr>
              <a:t>Optimization of graphs addresses clinical consideration and statistical optimality</a:t>
            </a:r>
            <a:endParaRPr lang="en-US" noProof="0" dirty="0">
              <a:solidFill>
                <a:srgbClr val="5291DD"/>
              </a:solidFill>
            </a:endParaRPr>
          </a:p>
          <a:p>
            <a:r>
              <a:rPr lang="en-US" noProof="0" dirty="0"/>
              <a:t>Convenient implementations with </a:t>
            </a:r>
            <a:r>
              <a:rPr lang="en-US" noProof="0" dirty="0" err="1">
                <a:solidFill>
                  <a:srgbClr val="5291DD"/>
                </a:solidFill>
              </a:rPr>
              <a:t>graphicalMCP</a:t>
            </a:r>
            <a:endParaRPr lang="en-US" noProof="0" dirty="0">
              <a:solidFill>
                <a:srgbClr val="5291DD"/>
              </a:solidFill>
              <a:ea typeface="Calibri"/>
              <a:cs typeface="Calibri"/>
            </a:endParaRPr>
          </a:p>
          <a:p>
            <a:pPr lvl="1"/>
            <a:r>
              <a:rPr lang="en-US" noProof="0" dirty="0"/>
              <a:t>Extensions to mixed types of tests, e.g., Hochberg, parametric, Simes, etc.</a:t>
            </a:r>
            <a:endParaRPr lang="en-US" noProof="0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11A0C-DE82-0A26-B215-587D6D48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122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16A84-B22E-9892-B927-40A237E1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</p:spTree>
    <p:extLst>
      <p:ext uri="{BB962C8B-B14F-4D97-AF65-F5344CB8AC3E}">
        <p14:creationId xmlns:p14="http://schemas.microsoft.com/office/powerpoint/2010/main" val="201064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648F-D2E4-868C-3C32-3B76C98C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Extensions not covered in this training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D5418-6816-468E-8E83-12B3A39E6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Autofit/>
          </a:bodyPr>
          <a:lstStyle/>
          <a:p>
            <a:r>
              <a:rPr lang="en-US" sz="2000" b="0" noProof="0" dirty="0">
                <a:solidFill>
                  <a:srgbClr val="5291DD"/>
                </a:solidFill>
              </a:rPr>
              <a:t>Extensions reviewed by Xi and Bretz (2021)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DEB56-ACEE-F31F-6363-5D116B76D9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Adjusted p-values and simultaneous confidence intervals</a:t>
            </a:r>
          </a:p>
          <a:p>
            <a:r>
              <a:rPr lang="en-US" noProof="0" dirty="0"/>
              <a:t>Weighted and trimmed Simes tests</a:t>
            </a:r>
          </a:p>
          <a:p>
            <a:r>
              <a:rPr lang="en-US" noProof="0" dirty="0"/>
              <a:t>Group-sequential and adaptive designs</a:t>
            </a:r>
          </a:p>
          <a:p>
            <a:r>
              <a:rPr lang="en-US" noProof="0" dirty="0"/>
              <a:t>Families of hypotheses</a:t>
            </a:r>
          </a:p>
          <a:p>
            <a:r>
              <a:rPr lang="en-US" noProof="0" dirty="0"/>
              <a:t>Entangled graphs (including truncated test procedures)</a:t>
            </a:r>
          </a:p>
          <a:p>
            <a:r>
              <a:rPr lang="en-US" noProof="0" dirty="0"/>
              <a:t>Symmetric graphs (including Hochberg procedure)</a:t>
            </a:r>
          </a:p>
          <a:p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52851-E3DD-E03C-8476-7686907B0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>
            <a:normAutofit/>
          </a:bodyPr>
          <a:lstStyle/>
          <a:p>
            <a:r>
              <a:rPr lang="en-US" sz="2000" b="0" noProof="0" dirty="0">
                <a:solidFill>
                  <a:srgbClr val="5291DD"/>
                </a:solidFill>
              </a:rPr>
              <a:t>Other extensions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ADF00-28D1-ADBE-1BEE-6FEFD212248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Generalized error rate control (Robertson et al., 2020)</a:t>
            </a:r>
          </a:p>
          <a:p>
            <a:r>
              <a:rPr lang="en-US" noProof="0" dirty="0"/>
              <a:t>Online testing (Fischer et al., 2024)</a:t>
            </a:r>
          </a:p>
          <a:p>
            <a:r>
              <a:rPr lang="en-US" noProof="0" dirty="0"/>
              <a:t>Reverse graphical approaches (Gou, 2024)</a:t>
            </a:r>
          </a:p>
          <a:p>
            <a:r>
              <a:rPr lang="en-US" noProof="0" dirty="0"/>
              <a:t>Combined data from multiple trials (Vandemeulebroecke et al., 2024)</a:t>
            </a:r>
          </a:p>
          <a:p>
            <a:r>
              <a:rPr lang="en-US" noProof="0" dirty="0"/>
              <a:t>Closed MCP-Mod (König et al., 2025)</a:t>
            </a:r>
          </a:p>
          <a:p>
            <a:r>
              <a:rPr lang="en-US" noProof="0" dirty="0"/>
              <a:t>E-values (Hartog and Lei, 2025)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B46F9FD-3F1B-AA9E-0909-E82D5E692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4C4E47-ADF9-6FF0-A2AE-AE61E4CF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184156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15D8-573E-A4A0-BFB8-456A69D3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D448-18AE-067D-B2B0-247EC915B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975798" cy="994172"/>
          </a:xfrm>
        </p:spPr>
        <p:txBody>
          <a:bodyPr>
            <a:normAutofit/>
          </a:bodyPr>
          <a:lstStyle/>
          <a:p>
            <a:r>
              <a:rPr lang="en-US" sz="3200" noProof="0" dirty="0"/>
              <a:t>Recap and Contact</a:t>
            </a:r>
            <a:endParaRPr lang="en-US" sz="2200" i="1" noProof="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C84AC-FBAB-296C-A450-927B8DB64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19814" cy="326350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noProof="0" dirty="0"/>
              <a:t>Introduction</a:t>
            </a:r>
            <a:r>
              <a:rPr lang="en-US" noProof="0" dirty="0">
                <a:ea typeface="Calibri"/>
              </a:rPr>
              <a:t> and basic concepts</a:t>
            </a:r>
            <a:endParaRPr lang="en-US" noProof="0" dirty="0">
              <a:ea typeface="Calibri"/>
              <a:cs typeface="Calibri" panose="020F0502020204030204"/>
            </a:endParaRPr>
          </a:p>
          <a:p>
            <a:r>
              <a:rPr lang="en-US" noProof="0" dirty="0">
                <a:ea typeface="Calibri"/>
              </a:rPr>
              <a:t>Graphical approaches </a:t>
            </a:r>
            <a:r>
              <a:rPr lang="en-US" noProof="0" dirty="0"/>
              <a:t>to</a:t>
            </a:r>
            <a:r>
              <a:rPr lang="en-US" noProof="0" dirty="0">
                <a:solidFill>
                  <a:srgbClr val="000000"/>
                </a:solidFill>
              </a:rPr>
              <a:t> multiple testing</a:t>
            </a:r>
            <a:endParaRPr lang="en-US" noProof="0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noProof="0" dirty="0">
                <a:solidFill>
                  <a:srgbClr val="000000"/>
                </a:solidFill>
              </a:rPr>
              <a:t>Optimizing graphical multiple comparison procedures</a:t>
            </a:r>
            <a:endParaRPr lang="en-US" noProof="0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noProof="0" dirty="0" err="1">
                <a:solidFill>
                  <a:srgbClr val="000000"/>
                </a:solidFill>
              </a:rPr>
              <a:t>graphicalMCP</a:t>
            </a:r>
            <a:r>
              <a:rPr lang="en-US" noProof="0" dirty="0">
                <a:solidFill>
                  <a:srgbClr val="000000"/>
                </a:solidFill>
              </a:rPr>
              <a:t>: implementation of graphical approaches</a:t>
            </a:r>
            <a:endParaRPr lang="en-US" noProof="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noProof="0" dirty="0">
              <a:ea typeface="Calibri"/>
              <a:cs typeface="Calibri"/>
            </a:endParaRPr>
          </a:p>
          <a:p>
            <a:r>
              <a:rPr lang="en-US" noProof="0" dirty="0">
                <a:ea typeface="Calibri"/>
                <a:cs typeface="Calibri"/>
              </a:rPr>
              <a:t>Contact:</a:t>
            </a:r>
          </a:p>
          <a:p>
            <a:pPr marL="0" indent="0">
              <a:buNone/>
            </a:pPr>
            <a:r>
              <a:rPr lang="en-US" sz="2000" dirty="0">
                <a:ea typeface="Calibri"/>
                <a:cs typeface="Calibri"/>
                <a:hlinkClick r:id="rId2"/>
              </a:rPr>
              <a:t>yao.chen@novartis.com</a:t>
            </a:r>
            <a:r>
              <a:rPr lang="en-US" sz="2000" dirty="0">
                <a:ea typeface="Calibri"/>
                <a:cs typeface="Calibri"/>
              </a:rPr>
              <a:t>   </a:t>
            </a:r>
            <a:r>
              <a:rPr lang="en-US" sz="2000" noProof="0" dirty="0">
                <a:ea typeface="Calibri"/>
                <a:cs typeface="Calibri"/>
                <a:hlinkClick r:id="rId3"/>
              </a:rPr>
              <a:t>dong.xi1@gilead.com</a:t>
            </a:r>
            <a:r>
              <a:rPr lang="en-US" sz="2000" noProof="0" dirty="0">
                <a:ea typeface="Calibri"/>
                <a:cs typeface="Calibri"/>
              </a:rPr>
              <a:t>   </a:t>
            </a:r>
            <a:r>
              <a:rPr lang="en-US" sz="2000" noProof="0" dirty="0">
                <a:ea typeface="Calibri"/>
                <a:cs typeface="Calibri"/>
                <a:hlinkClick r:id="rId4"/>
              </a:rPr>
              <a:t>frank.bretz@novartis.com</a:t>
            </a:r>
            <a:endParaRPr lang="en-US" noProof="0" dirty="0">
              <a:ea typeface="Calibri"/>
              <a:cs typeface="Calibri"/>
            </a:endParaRPr>
          </a:p>
          <a:p>
            <a:endParaRPr lang="en-US" noProof="0" dirty="0">
              <a:ea typeface="Calibri"/>
              <a:cs typeface="Calibri"/>
            </a:endParaRPr>
          </a:p>
          <a:p>
            <a:r>
              <a:rPr lang="en-US" noProof="0" dirty="0">
                <a:ea typeface="Calibri"/>
                <a:cs typeface="Calibri"/>
              </a:rPr>
              <a:t>Code: </a:t>
            </a:r>
            <a:r>
              <a:rPr lang="en-US" noProof="0" dirty="0">
                <a:hlinkClick r:id="rId5"/>
              </a:rPr>
              <a:t>https://github.com/openpharma/graphical-multiple-comparisons</a:t>
            </a:r>
            <a:endParaRPr lang="en-US" noProof="0" dirty="0">
              <a:ea typeface="Calibri"/>
              <a:cs typeface="Calibri"/>
            </a:endParaRPr>
          </a:p>
          <a:p>
            <a:endParaRPr lang="en-US" noProof="0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EAF2CB-39BD-208C-6CFA-3C8544C3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CF9-5B10-D24F-A8D7-45A9778164F7}" type="slidenum">
              <a:rPr lang="en-US" noProof="0" smtClean="0"/>
              <a:pPr/>
              <a:t>124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4E8F6-E9DD-2471-E9BB-D2C6C75F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2F6F7A-4797-98B4-946A-DE731B7880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843" y="290510"/>
            <a:ext cx="947230" cy="94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3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608C-8A51-4FDE-92AC-1044A1A8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FE647-A3A0-2A88-7911-590C598C2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B26CA9-1D15-64A0-EA5E-744F5A3B3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9BF69-71E0-7FFF-5384-E26463DF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862213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5D2F8-AA99-0B84-FFCB-71487E6D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7562-C7FF-8718-D2FC-E2EDA2617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BDE0-A450-180D-B8E8-56E872C50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69219"/>
            <a:ext cx="8158889" cy="326350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1200" noProof="0" dirty="0"/>
              <a:t>Bretz, Maurer, Brannath, Posch (2009) A graphical approach to sequentially rejective multiple test procedures. Statistics in Medicine 28: 586–604.</a:t>
            </a:r>
          </a:p>
          <a:p>
            <a:r>
              <a:rPr lang="en-US" sz="1200" noProof="0" dirty="0">
                <a:ea typeface="Calibri"/>
                <a:cs typeface="Calibri"/>
              </a:rPr>
              <a:t>Bretz, Maurer, Hommel (2011) Test and power considerations for multiple endpoint analyses using sequentially rejective graphical procedures. Statistics in Medicine, 30(13), 1489-1501.</a:t>
            </a:r>
          </a:p>
          <a:p>
            <a:r>
              <a:rPr lang="en-US" sz="1200" noProof="0" dirty="0"/>
              <a:t>Bretz, Posch, Glimm, </a:t>
            </a:r>
            <a:r>
              <a:rPr lang="en-US" sz="1200" noProof="0" dirty="0" err="1"/>
              <a:t>Klinglmueller</a:t>
            </a:r>
            <a:r>
              <a:rPr lang="en-US" sz="1200" noProof="0" dirty="0"/>
              <a:t>, Maurer, </a:t>
            </a:r>
            <a:r>
              <a:rPr lang="en-US" sz="1200" noProof="0" dirty="0" err="1"/>
              <a:t>Rohmeyer</a:t>
            </a:r>
            <a:r>
              <a:rPr lang="en-US" sz="1200" noProof="0" dirty="0"/>
              <a:t> (2011) Graphical approaches for multiple comparison procedures using weighted Bonferroni, Simes or parametric tests. Biometrical Journal 53: 894–913. </a:t>
            </a:r>
            <a:endParaRPr lang="en-US" sz="1200" noProof="0" dirty="0">
              <a:ea typeface="Calibri"/>
              <a:cs typeface="Calibri"/>
            </a:endParaRPr>
          </a:p>
          <a:p>
            <a:r>
              <a:rPr lang="en-US" sz="1200" noProof="0" dirty="0" err="1"/>
              <a:t>Dmitrienko</a:t>
            </a:r>
            <a:r>
              <a:rPr lang="en-US" sz="1200" noProof="0" dirty="0"/>
              <a:t>, Offen, Westfall (2003) Gatekeeping strategies for clinical trials that do not require all primary effects to be significant. Statistics in Medicine 22: 2387–2400.</a:t>
            </a:r>
          </a:p>
          <a:p>
            <a:r>
              <a:rPr lang="en-US" sz="1200" noProof="0" dirty="0" err="1">
                <a:ea typeface="Calibri"/>
                <a:cs typeface="Calibri"/>
              </a:rPr>
              <a:t>Dmitrienko</a:t>
            </a:r>
            <a:r>
              <a:rPr lang="en-US" sz="1200" noProof="0" dirty="0">
                <a:ea typeface="Calibri"/>
                <a:cs typeface="Calibri"/>
              </a:rPr>
              <a:t>, </a:t>
            </a:r>
            <a:r>
              <a:rPr lang="en-US" sz="1200" noProof="0" dirty="0" err="1">
                <a:ea typeface="Calibri"/>
                <a:cs typeface="Calibri"/>
              </a:rPr>
              <a:t>Paux</a:t>
            </a:r>
            <a:r>
              <a:rPr lang="en-US" sz="1200" noProof="0" dirty="0">
                <a:ea typeface="Calibri"/>
                <a:cs typeface="Calibri"/>
              </a:rPr>
              <a:t>, </a:t>
            </a:r>
            <a:r>
              <a:rPr lang="en-US" sz="1200" noProof="0" dirty="0" err="1">
                <a:ea typeface="Calibri"/>
                <a:cs typeface="Calibri"/>
              </a:rPr>
              <a:t>Brechenmacher</a:t>
            </a:r>
            <a:r>
              <a:rPr lang="en-US" sz="1200" noProof="0" dirty="0">
                <a:ea typeface="Calibri"/>
                <a:cs typeface="Calibri"/>
              </a:rPr>
              <a:t> (2015) Power calculations in clinical trials with complex clinical objectives. Journal of the Japanese Society of Computational Statistics, 28(1), 15-50.</a:t>
            </a:r>
          </a:p>
          <a:p>
            <a:r>
              <a:rPr lang="en-US" sz="1200" noProof="0" dirty="0" err="1"/>
              <a:t>Dmitrienko</a:t>
            </a:r>
            <a:r>
              <a:rPr lang="en-US" sz="1200" noProof="0" dirty="0"/>
              <a:t>, Tamhane, Bretz (2009) Multiple testing problems in pharmaceutical statistics. Chapman and Hall/CRC</a:t>
            </a:r>
            <a:endParaRPr lang="en-US" sz="1200" noProof="0" dirty="0">
              <a:ea typeface="Calibri"/>
              <a:cs typeface="Calibri"/>
            </a:endParaRPr>
          </a:p>
          <a:p>
            <a:r>
              <a:rPr lang="en-US" sz="1200" noProof="0" dirty="0">
                <a:solidFill>
                  <a:srgbClr val="000000"/>
                </a:solidFill>
                <a:ea typeface="Calibri"/>
                <a:cs typeface="Calibri"/>
              </a:rPr>
              <a:t>Dunnett, Tamhane (1991). Step‐down multiple tests for comparing treatments with a control in unbalanced one‐way layouts. Statistics in Medicine, 10(6), 939-947.</a:t>
            </a:r>
          </a:p>
          <a:p>
            <a:r>
              <a:rPr lang="en-US" sz="1200" noProof="0" dirty="0"/>
              <a:t>European Medicines Agency (2017) Guideline on multiplicity issues in clinical trials</a:t>
            </a:r>
            <a:endParaRPr lang="en-US" sz="1200" noProof="0" dirty="0">
              <a:ea typeface="Calibri" panose="020F0502020204030204"/>
              <a:cs typeface="Calibri" panose="020F0502020204030204"/>
            </a:endParaRPr>
          </a:p>
          <a:p>
            <a:r>
              <a:rPr lang="en-US" sz="1200" noProof="0" dirty="0"/>
              <a:t>Fischer, Bofill Roig, Brannath (2024) The online closure principle. The Annals of Statistics, 52(2), 817-841.</a:t>
            </a:r>
            <a:endParaRPr lang="en-US" sz="1200" noProof="0" dirty="0">
              <a:ea typeface="Calibri"/>
              <a:cs typeface="Calibri"/>
            </a:endParaRPr>
          </a:p>
          <a:p>
            <a:r>
              <a:rPr lang="en-US" sz="1200" noProof="0" dirty="0"/>
              <a:t>Food and Drug Administration (2022) Multiple Endpoints in Clinical Trials</a:t>
            </a:r>
            <a:endParaRPr lang="en-US" sz="1200" noProof="0" dirty="0">
              <a:ea typeface="Calibri"/>
              <a:cs typeface="Calibri"/>
            </a:endParaRPr>
          </a:p>
          <a:p>
            <a:r>
              <a:rPr lang="en-US" sz="1200" noProof="0" dirty="0"/>
              <a:t>Gou (2024) Reverse graphical approaches for multiple test procedures. Journal of Biopharmaceutical Statistics 34(1): 90-110.</a:t>
            </a:r>
          </a:p>
          <a:p>
            <a:r>
              <a:rPr lang="en-US" sz="1200" noProof="0" dirty="0"/>
              <a:t>Hartog, Lei. (2025) Family-wise error rate control with e-values. </a:t>
            </a:r>
            <a:r>
              <a:rPr lang="en-US" sz="1200" noProof="0" dirty="0" err="1"/>
              <a:t>arXiv</a:t>
            </a:r>
            <a:r>
              <a:rPr lang="en-US" sz="1200" noProof="0" dirty="0"/>
              <a:t> preprint arXiv:2501.09015.</a:t>
            </a:r>
          </a:p>
          <a:p>
            <a:r>
              <a:rPr lang="en-US" sz="1200" noProof="0" dirty="0">
                <a:ea typeface="Calibri"/>
                <a:cs typeface="Calibri"/>
              </a:rPr>
              <a:t>Heller, Krieger, Rosset (2023) Optimal multiple testing and design in clinical trials. Biometrics, 79(3), 1908-1919.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3F4BB-DCE1-552A-FC03-16D607919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3B01D-ABA9-6078-9C1D-6E99B8BD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57361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6EF5-8E07-D6CD-9BDA-EA03F71F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80870-43C9-D642-E5FF-2C2F16526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77E51-9E50-7B82-6BD9-536020083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50043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1200" noProof="0" dirty="0"/>
              <a:t>Hochberg (1988) A sharper Bonferroni procedure for multiple tests of significance. </a:t>
            </a:r>
            <a:r>
              <a:rPr lang="en-US" sz="1200" noProof="0" dirty="0" err="1"/>
              <a:t>Biometrika</a:t>
            </a:r>
            <a:r>
              <a:rPr lang="en-US" sz="1200" noProof="0" dirty="0"/>
              <a:t>, 75(4), 800-802</a:t>
            </a:r>
            <a:endParaRPr lang="en-US" sz="1200" noProof="0" dirty="0">
              <a:ea typeface="Calibri"/>
              <a:cs typeface="Calibri"/>
            </a:endParaRPr>
          </a:p>
          <a:p>
            <a:r>
              <a:rPr lang="en-US" sz="1200" noProof="0" dirty="0"/>
              <a:t>Hochberg, Tamhane (1987) Multiple comparison procedures. Wiley</a:t>
            </a:r>
            <a:endParaRPr lang="en-US" sz="1200" noProof="0" dirty="0">
              <a:ea typeface="Calibri"/>
              <a:cs typeface="Calibri"/>
            </a:endParaRPr>
          </a:p>
          <a:p>
            <a:r>
              <a:rPr lang="en-US" sz="1200" noProof="0" dirty="0">
                <a:ea typeface="Calibri"/>
                <a:cs typeface="Calibri"/>
              </a:rPr>
              <a:t>Hommel (1988) A stagewise rejective multiple test procedure based on a modified Bonferroni test. </a:t>
            </a:r>
            <a:r>
              <a:rPr lang="en-US" sz="1200" noProof="0" dirty="0" err="1">
                <a:ea typeface="Calibri"/>
                <a:cs typeface="Calibri"/>
              </a:rPr>
              <a:t>Biometrika</a:t>
            </a:r>
            <a:r>
              <a:rPr lang="en-US" sz="1200" noProof="0" dirty="0">
                <a:ea typeface="Calibri"/>
                <a:cs typeface="Calibri"/>
              </a:rPr>
              <a:t>, 75(2), 383-386</a:t>
            </a:r>
            <a:endParaRPr lang="en-US" sz="1200" noProof="0" dirty="0"/>
          </a:p>
          <a:p>
            <a:r>
              <a:rPr lang="en-US" sz="1200" noProof="0" dirty="0"/>
              <a:t>Hommel, Bretz (2008) Aesthetics and power considerations in multiple testing–a contradiction? Biometrical Journal 50 (5), 657–666</a:t>
            </a:r>
            <a:endParaRPr lang="en-US" sz="1200" noProof="0" dirty="0">
              <a:ea typeface="Calibri"/>
              <a:cs typeface="Calibri"/>
            </a:endParaRPr>
          </a:p>
          <a:p>
            <a:r>
              <a:rPr lang="en-US" sz="1200" noProof="0" dirty="0"/>
              <a:t>International Council of Harmonization (2025) Topic M11: Clinical electronic structured harmonized protocol</a:t>
            </a:r>
          </a:p>
          <a:p>
            <a:r>
              <a:rPr lang="en-US" sz="1200" noProof="0" dirty="0"/>
              <a:t>Koenig, </a:t>
            </a:r>
            <a:r>
              <a:rPr lang="en-US" sz="1200" noProof="0" dirty="0" err="1"/>
              <a:t>Krasnozhon</a:t>
            </a:r>
            <a:r>
              <a:rPr lang="en-US" sz="1200" noProof="0" dirty="0"/>
              <a:t>, Bornkamp, Bretz, Glimm, Graf, Xi (2025) Closed MCP‐Mod for pairwise comparisons of several doses with a control. Statistics in Medicine, 44(10-12), e70124</a:t>
            </a:r>
          </a:p>
          <a:p>
            <a:r>
              <a:rPr lang="en-US" sz="1200" noProof="0" dirty="0"/>
              <a:t>LaLonde, Nissen (2025) Multiplicity control in clinical trials. NEJM Evidence, 4(8)</a:t>
            </a:r>
          </a:p>
          <a:p>
            <a:r>
              <a:rPr lang="en-US" sz="1200" noProof="0" dirty="0"/>
              <a:t>Marcus, Peritz, Gabriel (1976) On closed testing procedures with special reference to ordered analysis of variance. </a:t>
            </a:r>
            <a:r>
              <a:rPr lang="en-US" sz="1200" noProof="0" dirty="0" err="1"/>
              <a:t>Biometrika</a:t>
            </a:r>
            <a:r>
              <a:rPr lang="en-US" sz="1200" noProof="0" dirty="0"/>
              <a:t>, 63(3), 655-660</a:t>
            </a:r>
            <a:endParaRPr lang="en-US" sz="1200" noProof="0" dirty="0">
              <a:ea typeface="Calibri"/>
              <a:cs typeface="Calibri"/>
            </a:endParaRPr>
          </a:p>
          <a:p>
            <a:r>
              <a:rPr lang="en-US" sz="1200" noProof="0" dirty="0"/>
              <a:t>Maurer, Bretz, Posch (2022) Rationale for the update algorithm of the graphical approach to sequentially rejective multiple test procedures. Pharmaceutical Statistics, 21(4), 757-763</a:t>
            </a:r>
            <a:endParaRPr lang="en-US" sz="1200" noProof="0" dirty="0">
              <a:ea typeface="Calibri"/>
              <a:cs typeface="Calibri"/>
            </a:endParaRPr>
          </a:p>
          <a:p>
            <a:r>
              <a:rPr lang="en-US" sz="1200" noProof="0" dirty="0"/>
              <a:t>Maurer, Hothorn, </a:t>
            </a:r>
            <a:r>
              <a:rPr lang="en-US" sz="1200" noProof="0" dirty="0" err="1"/>
              <a:t>Lehmacher</a:t>
            </a:r>
            <a:r>
              <a:rPr lang="en-US" sz="1200" noProof="0" dirty="0"/>
              <a:t> (1995). Multiple comparisons in drug clinical trials and preclinical assays: a-priori ordered hypotheses. </a:t>
            </a:r>
            <a:r>
              <a:rPr lang="en-US" sz="1200" noProof="0" dirty="0" err="1"/>
              <a:t>Biometrie</a:t>
            </a:r>
            <a:r>
              <a:rPr lang="en-US" sz="1200" noProof="0" dirty="0"/>
              <a:t> in der </a:t>
            </a:r>
            <a:r>
              <a:rPr lang="en-US" sz="1200" noProof="0" dirty="0" err="1"/>
              <a:t>chemischpharmazeutischen</a:t>
            </a:r>
            <a:r>
              <a:rPr lang="en-US" sz="1200" noProof="0" dirty="0"/>
              <a:t> Industrie 6, 3–18</a:t>
            </a:r>
          </a:p>
          <a:p>
            <a:r>
              <a:rPr lang="en-US" sz="1200" noProof="0" dirty="0"/>
              <a:t>National Medical Products Administration (2021) Guideline on multiplicity issues in clinical trials</a:t>
            </a:r>
          </a:p>
          <a:p>
            <a:r>
              <a:rPr lang="en-US" sz="1200" noProof="0" dirty="0" err="1"/>
              <a:t>Ridker</a:t>
            </a:r>
            <a:r>
              <a:rPr lang="en-US" sz="1200" noProof="0" dirty="0"/>
              <a:t>, Everett, Thuren, MacFadyen, Chang, Ballantyne, ...,  Glynn (2017). </a:t>
            </a:r>
            <a:r>
              <a:rPr lang="en-US" sz="1200" noProof="0" dirty="0" err="1"/>
              <a:t>Antiinflammatory</a:t>
            </a:r>
            <a:r>
              <a:rPr lang="en-US" sz="1200" noProof="0" dirty="0"/>
              <a:t> therapy with canakinumab for atherosclerotic disease. New England Journal of Medicine, 377(12), 1119-1131</a:t>
            </a:r>
          </a:p>
          <a:p>
            <a:r>
              <a:rPr lang="en-US" sz="1200" noProof="0" dirty="0"/>
              <a:t>Robertson, Wason, Bretz (2020). Graphical approaches for the control of generalized error rates. Statistics in medicine, 39(23), 3135-3155</a:t>
            </a:r>
          </a:p>
          <a:p>
            <a:r>
              <a:rPr lang="en-US" sz="1200" noProof="0" dirty="0"/>
              <a:t>Roeder, Wasserman (2009) Genome-wide significance levels and weighted hypothesis testing. Statistical science: a review journal of the Institute of Mathematical Statistics, 24(4), 398</a:t>
            </a:r>
          </a:p>
          <a:p>
            <a:endParaRPr lang="en-US" sz="1200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85F787-03DF-074E-031C-8705AC5A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31F53-BEF9-097B-3231-34EFE197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025644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A4554-5981-6C23-EA47-43CBB672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25BBC-A2BC-51E5-0173-200DCFCF0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69219"/>
            <a:ext cx="8276811" cy="3263504"/>
          </a:xfrm>
        </p:spPr>
        <p:txBody>
          <a:bodyPr>
            <a:noAutofit/>
          </a:bodyPr>
          <a:lstStyle/>
          <a:p>
            <a:r>
              <a:rPr lang="en-US" sz="1000" noProof="0" dirty="0"/>
              <a:t>Rubin, Dudoit, van der Laan (2006) A method to increase the power of multiple testing procedures through sample splitting</a:t>
            </a:r>
          </a:p>
          <a:p>
            <a:r>
              <a:rPr lang="en-US" sz="1000" noProof="0" dirty="0"/>
              <a:t>Vandemeulebroecke, Haering, Hua, Wei, Xi (2024) New strategies for confirmatory testing of secondary hypotheses on combined data from multiple trials. Clinical Trials 21(2): 171-179</a:t>
            </a:r>
          </a:p>
          <a:p>
            <a:r>
              <a:rPr lang="en-US" sz="1000" noProof="0" dirty="0"/>
              <a:t>Westfall, Krishen (2001) Optimally weighted, fixed sequence and gatekeeper multiple testing procedures. Journal of Statistical Planning and Inference 99, 25–40</a:t>
            </a:r>
          </a:p>
          <a:p>
            <a:r>
              <a:rPr lang="en-US" sz="1000" noProof="0" dirty="0"/>
              <a:t>Wiens (2003) A fixed sequence Bonferroni procedure for testing multiple endpoints. Pharmaceutical Statistics 2, 211–215</a:t>
            </a:r>
          </a:p>
          <a:p>
            <a:r>
              <a:rPr lang="en-US" sz="1000" noProof="0" dirty="0"/>
              <a:t>Wiens, </a:t>
            </a:r>
            <a:r>
              <a:rPr lang="en-US" sz="1000" noProof="0" dirty="0" err="1"/>
              <a:t>Dmitrienko</a:t>
            </a:r>
            <a:r>
              <a:rPr lang="en-US" sz="1000" noProof="0" dirty="0"/>
              <a:t> (2005) The fallback procedure for evaluating a single family of hypotheses. Journal of Biopharmaceutical Statistics 15 (6), 929–942</a:t>
            </a:r>
          </a:p>
          <a:p>
            <a:r>
              <a:rPr lang="en-US" sz="1000" noProof="0" dirty="0"/>
              <a:t>Wiens, </a:t>
            </a:r>
            <a:r>
              <a:rPr lang="en-US" sz="1000" noProof="0" dirty="0" err="1"/>
              <a:t>Dmitrienko</a:t>
            </a:r>
            <a:r>
              <a:rPr lang="en-US" sz="1000" noProof="0" dirty="0"/>
              <a:t>, Marchenko (2013) Selection of hypothesis weights and ordering when testing multiple hypotheses in clinical trials. Journal of Biopharmaceutical Statistics, 23(6), 1403-1419</a:t>
            </a:r>
          </a:p>
          <a:p>
            <a:r>
              <a:rPr lang="en-US" sz="1000" noProof="0" dirty="0"/>
              <a:t>Xi, Bretz (2021) Graphical approaches for multiple comparison procedures. In: Handbook of Multiple Comparisons (eds: Cui, Dickhaus, Ding, Hsu). Chapman &amp; Hall</a:t>
            </a:r>
          </a:p>
          <a:p>
            <a:r>
              <a:rPr lang="en-US" sz="1000" noProof="0" dirty="0"/>
              <a:t>Xi, Chen (2024) Optimal weighted Bonferroni tests and their graphical extensions. Statistics in Medicine, 43(3), 475-500</a:t>
            </a:r>
          </a:p>
          <a:p>
            <a:r>
              <a:rPr lang="en-US" sz="1000" noProof="0" dirty="0"/>
              <a:t>Zhan, Hartford, Kang, Offen (2022) Optimizing graphical procedures for multiplicity control in a confirmatory clinical trial via deep learning. Statistics in biopharmaceutical research, 14(1), 92-102</a:t>
            </a:r>
          </a:p>
          <a:p>
            <a:r>
              <a:rPr lang="en-US" sz="1000" noProof="0" dirty="0"/>
              <a:t>Zhang, Wang, Troendle (2015) Optimizing the order of hypotheses in serial testing of multiple endpoints in clinical trials. Statistics in Medicine, 34(9), 1467-1482</a:t>
            </a:r>
          </a:p>
          <a:p>
            <a:endParaRPr lang="en-US" sz="1000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3B225-16C1-D107-F710-46C17432B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Chen, Xi, Bretz | ICSA | June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DE043-1D17-9576-AFD9-D15CF8694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D9F39-F344-41AE-B531-1D3ECACBC820}" type="slidenum">
              <a:rPr lang="en-US" noProof="0" smtClean="0"/>
              <a:t>128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4716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c9bec58-8084-492e-8360-0e1cfe36408c}" enabled="1" method="Standard" siteId="{f35a6974-607f-47d4-82d7-ff31d7dc53a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Novartis Presentation WideScreen 16by9 Carbon Blue_RM</Template>
  <TotalTime>114</TotalTime>
  <Words>11090</Words>
  <Application>Microsoft Office PowerPoint</Application>
  <PresentationFormat>On-screen Show (16:9)</PresentationFormat>
  <Paragraphs>1569</Paragraphs>
  <Slides>128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128</vt:i4>
      </vt:variant>
    </vt:vector>
  </HeadingPairs>
  <TitlesOfParts>
    <vt:vector size="141" baseType="lpstr">
      <vt:lpstr>等线</vt:lpstr>
      <vt:lpstr>等线 Light</vt:lpstr>
      <vt:lpstr>黑体</vt:lpstr>
      <vt:lpstr>Arial</vt:lpstr>
      <vt:lpstr>Arial Black</vt:lpstr>
      <vt:lpstr>Calibri</vt:lpstr>
      <vt:lpstr>Calibri Light</vt:lpstr>
      <vt:lpstr>Cambria</vt:lpstr>
      <vt:lpstr>Cambria Math</vt:lpstr>
      <vt:lpstr>Courier New</vt:lpstr>
      <vt:lpstr>Times New Roman</vt:lpstr>
      <vt:lpstr>Wingdings</vt:lpstr>
      <vt:lpstr>Office Theme</vt:lpstr>
      <vt:lpstr>Graphical multiple comparison procedures  Combining flexibility with optimality </vt:lpstr>
      <vt:lpstr>Course instructors</vt:lpstr>
      <vt:lpstr>Agenda</vt:lpstr>
      <vt:lpstr>Disclaimer</vt:lpstr>
      <vt:lpstr>Acknowledgement</vt:lpstr>
      <vt:lpstr>Learning objectives</vt:lpstr>
      <vt:lpstr>Outline</vt:lpstr>
      <vt:lpstr>Outline</vt:lpstr>
      <vt:lpstr>Sources of multiplicity</vt:lpstr>
      <vt:lpstr>Example 1 – Multiple doses </vt:lpstr>
      <vt:lpstr>Example 2 – Multiple endpoints</vt:lpstr>
      <vt:lpstr>Example 3 – Multiple endpoints and multiple doses</vt:lpstr>
      <vt:lpstr>Example 3 – Multiple endpoints and multiple doses</vt:lpstr>
      <vt:lpstr>Dealing with multiplicity</vt:lpstr>
      <vt:lpstr>FDA guideline on multiple endpoints</vt:lpstr>
      <vt:lpstr>FDA guideline on multiple endpoints Rational clinical endpoint classification</vt:lpstr>
      <vt:lpstr>Other regulatory guidelines</vt:lpstr>
      <vt:lpstr>Notation</vt:lpstr>
      <vt:lpstr>Familywise error rate (FWER)</vt:lpstr>
      <vt:lpstr>Adjusted p-values</vt:lpstr>
      <vt:lpstr>Common multiple test procedures Single step and stepwise methods</vt:lpstr>
      <vt:lpstr>Common multiple test procedures Hochberg and Tamhane (1987); Dmitrienko, Tamhane and Bretz (2009)</vt:lpstr>
      <vt:lpstr>Outline</vt:lpstr>
      <vt:lpstr>Heuristics</vt:lpstr>
      <vt:lpstr>Conventions</vt:lpstr>
      <vt:lpstr>Common multiple test procedures Bonferroni test – Example with α=0.025 for m=2 null hypotheses</vt:lpstr>
      <vt:lpstr>Common multiple test procedures Holm procedure – Example with α=0.025 for m=2 hypotheses</vt:lpstr>
      <vt:lpstr>Common multiple test procedures Holm procedure – Example with α=0.025 for m=2 hypotheses</vt:lpstr>
      <vt:lpstr>Common multiple test procedures Holm procedure – Example with α=0.025 for m=2 hypotheses</vt:lpstr>
      <vt:lpstr>Common multiple test procedures Holm procedure – Example with α=0.025 for m=2 hypotheses</vt:lpstr>
      <vt:lpstr>Common multiple test procedures Holm procedure – Example with α=0.025 for m=2 hypotheses</vt:lpstr>
      <vt:lpstr>Common multiple test procedures Weighted Holm procedure</vt:lpstr>
      <vt:lpstr>Common multiple test procedures Fixed sequence tests (Maurer et al., 1995; Westfall and Krishen, 2001)</vt:lpstr>
      <vt:lpstr>Common multiple test procedures Fallback procedures</vt:lpstr>
      <vt:lpstr>Common multiple test procedures Parallel gatekeeping procedure (Dmitrienko et al., 2003) 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Common multiple test procedures Parallel gatekeeping procedure – Example with α=0.025</vt:lpstr>
      <vt:lpstr>Formal description Notation</vt:lpstr>
      <vt:lpstr>Formal description Update algorithm</vt:lpstr>
      <vt:lpstr>Formal description Main result (Bretz, Maurer, Brannath, and Posch 2009)</vt:lpstr>
      <vt:lpstr>Formal description Adjusted p-values</vt:lpstr>
      <vt:lpstr>Example 3 revisited Background</vt:lpstr>
      <vt:lpstr>Suggested workflow</vt:lpstr>
      <vt:lpstr>Example 3 revisited Building a multiple test procedure – Hypotheses</vt:lpstr>
      <vt:lpstr>Example 3 revisited Building a multiple test procedure – Initial significance levels</vt:lpstr>
      <vt:lpstr>Example 3 revisited Building a multiple test procedure – Propagation of significance levels</vt:lpstr>
      <vt:lpstr>Example 3 revisited Building a multiple test procedure – Alternative propagation</vt:lpstr>
      <vt:lpstr>Example 3 revisited Building a multiple test procedure – General approach</vt:lpstr>
      <vt:lpstr>Sample size and power calculations Scenarios</vt:lpstr>
      <vt:lpstr>Sample size and power calculations Outcome measures</vt:lpstr>
      <vt:lpstr>Example 3 revisited Building a multiple test procedure – Power</vt:lpstr>
      <vt:lpstr>Outline</vt:lpstr>
      <vt:lpstr>Outline</vt:lpstr>
      <vt:lpstr>How to design a graph Example 3 revisited</vt:lpstr>
      <vt:lpstr>Weighted Bonferroni test</vt:lpstr>
      <vt:lpstr>What to optimize?</vt:lpstr>
      <vt:lpstr>Existing approaches</vt:lpstr>
      <vt:lpstr>Why split α? Comparison with fixed sequence procedure</vt:lpstr>
      <vt:lpstr>Why split α? Intuition and conclusion</vt:lpstr>
      <vt:lpstr>How to split α? Under independence</vt:lpstr>
      <vt:lpstr>How to split α? Under dependence</vt:lpstr>
      <vt:lpstr>Optimization</vt:lpstr>
      <vt:lpstr>Solution</vt:lpstr>
      <vt:lpstr>Outline</vt:lpstr>
      <vt:lpstr>Graphical approach </vt:lpstr>
      <vt:lpstr>Demo Set up constraints</vt:lpstr>
      <vt:lpstr>Demo Set up constraints</vt:lpstr>
      <vt:lpstr>Demo Scenario set up</vt:lpstr>
      <vt:lpstr>Demo Hypothesis weight optimization</vt:lpstr>
      <vt:lpstr>Demo Transition matrix optimization</vt:lpstr>
      <vt:lpstr>Power comparison </vt:lpstr>
      <vt:lpstr>Summary and conclusion </vt:lpstr>
      <vt:lpstr>Outline</vt:lpstr>
      <vt:lpstr>Outline</vt:lpstr>
      <vt:lpstr>Graphical approaches using R</vt:lpstr>
      <vt:lpstr>Graphical approaches using R graphicalMCP package</vt:lpstr>
      <vt:lpstr>GraphicalMCP package Structure</vt:lpstr>
      <vt:lpstr>GraphicalMCP package Function reference</vt:lpstr>
      <vt:lpstr>Example 3 Revisited Background</vt:lpstr>
      <vt:lpstr>Example 3 Revisited Create an initial graph</vt:lpstr>
      <vt:lpstr>Example 3 Revisited Update the initial graph</vt:lpstr>
      <vt:lpstr>Example 3 Revisited Perform testing</vt:lpstr>
      <vt:lpstr>Example 3 Revisited Stepwise decisions using test_values</vt:lpstr>
      <vt:lpstr>Example 3 Revisited Alternative rejection sequences</vt:lpstr>
      <vt:lpstr>Example 3 Revisited Perform power simulation</vt:lpstr>
      <vt:lpstr>Example 3 Revisited Customizable success objectives</vt:lpstr>
      <vt:lpstr>Outline</vt:lpstr>
      <vt:lpstr>Graphical approaches beyond Bonferroni Background</vt:lpstr>
      <vt:lpstr>Closed test procedures Two hypotheses</vt:lpstr>
      <vt:lpstr>Closed test procedures Three hypotheses and Venn-type diagram</vt:lpstr>
      <vt:lpstr>Holm procedure: Closed test using Bonferroni Two hypotheses</vt:lpstr>
      <vt:lpstr>Hommel procedure: Closed test using Simes Two hypotheses</vt:lpstr>
      <vt:lpstr>Hochberg procedure: Conservative shortcut to Hommel Two hypotheses</vt:lpstr>
      <vt:lpstr>Dunnett procedure: Closed test using parametric Two hypotheses</vt:lpstr>
      <vt:lpstr>CANTOS trial Background</vt:lpstr>
      <vt:lpstr>CANTOS trial Graphical multiple comparison procedure</vt:lpstr>
      <vt:lpstr>CANTOS trial Mixed types of tests</vt:lpstr>
      <vt:lpstr>CANTOS trial Graphical multiple comparison procedure  with mixed types of tests</vt:lpstr>
      <vt:lpstr>CANTOS trial Closed test procedure</vt:lpstr>
      <vt:lpstr>CANTOS trial An illustration</vt:lpstr>
      <vt:lpstr>CANTOS trial An illustration</vt:lpstr>
      <vt:lpstr>CANTOS trial Results</vt:lpstr>
      <vt:lpstr>CANTOS trial What if Bonferroni tests had been used for primary</vt:lpstr>
      <vt:lpstr>Hypothetical example based on CANTOS trial Create an initial graph</vt:lpstr>
      <vt:lpstr>Hypothetical example based on CANTOS trial Perform testing</vt:lpstr>
      <vt:lpstr>Hypothetical example based on CANTOS trial Closed tests</vt:lpstr>
      <vt:lpstr>Hypothetical example based on CANTOS trial Perform power simulation</vt:lpstr>
      <vt:lpstr>Hypothetical example based on CANTOS trial Simes tests for secondary hypotheses</vt:lpstr>
      <vt:lpstr>Hypothetical example based on CANTOS trial Simes tests for secondary hypotheses</vt:lpstr>
      <vt:lpstr>Hypothetical example based on CANTOS trial Perform testing</vt:lpstr>
      <vt:lpstr>Hypothetical example based on CANTOS trial Closed tests</vt:lpstr>
      <vt:lpstr>Hypothetical example based on CANTOS trial Perform power simulation</vt:lpstr>
      <vt:lpstr>GraphicalMCP package Resources</vt:lpstr>
      <vt:lpstr>Summary</vt:lpstr>
      <vt:lpstr>Extensions not covered in this training</vt:lpstr>
      <vt:lpstr>Recap and Contact</vt:lpstr>
      <vt:lpstr>Thank you</vt:lpstr>
      <vt:lpstr>References</vt:lpstr>
      <vt:lpstr>References</vt:lpstr>
      <vt:lpstr>References</vt:lpstr>
    </vt:vector>
  </TitlesOfParts>
  <Company>Novartis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is Arial Black 32pt, 1 to 2 lines maximum</dc:title>
  <dc:creator>Lest van de, Ingrid</dc:creator>
  <cp:lastModifiedBy>Chen, Yao</cp:lastModifiedBy>
  <cp:revision>3</cp:revision>
  <cp:lastPrinted>2017-09-27T16:10:53Z</cp:lastPrinted>
  <dcterms:created xsi:type="dcterms:W3CDTF">2020-06-26T13:08:12Z</dcterms:created>
  <dcterms:modified xsi:type="dcterms:W3CDTF">2026-06-14T02:50:10Z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erName">
    <vt:lpwstr/>
  </property>
  <property fmtid="{D5CDD505-2E9C-101B-9397-08002B2CF9AE}" pid="3" name="ConfidentialityLevel">
    <vt:lpwstr>None (no value displayed on slides)</vt:lpwstr>
  </property>
  <property fmtid="{D5CDD505-2E9C-101B-9397-08002B2CF9AE}" pid="4" name="HideFooter">
    <vt:bool>false</vt:bool>
  </property>
  <property fmtid="{D5CDD505-2E9C-101B-9397-08002B2CF9AE}" pid="5" name="ContentTypeId">
    <vt:lpwstr>0x010100B3E2A19A309B004486F70A94EAE88651</vt:lpwstr>
  </property>
  <property fmtid="{D5CDD505-2E9C-101B-9397-08002B2CF9AE}" pid="6" name="MSIP_Label_3c9bec58-8084-492e-8360-0e1cfe36408c_Enabled">
    <vt:lpwstr>true</vt:lpwstr>
  </property>
  <property fmtid="{D5CDD505-2E9C-101B-9397-08002B2CF9AE}" pid="7" name="MSIP_Label_3c9bec58-8084-492e-8360-0e1cfe36408c_SetDate">
    <vt:lpwstr>2022-09-14T22:17:45Z</vt:lpwstr>
  </property>
  <property fmtid="{D5CDD505-2E9C-101B-9397-08002B2CF9AE}" pid="8" name="MSIP_Label_3c9bec58-8084-492e-8360-0e1cfe36408c_Method">
    <vt:lpwstr>Standard</vt:lpwstr>
  </property>
  <property fmtid="{D5CDD505-2E9C-101B-9397-08002B2CF9AE}" pid="9" name="MSIP_Label_3c9bec58-8084-492e-8360-0e1cfe36408c_Name">
    <vt:lpwstr>Not Protected -Pilot</vt:lpwstr>
  </property>
  <property fmtid="{D5CDD505-2E9C-101B-9397-08002B2CF9AE}" pid="10" name="MSIP_Label_3c9bec58-8084-492e-8360-0e1cfe36408c_SiteId">
    <vt:lpwstr>f35a6974-607f-47d4-82d7-ff31d7dc53a5</vt:lpwstr>
  </property>
  <property fmtid="{D5CDD505-2E9C-101B-9397-08002B2CF9AE}" pid="11" name="MSIP_Label_3c9bec58-8084-492e-8360-0e1cfe36408c_ActionId">
    <vt:lpwstr>d67d8251-adfc-4895-b26e-63d36324137a</vt:lpwstr>
  </property>
  <property fmtid="{D5CDD505-2E9C-101B-9397-08002B2CF9AE}" pid="12" name="MSIP_Label_3c9bec58-8084-492e-8360-0e1cfe36408c_ContentBits">
    <vt:lpwstr>0</vt:lpwstr>
  </property>
  <property fmtid="{D5CDD505-2E9C-101B-9397-08002B2CF9AE}" pid="13" name="MSIP_Label_a9f6c3cc-f515-4067-8d40-15f492112f6a_Enabled">
    <vt:lpwstr>true</vt:lpwstr>
  </property>
  <property fmtid="{D5CDD505-2E9C-101B-9397-08002B2CF9AE}" pid="14" name="MSIP_Label_a9f6c3cc-f515-4067-8d40-15f492112f6a_SetDate">
    <vt:lpwstr>2026-06-04T01:51:30Z</vt:lpwstr>
  </property>
  <property fmtid="{D5CDD505-2E9C-101B-9397-08002B2CF9AE}" pid="15" name="MSIP_Label_a9f6c3cc-f515-4067-8d40-15f492112f6a_Method">
    <vt:lpwstr>Privileged</vt:lpwstr>
  </property>
  <property fmtid="{D5CDD505-2E9C-101B-9397-08002B2CF9AE}" pid="16" name="MSIP_Label_a9f6c3cc-f515-4067-8d40-15f492112f6a_Name">
    <vt:lpwstr>a9f6c3cc-f515-4067-8d40-15f492112f6a</vt:lpwstr>
  </property>
  <property fmtid="{D5CDD505-2E9C-101B-9397-08002B2CF9AE}" pid="17" name="MSIP_Label_a9f6c3cc-f515-4067-8d40-15f492112f6a_SiteId">
    <vt:lpwstr>a5a8bcaa-3292-41e6-b735-5e8b21f4dbfd</vt:lpwstr>
  </property>
  <property fmtid="{D5CDD505-2E9C-101B-9397-08002B2CF9AE}" pid="18" name="MSIP_Label_a9f6c3cc-f515-4067-8d40-15f492112f6a_ActionId">
    <vt:lpwstr>d0d1dcfd-53ad-47cb-a913-e6635a569160</vt:lpwstr>
  </property>
  <property fmtid="{D5CDD505-2E9C-101B-9397-08002B2CF9AE}" pid="19" name="MSIP_Label_a9f6c3cc-f515-4067-8d40-15f492112f6a_ContentBits">
    <vt:lpwstr>0</vt:lpwstr>
  </property>
  <property fmtid="{D5CDD505-2E9C-101B-9397-08002B2CF9AE}" pid="20" name="MSIP_Label_a9f6c3cc-f515-4067-8d40-15f492112f6a_Tag">
    <vt:lpwstr>10, 0, 1, 1</vt:lpwstr>
  </property>
</Properties>
</file>