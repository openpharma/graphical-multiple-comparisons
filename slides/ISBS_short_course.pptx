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81" r:id="rId1"/>
  </p:sldMasterIdLst>
  <p:notesMasterIdLst>
    <p:notesMasterId r:id="rId130"/>
  </p:notesMasterIdLst>
  <p:handoutMasterIdLst>
    <p:handoutMasterId r:id="rId131"/>
  </p:handoutMasterIdLst>
  <p:sldIdLst>
    <p:sldId id="923" r:id="rId2"/>
    <p:sldId id="924" r:id="rId3"/>
    <p:sldId id="1328" r:id="rId4"/>
    <p:sldId id="1228" r:id="rId5"/>
    <p:sldId id="1185" r:id="rId6"/>
    <p:sldId id="1069" r:id="rId7"/>
    <p:sldId id="1068" r:id="rId8"/>
    <p:sldId id="1229" r:id="rId9"/>
    <p:sldId id="1067" r:id="rId10"/>
    <p:sldId id="1071" r:id="rId11"/>
    <p:sldId id="1072" r:id="rId12"/>
    <p:sldId id="1073" r:id="rId13"/>
    <p:sldId id="1074" r:id="rId14"/>
    <p:sldId id="1066" r:id="rId15"/>
    <p:sldId id="1231" r:id="rId16"/>
    <p:sldId id="1232" r:id="rId17"/>
    <p:sldId id="1233" r:id="rId18"/>
    <p:sldId id="1089" r:id="rId19"/>
    <p:sldId id="1087" r:id="rId20"/>
    <p:sldId id="1326" r:id="rId21"/>
    <p:sldId id="1094" r:id="rId22"/>
    <p:sldId id="1095" r:id="rId23"/>
    <p:sldId id="1230" r:id="rId24"/>
    <p:sldId id="1107" r:id="rId25"/>
    <p:sldId id="1108" r:id="rId26"/>
    <p:sldId id="1109" r:id="rId27"/>
    <p:sldId id="1110" r:id="rId28"/>
    <p:sldId id="1117" r:id="rId29"/>
    <p:sldId id="1118" r:id="rId30"/>
    <p:sldId id="1119" r:id="rId31"/>
    <p:sldId id="1120" r:id="rId32"/>
    <p:sldId id="1121" r:id="rId33"/>
    <p:sldId id="1234" r:id="rId34"/>
    <p:sldId id="1111" r:id="rId35"/>
    <p:sldId id="1122" r:id="rId36"/>
    <p:sldId id="1123" r:id="rId37"/>
    <p:sldId id="1124" r:id="rId38"/>
    <p:sldId id="1125" r:id="rId39"/>
    <p:sldId id="1126" r:id="rId40"/>
    <p:sldId id="1127" r:id="rId41"/>
    <p:sldId id="1128" r:id="rId42"/>
    <p:sldId id="1129" r:id="rId43"/>
    <p:sldId id="1130" r:id="rId44"/>
    <p:sldId id="1132" r:id="rId45"/>
    <p:sldId id="1131" r:id="rId46"/>
    <p:sldId id="1112" r:id="rId47"/>
    <p:sldId id="1113" r:id="rId48"/>
    <p:sldId id="1140" r:id="rId49"/>
    <p:sldId id="1327" r:id="rId50"/>
    <p:sldId id="1222" r:id="rId51"/>
    <p:sldId id="1235" r:id="rId52"/>
    <p:sldId id="1223" r:id="rId53"/>
    <p:sldId id="1224" r:id="rId54"/>
    <p:sldId id="1225" r:id="rId55"/>
    <p:sldId id="1226" r:id="rId56"/>
    <p:sldId id="1227" r:id="rId57"/>
    <p:sldId id="1197" r:id="rId58"/>
    <p:sldId id="1300" r:id="rId59"/>
    <p:sldId id="1302" r:id="rId60"/>
    <p:sldId id="1236" r:id="rId61"/>
    <p:sldId id="1240" r:id="rId62"/>
    <p:sldId id="1241" r:id="rId63"/>
    <p:sldId id="1242" r:id="rId64"/>
    <p:sldId id="1243" r:id="rId65"/>
    <p:sldId id="1317" r:id="rId66"/>
    <p:sldId id="1315" r:id="rId67"/>
    <p:sldId id="1245" r:id="rId68"/>
    <p:sldId id="1247" r:id="rId69"/>
    <p:sldId id="1237" r:id="rId70"/>
    <p:sldId id="1295" r:id="rId71"/>
    <p:sldId id="1238" r:id="rId72"/>
    <p:sldId id="1248" r:id="rId73"/>
    <p:sldId id="1303" r:id="rId74"/>
    <p:sldId id="1239" r:id="rId75"/>
    <p:sldId id="1249" r:id="rId76"/>
    <p:sldId id="1312" r:id="rId77"/>
    <p:sldId id="1311" r:id="rId78"/>
    <p:sldId id="1313" r:id="rId79"/>
    <p:sldId id="1307" r:id="rId80"/>
    <p:sldId id="1256" r:id="rId81"/>
    <p:sldId id="1293" r:id="rId82"/>
    <p:sldId id="1292" r:id="rId83"/>
    <p:sldId id="1257" r:id="rId84"/>
    <p:sldId id="1183" r:id="rId85"/>
    <p:sldId id="1319" r:id="rId86"/>
    <p:sldId id="1259" r:id="rId87"/>
    <p:sldId id="1217" r:id="rId88"/>
    <p:sldId id="1260" r:id="rId89"/>
    <p:sldId id="1261" r:id="rId90"/>
    <p:sldId id="1262" r:id="rId91"/>
    <p:sldId id="1263" r:id="rId92"/>
    <p:sldId id="1264" r:id="rId93"/>
    <p:sldId id="1265" r:id="rId94"/>
    <p:sldId id="1314" r:id="rId95"/>
    <p:sldId id="1294" r:id="rId96"/>
    <p:sldId id="1266" r:id="rId97"/>
    <p:sldId id="1267" r:id="rId98"/>
    <p:sldId id="1268" r:id="rId99"/>
    <p:sldId id="1269" r:id="rId100"/>
    <p:sldId id="1318" r:id="rId101"/>
    <p:sldId id="1271" r:id="rId102"/>
    <p:sldId id="1320" r:id="rId103"/>
    <p:sldId id="1273" r:id="rId104"/>
    <p:sldId id="1274" r:id="rId105"/>
    <p:sldId id="1275" r:id="rId106"/>
    <p:sldId id="1276" r:id="rId107"/>
    <p:sldId id="1277" r:id="rId108"/>
    <p:sldId id="1324" r:id="rId109"/>
    <p:sldId id="1325" r:id="rId110"/>
    <p:sldId id="1278" r:id="rId111"/>
    <p:sldId id="1279" r:id="rId112"/>
    <p:sldId id="1280" r:id="rId113"/>
    <p:sldId id="1281" r:id="rId114"/>
    <p:sldId id="1282" r:id="rId115"/>
    <p:sldId id="1283" r:id="rId116"/>
    <p:sldId id="1284" r:id="rId117"/>
    <p:sldId id="1285" r:id="rId118"/>
    <p:sldId id="1286" r:id="rId119"/>
    <p:sldId id="1287" r:id="rId120"/>
    <p:sldId id="1321" r:id="rId121"/>
    <p:sldId id="1289" r:id="rId122"/>
    <p:sldId id="1290" r:id="rId123"/>
    <p:sldId id="1297" r:id="rId124"/>
    <p:sldId id="1322" r:id="rId125"/>
    <p:sldId id="1301" r:id="rId126"/>
    <p:sldId id="1298" r:id="rId127"/>
    <p:sldId id="1299" r:id="rId128"/>
    <p:sldId id="1296" r:id="rId129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852A7DD7-9F4F-428A-B404-6AF91AD3396A}">
          <p14:sldIdLst>
            <p14:sldId id="923"/>
            <p14:sldId id="924"/>
            <p14:sldId id="1328"/>
            <p14:sldId id="1228"/>
            <p14:sldId id="1185"/>
            <p14:sldId id="1069"/>
            <p14:sldId id="1068"/>
            <p14:sldId id="1229"/>
            <p14:sldId id="1067"/>
            <p14:sldId id="1071"/>
            <p14:sldId id="1072"/>
            <p14:sldId id="1073"/>
            <p14:sldId id="1074"/>
            <p14:sldId id="1066"/>
            <p14:sldId id="1231"/>
            <p14:sldId id="1232"/>
            <p14:sldId id="1233"/>
            <p14:sldId id="1089"/>
            <p14:sldId id="1087"/>
            <p14:sldId id="1326"/>
            <p14:sldId id="1094"/>
            <p14:sldId id="1095"/>
            <p14:sldId id="1230"/>
            <p14:sldId id="1107"/>
            <p14:sldId id="1108"/>
            <p14:sldId id="1109"/>
            <p14:sldId id="1110"/>
            <p14:sldId id="1117"/>
            <p14:sldId id="1118"/>
            <p14:sldId id="1119"/>
            <p14:sldId id="1120"/>
            <p14:sldId id="1121"/>
            <p14:sldId id="1234"/>
            <p14:sldId id="1111"/>
            <p14:sldId id="1122"/>
            <p14:sldId id="1123"/>
            <p14:sldId id="1124"/>
            <p14:sldId id="1125"/>
            <p14:sldId id="1126"/>
            <p14:sldId id="1127"/>
            <p14:sldId id="1128"/>
            <p14:sldId id="1129"/>
            <p14:sldId id="1130"/>
            <p14:sldId id="1132"/>
            <p14:sldId id="1131"/>
            <p14:sldId id="1112"/>
            <p14:sldId id="1113"/>
            <p14:sldId id="1140"/>
            <p14:sldId id="1327"/>
            <p14:sldId id="1222"/>
            <p14:sldId id="1235"/>
            <p14:sldId id="1223"/>
            <p14:sldId id="1224"/>
            <p14:sldId id="1225"/>
            <p14:sldId id="1226"/>
            <p14:sldId id="1227"/>
            <p14:sldId id="1197"/>
            <p14:sldId id="1300"/>
            <p14:sldId id="1302"/>
            <p14:sldId id="1236"/>
            <p14:sldId id="1240"/>
            <p14:sldId id="1241"/>
            <p14:sldId id="1242"/>
            <p14:sldId id="1243"/>
            <p14:sldId id="1317"/>
            <p14:sldId id="1315"/>
            <p14:sldId id="1245"/>
            <p14:sldId id="1247"/>
            <p14:sldId id="1237"/>
            <p14:sldId id="1295"/>
            <p14:sldId id="1238"/>
            <p14:sldId id="1248"/>
            <p14:sldId id="1303"/>
            <p14:sldId id="1239"/>
            <p14:sldId id="1249"/>
            <p14:sldId id="1312"/>
            <p14:sldId id="1311"/>
            <p14:sldId id="1313"/>
            <p14:sldId id="1307"/>
            <p14:sldId id="1256"/>
            <p14:sldId id="1293"/>
            <p14:sldId id="1292"/>
            <p14:sldId id="1257"/>
            <p14:sldId id="1183"/>
            <p14:sldId id="1319"/>
            <p14:sldId id="1259"/>
            <p14:sldId id="1217"/>
            <p14:sldId id="1260"/>
            <p14:sldId id="1261"/>
            <p14:sldId id="1262"/>
            <p14:sldId id="1263"/>
            <p14:sldId id="1264"/>
            <p14:sldId id="1265"/>
            <p14:sldId id="1314"/>
            <p14:sldId id="1294"/>
            <p14:sldId id="1266"/>
            <p14:sldId id="1267"/>
            <p14:sldId id="1268"/>
            <p14:sldId id="1269"/>
            <p14:sldId id="1318"/>
            <p14:sldId id="1271"/>
            <p14:sldId id="1320"/>
            <p14:sldId id="1273"/>
            <p14:sldId id="1274"/>
            <p14:sldId id="1275"/>
            <p14:sldId id="1276"/>
            <p14:sldId id="1277"/>
            <p14:sldId id="1324"/>
            <p14:sldId id="1325"/>
            <p14:sldId id="1278"/>
            <p14:sldId id="1279"/>
            <p14:sldId id="1280"/>
            <p14:sldId id="1281"/>
            <p14:sldId id="1282"/>
            <p14:sldId id="1283"/>
            <p14:sldId id="1284"/>
            <p14:sldId id="1285"/>
            <p14:sldId id="1286"/>
            <p14:sldId id="1287"/>
            <p14:sldId id="1321"/>
            <p14:sldId id="1289"/>
            <p14:sldId id="1290"/>
            <p14:sldId id="1297"/>
            <p14:sldId id="1322"/>
            <p14:sldId id="1301"/>
            <p14:sldId id="1298"/>
            <p14:sldId id="1299"/>
            <p14:sldId id="129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4">
          <p15:clr>
            <a:srgbClr val="A4A3A4"/>
          </p15:clr>
        </p15:guide>
        <p15:guide id="2" orient="horz" pos="2835" userDrawn="1">
          <p15:clr>
            <a:srgbClr val="A4A3A4"/>
          </p15:clr>
        </p15:guide>
        <p15:guide id="3" orient="horz" pos="864">
          <p15:clr>
            <a:srgbClr val="A4A3A4"/>
          </p15:clr>
        </p15:guide>
        <p15:guide id="4" pos="5472">
          <p15:clr>
            <a:srgbClr val="A4A3A4"/>
          </p15:clr>
        </p15:guide>
        <p15:guide id="5" pos="2937">
          <p15:clr>
            <a:srgbClr val="A4A3A4"/>
          </p15:clr>
        </p15:guide>
        <p15:guide id="6" pos="288">
          <p15:clr>
            <a:srgbClr val="A4A3A4"/>
          </p15:clr>
        </p15:guide>
        <p15:guide id="7" pos="282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727BA17-5841-2141-0091-F5CA1C15887C}" name="Frank Bretz" initials="FB" userId="Frank Bretz" providerId="None"/>
  <p188:author id="{D2005823-49D0-286F-88EA-714F55CA72BB}" name="Frank Bretz" initials="FB" userId="S::BRETZFR1@novartis.net::3ce1428b-a384-42c6-a714-ab1bf78e9a62" providerId="AD"/>
  <p188:author id="{F4CE5189-CF5E-59AF-A9A9-A613A37D28A8}" name="xidongdxi@gmail.com" initials="xi" userId="S::urn:spo:guest#xidongdxi@gmail.com::" providerId="AD"/>
  <p188:author id="{FDF933D4-58AD-1B37-3616-E4E6F486C5C1}" name="Chen, Yao" initials="YC" userId="S::CHENYA3I@novartis.net::10274ba9-d313-448b-ae7f-19e05f57d394" providerId="AD"/>
  <p188:author id="{2EDBBFE2-D86E-C83E-5C54-45A189C71ACA}" name="Lyu, Tianmeng" initials="LT" userId="S::LYUTI1@novartis.net::804dd2c8-9375-4232-b346-edb44c8cf5d7" providerId="AD"/>
  <p188:author id="{C24A87F7-832D-CC06-5E42-30496257CDB3}" name="Dong Xi" initials="DX" userId="S::Dong.Xi1@gilead.com::57f222e0-cbf6-450b-8272-f31ae8fad45d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291DD"/>
    <a:srgbClr val="023760"/>
    <a:srgbClr val="000000"/>
    <a:srgbClr val="CE755D"/>
    <a:srgbClr val="FF0000"/>
    <a:srgbClr val="FF6600"/>
    <a:srgbClr val="9ABFD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C5780E6-A8F4-46B0-B82D-9E7F56C639EF}">
  <a:tblStyle styleId="{1C5780E6-A8F4-46B0-B82D-9E7F56C639EF}" styleName="Novartis Table">
    <a:wholeTbl>
      <a:tcTxStyle>
        <a:fontRef idx="minor"/>
        <a:srgbClr val="000000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rgbClr val="646464"/>
              </a:solidFill>
            </a:ln>
          </a:top>
          <a:bottom>
            <a:ln w="6350">
              <a:solidFill>
                <a:srgbClr val="646464"/>
              </a:solidFill>
            </a:ln>
          </a:bottom>
          <a:insideH>
            <a:ln w="6350">
              <a:solidFill>
                <a:srgbClr val="646464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noFill/>
        </a:fill>
      </a:tcStyle>
    </a:band1H>
    <a:band2H>
      <a:tcStyle>
        <a:tcBdr/>
        <a:fill>
          <a:noFill/>
        </a:fill>
      </a:tcStyle>
    </a:band2H>
    <a:band1V>
      <a:tcStyle>
        <a:tcBdr/>
        <a:fill>
          <a:noFill/>
        </a:fill>
      </a:tcStyle>
    </a:band1V>
    <a:band2V>
      <a:tcStyle>
        <a:tcBdr/>
        <a:fill>
          <a:noFill/>
        </a:fill>
      </a:tcStyle>
    </a:band2V>
    <a:lastCol>
      <a:tcTxStyle b="on">
        <a:fontRef idx="minor"/>
        <a:srgbClr val="000000"/>
      </a:tcTxStyle>
      <a:tcStyle>
        <a:tcBdr/>
      </a:tcStyle>
    </a:lastCol>
    <a:firstCol>
      <a:tcTxStyle b="on">
        <a:fontRef idx="minor"/>
        <a:srgbClr val="000000"/>
      </a:tcTxStyle>
      <a:tcStyle>
        <a:tcBdr/>
      </a:tcStyle>
    </a:firstCol>
    <a:lastRow>
      <a:tcTxStyle b="on">
        <a:fontRef idx="minor"/>
        <a:srgbClr val="000000"/>
      </a:tcTxStyle>
      <a:tcStyle>
        <a:tcBdr>
          <a:top>
            <a:ln w="19050">
              <a:solidFill>
                <a:srgbClr val="000000"/>
              </a:solidFill>
            </a:ln>
          </a:top>
          <a:bottom>
            <a:ln>
              <a:noFill/>
            </a:ln>
          </a:bottom>
        </a:tcBdr>
        <a:fill>
          <a:noFill/>
        </a:fill>
      </a:tcStyle>
    </a:lastRow>
    <a:firstRow>
      <a:tcTxStyle b="on">
        <a:fontRef idx="minor"/>
        <a:srgbClr val="0460A9"/>
      </a:tcTxStyle>
      <a:tcStyle>
        <a:tcBdr>
          <a:top>
            <a:ln>
              <a:noFill/>
            </a:ln>
          </a:top>
          <a:bottom>
            <a:ln w="19050">
              <a:solidFill>
                <a:srgbClr val="0460A9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922" y="72"/>
      </p:cViewPr>
      <p:guideLst>
        <p:guide orient="horz" pos="214"/>
        <p:guide orient="horz" pos="2835"/>
        <p:guide orient="horz" pos="864"/>
        <p:guide pos="5472"/>
        <p:guide pos="2937"/>
        <p:guide pos="288"/>
        <p:guide pos="2824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28" Type="http://schemas.openxmlformats.org/officeDocument/2006/relationships/slide" Target="slides/slide127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34" Type="http://schemas.openxmlformats.org/officeDocument/2006/relationships/theme" Target="theme/theme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notesMaster" Target="notesMasters/notesMaster1.xml"/><Relationship Id="rId135" Type="http://schemas.openxmlformats.org/officeDocument/2006/relationships/tableStyles" Target="tableStyles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handoutMaster" Target="handoutMasters/handoutMaster1.xml"/><Relationship Id="rId136" Type="http://schemas.microsoft.com/office/2016/11/relationships/changesInfo" Target="changesInfos/changesInfo1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microsoft.com/office/2018/10/relationships/authors" Target="author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presProps" Target="presProps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etz, Frank" userId="3ce1428b-a384-42c6-a714-ab1bf78e9a62" providerId="ADAL" clId="{19061B0D-C2FE-4147-914C-5708595ADF9C}"/>
    <pc:docChg chg="undo custSel modSld">
      <pc:chgData name="Bretz, Frank" userId="3ce1428b-a384-42c6-a714-ab1bf78e9a62" providerId="ADAL" clId="{19061B0D-C2FE-4147-914C-5708595ADF9C}" dt="2026-09-22T14:08:42.667" v="16" actId="20577"/>
      <pc:docMkLst>
        <pc:docMk/>
      </pc:docMkLst>
      <pc:sldChg chg="modSp mod">
        <pc:chgData name="Bretz, Frank" userId="3ce1428b-a384-42c6-a714-ab1bf78e9a62" providerId="ADAL" clId="{19061B0D-C2FE-4147-914C-5708595ADF9C}" dt="2026-09-22T14:08:42.667" v="16" actId="20577"/>
        <pc:sldMkLst>
          <pc:docMk/>
          <pc:sldMk cId="2954056470" sldId="1317"/>
        </pc:sldMkLst>
        <pc:spChg chg="mod">
          <ac:chgData name="Bretz, Frank" userId="3ce1428b-a384-42c6-a714-ab1bf78e9a62" providerId="ADAL" clId="{19061B0D-C2FE-4147-914C-5708595ADF9C}" dt="2026-09-22T14:08:42.667" v="16" actId="20577"/>
          <ac:spMkLst>
            <pc:docMk/>
            <pc:sldMk cId="2954056470" sldId="1317"/>
            <ac:spMk id="3" creationId="{31444AB7-0F1A-630D-2B50-E573053C74E8}"/>
          </ac:spMkLst>
        </pc:spChg>
      </pc:sldChg>
      <pc:sldChg chg="modSp mod modCm">
        <pc:chgData name="Bretz, Frank" userId="3ce1428b-a384-42c6-a714-ab1bf78e9a62" providerId="ADAL" clId="{19061B0D-C2FE-4147-914C-5708595ADF9C}" dt="2026-09-22T14:07:42.544" v="10" actId="20577"/>
        <pc:sldMkLst>
          <pc:docMk/>
          <pc:sldMk cId="3685554341" sldId="1328"/>
        </pc:sldMkLst>
        <pc:spChg chg="mod">
          <ac:chgData name="Bretz, Frank" userId="3ce1428b-a384-42c6-a714-ab1bf78e9a62" providerId="ADAL" clId="{19061B0D-C2FE-4147-914C-5708595ADF9C}" dt="2026-09-22T14:07:42.544" v="10" actId="20577"/>
          <ac:spMkLst>
            <pc:docMk/>
            <pc:sldMk cId="3685554341" sldId="1328"/>
            <ac:spMk id="3" creationId="{DD964DFA-23C0-9D47-9541-CDC601027024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Bretz, Frank" userId="3ce1428b-a384-42c6-a714-ab1bf78e9a62" providerId="ADAL" clId="{19061B0D-C2FE-4147-914C-5708595ADF9C}" dt="2026-09-22T14:07:42.544" v="10" actId="20577"/>
              <pc2:cmMkLst xmlns:pc2="http://schemas.microsoft.com/office/powerpoint/2019/9/main/command">
                <pc:docMk/>
                <pc:sldMk cId="3685554341" sldId="1328"/>
                <pc2:cmMk id="{05F5BDC3-FF1D-47B8-B1E3-4CBB1545B3CA}"/>
              </pc2:cmMkLst>
            </pc226:cmChg>
          </p:ext>
        </pc:ext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>
              <a:latin typeface="Arial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BB60FF-ACF0-5A4A-9C79-4881E6B16567}" type="datetimeFigureOut">
              <a:rPr lang="en-US" smtClean="0">
                <a:latin typeface="Arial" charset="0"/>
              </a:rPr>
              <a:pPr/>
              <a:t>9/22/2026</a:t>
            </a:fld>
            <a:endParaRPr lang="en-US">
              <a:latin typeface="Arial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>
              <a:latin typeface="Arial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ABA786-EB35-BA4C-A7F7-24740D3067F1}" type="slidenum">
              <a:rPr lang="en-US" smtClean="0">
                <a:latin typeface="Arial" charset="0"/>
              </a:rPr>
              <a:pPr/>
              <a:t>‹#›</a:t>
            </a:fld>
            <a:endParaRPr lang="en-US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994723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rial" charset="0"/>
              </a:defRPr>
            </a:lvl1pPr>
          </a:lstStyle>
          <a:p>
            <a:fld id="{0C4595FF-6E7F-4C41-B8DF-4AE76FC1F075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rial" charset="0"/>
              </a:defRPr>
            </a:lvl1pPr>
          </a:lstStyle>
          <a:p>
            <a:fld id="{5A6330BE-D91A-D240-B266-E5D5F99B4CC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631671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b="0" i="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defTabSz="457200" rtl="0" eaLnBrk="1" latinLnBrk="0" hangingPunct="1">
      <a:defRPr sz="1200" b="0" i="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defTabSz="457200" rtl="0" eaLnBrk="1" latinLnBrk="0" hangingPunct="1">
      <a:defRPr sz="1200" b="0" i="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defTabSz="457200" rtl="0" eaLnBrk="1" latinLnBrk="0" hangingPunct="1">
      <a:defRPr sz="1200" b="0" i="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defTabSz="457200" rtl="0" eaLnBrk="1" latinLnBrk="0" hangingPunct="1">
      <a:defRPr sz="1200" b="0" i="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79450" y="4705350"/>
            <a:ext cx="5435600" cy="445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95250" y="742950"/>
            <a:ext cx="6604000" cy="3714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6330BE-D91A-D240-B266-E5D5F99B4CCE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34312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6330BE-D91A-D240-B266-E5D5F99B4CCE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81333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6330BE-D91A-D240-B266-E5D5F99B4CCE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7829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2F198C-D397-23EA-424D-21BF8A6CD5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BA4856-EB3A-F3BA-88BA-E046A056CD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D55DA2-262E-36B6-F365-53173AA50A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1C9A6D-51ED-082B-94AF-4C897914A9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6330BE-D91A-D240-B266-E5D5F99B4CCE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20924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6330BE-D91A-D240-B266-E5D5F99B4CCE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157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6330BE-D91A-D240-B266-E5D5F99B4CCE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50261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6330BE-D91A-D240-B266-E5D5F99B4CCE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511459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6330BE-D91A-D240-B266-E5D5F99B4CCE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333124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28475E-058D-A78E-345B-8014347A42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272980-54D8-E92F-97F5-2B1466D4DA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381781-05C3-A851-39C6-BD3CD5B9F5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82D0FD-3B84-C824-CF5E-EBB4C63780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6330BE-D91A-D240-B266-E5D5F99B4CCE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10324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6330BE-D91A-D240-B266-E5D5F99B4CCE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034477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6330BE-D91A-D240-B266-E5D5F99B4CCE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28576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6330BE-D91A-D240-B266-E5D5F99B4CCE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685652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6330BE-D91A-D240-B266-E5D5F99B4CCE}" type="slidenum">
              <a:rPr lang="en-US" smtClean="0"/>
              <a:pPr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90542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6330BE-D91A-D240-B266-E5D5F99B4CCE}" type="slidenum">
              <a:rPr lang="en-US" smtClean="0"/>
              <a:pPr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836692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6330BE-D91A-D240-B266-E5D5F99B4CCE}" type="slidenum">
              <a:rPr lang="en-US" smtClean="0"/>
              <a:pPr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00994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7E4AAB-8266-9324-4F9B-F346E050D7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3458AE-6369-5324-9BF1-A7AF32CF4D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653DA3-369D-4E7A-8914-EB8E96A53B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34746F-91E1-271B-B23B-5AAD47F7BC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6330BE-D91A-D240-B266-E5D5F99B4CCE}" type="slidenum">
              <a:rPr lang="en-US" smtClean="0"/>
              <a:pPr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1377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6330BE-D91A-D240-B266-E5D5F99B4CCE}" type="slidenum">
              <a:rPr lang="en-US" smtClean="0"/>
              <a:pPr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897599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6330BE-D91A-D240-B266-E5D5F99B4CCE}" type="slidenum">
              <a:rPr lang="en-US" smtClean="0"/>
              <a:pPr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62827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6330BE-D91A-D240-B266-E5D5F99B4CCE}" type="slidenum">
              <a:rPr lang="en-US" smtClean="0"/>
              <a:pPr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912423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6330BE-D91A-D240-B266-E5D5F99B4CCE}" type="slidenum">
              <a:rPr lang="en-US" smtClean="0"/>
              <a:pPr/>
              <a:t>121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09071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/>
              <a:t>Bretz, Chen, Xi | ISBS | October 2026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D9F39-F344-41AE-B531-1D3ECACBC8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89762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/>
              <a:t>Bretz, Chen, Xi | ISBS | October 2026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D9F39-F344-41AE-B531-1D3ECACBC8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9921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/>
              <a:t>Bretz, Chen, Xi | ISBS | October 2026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D9F39-F344-41AE-B531-1D3ECACBC8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08372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/>
              <a:t>Bretz, Chen, Xi | ISBS | October 2026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D9F39-F344-41AE-B531-1D3ECACBC8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23019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/>
              <a:t>Bretz, Chen, Xi | ISBS | October 2026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D9F39-F344-41AE-B531-1D3ECACBC8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27845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/>
              <a:t>Bretz, Chen, Xi | ISBS | October 2026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D9F39-F344-41AE-B531-1D3ECACBC8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18021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/>
              <a:t>Bretz, Chen, Xi | ISBS | October 2026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D9F39-F344-41AE-B531-1D3ECACBC8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71213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/>
              <a:t>Bretz, Chen, Xi | ISBS | October 2026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D9F39-F344-41AE-B531-1D3ECACBC8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90242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/>
              <a:t>Bretz, Chen, Xi | ISBS | October 2026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D9F39-F344-41AE-B531-1D3ECACBC8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92984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/>
              <a:t>Bretz, Chen, Xi | ISBS | October 2026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D9F39-F344-41AE-B531-1D3ECACBC8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1242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/>
              <a:t>Bretz, Chen, Xi | ISBS | October 2026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D9F39-F344-41AE-B531-1D3ECACBC8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87640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CH"/>
              <a:t>Bretz, Chen, Xi | ISBS | October 2026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BD9F39-F344-41AE-B531-1D3ECACBC8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74388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3" r:id="rId2"/>
    <p:sldLayoutId id="2147483684" r:id="rId3"/>
    <p:sldLayoutId id="2147483685" r:id="rId4"/>
    <p:sldLayoutId id="2147483686" r:id="rId5"/>
    <p:sldLayoutId id="2147483687" r:id="rId6"/>
    <p:sldLayoutId id="2147483688" r:id="rId7"/>
    <p:sldLayoutId id="2147483689" r:id="rId8"/>
    <p:sldLayoutId id="2147483690" r:id="rId9"/>
    <p:sldLayoutId id="2147483691" r:id="rId10"/>
    <p:sldLayoutId id="2147483692" r:id="rId11"/>
  </p:sldLayoutIdLst>
  <p:hf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8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9.pn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9.png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2.png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6.png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png"/><Relationship Id="rId13" Type="http://schemas.openxmlformats.org/officeDocument/2006/relationships/image" Target="../media/image87.png"/><Relationship Id="rId7" Type="http://schemas.openxmlformats.org/officeDocument/2006/relationships/image" Target="../media/image81.png"/><Relationship Id="rId12" Type="http://schemas.openxmlformats.org/officeDocument/2006/relationships/image" Target="../media/image86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0.png"/><Relationship Id="rId11" Type="http://schemas.openxmlformats.org/officeDocument/2006/relationships/image" Target="../media/image85.png"/><Relationship Id="rId5" Type="http://schemas.openxmlformats.org/officeDocument/2006/relationships/image" Target="../media/image79.png"/><Relationship Id="rId10" Type="http://schemas.openxmlformats.org/officeDocument/2006/relationships/image" Target="../media/image84.png"/><Relationship Id="rId4" Type="http://schemas.openxmlformats.org/officeDocument/2006/relationships/image" Target="../media/image78.png"/><Relationship Id="rId9" Type="http://schemas.openxmlformats.org/officeDocument/2006/relationships/image" Target="../media/image83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2.png"/><Relationship Id="rId5" Type="http://schemas.openxmlformats.org/officeDocument/2006/relationships/image" Target="../media/image91.png"/><Relationship Id="rId4" Type="http://schemas.openxmlformats.org/officeDocument/2006/relationships/image" Target="../media/image90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5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9.png"/><Relationship Id="rId4" Type="http://schemas.openxmlformats.org/officeDocument/2006/relationships/image" Target="../media/image98.png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3.png"/><Relationship Id="rId4" Type="http://schemas.openxmlformats.org/officeDocument/2006/relationships/image" Target="../media/image102.png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png"/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7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png"/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2.pn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png"/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5.pn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png"/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8.png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5.svg"/><Relationship Id="rId3" Type="http://schemas.openxmlformats.org/officeDocument/2006/relationships/image" Target="../media/image120.svg"/><Relationship Id="rId7" Type="http://schemas.openxmlformats.org/officeDocument/2006/relationships/image" Target="../media/image124.svg"/><Relationship Id="rId2" Type="http://schemas.openxmlformats.org/officeDocument/2006/relationships/image" Target="../media/image119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3.svg"/><Relationship Id="rId5" Type="http://schemas.openxmlformats.org/officeDocument/2006/relationships/image" Target="../media/image122.svg"/><Relationship Id="rId10" Type="http://schemas.openxmlformats.org/officeDocument/2006/relationships/image" Target="../media/image127.svg"/><Relationship Id="rId4" Type="http://schemas.openxmlformats.org/officeDocument/2006/relationships/image" Target="../media/image121.svg"/><Relationship Id="rId9" Type="http://schemas.openxmlformats.org/officeDocument/2006/relationships/image" Target="../media/image126.svg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hyperlink" Target="https://cran.r-project.org/web/packages/graphicalMCP/index.html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8.png"/><Relationship Id="rId4" Type="http://schemas.openxmlformats.org/officeDocument/2006/relationships/hyperlink" Target="https://openpharma.github.io/graphicalMCP/" TargetMode="Externa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9.png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hyperlink" Target="https://rdrr.io/r/base/cbind.html" TargetMode="External"/><Relationship Id="rId2" Type="http://schemas.openxmlformats.org/officeDocument/2006/relationships/hyperlink" Target="https://rdrr.io/r/base/c.html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0.png"/><Relationship Id="rId5" Type="http://schemas.openxmlformats.org/officeDocument/2006/relationships/hyperlink" Target="https://rdrr.io/r/graphics/plot.default.html" TargetMode="External"/><Relationship Id="rId4" Type="http://schemas.openxmlformats.org/officeDocument/2006/relationships/hyperlink" Target="https://gilead-biostats.github.io/graphicalMCP/reference/graph_create.html" TargetMode="Externa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hyperlink" Target="https://rdrr.io/r/base/c.html" TargetMode="External"/><Relationship Id="rId2" Type="http://schemas.openxmlformats.org/officeDocument/2006/relationships/hyperlink" Target="https://gilead-biostats.github.io/graphicalMCP/reference/graph_update.html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2.png"/><Relationship Id="rId5" Type="http://schemas.openxmlformats.org/officeDocument/2006/relationships/image" Target="../media/image131.png"/><Relationship Id="rId4" Type="http://schemas.openxmlformats.org/officeDocument/2006/relationships/hyperlink" Target="https://rdrr.io/r/graphics/plot.default.html" TargetMode="Externa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hyperlink" Target="https://gilead-biostats.github.io/graphicalMCP/reference/graph_test_shortcut.html" TargetMode="External"/><Relationship Id="rId2" Type="http://schemas.openxmlformats.org/officeDocument/2006/relationships/hyperlink" Target="https://rdrr.io/r/base/c.html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3.png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hyperlink" Target="https://gilead-biostats.github.io/graphicalMCP/reference/graph_test_shortcut.html" TargetMode="External"/><Relationship Id="rId7" Type="http://schemas.openxmlformats.org/officeDocument/2006/relationships/image" Target="../media/image138.png"/><Relationship Id="rId2" Type="http://schemas.openxmlformats.org/officeDocument/2006/relationships/image" Target="../media/image13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7.png"/><Relationship Id="rId5" Type="http://schemas.openxmlformats.org/officeDocument/2006/relationships/image" Target="../media/image136.png"/><Relationship Id="rId4" Type="http://schemas.openxmlformats.org/officeDocument/2006/relationships/image" Target="../media/image135.png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9.png"/><Relationship Id="rId7" Type="http://schemas.openxmlformats.org/officeDocument/2006/relationships/image" Target="../media/image1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0.png"/><Relationship Id="rId5" Type="http://schemas.openxmlformats.org/officeDocument/2006/relationships/image" Target="../media/image132.png"/><Relationship Id="rId4" Type="http://schemas.openxmlformats.org/officeDocument/2006/relationships/hyperlink" Target="https://gilead-biostats.github.io/graphicalMCP/reference/graph_rejection_orderings.html" TargetMode="Externa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hyperlink" Target="https://rdrr.io/r/base/Random.html" TargetMode="External"/><Relationship Id="rId2" Type="http://schemas.openxmlformats.org/officeDocument/2006/relationships/image" Target="../media/image142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rdrr.io/r/base/c.html" TargetMode="External"/><Relationship Id="rId4" Type="http://schemas.openxmlformats.org/officeDocument/2006/relationships/hyperlink" Target="https://gilead-biostats.github.io/graphicalMCP/reference/graph_calculate_power.html" TargetMode="Externa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3.png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5.png"/><Relationship Id="rId2" Type="http://schemas.openxmlformats.org/officeDocument/2006/relationships/image" Target="../media/image144.png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2.png"/><Relationship Id="rId3" Type="http://schemas.openxmlformats.org/officeDocument/2006/relationships/image" Target="../media/image147.png"/><Relationship Id="rId7" Type="http://schemas.openxmlformats.org/officeDocument/2006/relationships/image" Target="../media/image151.png"/><Relationship Id="rId2" Type="http://schemas.openxmlformats.org/officeDocument/2006/relationships/image" Target="../media/image14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0.png"/><Relationship Id="rId5" Type="http://schemas.openxmlformats.org/officeDocument/2006/relationships/image" Target="../media/image149.png"/><Relationship Id="rId4" Type="http://schemas.openxmlformats.org/officeDocument/2006/relationships/image" Target="../media/image148.png"/><Relationship Id="rId9" Type="http://schemas.openxmlformats.org/officeDocument/2006/relationships/image" Target="../media/image153.png"/></Relationships>
</file>

<file path=ppt/slides/_rels/slide9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7.png"/><Relationship Id="rId3" Type="http://schemas.openxmlformats.org/officeDocument/2006/relationships/image" Target="../media/image154.png"/><Relationship Id="rId7" Type="http://schemas.openxmlformats.org/officeDocument/2006/relationships/image" Target="../media/image15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55.png"/><Relationship Id="rId4" Type="http://schemas.openxmlformats.org/officeDocument/2006/relationships/image" Target="../media/image147.emf"/></Relationships>
</file>

<file path=ppt/slides/_rels/slide10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7.png"/><Relationship Id="rId3" Type="http://schemas.openxmlformats.org/officeDocument/2006/relationships/image" Target="../media/image159.png"/><Relationship Id="rId7" Type="http://schemas.openxmlformats.org/officeDocument/2006/relationships/image" Target="../media/image15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55.png"/><Relationship Id="rId4" Type="http://schemas.openxmlformats.org/officeDocument/2006/relationships/image" Target="../media/image147.emf"/></Relationships>
</file>

<file path=ppt/slides/_rels/slide10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7.png"/><Relationship Id="rId3" Type="http://schemas.openxmlformats.org/officeDocument/2006/relationships/image" Target="../media/image160.png"/><Relationship Id="rId7" Type="http://schemas.openxmlformats.org/officeDocument/2006/relationships/image" Target="../media/image15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55.png"/><Relationship Id="rId4" Type="http://schemas.openxmlformats.org/officeDocument/2006/relationships/image" Target="../media/image147.emf"/></Relationships>
</file>

<file path=ppt/slides/_rels/slide10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7.png"/><Relationship Id="rId3" Type="http://schemas.openxmlformats.org/officeDocument/2006/relationships/image" Target="../media/image161.png"/><Relationship Id="rId7" Type="http://schemas.openxmlformats.org/officeDocument/2006/relationships/image" Target="../media/image15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55.png"/><Relationship Id="rId4" Type="http://schemas.openxmlformats.org/officeDocument/2006/relationships/image" Target="../media/image147.emf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8.png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8.png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3.png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8.png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2.png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7.png"/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8.png"/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8.png"/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openpharma.github.io/graphicalMCP/" TargetMode="Externa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4.xml.rels><?xml version="1.0" encoding="UTF-8" standalone="yes"?>
<Relationships xmlns="http://schemas.openxmlformats.org/package/2006/relationships"><Relationship Id="rId3" Type="http://schemas.openxmlformats.org/officeDocument/2006/relationships/hyperlink" Target="mailto:dong.xi1@gilead.com" TargetMode="External"/><Relationship Id="rId2" Type="http://schemas.openxmlformats.org/officeDocument/2006/relationships/hyperlink" Target="mailto:yao.chen@novartis.com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github.com/openpharma/graphical-multiple-comparisons" TargetMode="External"/><Relationship Id="rId4" Type="http://schemas.openxmlformats.org/officeDocument/2006/relationships/hyperlink" Target="mailto:Yao.chen@novartis.com" TargetMode="Externa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>
            <a:spLocks noGrp="1"/>
          </p:cNvSpPr>
          <p:nvPr>
            <p:ph type="ctrTitle"/>
          </p:nvPr>
        </p:nvSpPr>
        <p:spPr>
          <a:xfrm>
            <a:off x="539551" y="987574"/>
            <a:ext cx="8064896" cy="164489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rtlCol="0" anchor="b" anchorCtr="0">
            <a:normAutofit fontScale="90000"/>
          </a:bodyPr>
          <a:lstStyle/>
          <a:p>
            <a:pPr>
              <a:spcBef>
                <a:spcPts val="0"/>
              </a:spcBef>
              <a:buClr>
                <a:schemeClr val="dk1"/>
              </a:buClr>
              <a:buSzPts val="6000"/>
            </a:pPr>
            <a:r>
              <a:rPr lang="en-US" sz="4000" noProof="0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Graphical multiple comparison procedures </a:t>
            </a:r>
            <a:br>
              <a:rPr lang="en-US" sz="4000" noProof="0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3100" noProof="0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Combining flexibility with optimality</a:t>
            </a:r>
            <a:br>
              <a:rPr lang="en-US" sz="4000" noProof="0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en-US" sz="4000" noProof="0" dirty="0">
              <a:solidFill>
                <a:schemeClr val="accent1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5" name="Google Shape;85;p1"/>
          <p:cNvSpPr txBox="1">
            <a:spLocks noGrp="1"/>
          </p:cNvSpPr>
          <p:nvPr>
            <p:ph type="subTitle" idx="1"/>
          </p:nvPr>
        </p:nvSpPr>
        <p:spPr>
          <a:xfrm>
            <a:off x="539551" y="2787774"/>
            <a:ext cx="8064895" cy="17907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rtlCol="0" anchor="t" anchorCtr="0">
            <a:normAutofit/>
          </a:bodyPr>
          <a:lstStyle/>
          <a:p>
            <a:pPr>
              <a:spcBef>
                <a:spcPts val="0"/>
              </a:spcBef>
              <a:buClr>
                <a:schemeClr val="dk1"/>
              </a:buClr>
              <a:buSzPts val="2400"/>
            </a:pPr>
            <a:r>
              <a:rPr lang="en-US" sz="2400" dirty="0"/>
              <a:t>Frank Bretz (Novartis), </a:t>
            </a:r>
            <a:r>
              <a:rPr lang="en-US" sz="2400" noProof="0" dirty="0"/>
              <a:t>Yao Chen (Novartis), Dong Xi (Gilead)</a:t>
            </a:r>
            <a:endParaRPr lang="en-US" noProof="0" dirty="0"/>
          </a:p>
          <a:p>
            <a:pPr>
              <a:spcBef>
                <a:spcPts val="0"/>
              </a:spcBef>
              <a:buClr>
                <a:schemeClr val="dk1"/>
              </a:buClr>
              <a:buSzPts val="2400"/>
            </a:pPr>
            <a:r>
              <a:rPr lang="en-US" noProof="0" dirty="0"/>
              <a:t>8th International Symposium on Biopharmaceutical Statistics</a:t>
            </a:r>
          </a:p>
          <a:p>
            <a:pPr>
              <a:spcBef>
                <a:spcPts val="0"/>
              </a:spcBef>
              <a:buClr>
                <a:schemeClr val="dk1"/>
              </a:buClr>
              <a:buSzPts val="2400"/>
            </a:pPr>
            <a:r>
              <a:rPr lang="en-US" noProof="0" dirty="0"/>
              <a:t>Madrid, Spain</a:t>
            </a:r>
          </a:p>
          <a:p>
            <a:pPr>
              <a:spcBef>
                <a:spcPts val="0"/>
              </a:spcBef>
              <a:buClr>
                <a:schemeClr val="dk1"/>
              </a:buClr>
              <a:buSzPts val="2400"/>
            </a:pPr>
            <a:endParaRPr lang="en-US" noProof="0" dirty="0"/>
          </a:p>
          <a:p>
            <a:pPr>
              <a:spcBef>
                <a:spcPts val="0"/>
              </a:spcBef>
              <a:buClr>
                <a:schemeClr val="dk1"/>
              </a:buClr>
              <a:buSzPts val="2400"/>
            </a:pPr>
            <a:r>
              <a:rPr lang="en-US" noProof="0" dirty="0"/>
              <a:t>October 13, 2026 </a:t>
            </a:r>
          </a:p>
          <a:p>
            <a:pPr>
              <a:spcBef>
                <a:spcPts val="0"/>
              </a:spcBef>
              <a:buClr>
                <a:schemeClr val="dk1"/>
              </a:buClr>
              <a:buSzPts val="2400"/>
            </a:pPr>
            <a:endParaRPr lang="en-US" noProof="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0F421B38-C5C2-CFF9-0D3E-3D187B4F2DAE}"/>
              </a:ext>
            </a:extLst>
          </p:cNvPr>
          <p:cNvGrpSpPr/>
          <p:nvPr/>
        </p:nvGrpSpPr>
        <p:grpSpPr>
          <a:xfrm>
            <a:off x="5972313" y="1910703"/>
            <a:ext cx="2871754" cy="1508760"/>
            <a:chOff x="191208" y="1915727"/>
            <a:chExt cx="2871754" cy="150876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753ED80C-C50C-20BE-17E4-F15390E539E4}"/>
                </a:ext>
              </a:extLst>
            </p:cNvPr>
            <p:cNvSpPr/>
            <p:nvPr/>
          </p:nvSpPr>
          <p:spPr>
            <a:xfrm>
              <a:off x="191208" y="1915727"/>
              <a:ext cx="2751095" cy="150876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4FCF0A59-DA46-0B41-525B-09CD40276FB2}"/>
                </a:ext>
              </a:extLst>
            </p:cNvPr>
            <p:cNvSpPr txBox="1"/>
            <p:nvPr/>
          </p:nvSpPr>
          <p:spPr>
            <a:xfrm>
              <a:off x="1097279" y="1943014"/>
              <a:ext cx="1965683" cy="1261884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n-US" sz="1400" b="1" noProof="0" dirty="0"/>
                <a:t>Dong Xi</a:t>
              </a:r>
            </a:p>
            <a:p>
              <a:r>
                <a:rPr lang="en-US" sz="1400" noProof="0" dirty="0"/>
                <a:t>Gilead</a:t>
              </a:r>
              <a:endParaRPr lang="en-US" sz="1400" noProof="0" dirty="0">
                <a:ea typeface="Calibri"/>
                <a:cs typeface="Calibri"/>
              </a:endParaRPr>
            </a:p>
            <a:p>
              <a:r>
                <a:rPr lang="en-US" sz="1200" noProof="0" dirty="0"/>
                <a:t>Interests:</a:t>
              </a:r>
              <a:endParaRPr lang="en-US" sz="1200" noProof="0" dirty="0">
                <a:ea typeface="Calibri"/>
                <a:cs typeface="Calibri"/>
              </a:endParaRPr>
            </a:p>
            <a:p>
              <a:pPr marL="137160" indent="-137160">
                <a:buFont typeface="Arial" panose="020B0604020202020204" pitchFamily="34" charset="0"/>
                <a:buChar char="˗"/>
              </a:pPr>
              <a:r>
                <a:rPr lang="en-US" sz="1200" noProof="0" dirty="0">
                  <a:ea typeface="Calibri"/>
                  <a:cs typeface="Calibri"/>
                </a:rPr>
                <a:t>Multiple testing</a:t>
              </a:r>
            </a:p>
            <a:p>
              <a:pPr marL="137160" indent="-137160">
                <a:buFont typeface="Arial" panose="020B0604020202020204" pitchFamily="34" charset="0"/>
                <a:buChar char="˗"/>
              </a:pPr>
              <a:r>
                <a:rPr lang="en-US" sz="1200" noProof="0" dirty="0">
                  <a:ea typeface="Calibri"/>
                  <a:cs typeface="Calibri"/>
                </a:rPr>
                <a:t>Adaptive designs</a:t>
              </a:r>
              <a:endParaRPr lang="en-US" sz="1200" noProof="0" dirty="0"/>
            </a:p>
            <a:p>
              <a:pPr marL="137160" indent="-137160">
                <a:buFont typeface="Arial" panose="020B0604020202020204" pitchFamily="34" charset="0"/>
                <a:buChar char="˗"/>
              </a:pPr>
              <a:r>
                <a:rPr lang="en-US" sz="1200" noProof="0" dirty="0">
                  <a:ea typeface="Calibri"/>
                  <a:cs typeface="Calibri"/>
                </a:rPr>
                <a:t>Causal inference</a:t>
              </a:r>
            </a:p>
          </p:txBody>
        </p:sp>
        <p:pic>
          <p:nvPicPr>
            <p:cNvPr id="4" name="Picture 3" descr="A person wearing glasses and a blue shirt&#10;&#10;AI-generated content may be incorrect.">
              <a:extLst>
                <a:ext uri="{FF2B5EF4-FFF2-40B4-BE49-F238E27FC236}">
                  <a16:creationId xmlns:a16="http://schemas.microsoft.com/office/drawing/2014/main" id="{402919D2-EFF8-761C-4C01-693395E1BF1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76225" y="2013585"/>
              <a:ext cx="819150" cy="819150"/>
            </a:xfrm>
            <a:prstGeom prst="rect">
              <a:avLst/>
            </a:prstGeom>
          </p:spPr>
        </p:pic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5244FC1-7E7D-1DE8-E8A3-9B9205C66B5D}"/>
              </a:ext>
            </a:extLst>
          </p:cNvPr>
          <p:cNvGrpSpPr/>
          <p:nvPr/>
        </p:nvGrpSpPr>
        <p:grpSpPr>
          <a:xfrm>
            <a:off x="3085702" y="1910703"/>
            <a:ext cx="2895775" cy="1508760"/>
            <a:chOff x="3141927" y="1915727"/>
            <a:chExt cx="2895775" cy="150876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B29F3CD-B67C-704A-A510-ED7A86EC49EE}"/>
                </a:ext>
              </a:extLst>
            </p:cNvPr>
            <p:cNvSpPr/>
            <p:nvPr/>
          </p:nvSpPr>
          <p:spPr>
            <a:xfrm>
              <a:off x="3141927" y="1915727"/>
              <a:ext cx="2751095" cy="150876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718788D-8BD5-359E-FB20-AECF52E01F93}"/>
                </a:ext>
              </a:extLst>
            </p:cNvPr>
            <p:cNvSpPr txBox="1"/>
            <p:nvPr/>
          </p:nvSpPr>
          <p:spPr>
            <a:xfrm>
              <a:off x="4053347" y="1943014"/>
              <a:ext cx="1984355" cy="12618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noProof="0" dirty="0"/>
                <a:t>Yao Chen</a:t>
              </a:r>
            </a:p>
            <a:p>
              <a:r>
                <a:rPr lang="en-US" sz="1400" noProof="0" dirty="0"/>
                <a:t>Novartis</a:t>
              </a:r>
            </a:p>
            <a:p>
              <a:r>
                <a:rPr lang="en-US" sz="1200" noProof="0" dirty="0"/>
                <a:t>Interests:</a:t>
              </a:r>
            </a:p>
            <a:p>
              <a:pPr marL="137160" indent="-137160">
                <a:buFont typeface="Arial" panose="020B0604020202020204" pitchFamily="34" charset="0"/>
                <a:buChar char="˗"/>
              </a:pPr>
              <a:r>
                <a:rPr lang="en-US" sz="1200" noProof="0" dirty="0"/>
                <a:t>Multiple testing</a:t>
              </a:r>
            </a:p>
            <a:p>
              <a:pPr marL="137160" indent="-137160">
                <a:buFont typeface="Arial" panose="020B0604020202020204" pitchFamily="34" charset="0"/>
                <a:buChar char="˗"/>
              </a:pPr>
              <a:r>
                <a:rPr lang="en-US" sz="1200" noProof="0" dirty="0"/>
                <a:t>Subgroup analysis</a:t>
              </a:r>
            </a:p>
            <a:p>
              <a:pPr marL="137160" indent="-137160">
                <a:buFont typeface="Arial" panose="020B0604020202020204" pitchFamily="34" charset="0"/>
                <a:buChar char="˗"/>
              </a:pPr>
              <a:r>
                <a:rPr lang="en-US" sz="1200" noProof="0" dirty="0"/>
                <a:t>Machine learning</a:t>
              </a:r>
            </a:p>
          </p:txBody>
        </p:sp>
        <p:pic>
          <p:nvPicPr>
            <p:cNvPr id="13" name="Picture 12" descr="A person in a red sweater&#10;&#10;AI-generated content may be incorrect.">
              <a:extLst>
                <a:ext uri="{FF2B5EF4-FFF2-40B4-BE49-F238E27FC236}">
                  <a16:creationId xmlns:a16="http://schemas.microsoft.com/office/drawing/2014/main" id="{D98305DD-8DE9-715A-08D2-352FA452BEC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230387" y="2007421"/>
              <a:ext cx="822960" cy="822960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133FA9B-46F5-3883-AC5A-10EA068E4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Course instructors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968E7370-4F97-B384-EE45-9CF00ACC1EE2}"/>
              </a:ext>
            </a:extLst>
          </p:cNvPr>
          <p:cNvGrpSpPr/>
          <p:nvPr/>
        </p:nvGrpSpPr>
        <p:grpSpPr>
          <a:xfrm>
            <a:off x="189657" y="1910703"/>
            <a:ext cx="2811028" cy="1508760"/>
            <a:chOff x="6097635" y="1915727"/>
            <a:chExt cx="2811028" cy="150876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1CEB2E0-DDCA-AA79-81BE-918D77913C5B}"/>
                </a:ext>
              </a:extLst>
            </p:cNvPr>
            <p:cNvSpPr/>
            <p:nvPr/>
          </p:nvSpPr>
          <p:spPr>
            <a:xfrm>
              <a:off x="6097635" y="1915727"/>
              <a:ext cx="2751095" cy="150876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523A5A2-845B-CAE1-E9BA-0BF5C1A6CE32}"/>
                </a:ext>
              </a:extLst>
            </p:cNvPr>
            <p:cNvSpPr txBox="1"/>
            <p:nvPr/>
          </p:nvSpPr>
          <p:spPr>
            <a:xfrm>
              <a:off x="7004304" y="1943014"/>
              <a:ext cx="1904359" cy="1261884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n-US" sz="1400" b="1" noProof="0" dirty="0"/>
                <a:t>Frank Bretz</a:t>
              </a:r>
            </a:p>
            <a:p>
              <a:r>
                <a:rPr lang="en-US" sz="1400" noProof="0" dirty="0"/>
                <a:t>Novartis</a:t>
              </a:r>
            </a:p>
            <a:p>
              <a:r>
                <a:rPr lang="en-US" sz="1200" noProof="0" dirty="0"/>
                <a:t>Interests:</a:t>
              </a:r>
            </a:p>
            <a:p>
              <a:pPr marL="137160" indent="-137160">
                <a:buFont typeface="Arial" panose="020B0604020202020204" pitchFamily="34" charset="0"/>
                <a:buChar char="˗"/>
              </a:pPr>
              <a:r>
                <a:rPr lang="en-US" sz="1200" noProof="0" dirty="0"/>
                <a:t>Multiple testing</a:t>
              </a:r>
            </a:p>
            <a:p>
              <a:pPr marL="137160" indent="-137160">
                <a:buFont typeface="Arial" panose="020B0604020202020204" pitchFamily="34" charset="0"/>
                <a:buChar char="˗"/>
              </a:pPr>
              <a:r>
                <a:rPr lang="en-US" sz="1200" noProof="0" dirty="0"/>
                <a:t>Adaptive designs</a:t>
              </a:r>
            </a:p>
            <a:p>
              <a:pPr marL="137160" indent="-137160">
                <a:buFont typeface="Arial" panose="020B0604020202020204" pitchFamily="34" charset="0"/>
                <a:buChar char="˗"/>
              </a:pPr>
              <a:r>
                <a:rPr lang="en-US" sz="1200" noProof="0" dirty="0"/>
                <a:t>Dose finding</a:t>
              </a:r>
            </a:p>
          </p:txBody>
        </p:sp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D7CA09ED-7B53-4DAC-9A80-D6A7AFF4852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199632" y="2011680"/>
              <a:ext cx="822960" cy="822960"/>
            </a:xfrm>
            <a:prstGeom prst="rect">
              <a:avLst/>
            </a:prstGeom>
          </p:spPr>
        </p:pic>
      </p:grp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1467E4-CD84-1FF9-440C-EB54561713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 noProof="0"/>
              <a:t>Bretz, Chen, Xi | ISBS | October 2026</a:t>
            </a:r>
            <a:endParaRPr lang="en-US" noProof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2B3A43C-0173-86A0-F668-9C8636E1DA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D9F39-F344-41AE-B531-1D3ECACBC820}" type="slidenum">
              <a:rPr lang="en-US" noProof="0" smtClean="0"/>
              <a:t>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0176065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050AB7-131D-AB63-F142-D3CC899C0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964DFA-23C0-9D47-9541-CDC6010270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Part 1</a:t>
            </a:r>
            <a:r>
              <a:rPr lang="en-US" dirty="0"/>
              <a:t>: Introduction and basic concepts; graphical approaches to multiple testing (</a:t>
            </a:r>
            <a:r>
              <a:rPr lang="en-US" i="1" dirty="0"/>
              <a:t>Frank Bretz</a:t>
            </a:r>
            <a:r>
              <a:rPr lang="en-US" dirty="0"/>
              <a:t>; </a:t>
            </a:r>
            <a:r>
              <a:rPr lang="en-US" b="1" dirty="0"/>
              <a:t>80 mins </a:t>
            </a:r>
            <a:r>
              <a:rPr lang="en-US" dirty="0"/>
              <a:t>including Q&amp;A)</a:t>
            </a:r>
          </a:p>
          <a:p>
            <a:r>
              <a:rPr lang="en-US" b="1" dirty="0"/>
              <a:t>Break</a:t>
            </a:r>
            <a:r>
              <a:rPr lang="en-US" dirty="0"/>
              <a:t>: </a:t>
            </a:r>
            <a:r>
              <a:rPr lang="en-US" b="1" dirty="0"/>
              <a:t>10 minutes</a:t>
            </a:r>
          </a:p>
          <a:p>
            <a:r>
              <a:rPr lang="en-US" b="1" dirty="0"/>
              <a:t>Part 2</a:t>
            </a:r>
            <a:r>
              <a:rPr lang="en-US" dirty="0"/>
              <a:t>: Optimization of graphical multiple comparison procedures (</a:t>
            </a:r>
            <a:r>
              <a:rPr lang="en-US" i="1" dirty="0"/>
              <a:t>Yao Chen</a:t>
            </a:r>
            <a:r>
              <a:rPr lang="en-US" dirty="0"/>
              <a:t>; </a:t>
            </a:r>
            <a:r>
              <a:rPr lang="en-US" b="1" dirty="0"/>
              <a:t>55 minutes </a:t>
            </a:r>
            <a:r>
              <a:rPr lang="en-US" dirty="0"/>
              <a:t>including Q&amp;A)</a:t>
            </a:r>
          </a:p>
          <a:p>
            <a:r>
              <a:rPr lang="en-US" b="1" dirty="0"/>
              <a:t>Part 3</a:t>
            </a:r>
            <a:r>
              <a:rPr lang="en-US" dirty="0"/>
              <a:t>: graphicalMCP: implementation of graphical approaches (</a:t>
            </a:r>
            <a:r>
              <a:rPr lang="en-US" i="1" dirty="0"/>
              <a:t>Dong Xi</a:t>
            </a:r>
            <a:r>
              <a:rPr lang="en-US" dirty="0"/>
              <a:t>; </a:t>
            </a:r>
            <a:r>
              <a:rPr lang="en-US" b="1" dirty="0"/>
              <a:t>65 minutes </a:t>
            </a:r>
            <a:r>
              <a:rPr lang="en-US" dirty="0"/>
              <a:t>including Q&amp;A)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665C97-2FC2-DFB0-7FCB-44F827163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/>
              <a:t>Bretz, Chen, Xi | ISBS | October 2026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E4994E-B9CE-0475-2FF4-150CBD1049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D9F39-F344-41AE-B531-1D3ECACBC82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55543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676A55-C30B-CE30-D300-12371E0898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CF21C-04CB-1503-F3F6-450AD390B6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Disclaimer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AF21E3-023A-D577-3BA1-07BD46395E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noProof="0" dirty="0"/>
              <a:t>The views expressed in this presentation are those of the presenters and do not necessarily represent the views of, and should not be attributed to, the presenters’ affiliations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F98728-931F-FB80-3F8C-5E9E2364FE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 noProof="0"/>
              <a:t>Bretz, Chen, Xi | ISBS | October 2026</a:t>
            </a:r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E1D315-0E8E-9EEC-898A-B3E047B487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D9F39-F344-41AE-B531-1D3ECACBC820}" type="slidenum">
              <a:rPr lang="en-US" noProof="0" smtClean="0"/>
              <a:t>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090988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C3DAA-BF68-C368-8281-38E301D13E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Acknowledgement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DDF28A-B28A-E064-0A9F-40853E42F1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noProof="0" dirty="0"/>
              <a:t>Werner Brannath</a:t>
            </a:r>
          </a:p>
          <a:p>
            <a:r>
              <a:rPr lang="en-US" noProof="0" dirty="0">
                <a:ea typeface="Calibri"/>
                <a:cs typeface="Calibri"/>
              </a:rPr>
              <a:t>Ethan Brockmann</a:t>
            </a:r>
            <a:endParaRPr lang="en-US" noProof="0" dirty="0"/>
          </a:p>
          <a:p>
            <a:r>
              <a:rPr lang="en-US" noProof="0" dirty="0"/>
              <a:t>Ekkehard Glimm</a:t>
            </a:r>
          </a:p>
          <a:p>
            <a:r>
              <a:rPr lang="en-US" noProof="0" dirty="0">
                <a:ea typeface="Calibri"/>
                <a:cs typeface="Calibri"/>
              </a:rPr>
              <a:t>Florian </a:t>
            </a:r>
            <a:r>
              <a:rPr lang="en-US" noProof="0" dirty="0" err="1">
                <a:ea typeface="Calibri"/>
                <a:cs typeface="Calibri"/>
              </a:rPr>
              <a:t>Klinglmueller</a:t>
            </a:r>
            <a:endParaRPr lang="en-US" noProof="0" dirty="0"/>
          </a:p>
          <a:p>
            <a:r>
              <a:rPr lang="en-US" noProof="0" dirty="0"/>
              <a:t>Willi Maurer</a:t>
            </a:r>
            <a:endParaRPr lang="en-US" noProof="0" dirty="0">
              <a:ea typeface="Calibri" panose="020F0502020204030204"/>
              <a:cs typeface="Calibri" panose="020F0502020204030204"/>
            </a:endParaRPr>
          </a:p>
          <a:p>
            <a:r>
              <a:rPr lang="en-US" noProof="0" dirty="0"/>
              <a:t>Martin Posch</a:t>
            </a:r>
            <a:endParaRPr lang="en-US" noProof="0" dirty="0">
              <a:ea typeface="Calibri"/>
              <a:cs typeface="Calibri"/>
            </a:endParaRPr>
          </a:p>
          <a:p>
            <a:r>
              <a:rPr lang="en-US" noProof="0" dirty="0">
                <a:ea typeface="Calibri"/>
                <a:cs typeface="Calibri"/>
              </a:rPr>
              <a:t>Kornelius </a:t>
            </a:r>
            <a:r>
              <a:rPr lang="en-US" noProof="0" dirty="0" err="1">
                <a:ea typeface="Calibri"/>
                <a:cs typeface="Calibri"/>
              </a:rPr>
              <a:t>Rohmeyer</a:t>
            </a:r>
            <a:endParaRPr lang="en-US" noProof="0" dirty="0">
              <a:ea typeface="Calibri"/>
              <a:cs typeface="Calibri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BB0937-AF5C-8E8E-3182-3B589D27E6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 noProof="0"/>
              <a:t>Bretz, Chen, Xi | ISBS | October 2026</a:t>
            </a:r>
            <a:endParaRPr lang="en-US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3E630F-875A-F576-4BBD-E3B0290F90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D9F39-F344-41AE-B531-1D3ECACBC820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3467020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C3DAA-BF68-C368-8281-38E301D13E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Learning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DDF28A-B28A-E064-0A9F-40853E42F1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Become </a:t>
            </a:r>
            <a:r>
              <a:rPr lang="en-US" noProof="0" dirty="0">
                <a:solidFill>
                  <a:srgbClr val="5291DD"/>
                </a:solidFill>
              </a:rPr>
              <a:t>familiar with graphical approaches </a:t>
            </a:r>
            <a:r>
              <a:rPr lang="en-US" noProof="0" dirty="0"/>
              <a:t>to multiple testing</a:t>
            </a:r>
          </a:p>
          <a:p>
            <a:r>
              <a:rPr lang="en-US" noProof="0" dirty="0">
                <a:solidFill>
                  <a:srgbClr val="5291DD"/>
                </a:solidFill>
              </a:rPr>
              <a:t>Apply and optimize graphical approaches </a:t>
            </a:r>
            <a:r>
              <a:rPr lang="en-US" noProof="0" dirty="0"/>
              <a:t>in clinical trial settings</a:t>
            </a:r>
          </a:p>
          <a:p>
            <a:r>
              <a:rPr lang="en-US" noProof="0" dirty="0"/>
              <a:t>Understand the basic </a:t>
            </a:r>
            <a:r>
              <a:rPr lang="en-US" noProof="0" dirty="0">
                <a:solidFill>
                  <a:srgbClr val="5291DD"/>
                </a:solidFill>
              </a:rPr>
              <a:t>functionality of the </a:t>
            </a:r>
            <a:r>
              <a:rPr lang="en-US" noProof="0" dirty="0" err="1">
                <a:solidFill>
                  <a:srgbClr val="5291DD"/>
                </a:solidFill>
              </a:rPr>
              <a:t>graphicalMCP</a:t>
            </a:r>
            <a:r>
              <a:rPr lang="en-US" noProof="0" dirty="0">
                <a:solidFill>
                  <a:srgbClr val="5291DD"/>
                </a:solidFill>
              </a:rPr>
              <a:t> package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87C86F-AE68-3750-903C-22467B8D8E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 noProof="0"/>
              <a:t>Bretz, Chen, Xi | ISBS | October 2026</a:t>
            </a:r>
            <a:endParaRPr lang="en-US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C5485A-6025-27CB-1CBF-8F9A5F6FD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D9F39-F344-41AE-B531-1D3ECACBC820}" type="slidenum">
              <a:rPr lang="en-US" noProof="0" smtClean="0"/>
              <a:t>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5859927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C3DAA-BF68-C368-8281-38E301D13E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DDF28A-B28A-E064-0A9F-40853E42F1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Introduction and basic concepts</a:t>
            </a:r>
          </a:p>
          <a:p>
            <a:r>
              <a:rPr lang="en-US" noProof="0" dirty="0"/>
              <a:t>Graphical approaches to multiple testing</a:t>
            </a:r>
          </a:p>
          <a:p>
            <a:r>
              <a:rPr lang="en-US" noProof="0" dirty="0"/>
              <a:t>Optimizing graphical multiple comparison procedures</a:t>
            </a:r>
          </a:p>
          <a:p>
            <a:r>
              <a:rPr lang="en-US" noProof="0" dirty="0" err="1"/>
              <a:t>graphicalMCP</a:t>
            </a:r>
            <a:r>
              <a:rPr lang="en-US" noProof="0" dirty="0"/>
              <a:t>: implementation of graphical approaches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A5B883-69FD-8C45-E876-FBFF68BD87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 noProof="0"/>
              <a:t>Bretz, Chen, Xi | ISBS | October 2026</a:t>
            </a:r>
            <a:endParaRPr lang="en-US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36A3D3-265B-D3D2-8648-E48E081C4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D9F39-F344-41AE-B531-1D3ECACBC820}" type="slidenum">
              <a:rPr lang="en-US" noProof="0" smtClean="0"/>
              <a:t>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0767186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0204B7-0C47-63C0-BC0B-16F83FB741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B1EE10-3281-CCFD-9610-BD62F0E135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D62CA0-73FF-18A7-39B7-957C5315A2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Introduction and basic concepts</a:t>
            </a:r>
          </a:p>
          <a:p>
            <a:r>
              <a:rPr lang="en-US" noProof="0" dirty="0">
                <a:solidFill>
                  <a:schemeClr val="bg1">
                    <a:lumMod val="75000"/>
                  </a:schemeClr>
                </a:solidFill>
              </a:rPr>
              <a:t>Graphical approaches to multiple testing</a:t>
            </a:r>
          </a:p>
          <a:p>
            <a:r>
              <a:rPr lang="en-US" noProof="0" dirty="0">
                <a:solidFill>
                  <a:schemeClr val="bg1">
                    <a:lumMod val="75000"/>
                  </a:schemeClr>
                </a:solidFill>
              </a:rPr>
              <a:t>Optimizing graphical multiple comparison procedures</a:t>
            </a:r>
          </a:p>
          <a:p>
            <a:r>
              <a:rPr lang="en-US" noProof="0" dirty="0" err="1">
                <a:solidFill>
                  <a:schemeClr val="bg1">
                    <a:lumMod val="75000"/>
                  </a:schemeClr>
                </a:solidFill>
              </a:rPr>
              <a:t>graphicalMCP</a:t>
            </a:r>
            <a:r>
              <a:rPr lang="en-US" noProof="0" dirty="0">
                <a:solidFill>
                  <a:schemeClr val="bg1">
                    <a:lumMod val="75000"/>
                  </a:schemeClr>
                </a:solidFill>
              </a:rPr>
              <a:t>: implementation of graphical approaches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DE482B-E426-BD74-B329-2840F0E4F5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 noProof="0"/>
              <a:t>Bretz, Chen, Xi | ISBS | October 2026</a:t>
            </a:r>
            <a:endParaRPr lang="en-US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186CBF-3BB9-8979-8B38-96F216B792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D9F39-F344-41AE-B531-1D3ECACBC820}" type="slidenum">
              <a:rPr lang="en-US" noProof="0" smtClean="0"/>
              <a:t>8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2843723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ADC35-2954-4E52-BE3F-E02DED7407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0" i="0" kern="1200" spc="-100" baseline="0" noProof="0" dirty="0">
                <a:solidFill>
                  <a:schemeClr val="tx1"/>
                </a:solidFill>
                <a:latin typeface="+mj-lt"/>
                <a:ea typeface="Arial Black" charset="0"/>
                <a:cs typeface="Arial Black" charset="0"/>
              </a:rPr>
              <a:t>Sources of </a:t>
            </a:r>
            <a:r>
              <a:rPr lang="en-US" sz="3200" spc="-100" noProof="0" dirty="0">
                <a:ea typeface="Arial Black" charset="0"/>
                <a:cs typeface="Arial Black" charset="0"/>
              </a:rPr>
              <a:t>m</a:t>
            </a:r>
            <a:r>
              <a:rPr lang="en-US" sz="3200" b="0" i="0" kern="1200" spc="-100" baseline="0" noProof="0" dirty="0">
                <a:solidFill>
                  <a:schemeClr val="tx1"/>
                </a:solidFill>
                <a:latin typeface="+mj-lt"/>
                <a:ea typeface="Arial Black" charset="0"/>
                <a:cs typeface="Arial Black" charset="0"/>
              </a:rPr>
              <a:t>ultiplicity</a:t>
            </a:r>
            <a:endParaRPr lang="en-US" sz="2000" i="1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AECF94-E3B2-2027-9E29-D84B307B14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noProof="0" dirty="0"/>
              <a:t>Multiple test problems are very common in clinical trials</a:t>
            </a:r>
          </a:p>
          <a:p>
            <a:r>
              <a:rPr lang="en-US" noProof="0" dirty="0"/>
              <a:t>Applications include the comparison of a new treatment with</a:t>
            </a:r>
          </a:p>
          <a:p>
            <a:pPr lvl="1"/>
            <a:r>
              <a:rPr lang="en-US" noProof="0" dirty="0">
                <a:solidFill>
                  <a:srgbClr val="5291DD"/>
                </a:solidFill>
              </a:rPr>
              <a:t>Several other treatments </a:t>
            </a:r>
            <a:r>
              <a:rPr lang="en-US" noProof="0" dirty="0"/>
              <a:t>(e.g., multiple doses)</a:t>
            </a:r>
          </a:p>
          <a:p>
            <a:pPr lvl="1"/>
            <a:r>
              <a:rPr lang="en-US" noProof="0" dirty="0"/>
              <a:t>A control treatment for </a:t>
            </a:r>
            <a:r>
              <a:rPr lang="en-US" noProof="0" dirty="0">
                <a:solidFill>
                  <a:srgbClr val="5291DD"/>
                </a:solidFill>
              </a:rPr>
              <a:t>more than one endpoint</a:t>
            </a:r>
          </a:p>
          <a:p>
            <a:pPr lvl="1"/>
            <a:r>
              <a:rPr lang="en-US" noProof="0" dirty="0"/>
              <a:t>A control treatment for </a:t>
            </a:r>
            <a:r>
              <a:rPr lang="en-US" noProof="0" dirty="0">
                <a:solidFill>
                  <a:srgbClr val="5291DD"/>
                </a:solidFill>
              </a:rPr>
              <a:t>more than one population</a:t>
            </a:r>
          </a:p>
          <a:p>
            <a:pPr lvl="1"/>
            <a:r>
              <a:rPr lang="en-US" noProof="0" dirty="0"/>
              <a:t>A control treatment </a:t>
            </a:r>
            <a:r>
              <a:rPr lang="en-US" noProof="0" dirty="0">
                <a:solidFill>
                  <a:srgbClr val="5291DD"/>
                </a:solidFill>
              </a:rPr>
              <a:t>repeatedly in time</a:t>
            </a:r>
          </a:p>
          <a:p>
            <a:pPr lvl="1"/>
            <a:r>
              <a:rPr lang="en-US" noProof="0" dirty="0"/>
              <a:t>... (or any combination thereof)</a:t>
            </a:r>
          </a:p>
          <a:p>
            <a:r>
              <a:rPr lang="en-US" noProof="0" dirty="0"/>
              <a:t>Multiple test problems in clinical trials are very diverse and many different methods are available</a:t>
            </a:r>
          </a:p>
          <a:p>
            <a:endParaRPr lang="en-US" noProof="0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32EAC4-2761-535B-BCCA-1754426FB4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 noProof="0"/>
              <a:t>Bretz, Chen, Xi | ISBS | October 2026</a:t>
            </a:r>
            <a:endParaRPr lang="en-US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01D8AB-8229-7F45-F0DA-0532EEC82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D9F39-F344-41AE-B531-1D3ECACBC820}" type="slidenum">
              <a:rPr lang="en-US" noProof="0" smtClean="0"/>
              <a:t>9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3404607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ADC35-2954-4E52-BE3F-E02DED7407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spc="-100" noProof="0" dirty="0"/>
              <a:t>Example 1 – Multiple doses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1AECF94-E3B2-2027-9E29-D84B307B143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369219"/>
                <a:ext cx="7975798" cy="3263504"/>
              </a:xfrm>
            </p:spPr>
            <p:txBody>
              <a:bodyPr>
                <a:normAutofit fontScale="92500"/>
              </a:bodyPr>
              <a:lstStyle/>
              <a:p>
                <a:r>
                  <a:rPr lang="en-US" noProof="0" dirty="0"/>
                  <a:t>Double-blind, parallel-group trial to show that new drug </a:t>
                </a:r>
                <a14:m>
                  <m:oMath xmlns:m="http://schemas.openxmlformats.org/officeDocument/2006/math">
                    <m:r>
                      <a:rPr lang="en-US" i="1" noProof="0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noProof="0" dirty="0"/>
                  <a:t> is better than a control drug </a:t>
                </a:r>
                <a14:m>
                  <m:oMath xmlns:m="http://schemas.openxmlformats.org/officeDocument/2006/math">
                    <m:r>
                      <a:rPr lang="en-US" i="1" noProof="0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noProof="0" dirty="0"/>
                  <a:t> in patients with chronic obstructive pulmonary disease (COPD)</a:t>
                </a:r>
              </a:p>
              <a:p>
                <a:r>
                  <a:rPr lang="en-US" noProof="0" dirty="0"/>
                  <a:t>Endpoint: FEV1 (forced expiratory volume in one second)</a:t>
                </a:r>
              </a:p>
              <a:p>
                <a:pPr lvl="1"/>
                <a:r>
                  <a:rPr lang="en-US" noProof="0" dirty="0"/>
                  <a:t>Continuous variable, where larger values indicate better efficacy</a:t>
                </a:r>
              </a:p>
              <a:p>
                <a:r>
                  <a:rPr lang="en-US" noProof="0" dirty="0"/>
                  <a:t>New drug is available at </a:t>
                </a:r>
                <a:r>
                  <a:rPr lang="en-US" noProof="0" dirty="0">
                    <a:solidFill>
                      <a:srgbClr val="5291DD"/>
                    </a:solidFill>
                  </a:rPr>
                  <a:t>two doses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noProof="0" smtClean="0">
                            <a:solidFill>
                              <a:srgbClr val="5291DD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noProof="0" smtClean="0">
                            <a:solidFill>
                              <a:srgbClr val="5291DD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i="1" noProof="0" smtClean="0">
                            <a:solidFill>
                              <a:srgbClr val="5291D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 noProof="0" smtClean="0">
                        <a:solidFill>
                          <a:srgbClr val="5291DD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 noProof="0" smtClean="0">
                            <a:solidFill>
                              <a:srgbClr val="5291DD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noProof="0" smtClean="0">
                            <a:solidFill>
                              <a:srgbClr val="5291DD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i="1" noProof="0" smtClean="0">
                            <a:solidFill>
                              <a:srgbClr val="5291D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noProof="0" dirty="0">
                    <a:solidFill>
                      <a:srgbClr val="5291DD"/>
                    </a:solidFill>
                  </a:rPr>
                  <a:t> </a:t>
                </a:r>
                <a:endParaRPr lang="en-US" noProof="0" dirty="0"/>
              </a:p>
              <a:p>
                <a:endParaRPr lang="en-US" noProof="0" dirty="0"/>
              </a:p>
              <a:p>
                <a:endParaRPr lang="en-US" noProof="0" dirty="0"/>
              </a:p>
              <a:p>
                <a:r>
                  <a:rPr lang="en-US" noProof="0" dirty="0"/>
                  <a:t>Resulting in </a:t>
                </a:r>
                <a:r>
                  <a:rPr lang="en-US" noProof="0" dirty="0">
                    <a:solidFill>
                      <a:srgbClr val="5291DD"/>
                    </a:solidFill>
                  </a:rPr>
                  <a:t>two statistical hypotheses</a:t>
                </a:r>
                <a:r>
                  <a:rPr lang="en-US" noProof="0" dirty="0"/>
                  <a:t>, one for each dose-control comparison</a:t>
                </a:r>
              </a:p>
              <a:p>
                <a:pPr lvl="1"/>
                <a:r>
                  <a:rPr lang="en-US" noProof="0" dirty="0">
                    <a:solidFill>
                      <a:srgbClr val="5291DD"/>
                    </a:solidFill>
                  </a:rPr>
                  <a:t>Does it matter if we investigate one or two doses in a clinical trial?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1AECF94-E3B2-2027-9E29-D84B307B143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369219"/>
                <a:ext cx="7975798" cy="3263504"/>
              </a:xfrm>
              <a:blipFill>
                <a:blip r:embed="rId3"/>
                <a:stretch>
                  <a:fillRect l="-535" t="-1869" r="-3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3">
            <a:extLst>
              <a:ext uri="{FF2B5EF4-FFF2-40B4-BE49-F238E27FC236}">
                <a16:creationId xmlns:a16="http://schemas.microsoft.com/office/drawing/2014/main" id="{CBF118EE-2095-C818-72DE-55B588A985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0" y="3075806"/>
            <a:ext cx="4114800" cy="643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A96E1FB-9B66-5677-3FFE-ABDB9DAFE3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 noProof="0"/>
              <a:t>Bretz, Chen, Xi | ISBS | October 2026</a:t>
            </a:r>
            <a:endParaRPr lang="en-US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74B1D9-E8AB-CA91-3D65-1570CF4558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D9F39-F344-41AE-B531-1D3ECACBC820}" type="slidenum">
              <a:rPr lang="en-US" noProof="0" smtClean="0"/>
              <a:t>10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018797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ADC35-2954-4E52-BE3F-E02DED7407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spc="-100" noProof="0" dirty="0"/>
              <a:t>Example 2 – Multiple endpoints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1AECF94-E3B2-2027-9E29-D84B307B143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369219"/>
                <a:ext cx="8047806" cy="3263504"/>
              </a:xfrm>
            </p:spPr>
            <p:txBody>
              <a:bodyPr>
                <a:normAutofit/>
              </a:bodyPr>
              <a:lstStyle/>
              <a:p>
                <a:r>
                  <a:rPr lang="en-US" noProof="0" dirty="0"/>
                  <a:t>Double-blind, parallel-group trial to show that new drug </a:t>
                </a:r>
                <a14:m>
                  <m:oMath xmlns:m="http://schemas.openxmlformats.org/officeDocument/2006/math">
                    <m:r>
                      <a:rPr lang="en-US" i="1" noProof="0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noProof="0" dirty="0"/>
                  <a:t> (available at a single dose) is better than a control drug </a:t>
                </a:r>
                <a14:m>
                  <m:oMath xmlns:m="http://schemas.openxmlformats.org/officeDocument/2006/math">
                    <m:r>
                      <a:rPr lang="en-US" i="1" noProof="0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noProof="0" dirty="0"/>
                  <a:t> in patients with COPD</a:t>
                </a:r>
              </a:p>
              <a:p>
                <a:r>
                  <a:rPr lang="en-US" noProof="0" dirty="0"/>
                  <a:t>New drug is evaluated for two endpoints</a:t>
                </a:r>
              </a:p>
              <a:p>
                <a:pPr lvl="1">
                  <a:tabLst>
                    <a:tab pos="2420938" algn="l"/>
                  </a:tabLst>
                </a:pPr>
                <a:r>
                  <a:rPr lang="en-US" noProof="0" dirty="0">
                    <a:solidFill>
                      <a:srgbClr val="5291DD"/>
                    </a:solidFill>
                  </a:rPr>
                  <a:t>Primary</a:t>
                </a:r>
                <a:r>
                  <a:rPr lang="en-US" noProof="0" dirty="0"/>
                  <a:t> endpoint: 		FEV1</a:t>
                </a:r>
              </a:p>
              <a:p>
                <a:pPr lvl="1">
                  <a:tabLst>
                    <a:tab pos="2420938" algn="l"/>
                  </a:tabLst>
                </a:pPr>
                <a:r>
                  <a:rPr lang="en-US" noProof="0" dirty="0">
                    <a:solidFill>
                      <a:srgbClr val="5291DD"/>
                    </a:solidFill>
                  </a:rPr>
                  <a:t>Secondary</a:t>
                </a:r>
                <a:r>
                  <a:rPr lang="en-US" noProof="0" dirty="0"/>
                  <a:t> endpoint:	Time to exacerbation</a:t>
                </a:r>
              </a:p>
              <a:p>
                <a:r>
                  <a:rPr lang="en-US" noProof="0" dirty="0"/>
                  <a:t>Resulting in </a:t>
                </a:r>
                <a:r>
                  <a:rPr lang="en-US" noProof="0" dirty="0">
                    <a:solidFill>
                      <a:srgbClr val="5291DD"/>
                    </a:solidFill>
                  </a:rPr>
                  <a:t>two statistical hypotheses</a:t>
                </a:r>
                <a:r>
                  <a:rPr lang="en-US" noProof="0" dirty="0"/>
                  <a:t>, one for each endpoint</a:t>
                </a:r>
              </a:p>
              <a:p>
                <a:pPr lvl="1"/>
                <a:r>
                  <a:rPr lang="en-US" noProof="0" dirty="0"/>
                  <a:t>We have again a problem of testing multiple hypotheses</a:t>
                </a:r>
              </a:p>
              <a:p>
                <a:pPr lvl="1"/>
                <a:r>
                  <a:rPr lang="en-US" noProof="0" dirty="0">
                    <a:solidFill>
                      <a:srgbClr val="5291DD"/>
                    </a:solidFill>
                  </a:rPr>
                  <a:t>Is this test problem structurally different to the one in Example 1?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1AECF94-E3B2-2027-9E29-D84B307B143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369219"/>
                <a:ext cx="8047806" cy="3263504"/>
              </a:xfrm>
              <a:blipFill>
                <a:blip r:embed="rId3"/>
                <a:stretch>
                  <a:fillRect l="-758" t="-2243" r="-12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3">
            <a:extLst>
              <a:ext uri="{FF2B5EF4-FFF2-40B4-BE49-F238E27FC236}">
                <a16:creationId xmlns:a16="http://schemas.microsoft.com/office/drawing/2014/main" id="{2546920C-1BD2-6DA4-7FC4-8719844639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92644" y="2166443"/>
            <a:ext cx="522706" cy="17030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ED2875-EC79-0590-7DD2-DB5E429291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 noProof="0"/>
              <a:t>Bretz, Chen, Xi | ISBS | October 2026</a:t>
            </a:r>
            <a:endParaRPr lang="en-US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C40E94-F1FD-0420-C784-2263A6888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D9F39-F344-41AE-B531-1D3ECACBC820}" type="slidenum">
              <a:rPr lang="en-US" noProof="0" smtClean="0"/>
              <a:t>11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965188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ADC35-2954-4E52-BE3F-E02DED7407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975798" cy="994172"/>
          </a:xfrm>
        </p:spPr>
        <p:txBody>
          <a:bodyPr>
            <a:normAutofit/>
          </a:bodyPr>
          <a:lstStyle/>
          <a:p>
            <a:r>
              <a:rPr lang="en-US" sz="3200" spc="-100" noProof="0" dirty="0"/>
              <a:t>Example 3 – Multiple endpoints </a:t>
            </a:r>
            <a:r>
              <a:rPr lang="en-US" sz="3200" spc="-100" noProof="0" dirty="0">
                <a:solidFill>
                  <a:srgbClr val="5291DD"/>
                </a:solidFill>
              </a:rPr>
              <a:t>and</a:t>
            </a:r>
            <a:r>
              <a:rPr lang="en-US" sz="3200" spc="-100" noProof="0" dirty="0"/>
              <a:t> multiple doses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1AECF94-E3B2-2027-9E29-D84B307B143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369219"/>
                <a:ext cx="8119814" cy="3263504"/>
              </a:xfrm>
            </p:spPr>
            <p:txBody>
              <a:bodyPr>
                <a:normAutofit/>
              </a:bodyPr>
              <a:lstStyle/>
              <a:p>
                <a:r>
                  <a:rPr lang="en-US" noProof="0" dirty="0"/>
                  <a:t>Double-blind, parallel-group trial to show that new drug </a:t>
                </a:r>
                <a14:m>
                  <m:oMath xmlns:m="http://schemas.openxmlformats.org/officeDocument/2006/math">
                    <m:r>
                      <a:rPr lang="en-US" i="1" noProof="0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noProof="0" dirty="0"/>
                  <a:t> (available at two doses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noProof="0">
                            <a:solidFill>
                              <a:srgbClr val="5291DD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noProof="0">
                            <a:solidFill>
                              <a:srgbClr val="5291DD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i="1" noProof="0" smtClean="0">
                            <a:solidFill>
                              <a:srgbClr val="5291D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 noProof="0" smtClean="0">
                        <a:solidFill>
                          <a:srgbClr val="5291DD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 noProof="0" smtClean="0">
                            <a:solidFill>
                              <a:srgbClr val="5291DD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noProof="0" smtClean="0">
                            <a:solidFill>
                              <a:srgbClr val="5291DD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i="1" noProof="0" smtClean="0">
                            <a:solidFill>
                              <a:srgbClr val="5291D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noProof="0" dirty="0"/>
                  <a:t>) is better than a control drug 𝐶 in COPD patients with respect to two hierarchical endpoints (</a:t>
                </a:r>
                <a:r>
                  <a:rPr lang="en-US" noProof="0" dirty="0">
                    <a:solidFill>
                      <a:srgbClr val="5291DD"/>
                    </a:solidFill>
                  </a:rPr>
                  <a:t>FEV1</a:t>
                </a:r>
                <a:r>
                  <a:rPr lang="en-US" noProof="0" dirty="0"/>
                  <a:t>,</a:t>
                </a:r>
                <a:r>
                  <a:rPr lang="en-US" noProof="0" dirty="0">
                    <a:solidFill>
                      <a:srgbClr val="5291DD"/>
                    </a:solidFill>
                  </a:rPr>
                  <a:t> time to exacerbation</a:t>
                </a:r>
                <a:r>
                  <a:rPr lang="en-US" noProof="0" dirty="0"/>
                  <a:t>)</a:t>
                </a:r>
              </a:p>
              <a:p>
                <a:r>
                  <a:rPr lang="en-US" noProof="0" dirty="0"/>
                  <a:t>Two sources of multiplicity</a:t>
                </a:r>
              </a:p>
              <a:p>
                <a:pPr lvl="1"/>
                <a:r>
                  <a:rPr lang="en-US" noProof="0" dirty="0"/>
                  <a:t>Comparing </a:t>
                </a:r>
                <a:r>
                  <a:rPr lang="en-US" noProof="0" dirty="0">
                    <a:solidFill>
                      <a:srgbClr val="5291DD"/>
                    </a:solidFill>
                  </a:rPr>
                  <a:t>two doses </a:t>
                </a:r>
                <a:r>
                  <a:rPr lang="en-US" noProof="0" dirty="0"/>
                  <a:t>with control for each of </a:t>
                </a:r>
                <a:r>
                  <a:rPr lang="en-US" noProof="0" dirty="0">
                    <a:solidFill>
                      <a:srgbClr val="5291DD"/>
                    </a:solidFill>
                  </a:rPr>
                  <a:t>two endpoints</a:t>
                </a:r>
              </a:p>
              <a:p>
                <a:r>
                  <a:rPr lang="en-US" noProof="0" dirty="0"/>
                  <a:t>Resulting in </a:t>
                </a:r>
                <a:r>
                  <a:rPr lang="en-US" noProof="0" dirty="0">
                    <a:solidFill>
                      <a:srgbClr val="5291DD"/>
                    </a:solidFill>
                  </a:rPr>
                  <a:t>four statistical hypotheses </a:t>
                </a:r>
                <a:r>
                  <a:rPr lang="en-US" noProof="0" dirty="0"/>
                  <a:t>of interest</a:t>
                </a:r>
              </a:p>
              <a:p>
                <a:pPr lvl="1"/>
                <a:r>
                  <a:rPr lang="en-US" noProof="0" dirty="0"/>
                  <a:t>Two primary hypotheses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noProof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i="1" noProof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 noProof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noProof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i="1" noProof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noProof="0" dirty="0"/>
                  <a:t> (comparing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noProof="0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i="1" noProof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 noProof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noProof="0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i="1" noProof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noProof="0" dirty="0"/>
                  <a:t> with </a:t>
                </a:r>
                <a14:m>
                  <m:oMath xmlns:m="http://schemas.openxmlformats.org/officeDocument/2006/math">
                    <m:r>
                      <a:rPr lang="en-US" i="1" noProof="0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noProof="0" dirty="0"/>
                  <a:t> for FEV1)</a:t>
                </a:r>
              </a:p>
              <a:p>
                <a:pPr lvl="1"/>
                <a:r>
                  <a:rPr lang="en-US" noProof="0" dirty="0"/>
                  <a:t>Two secondary hypotheses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noProof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i="1" noProof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i="1" noProof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noProof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i="1" noProof="0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noProof="0" dirty="0"/>
                  <a:t> (comparing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noProof="0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i="1" noProof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 noProof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noProof="0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i="1" noProof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noProof="0" dirty="0"/>
                  <a:t> with </a:t>
                </a:r>
                <a14:m>
                  <m:oMath xmlns:m="http://schemas.openxmlformats.org/officeDocument/2006/math">
                    <m:r>
                      <a:rPr lang="en-US" i="1" noProof="0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noProof="0" dirty="0"/>
                  <a:t> for exacerbation)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1AECF94-E3B2-2027-9E29-D84B307B143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369219"/>
                <a:ext cx="8119814" cy="3263504"/>
              </a:xfrm>
              <a:blipFill>
                <a:blip r:embed="rId2"/>
                <a:stretch>
                  <a:fillRect l="-751" t="-2243" r="-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C69126-E1D0-3B37-502D-1B75264668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 noProof="0"/>
              <a:t>Bretz, Chen, Xi | ISBS | October 2026</a:t>
            </a:r>
            <a:endParaRPr lang="en-US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F98C73-39AE-2B92-4B04-84818385E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D9F39-F344-41AE-B531-1D3ECACBC820}" type="slidenum">
              <a:rPr lang="en-US" noProof="0" smtClean="0"/>
              <a:t>12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9121709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>
            <a:extLst>
              <a:ext uri="{FF2B5EF4-FFF2-40B4-BE49-F238E27FC236}">
                <a16:creationId xmlns:a16="http://schemas.microsoft.com/office/drawing/2014/main" id="{0D783C04-F37C-E2A2-A6D7-AB46B7C701D6}"/>
              </a:ext>
            </a:extLst>
          </p:cNvPr>
          <p:cNvGrpSpPr/>
          <p:nvPr/>
        </p:nvGrpSpPr>
        <p:grpSpPr>
          <a:xfrm>
            <a:off x="5661248" y="1818878"/>
            <a:ext cx="3375248" cy="1905000"/>
            <a:chOff x="5220072" y="1934682"/>
            <a:chExt cx="3375248" cy="1905000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549B42E2-85E5-B0F8-67EA-A5DBEA8FBA3B}"/>
                </a:ext>
              </a:extLst>
            </p:cNvPr>
            <p:cNvGrpSpPr/>
            <p:nvPr/>
          </p:nvGrpSpPr>
          <p:grpSpPr>
            <a:xfrm>
              <a:off x="5796136" y="1934682"/>
              <a:ext cx="2730656" cy="1905000"/>
              <a:chOff x="3441544" y="3810000"/>
              <a:chExt cx="2730656" cy="1905000"/>
            </a:xfrm>
          </p:grpSpPr>
          <p:pic>
            <p:nvPicPr>
              <p:cNvPr id="22" name="Picture 3">
                <a:extLst>
                  <a:ext uri="{FF2B5EF4-FFF2-40B4-BE49-F238E27FC236}">
                    <a16:creationId xmlns:a16="http://schemas.microsoft.com/office/drawing/2014/main" id="{8801CFB1-BFDC-9CCE-6C89-8E390582075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609841" y="3810000"/>
                <a:ext cx="2562359" cy="19050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E7849483-7124-E87B-E93E-BE65586CA9C3}"/>
                  </a:ext>
                </a:extLst>
              </p:cNvPr>
              <p:cNvSpPr txBox="1"/>
              <p:nvPr/>
            </p:nvSpPr>
            <p:spPr>
              <a:xfrm>
                <a:off x="3441544" y="3945318"/>
                <a:ext cx="114300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100" b="1" noProof="0" dirty="0">
                    <a:solidFill>
                      <a:schemeClr val="bg1">
                        <a:lumMod val="50000"/>
                      </a:schemeClr>
                    </a:solidFill>
                    <a:cs typeface="Arial" charset="0"/>
                    <a:sym typeface="Symbol"/>
                  </a:rPr>
                  <a:t> vs</a:t>
                </a:r>
                <a:r>
                  <a:rPr lang="en-US" sz="1100" b="1" noProof="0" dirty="0">
                    <a:solidFill>
                      <a:schemeClr val="bg1">
                        <a:lumMod val="50000"/>
                      </a:schemeClr>
                    </a:solidFill>
                    <a:cs typeface="Arial" charset="0"/>
                  </a:rPr>
                  <a:t> Placebo</a:t>
                </a:r>
              </a:p>
            </p:txBody>
          </p:sp>
        </p:grp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FE0D15CC-6D30-6C50-8892-9DAB66361A43}"/>
                </a:ext>
              </a:extLst>
            </p:cNvPr>
            <p:cNvSpPr txBox="1"/>
            <p:nvPr/>
          </p:nvSpPr>
          <p:spPr>
            <a:xfrm>
              <a:off x="7452320" y="2069043"/>
              <a:ext cx="114300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100" b="1" noProof="0" dirty="0">
                  <a:solidFill>
                    <a:schemeClr val="bg1">
                      <a:lumMod val="50000"/>
                    </a:schemeClr>
                  </a:solidFill>
                  <a:cs typeface="Arial" charset="0"/>
                  <a:sym typeface="Symbol"/>
                </a:rPr>
                <a:t> vs</a:t>
              </a:r>
              <a:r>
                <a:rPr lang="en-US" sz="1100" b="1" noProof="0" dirty="0">
                  <a:solidFill>
                    <a:schemeClr val="bg1">
                      <a:lumMod val="50000"/>
                    </a:schemeClr>
                  </a:solidFill>
                  <a:cs typeface="Arial" charset="0"/>
                </a:rPr>
                <a:t> Placebo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43917CB3-3B59-184A-8953-847D99EAEDF5}"/>
                </a:ext>
              </a:extLst>
            </p:cNvPr>
            <p:cNvSpPr txBox="1"/>
            <p:nvPr/>
          </p:nvSpPr>
          <p:spPr>
            <a:xfrm>
              <a:off x="5220072" y="2500432"/>
              <a:ext cx="114300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100" b="1" noProof="0" dirty="0">
                  <a:solidFill>
                    <a:schemeClr val="bg1">
                      <a:lumMod val="50000"/>
                    </a:schemeClr>
                  </a:solidFill>
                  <a:cs typeface="Arial" charset="0"/>
                </a:rPr>
                <a:t>Primary: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3E160607-0B81-BF0F-DA27-C1D1605A68C5}"/>
                </a:ext>
              </a:extLst>
            </p:cNvPr>
            <p:cNvSpPr txBox="1"/>
            <p:nvPr/>
          </p:nvSpPr>
          <p:spPr>
            <a:xfrm>
              <a:off x="5220072" y="3357786"/>
              <a:ext cx="114300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100" b="1" noProof="0" dirty="0">
                  <a:solidFill>
                    <a:schemeClr val="bg1">
                      <a:lumMod val="50000"/>
                    </a:schemeClr>
                  </a:solidFill>
                  <a:cs typeface="Arial" charset="0"/>
                </a:rPr>
                <a:t>Secondary:</a:t>
              </a: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26ADC35-2954-4E52-BE3F-E02DED7407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975798" cy="994172"/>
          </a:xfrm>
        </p:spPr>
        <p:txBody>
          <a:bodyPr>
            <a:normAutofit/>
          </a:bodyPr>
          <a:lstStyle/>
          <a:p>
            <a:r>
              <a:rPr lang="en-US" sz="3200" spc="-100" noProof="0" dirty="0"/>
              <a:t>Example 3 – Multiple endpoints </a:t>
            </a:r>
            <a:r>
              <a:rPr lang="en-US" sz="3200" spc="-100" noProof="0" dirty="0">
                <a:solidFill>
                  <a:srgbClr val="5291DD"/>
                </a:solidFill>
              </a:rPr>
              <a:t>and</a:t>
            </a:r>
            <a:r>
              <a:rPr lang="en-US" sz="3200" spc="-100" noProof="0" dirty="0"/>
              <a:t> multiple doses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1AECF94-E3B2-2027-9E29-D84B307B143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369219"/>
                <a:ext cx="5095478" cy="3263504"/>
              </a:xfrm>
            </p:spPr>
            <p:txBody>
              <a:bodyPr>
                <a:normAutofit/>
              </a:bodyPr>
              <a:lstStyle/>
              <a:p>
                <a:r>
                  <a:rPr lang="en-US" noProof="0" dirty="0"/>
                  <a:t>Four hypotheses are </a:t>
                </a:r>
                <a:r>
                  <a:rPr lang="en-US" noProof="0" dirty="0">
                    <a:solidFill>
                      <a:srgbClr val="5291DD"/>
                    </a:solidFill>
                  </a:rPr>
                  <a:t>not equally important</a:t>
                </a:r>
              </a:p>
              <a:p>
                <a:r>
                  <a:rPr lang="en-US" noProof="0" dirty="0"/>
                  <a:t>A secondary hypothesis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noProof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i="1" noProof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noProof="0" dirty="0"/>
                  <a:t> 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noProof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i="1" noProof="0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noProof="0" dirty="0"/>
                  <a:t>) should be tested only if the corresponding primary hypothesis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noProof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i="1" noProof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noProof="0" dirty="0"/>
                  <a:t> 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noProof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i="1" noProof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noProof="0" dirty="0"/>
                  <a:t>) has been rejected (i.e., declared statistically significant) </a:t>
                </a:r>
              </a:p>
              <a:p>
                <a:r>
                  <a:rPr lang="en-US" noProof="0" dirty="0"/>
                  <a:t>Need for suitable ways of addressing such </a:t>
                </a:r>
                <a:r>
                  <a:rPr lang="en-US" noProof="0" dirty="0">
                    <a:solidFill>
                      <a:srgbClr val="5291DD"/>
                    </a:solidFill>
                  </a:rPr>
                  <a:t>structured multiplicity problems</a:t>
                </a:r>
              </a:p>
              <a:p>
                <a:pPr lvl="1"/>
                <a:r>
                  <a:rPr lang="en-US" noProof="0" dirty="0"/>
                  <a:t>Graphical approaches can facilitate clinical team discussions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1AECF94-E3B2-2027-9E29-D84B307B143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369219"/>
                <a:ext cx="5095478" cy="3263504"/>
              </a:xfrm>
              <a:blipFill>
                <a:blip r:embed="rId3"/>
                <a:stretch>
                  <a:fillRect l="-1196" t="-2243" r="-16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5D5094-0972-229C-A5FD-FF1BAC9F04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 noProof="0"/>
              <a:t>Bretz, Chen, Xi | ISBS | October 2026</a:t>
            </a:r>
            <a:endParaRPr lang="en-US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241525-687E-CD9F-CF45-F0A565076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D9F39-F344-41AE-B531-1D3ECACBC820}" type="slidenum">
              <a:rPr lang="en-US" noProof="0" smtClean="0"/>
              <a:t>13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5342914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F2686F-AE34-0D1F-12D0-5162DCA841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0" i="0" kern="1200" spc="-100" baseline="0" noProof="0" dirty="0">
                <a:solidFill>
                  <a:schemeClr val="tx1"/>
                </a:solidFill>
                <a:latin typeface="+mj-lt"/>
                <a:ea typeface="Arial Black" charset="0"/>
                <a:cs typeface="Arial Black" charset="0"/>
              </a:rPr>
              <a:t>Dealing with multiplicity</a:t>
            </a:r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5C64B8-1F60-2685-F29D-5B204D843C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69219"/>
            <a:ext cx="8119814" cy="3263504"/>
          </a:xfrm>
        </p:spPr>
        <p:txBody>
          <a:bodyPr>
            <a:normAutofit/>
          </a:bodyPr>
          <a:lstStyle/>
          <a:p>
            <a:r>
              <a:rPr lang="en-US" noProof="0" dirty="0">
                <a:solidFill>
                  <a:srgbClr val="5291DD"/>
                </a:solidFill>
              </a:rPr>
              <a:t>Reduce degree of multiplicity to the extent possible</a:t>
            </a:r>
          </a:p>
          <a:p>
            <a:pPr lvl="1"/>
            <a:r>
              <a:rPr lang="en-US" noProof="0" dirty="0"/>
              <a:t>Address limited number of questions</a:t>
            </a:r>
          </a:p>
          <a:p>
            <a:pPr lvl="1"/>
            <a:r>
              <a:rPr lang="en-US" noProof="0" dirty="0"/>
              <a:t>Minimize number of variables by using composite endpoints or summary scores</a:t>
            </a:r>
          </a:p>
          <a:p>
            <a:pPr lvl="1"/>
            <a:r>
              <a:rPr lang="en-US" noProof="0" dirty="0"/>
              <a:t>Prioritize questions</a:t>
            </a:r>
          </a:p>
          <a:p>
            <a:r>
              <a:rPr lang="en-US" noProof="0" dirty="0">
                <a:solidFill>
                  <a:srgbClr val="5291DD"/>
                </a:solidFill>
              </a:rPr>
              <a:t>If multiplicity still persists...</a:t>
            </a:r>
          </a:p>
          <a:p>
            <a:pPr lvl="1"/>
            <a:r>
              <a:rPr lang="en-US" noProof="0" dirty="0"/>
              <a:t>Multiplicity adjustment should always be considered</a:t>
            </a:r>
          </a:p>
          <a:p>
            <a:pPr lvl="1"/>
            <a:r>
              <a:rPr lang="en-US" noProof="0" dirty="0"/>
              <a:t>Regulatory guidelines require a description of the multiplicity adjustment in Phase III study protocols</a:t>
            </a:r>
          </a:p>
          <a:p>
            <a:pPr lvl="1"/>
            <a:r>
              <a:rPr lang="en-US" noProof="0" dirty="0"/>
              <a:t>If not thought necessary, explain why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D2A7EF-B1C2-29E9-136B-1651DA2E29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 noProof="0"/>
              <a:t>Bretz, Chen, Xi | ISBS | October 2026</a:t>
            </a:r>
            <a:endParaRPr lang="en-US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250924-7CA9-EFA1-457D-6A0AAA7B1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D9F39-F344-41AE-B531-1D3ECACBC820}" type="slidenum">
              <a:rPr lang="en-US" noProof="0" smtClean="0"/>
              <a:t>14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1410840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DD5FC7-C177-3AEC-2BCF-DD53AA6282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FDA guideline on multiple endpoints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5F6112-B442-E835-15CC-D053072225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5095478" cy="326350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noProof="0" dirty="0">
                <a:solidFill>
                  <a:srgbClr val="5291DD"/>
                </a:solidFill>
              </a:rPr>
              <a:t>Focus on...</a:t>
            </a:r>
          </a:p>
          <a:p>
            <a:r>
              <a:rPr lang="en-US" noProof="0" dirty="0">
                <a:solidFill>
                  <a:srgbClr val="5291DD"/>
                </a:solidFill>
              </a:rPr>
              <a:t>confirmatory trials </a:t>
            </a:r>
            <a:r>
              <a:rPr lang="en-US" noProof="0" dirty="0"/>
              <a:t>but acknowledges multiplicity issues throughout drug development</a:t>
            </a:r>
          </a:p>
          <a:p>
            <a:r>
              <a:rPr lang="en-US" noProof="0" dirty="0">
                <a:solidFill>
                  <a:srgbClr val="5291DD"/>
                </a:solidFill>
              </a:rPr>
              <a:t>multiple endpoints</a:t>
            </a:r>
            <a:r>
              <a:rPr lang="en-US" noProof="0" dirty="0"/>
              <a:t>, though principles extend to other multiplicity issues</a:t>
            </a:r>
          </a:p>
          <a:p>
            <a:r>
              <a:rPr lang="en-US" noProof="0" dirty="0">
                <a:solidFill>
                  <a:srgbClr val="5291DD"/>
                </a:solidFill>
              </a:rPr>
              <a:t>efficacy endpoints</a:t>
            </a:r>
            <a:r>
              <a:rPr lang="en-US" noProof="0" dirty="0"/>
              <a:t>, though ideas apply to safety endpoints for confirmatory purposes</a:t>
            </a:r>
          </a:p>
        </p:txBody>
      </p:sp>
      <p:pic>
        <p:nvPicPr>
          <p:cNvPr id="7" name="Content Placeholder 7">
            <a:extLst>
              <a:ext uri="{FF2B5EF4-FFF2-40B4-BE49-F238E27FC236}">
                <a16:creationId xmlns:a16="http://schemas.microsoft.com/office/drawing/2014/main" id="{4FD228BD-C864-BC6B-5CA2-5D8C095913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0152" y="1369219"/>
            <a:ext cx="2575198" cy="32768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3B4491-5943-C28C-9463-438EF5561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 noProof="0"/>
              <a:t>Bretz, Chen, Xi | ISBS | October 2026</a:t>
            </a:r>
            <a:endParaRPr lang="en-US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2A6C01-0B59-A04E-BD32-189031BD34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D9F39-F344-41AE-B531-1D3ECACBC820}" type="slidenum">
              <a:rPr lang="en-US" noProof="0" smtClean="0"/>
              <a:t>15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144099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78595D-2552-04D9-119F-A3310431A6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15BB58C4-52EC-E5F8-0092-A584A06FB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 noProof="0"/>
              <a:t>Bretz, Chen, Xi | ISBS | October 2026</a:t>
            </a:r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7C4F0D-D45B-43BF-A544-4CC466E16D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noProof="0" dirty="0"/>
              <a:t>FDA guideline on multiple endpoints</a:t>
            </a:r>
            <a:br>
              <a:rPr lang="en-US" noProof="0" dirty="0"/>
            </a:br>
            <a:r>
              <a:rPr lang="en-US" sz="2200" i="1" noProof="0" dirty="0">
                <a:solidFill>
                  <a:srgbClr val="000000"/>
                </a:solidFill>
              </a:rPr>
              <a:t>Rational clinical endpoint classification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E35C141D-4065-B2F7-E2B1-D338A00C47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587243"/>
              </p:ext>
            </p:extLst>
          </p:nvPr>
        </p:nvGraphicFramePr>
        <p:xfrm>
          <a:off x="115410" y="1237148"/>
          <a:ext cx="8913180" cy="372139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2882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724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966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4287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7903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800" u="none" noProof="0" dirty="0">
                          <a:solidFill>
                            <a:schemeClr val="bg1"/>
                          </a:solidFill>
                          <a:effectLst/>
                        </a:rPr>
                        <a:t>Endpoint</a:t>
                      </a:r>
                      <a:endParaRPr lang="en-US" sz="2400" u="none" noProof="0" dirty="0">
                        <a:solidFill>
                          <a:schemeClr val="bg1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800" u="none" noProof="0" dirty="0">
                          <a:solidFill>
                            <a:schemeClr val="bg1"/>
                          </a:solidFill>
                          <a:effectLst/>
                        </a:rPr>
                        <a:t>Characterization</a:t>
                      </a:r>
                      <a:endParaRPr lang="en-US" sz="2400" u="none" noProof="0" dirty="0">
                        <a:solidFill>
                          <a:schemeClr val="bg1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800" u="none" noProof="0" dirty="0">
                          <a:solidFill>
                            <a:schemeClr val="bg1"/>
                          </a:solidFill>
                          <a:effectLst/>
                        </a:rPr>
                        <a:t>Implication on approval and product labeling</a:t>
                      </a:r>
                      <a:endParaRPr lang="en-US" sz="2400" u="none" noProof="0" dirty="0">
                        <a:solidFill>
                          <a:schemeClr val="bg1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800" u="none" noProof="0" dirty="0">
                          <a:solidFill>
                            <a:schemeClr val="bg1"/>
                          </a:solidFill>
                          <a:effectLst/>
                        </a:rPr>
                        <a:t>Multiplicity adjustment</a:t>
                      </a:r>
                      <a:endParaRPr lang="en-US" sz="2400" u="none" noProof="0" dirty="0">
                        <a:solidFill>
                          <a:schemeClr val="bg1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903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800" noProof="0" dirty="0">
                          <a:solidFill>
                            <a:schemeClr val="bg1"/>
                          </a:solidFill>
                          <a:effectLst/>
                        </a:rPr>
                        <a:t>Primary</a:t>
                      </a:r>
                      <a:endParaRPr lang="en-US" sz="2400" noProof="0" dirty="0">
                        <a:solidFill>
                          <a:schemeClr val="bg1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800" noProof="0" dirty="0">
                          <a:effectLst/>
                        </a:rPr>
                        <a:t>Necessary and/or sufficient to establish efficacy (trial success)</a:t>
                      </a:r>
                      <a:endParaRPr lang="en-US" sz="2400" noProof="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800" noProof="0" dirty="0">
                          <a:effectLst/>
                        </a:rPr>
                        <a:t>Mandatory for approval</a:t>
                      </a:r>
                      <a:endParaRPr lang="en-US" sz="2400" noProof="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800" noProof="0" dirty="0">
                          <a:effectLst/>
                        </a:rPr>
                        <a:t>Yes</a:t>
                      </a:r>
                      <a:endParaRPr lang="en-US" sz="2400" noProof="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3279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800" noProof="0" dirty="0">
                          <a:solidFill>
                            <a:schemeClr val="bg1"/>
                          </a:solidFill>
                          <a:effectLst/>
                        </a:rPr>
                        <a:t>Secondary</a:t>
                      </a:r>
                      <a:endParaRPr lang="en-US" sz="2400" noProof="0" dirty="0">
                        <a:solidFill>
                          <a:schemeClr val="bg1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800" noProof="0" dirty="0">
                          <a:effectLst/>
                        </a:rPr>
                        <a:t>Additional meaningful outcomes that represent alternative facets of the disease (not just minor variations on other endpoints)</a:t>
                      </a:r>
                      <a:endParaRPr lang="en-US" sz="2400" noProof="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800" noProof="0" dirty="0">
                          <a:effectLst/>
                        </a:rPr>
                        <a:t>Not sufficient for approval; could lead to additional labeling claims</a:t>
                      </a:r>
                      <a:endParaRPr lang="en-US" sz="2400" noProof="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800" noProof="0" dirty="0">
                          <a:effectLst/>
                        </a:rPr>
                        <a:t>Yes</a:t>
                      </a:r>
                      <a:endParaRPr lang="en-US" sz="2400" noProof="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999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800" noProof="0" dirty="0">
                          <a:solidFill>
                            <a:schemeClr val="bg1"/>
                          </a:solidFill>
                          <a:effectLst/>
                        </a:rPr>
                        <a:t>Exploratory</a:t>
                      </a:r>
                      <a:endParaRPr lang="en-US" sz="2400" noProof="0" dirty="0">
                        <a:solidFill>
                          <a:schemeClr val="bg1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800" noProof="0" dirty="0">
                          <a:effectLst/>
                        </a:rPr>
                        <a:t>Hypothesis generating and variations on primary/secondary endpoints</a:t>
                      </a:r>
                      <a:endParaRPr lang="en-US" sz="2400" noProof="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800" noProof="0" dirty="0">
                          <a:effectLst/>
                        </a:rPr>
                        <a:t>Descriptive extensions (not considered as new claims)</a:t>
                      </a:r>
                      <a:endParaRPr lang="en-US" sz="2400" noProof="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800" noProof="0" dirty="0">
                          <a:effectLst/>
                        </a:rPr>
                        <a:t>No</a:t>
                      </a:r>
                      <a:endParaRPr lang="en-US" sz="2400" noProof="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36549C5-43CB-B69D-1637-80064BE4A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D9F39-F344-41AE-B531-1D3ECACBC820}" type="slidenum">
              <a:rPr lang="en-US" noProof="0" smtClean="0"/>
              <a:t>16</a:t>
            </a:fld>
            <a:endParaRPr lang="en-US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B4341B0-C999-7B41-8ED3-A5EF64C8355E}"/>
              </a:ext>
            </a:extLst>
          </p:cNvPr>
          <p:cNvSpPr txBox="1"/>
          <p:nvPr/>
        </p:nvSpPr>
        <p:spPr>
          <a:xfrm>
            <a:off x="7787640" y="1237148"/>
            <a:ext cx="1286670" cy="37440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402934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187094-FF75-6C18-EBC3-F95B1C5F9D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Other regulatory guidelines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614900-2FC3-DE74-6996-4024CE17EF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noProof="0" dirty="0"/>
          </a:p>
        </p:txBody>
      </p:sp>
      <p:pic>
        <p:nvPicPr>
          <p:cNvPr id="6" name="Picture 3">
            <a:extLst>
              <a:ext uri="{FF2B5EF4-FFF2-40B4-BE49-F238E27FC236}">
                <a16:creationId xmlns:a16="http://schemas.microsoft.com/office/drawing/2014/main" id="{A3FEE2E9-22C6-4549-2100-C46A39BE77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469" y="1369218"/>
            <a:ext cx="2310059" cy="326350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DDEFF05-2D55-3CE8-9D62-1457A22CF4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2792" y="1369216"/>
            <a:ext cx="2592288" cy="325709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890A177-6784-5B22-19FC-D639EDB07E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7345" y="1369216"/>
            <a:ext cx="2312536" cy="325709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58D835EC-DD72-538B-08DC-93763245F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 noProof="0"/>
              <a:t>Bretz, Chen, Xi | ISBS | October 2026</a:t>
            </a:r>
            <a:endParaRPr lang="en-US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A82940-D09A-1338-4D64-F7ADBF051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D9F39-F344-41AE-B531-1D3ECACBC820}" type="slidenum">
              <a:rPr lang="en-US" noProof="0" smtClean="0"/>
              <a:t>17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1540736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568079-C88B-5509-A24F-7619B725FB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noProof="0" dirty="0"/>
              <a:t>Notation</a:t>
            </a:r>
            <a:endParaRPr lang="en-US" sz="2200" i="1" noProof="0" dirty="0">
              <a:solidFill>
                <a:srgbClr val="0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E23F896-0111-DD09-49B8-9663137DA1F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defRPr/>
                </a:pPr>
                <a:r>
                  <a:rPr lang="en-US" noProof="0" dirty="0"/>
                  <a:t>Assume a </a:t>
                </a:r>
                <a:r>
                  <a:rPr lang="en-US" noProof="0" dirty="0">
                    <a:solidFill>
                      <a:srgbClr val="5291DD"/>
                    </a:solidFill>
                  </a:rPr>
                  <a:t>‘family’ of </a:t>
                </a:r>
                <a14:m>
                  <m:oMath xmlns:m="http://schemas.openxmlformats.org/officeDocument/2006/math">
                    <m:r>
                      <a:rPr lang="en-US" noProof="0" smtClean="0">
                        <a:solidFill>
                          <a:srgbClr val="5291DD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noProof="0" dirty="0">
                    <a:solidFill>
                      <a:srgbClr val="5291DD"/>
                    </a:solidFill>
                  </a:rPr>
                  <a:t> inferences</a:t>
                </a:r>
                <a:endParaRPr lang="en-US" noProof="0" dirty="0">
                  <a:solidFill>
                    <a:schemeClr val="accent3">
                      <a:lumMod val="75000"/>
                    </a:schemeClr>
                  </a:solidFill>
                </a:endParaRPr>
              </a:p>
              <a:p>
                <a:pPr>
                  <a:defRPr/>
                </a:pPr>
                <a:r>
                  <a:rPr lang="en-US" noProof="0" dirty="0"/>
                  <a:t>Parameters of interest are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noProof="0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b="0" i="1" noProof="0" smtClean="0">
                            <a:latin typeface="Cambria Math"/>
                          </a:rPr>
                          <m:t>𝜃</m:t>
                        </m:r>
                      </m:e>
                      <m:sub>
                        <m:r>
                          <a:rPr lang="en-US" b="0" i="1" noProof="0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b="0" i="1" noProof="0" smtClean="0">
                        <a:latin typeface="Cambria Math"/>
                      </a:rPr>
                      <m:t>,…,</m:t>
                    </m:r>
                    <m:sSub>
                      <m:sSubPr>
                        <m:ctrlPr>
                          <a:rPr lang="en-US" b="0" i="1" noProof="0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b="0" i="1" noProof="0" smtClean="0">
                            <a:latin typeface="Cambria Math"/>
                          </a:rPr>
                          <m:t>𝜃</m:t>
                        </m:r>
                      </m:e>
                      <m:sub>
                        <m:r>
                          <a:rPr lang="en-US" b="0" i="1" noProof="0" smtClean="0">
                            <a:latin typeface="Cambria Math"/>
                          </a:rPr>
                          <m:t>𝑚</m:t>
                        </m:r>
                      </m:sub>
                    </m:sSub>
                  </m:oMath>
                </a14:m>
                <a:endParaRPr lang="en-US" noProof="0" dirty="0"/>
              </a:p>
              <a:p>
                <a:pPr>
                  <a:spcAft>
                    <a:spcPts val="600"/>
                  </a:spcAft>
                  <a:defRPr/>
                </a:pPr>
                <a:r>
                  <a:rPr lang="en-US" noProof="0" dirty="0"/>
                  <a:t>Individual null hypotheses</a:t>
                </a:r>
              </a:p>
              <a:p>
                <a:pPr marL="0" indent="0">
                  <a:spcBef>
                    <a:spcPts val="600"/>
                  </a:spcBef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sSubPr>
                          <m:ctrlPr>
                            <a:rPr lang="en-US" b="0" i="1" noProof="0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0" i="1" noProof="0" smtClean="0">
                              <a:latin typeface="Cambria Math"/>
                            </a:rPr>
                            <m:t>𝐻</m:t>
                          </m:r>
                        </m:e>
                        <m:sub>
                          <m:r>
                            <a:rPr lang="en-US" b="0" i="1" noProof="0" smtClean="0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b="0" i="1" noProof="0" smtClean="0">
                          <a:latin typeface="Cambria Math"/>
                        </a:rPr>
                        <m:t>:</m:t>
                      </m:r>
                      <m:sSub>
                        <m:sSubPr>
                          <m:ctrlPr>
                            <a:rPr lang="en-US" b="0" i="1" noProof="0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0" i="1" noProof="0" smtClean="0">
                              <a:latin typeface="Cambria Math"/>
                            </a:rPr>
                            <m:t>𝜃</m:t>
                          </m:r>
                        </m:e>
                        <m:sub>
                          <m:r>
                            <a:rPr lang="en-US" b="0" i="1" noProof="0" smtClean="0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b="0" i="1" noProof="0" smtClean="0">
                          <a:latin typeface="Cambria Math"/>
                        </a:rPr>
                        <m:t>=0,</m:t>
                      </m:r>
                      <m:r>
                        <a:rPr lang="en-US" i="1" noProof="0" smtClean="0">
                          <a:latin typeface="Cambria Math"/>
                        </a:rPr>
                        <m:t> </m:t>
                      </m:r>
                      <m:r>
                        <a:rPr lang="en-US" b="0" i="1" noProof="0" smtClean="0">
                          <a:latin typeface="Cambria Math"/>
                        </a:rPr>
                        <m:t>…,</m:t>
                      </m:r>
                      <m:sSub>
                        <m:sSubPr>
                          <m:ctrlPr>
                            <a:rPr lang="en-US" b="0" i="1" noProof="0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0" i="1" noProof="0" smtClean="0">
                              <a:latin typeface="Cambria Math"/>
                            </a:rPr>
                            <m:t>𝐻</m:t>
                          </m:r>
                        </m:e>
                        <m:sub>
                          <m:r>
                            <a:rPr lang="en-US" b="0" i="1" noProof="0" smtClean="0">
                              <a:latin typeface="Cambria Math"/>
                            </a:rPr>
                            <m:t>𝑚</m:t>
                          </m:r>
                        </m:sub>
                      </m:sSub>
                      <m:r>
                        <a:rPr lang="en-US" i="1" noProof="0" smtClean="0">
                          <a:latin typeface="Cambria Math"/>
                        </a:rPr>
                        <m:t>:</m:t>
                      </m:r>
                      <m:sSub>
                        <m:sSubPr>
                          <m:ctrlPr>
                            <a:rPr lang="en-US" i="1" noProof="0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i="1" noProof="0" smtClean="0">
                              <a:latin typeface="Cambria Math"/>
                            </a:rPr>
                            <m:t>𝜃</m:t>
                          </m:r>
                        </m:e>
                        <m:sub>
                          <m:r>
                            <a:rPr lang="en-US" b="0" i="1" noProof="0" smtClean="0">
                              <a:latin typeface="Cambria Math"/>
                            </a:rPr>
                            <m:t>𝑚</m:t>
                          </m:r>
                        </m:sub>
                      </m:sSub>
                      <m:r>
                        <a:rPr lang="en-US" i="1" noProof="0" smtClean="0">
                          <a:latin typeface="Cambria Math"/>
                        </a:rPr>
                        <m:t>=0</m:t>
                      </m:r>
                    </m:oMath>
                  </m:oMathPara>
                </a14:m>
                <a:endParaRPr lang="en-US" noProof="0" dirty="0"/>
              </a:p>
              <a:p>
                <a:pPr>
                  <a:defRPr/>
                </a:pPr>
                <a:r>
                  <a:rPr lang="en-US" noProof="0" dirty="0">
                    <a:solidFill>
                      <a:srgbClr val="5291DD"/>
                    </a:solidFill>
                  </a:rPr>
                  <a:t>Example</a:t>
                </a:r>
                <a:r>
                  <a:rPr lang="en-US" noProof="0" dirty="0"/>
                  <a:t>:</a:t>
                </a:r>
              </a:p>
              <a:p>
                <a:pPr lvl="1">
                  <a:defRPr/>
                </a:pPr>
                <a:r>
                  <a:rPr lang="en-US" noProof="0" dirty="0"/>
                  <a:t>Comparison of </a:t>
                </a:r>
                <a14:m>
                  <m:oMath xmlns:m="http://schemas.openxmlformats.org/officeDocument/2006/math">
                    <m:r>
                      <a:rPr lang="en-US" i="1" noProof="0" smtClean="0">
                        <a:solidFill>
                          <a:schemeClr val="tx1"/>
                        </a:solidFill>
                        <a:latin typeface="Cambria Math"/>
                      </a:rPr>
                      <m:t>𝑚</m:t>
                    </m:r>
                  </m:oMath>
                </a14:m>
                <a:r>
                  <a:rPr lang="en-US" noProof="0" dirty="0"/>
                  <a:t> treatments (e.g., dose levels) with a control (e.g., placebo)</a:t>
                </a:r>
              </a:p>
              <a:p>
                <a:pPr lvl="1">
                  <a:defRPr/>
                </a:pPr>
                <a:r>
                  <a:rPr lang="en-US" noProof="0" dirty="0"/>
                  <a:t>Then,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noProof="0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i="1" noProof="0" smtClean="0">
                            <a:latin typeface="Cambria Math"/>
                          </a:rPr>
                          <m:t>𝜃</m:t>
                        </m:r>
                      </m:e>
                      <m:sub>
                        <m:r>
                          <a:rPr lang="en-US" b="0" i="1" noProof="0" smtClean="0"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en-US" b="0" i="1" noProof="0" smtClean="0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b="0" i="1" noProof="0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b="0" i="1" noProof="0" smtClean="0">
                            <a:latin typeface="Cambria Math"/>
                          </a:rPr>
                          <m:t>𝜇</m:t>
                        </m:r>
                      </m:e>
                      <m:sub>
                        <m:r>
                          <a:rPr lang="en-US" b="0" i="1" noProof="0" smtClean="0"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en-US" b="0" i="1" noProof="0" smtClean="0">
                        <a:latin typeface="Cambria Math"/>
                      </a:rPr>
                      <m:t>−</m:t>
                    </m:r>
                    <m:sSub>
                      <m:sSubPr>
                        <m:ctrlPr>
                          <a:rPr lang="en-US" b="0" i="1" noProof="0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b="0" i="1" noProof="0" smtClean="0">
                            <a:latin typeface="Cambria Math"/>
                          </a:rPr>
                          <m:t>𝜇</m:t>
                        </m:r>
                      </m:e>
                      <m:sub>
                        <m:r>
                          <a:rPr lang="en-US" b="0" i="1" noProof="0" smtClean="0">
                            <a:latin typeface="Cambria Math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noProof="0" dirty="0"/>
                  <a:t> are the </a:t>
                </a:r>
                <a14:m>
                  <m:oMath xmlns:m="http://schemas.openxmlformats.org/officeDocument/2006/math">
                    <m:r>
                      <a:rPr lang="en-US" i="1" noProof="0" smtClean="0">
                        <a:latin typeface="Cambria Math"/>
                      </a:rPr>
                      <m:t>𝑚</m:t>
                    </m:r>
                  </m:oMath>
                </a14:m>
                <a:r>
                  <a:rPr lang="en-US" noProof="0" dirty="0"/>
                  <a:t> treatment effect differences of interest, where </a:t>
                </a:r>
              </a:p>
              <a:p>
                <a:pPr lvl="2"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noProof="0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i="1" noProof="0" smtClean="0">
                            <a:latin typeface="Cambria Math"/>
                          </a:rPr>
                          <m:t>𝜇</m:t>
                        </m:r>
                      </m:e>
                      <m:sub>
                        <m:r>
                          <a:rPr lang="en-US" i="1" noProof="0" smtClean="0"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noProof="0" dirty="0"/>
                  <a:t> denotes the average effect for treatment </a:t>
                </a:r>
                <a14:m>
                  <m:oMath xmlns:m="http://schemas.openxmlformats.org/officeDocument/2006/math">
                    <m:r>
                      <a:rPr lang="en-US" b="0" i="1" noProof="0" smtClean="0">
                        <a:latin typeface="Cambria Math"/>
                      </a:rPr>
                      <m:t>𝑖</m:t>
                    </m:r>
                    <m:r>
                      <a:rPr lang="en-US" b="0" i="1" noProof="0" smtClean="0">
                        <a:latin typeface="Cambria Math"/>
                      </a:rPr>
                      <m:t>=1,…,</m:t>
                    </m:r>
                    <m:r>
                      <a:rPr lang="en-US" b="0" i="1" noProof="0" smtClean="0">
                        <a:latin typeface="Cambria Math"/>
                      </a:rPr>
                      <m:t>𝑚</m:t>
                    </m:r>
                  </m:oMath>
                </a14:m>
                <a:endParaRPr lang="en-US" noProof="0" dirty="0"/>
              </a:p>
              <a:p>
                <a:pPr lvl="2"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noProof="0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i="1" noProof="0" smtClean="0">
                            <a:latin typeface="Cambria Math"/>
                          </a:rPr>
                          <m:t>𝜇</m:t>
                        </m:r>
                      </m:e>
                      <m:sub>
                        <m:r>
                          <a:rPr lang="en-US" b="0" i="1" noProof="0" smtClean="0">
                            <a:latin typeface="Cambria Math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noProof="0" dirty="0"/>
                  <a:t> denotes the average effect for the control therapy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E23F896-0111-DD09-49B8-9663137DA1F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73" t="-2243" r="-2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5A98F4-A1F5-0071-00A9-F4AF972002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 noProof="0"/>
              <a:t>Bretz, Chen, Xi | ISBS | October 2026</a:t>
            </a:r>
            <a:endParaRPr lang="en-US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060F15-7805-1DFC-C4F8-A1284D694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D9F39-F344-41AE-B531-1D3ECACBC820}" type="slidenum">
              <a:rPr lang="en-US" noProof="0" smtClean="0"/>
              <a:t>18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1332834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568079-C88B-5509-A24F-7619B725FB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Familywise error rate (FWER)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E23F896-0111-DD09-49B8-9663137DA1F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defRPr/>
                </a:pPr>
                <a:r>
                  <a:rPr lang="en-US" noProof="0" dirty="0"/>
                  <a:t>Need to extend the usual Type I error rate concept when testing a family of null hypotheses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noProof="0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b="0" i="1" noProof="0" smtClean="0">
                            <a:latin typeface="Cambria Math"/>
                          </a:rPr>
                          <m:t>𝐻</m:t>
                        </m:r>
                      </m:e>
                      <m:sub>
                        <m:r>
                          <a:rPr lang="en-US" b="0" i="1" noProof="0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b="0" i="1" noProof="0" smtClean="0">
                        <a:latin typeface="Cambria Math"/>
                      </a:rPr>
                      <m:t>,…,</m:t>
                    </m:r>
                    <m:sSub>
                      <m:sSubPr>
                        <m:ctrlPr>
                          <a:rPr lang="en-US" b="0" i="1" noProof="0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b="0" i="1" noProof="0" smtClean="0">
                            <a:latin typeface="Cambria Math"/>
                          </a:rPr>
                          <m:t>𝐻</m:t>
                        </m:r>
                      </m:e>
                      <m:sub>
                        <m:r>
                          <a:rPr lang="en-US" b="0" i="1" noProof="0" smtClean="0">
                            <a:latin typeface="Cambria Math"/>
                          </a:rPr>
                          <m:t>𝑚</m:t>
                        </m:r>
                      </m:sub>
                    </m:sSub>
                  </m:oMath>
                </a14:m>
                <a:endParaRPr lang="en-US" noProof="0" dirty="0"/>
              </a:p>
              <a:p>
                <a:pPr>
                  <a:spcAft>
                    <a:spcPts val="600"/>
                  </a:spcAft>
                  <a:defRPr/>
                </a:pPr>
                <a:r>
                  <a:rPr lang="en-US" noProof="0" dirty="0"/>
                  <a:t>A multiple test procedure </a:t>
                </a:r>
                <a:r>
                  <a:rPr lang="en-US" noProof="0" dirty="0">
                    <a:solidFill>
                      <a:srgbClr val="5291DD"/>
                    </a:solidFill>
                  </a:rPr>
                  <a:t>controls the FWER at level </a:t>
                </a:r>
                <a14:m>
                  <m:oMath xmlns:m="http://schemas.openxmlformats.org/officeDocument/2006/math">
                    <m:r>
                      <a:rPr lang="en-US" i="1" noProof="0" smtClean="0">
                        <a:solidFill>
                          <a:srgbClr val="5291DD"/>
                        </a:solidFill>
                        <a:latin typeface="Cambria Math"/>
                      </a:rPr>
                      <m:t>𝛼</m:t>
                    </m:r>
                  </m:oMath>
                </a14:m>
                <a:r>
                  <a:rPr lang="en-US" noProof="0" dirty="0">
                    <a:solidFill>
                      <a:srgbClr val="5291DD"/>
                    </a:solidFill>
                  </a:rPr>
                  <a:t> in the strong sense if</a:t>
                </a:r>
                <a:endParaRPr lang="en-US" noProof="0" dirty="0">
                  <a:solidFill>
                    <a:schemeClr val="accent3">
                      <a:lumMod val="75000"/>
                    </a:schemeClr>
                  </a:solidFill>
                </a:endParaRPr>
              </a:p>
              <a:p>
                <a:pPr marL="0" indent="0" algn="ctr">
                  <a:spcAft>
                    <a:spcPts val="600"/>
                  </a:spcAft>
                  <a:buNone/>
                  <a:defRPr/>
                </a:pPr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en-US" noProof="0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noProof="0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ctrlPr>
                                <a:rPr lang="en-US" i="0" noProof="0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m:rPr>
                                  <m:nor/>
                                </m:rPr>
                                <a:rPr lang="en-US" i="0" noProof="0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reject at least one true null</m:t>
                              </m:r>
                            </m:e>
                          </m:d>
                        </m:e>
                      </m:func>
                      <m:r>
                        <a:rPr lang="en-US" b="0" i="1" noProof="0" smtClean="0">
                          <a:solidFill>
                            <a:schemeClr val="tx1"/>
                          </a:solidFill>
                          <a:latin typeface="Cambria Math"/>
                        </a:rPr>
                        <m:t>≤</m:t>
                      </m:r>
                      <m:r>
                        <a:rPr lang="en-US" b="0" i="1" noProof="0" smtClean="0">
                          <a:solidFill>
                            <a:schemeClr val="tx1"/>
                          </a:solidFill>
                          <a:latin typeface="Cambria Math"/>
                        </a:rPr>
                        <m:t>𝛼</m:t>
                      </m:r>
                    </m:oMath>
                  </m:oMathPara>
                </a14:m>
                <a:endParaRPr lang="en-US" noProof="0" dirty="0">
                  <a:solidFill>
                    <a:schemeClr val="tx1"/>
                  </a:solidFill>
                </a:endParaRPr>
              </a:p>
              <a:p>
                <a:pPr marL="0" indent="0">
                  <a:spcAft>
                    <a:spcPts val="600"/>
                  </a:spcAft>
                  <a:buNone/>
                  <a:tabLst>
                    <a:tab pos="172800" algn="l"/>
                    <a:tab pos="345600" algn="l"/>
                  </a:tabLst>
                  <a:defRPr/>
                </a:pPr>
                <a:r>
                  <a:rPr lang="en-US" noProof="0" dirty="0"/>
                  <a:t>	under any configuration of true/false null hypotheses</a:t>
                </a:r>
              </a:p>
              <a:p>
                <a:pPr>
                  <a:spcAft>
                    <a:spcPts val="600"/>
                  </a:spcAft>
                  <a:defRPr/>
                </a:pPr>
                <a:r>
                  <a:rPr lang="en-US" noProof="0" dirty="0"/>
                  <a:t>Strong FWER control is typically </a:t>
                </a:r>
                <a:r>
                  <a:rPr lang="en-US" noProof="0" dirty="0">
                    <a:solidFill>
                      <a:srgbClr val="5291DD"/>
                    </a:solidFill>
                  </a:rPr>
                  <a:t>required in confirmatory </a:t>
                </a:r>
                <a:r>
                  <a:rPr lang="en-US" noProof="0" dirty="0" err="1">
                    <a:solidFill>
                      <a:srgbClr val="5291DD"/>
                    </a:solidFill>
                  </a:rPr>
                  <a:t>clincal</a:t>
                </a:r>
                <a:r>
                  <a:rPr lang="en-US" noProof="0" dirty="0">
                    <a:solidFill>
                      <a:srgbClr val="5291DD"/>
                    </a:solidFill>
                  </a:rPr>
                  <a:t> trials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E23F896-0111-DD09-49B8-9663137DA1F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773" t="-22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175ACE-A689-75A2-9363-767EB5DA6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 noProof="0"/>
              <a:t>Bretz, Chen, Xi | ISBS | October 2026</a:t>
            </a:r>
            <a:endParaRPr lang="en-US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53729D-FD04-8F22-0491-31CF9E38C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D9F39-F344-41AE-B531-1D3ECACBC820}" type="slidenum">
              <a:rPr lang="en-US" noProof="0" smtClean="0"/>
              <a:t>19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19544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6A4CC0-B086-898D-B576-FA19566A9C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3537C2-DC82-1C2D-5621-A43547E422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Adjusted p-values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688FD83-13F8-2F43-3FEC-821D0E77583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49" y="1369219"/>
                <a:ext cx="8244131" cy="3263504"/>
              </a:xfrm>
            </p:spPr>
            <p:txBody>
              <a:bodyPr>
                <a:normAutofit/>
              </a:bodyPr>
              <a:lstStyle/>
              <a:p>
                <a:r>
                  <a:rPr lang="en-US" noProof="0" dirty="0"/>
                  <a:t>Adjusted p-values extend conventional p-values by adjusting for a given multiple test procedure</a:t>
                </a:r>
              </a:p>
              <a:p>
                <a:pPr lvl="1"/>
                <a:r>
                  <a:rPr lang="en-US" noProof="0" dirty="0"/>
                  <a:t>Adjusted p-values can be compared directly with the significance level </a:t>
                </a:r>
                <a14:m>
                  <m:oMath xmlns:m="http://schemas.openxmlformats.org/officeDocument/2006/math">
                    <m:r>
                      <a:rPr lang="en-US" i="1" noProof="0" smtClean="0">
                        <a:latin typeface="Cambria Math"/>
                      </a:rPr>
                      <m:t>𝛼</m:t>
                    </m:r>
                  </m:oMath>
                </a14:m>
                <a:r>
                  <a:rPr lang="en-US" noProof="0" dirty="0"/>
                  <a:t>, while controlling the FWER </a:t>
                </a:r>
              </a:p>
              <a:p>
                <a:pPr>
                  <a:spcAft>
                    <a:spcPts val="600"/>
                  </a:spcAft>
                  <a:defRPr/>
                </a:pPr>
                <a:r>
                  <a:rPr lang="en-US" noProof="0" dirty="0"/>
                  <a:t>Formally, the adjusted p-value is the </a:t>
                </a:r>
                <a:r>
                  <a:rPr lang="en-US" noProof="0" dirty="0">
                    <a:solidFill>
                      <a:srgbClr val="5291DD"/>
                    </a:solidFill>
                  </a:rPr>
                  <a:t>smallest significance level at which a given hypothesis is significant as part of the multiple test procedure</a:t>
                </a:r>
              </a:p>
              <a:p>
                <a:pPr>
                  <a:spcAft>
                    <a:spcPts val="600"/>
                  </a:spcAft>
                  <a:defRPr/>
                </a:pPr>
                <a:r>
                  <a:rPr lang="en-US" noProof="0" dirty="0">
                    <a:solidFill>
                      <a:srgbClr val="5291DD"/>
                    </a:solidFill>
                  </a:rPr>
                  <a:t>Example</a:t>
                </a:r>
                <a:r>
                  <a:rPr lang="en-US" noProof="0" dirty="0"/>
                  <a:t>: Bonferroni test</a:t>
                </a:r>
                <a:endParaRPr lang="en-US" noProof="0" dirty="0">
                  <a:solidFill>
                    <a:schemeClr val="accent3">
                      <a:lumMod val="75000"/>
                    </a:schemeClr>
                  </a:solidFill>
                </a:endParaRPr>
              </a:p>
              <a:p>
                <a:pPr marL="0" indent="0" algn="ctr">
                  <a:spcAft>
                    <a:spcPts val="600"/>
                  </a:spcAft>
                  <a:buNone/>
                  <a:defRPr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i="1" noProof="0" smtClean="0">
                              <a:latin typeface="Cambria Math"/>
                              <a:ea typeface="Arial Unicode MS" pitchFamily="34" charset="-128"/>
                              <a:cs typeface="Arial Unicode MS" pitchFamily="34" charset="-128"/>
                            </a:rPr>
                          </m:ctrlPr>
                        </m:sSubPr>
                        <m:e>
                          <m:r>
                            <a:rPr lang="en-US" i="1" noProof="0" smtClean="0">
                              <a:latin typeface="Cambria Math"/>
                              <a:ea typeface="Arial Unicode MS" pitchFamily="34" charset="-128"/>
                              <a:cs typeface="Arial Unicode MS" pitchFamily="34" charset="-128"/>
                            </a:rPr>
                            <m:t>𝑝</m:t>
                          </m:r>
                        </m:e>
                        <m:sub>
                          <m:r>
                            <a:rPr lang="en-US" i="1" noProof="0" smtClean="0">
                              <a:latin typeface="Cambria Math"/>
                              <a:ea typeface="Arial Unicode MS" pitchFamily="34" charset="-128"/>
                              <a:cs typeface="Arial Unicode MS" pitchFamily="34" charset="-128"/>
                            </a:rPr>
                            <m:t>𝑖</m:t>
                          </m:r>
                        </m:sub>
                      </m:sSub>
                      <m:r>
                        <a:rPr lang="en-US" i="1" noProof="0" smtClean="0">
                          <a:latin typeface="Cambria Math"/>
                          <a:ea typeface="Arial Unicode MS" pitchFamily="34" charset="-128"/>
                          <a:cs typeface="Arial Unicode MS" pitchFamily="34" charset="-128"/>
                        </a:rPr>
                        <m:t>≤</m:t>
                      </m:r>
                      <m:f>
                        <m:fPr>
                          <m:type m:val="lin"/>
                          <m:ctrlPr>
                            <a:rPr lang="en-US" i="1" noProof="0" smtClean="0">
                              <a:latin typeface="Cambria Math"/>
                              <a:ea typeface="Arial Unicode MS" pitchFamily="34" charset="-128"/>
                              <a:cs typeface="Arial Unicode MS" pitchFamily="34" charset="-128"/>
                            </a:rPr>
                          </m:ctrlPr>
                        </m:fPr>
                        <m:num>
                          <m:r>
                            <a:rPr lang="en-US" i="1" noProof="0" smtClean="0">
                              <a:latin typeface="Cambria Math"/>
                              <a:ea typeface="Arial Unicode MS" pitchFamily="34" charset="-128"/>
                              <a:cs typeface="Arial Unicode MS" pitchFamily="34" charset="-128"/>
                            </a:rPr>
                            <m:t>𝛼</m:t>
                          </m:r>
                        </m:num>
                        <m:den>
                          <m:r>
                            <a:rPr lang="en-US" i="1" noProof="0" smtClean="0">
                              <a:latin typeface="Cambria Math"/>
                              <a:ea typeface="Arial Unicode MS" pitchFamily="34" charset="-128"/>
                              <a:cs typeface="Arial Unicode MS" pitchFamily="34" charset="-128"/>
                            </a:rPr>
                            <m:t>𝑚</m:t>
                          </m:r>
                        </m:den>
                      </m:f>
                      <m:r>
                        <a:rPr lang="en-US" i="1" noProof="0" smtClean="0">
                          <a:latin typeface="Cambria Math"/>
                          <a:ea typeface="Arial Unicode MS" pitchFamily="34" charset="-128"/>
                          <a:cs typeface="Arial Unicode MS" pitchFamily="34" charset="-128"/>
                        </a:rPr>
                        <m:t>   </m:t>
                      </m:r>
                      <m:r>
                        <a:rPr lang="en-US" i="1" noProof="0" smtClean="0">
                          <a:latin typeface="Cambria Math"/>
                          <a:ea typeface="Cambria Math"/>
                          <a:sym typeface="Wingdings" pitchFamily="2" charset="2"/>
                        </a:rPr>
                        <m:t>⇔   </m:t>
                      </m:r>
                      <m:sSub>
                        <m:sSubPr>
                          <m:ctrlPr>
                            <a:rPr lang="en-US" i="1" noProof="0">
                              <a:latin typeface="Cambria Math"/>
                              <a:ea typeface="Cambria Math"/>
                              <a:sym typeface="Wingdings" pitchFamily="2" charset="2"/>
                            </a:rPr>
                          </m:ctrlPr>
                        </m:sSubPr>
                        <m:e>
                          <m:r>
                            <a:rPr lang="en-US" i="1" noProof="0">
                              <a:latin typeface="Cambria Math"/>
                              <a:ea typeface="Cambria Math"/>
                              <a:sym typeface="Wingdings" pitchFamily="2" charset="2"/>
                            </a:rPr>
                            <m:t>𝑞</m:t>
                          </m:r>
                        </m:e>
                        <m:sub>
                          <m:r>
                            <a:rPr lang="en-US" i="1" noProof="0" smtClean="0">
                              <a:latin typeface="Cambria Math"/>
                              <a:ea typeface="Cambria Math"/>
                              <a:sym typeface="Wingdings" pitchFamily="2" charset="2"/>
                            </a:rPr>
                            <m:t>𝑖</m:t>
                          </m:r>
                        </m:sub>
                      </m:sSub>
                      <m:r>
                        <a:rPr lang="en-US" i="1" noProof="0">
                          <a:latin typeface="Cambria Math"/>
                          <a:ea typeface="Cambria Math"/>
                          <a:sym typeface="Wingdings" pitchFamily="2" charset="2"/>
                        </a:rPr>
                        <m:t>=</m:t>
                      </m:r>
                      <m:func>
                        <m:funcPr>
                          <m:ctrlPr>
                            <a:rPr lang="en-US" noProof="0">
                              <a:latin typeface="Cambria Math"/>
                              <a:ea typeface="Cambria Math"/>
                              <a:sym typeface="Wingdings" pitchFamily="2" charset="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noProof="0">
                              <a:latin typeface="Cambria Math"/>
                              <a:ea typeface="Cambria Math"/>
                              <a:sym typeface="Wingdings" pitchFamily="2" charset="2"/>
                            </a:rPr>
                            <m:t>min</m:t>
                          </m:r>
                        </m:fName>
                        <m:e>
                          <m:d>
                            <m:dPr>
                              <m:ctrlPr>
                                <a:rPr lang="en-US" i="1" noProof="0">
                                  <a:latin typeface="Cambria Math"/>
                                  <a:ea typeface="Cambria Math"/>
                                  <a:sym typeface="Wingdings" pitchFamily="2" charset="2"/>
                                </a:rPr>
                              </m:ctrlPr>
                            </m:dPr>
                            <m:e>
                              <m:r>
                                <a:rPr lang="en-US" i="1" noProof="0">
                                  <a:latin typeface="Cambria Math"/>
                                  <a:ea typeface="Cambria Math"/>
                                  <a:sym typeface="Wingdings" pitchFamily="2" charset="2"/>
                                </a:rPr>
                                <m:t>𝑚</m:t>
                              </m:r>
                              <m:sSub>
                                <m:sSubPr>
                                  <m:ctrlPr>
                                    <a:rPr lang="en-US" i="1" noProof="0">
                                      <a:latin typeface="Cambria Math"/>
                                      <a:ea typeface="Cambria Math"/>
                                      <a:sym typeface="Wingdings" pitchFamily="2" charset="2"/>
                                    </a:rPr>
                                  </m:ctrlPr>
                                </m:sSubPr>
                                <m:e>
                                  <m:r>
                                    <a:rPr lang="en-US" i="1" noProof="0">
                                      <a:latin typeface="Cambria Math"/>
                                      <a:ea typeface="Cambria Math"/>
                                      <a:sym typeface="Wingdings" pitchFamily="2" charset="2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i="1" noProof="0" smtClean="0">
                                      <a:latin typeface="Cambria Math"/>
                                      <a:ea typeface="Cambria Math"/>
                                      <a:sym typeface="Wingdings" pitchFamily="2" charset="2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 noProof="0">
                                  <a:latin typeface="Cambria Math"/>
                                  <a:ea typeface="Cambria Math"/>
                                  <a:sym typeface="Wingdings" pitchFamily="2" charset="2"/>
                                </a:rPr>
                                <m:t>,1</m:t>
                              </m:r>
                            </m:e>
                          </m:d>
                        </m:e>
                      </m:func>
                      <m:r>
                        <a:rPr lang="en-US" i="1" noProof="0" smtClean="0">
                          <a:latin typeface="Cambria Math"/>
                          <a:ea typeface="Arial Unicode MS" pitchFamily="34" charset="-128"/>
                          <a:cs typeface="Arial Unicode MS" pitchFamily="34" charset="-128"/>
                        </a:rPr>
                        <m:t>≤</m:t>
                      </m:r>
                      <m:r>
                        <a:rPr lang="en-US" i="1" noProof="0" smtClean="0">
                          <a:latin typeface="Cambria Math"/>
                        </a:rPr>
                        <m:t>𝛼</m:t>
                      </m:r>
                    </m:oMath>
                  </m:oMathPara>
                </a14:m>
                <a:endParaRPr lang="en-US" noProof="0" dirty="0">
                  <a:solidFill>
                    <a:schemeClr val="tx1"/>
                  </a:solidFill>
                </a:endParaRPr>
              </a:p>
              <a:p>
                <a:pPr marL="0" indent="0">
                  <a:spcAft>
                    <a:spcPts val="600"/>
                  </a:spcAft>
                  <a:buNone/>
                  <a:tabLst>
                    <a:tab pos="172800" algn="l"/>
                    <a:tab pos="345600" algn="l"/>
                  </a:tabLst>
                  <a:defRPr/>
                </a:pPr>
                <a:r>
                  <a:rPr lang="en-US" noProof="0" dirty="0"/>
                  <a:t>	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noProof="0" smtClean="0">
                            <a:latin typeface="Cambria Math"/>
                            <a:ea typeface="Arial Unicode MS" pitchFamily="34" charset="-128"/>
                            <a:cs typeface="Arial Unicode MS" pitchFamily="34" charset="-128"/>
                          </a:rPr>
                        </m:ctrlPr>
                      </m:sSubPr>
                      <m:e>
                        <m:r>
                          <a:rPr lang="en-US" i="1" noProof="0" smtClean="0">
                            <a:latin typeface="Cambria Math"/>
                            <a:ea typeface="Arial Unicode MS" pitchFamily="34" charset="-128"/>
                            <a:cs typeface="Arial Unicode MS" pitchFamily="34" charset="-128"/>
                          </a:rPr>
                          <m:t>𝑝</m:t>
                        </m:r>
                      </m:e>
                      <m:sub>
                        <m:r>
                          <a:rPr lang="en-US" i="1" noProof="0" smtClean="0">
                            <a:latin typeface="Cambria Math"/>
                            <a:ea typeface="Arial Unicode MS" pitchFamily="34" charset="-128"/>
                            <a:cs typeface="Arial Unicode MS" pitchFamily="34" charset="-128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noProof="0" dirty="0"/>
                  <a:t> is the conventional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noProof="0">
                            <a:latin typeface="Cambria Math"/>
                            <a:ea typeface="Arial Unicode MS" pitchFamily="34" charset="-128"/>
                            <a:cs typeface="Arial Unicode MS" pitchFamily="34" charset="-128"/>
                          </a:rPr>
                        </m:ctrlPr>
                      </m:sSubPr>
                      <m:e>
                        <m:r>
                          <a:rPr lang="en-US" i="1" noProof="0">
                            <a:latin typeface="Cambria Math"/>
                            <a:ea typeface="Arial Unicode MS" pitchFamily="34" charset="-128"/>
                            <a:cs typeface="Arial Unicode MS" pitchFamily="34" charset="-128"/>
                          </a:rPr>
                          <m:t>𝑞</m:t>
                        </m:r>
                      </m:e>
                      <m:sub>
                        <m:r>
                          <a:rPr lang="en-US" i="1" noProof="0" smtClean="0">
                            <a:latin typeface="Cambria Math"/>
                            <a:ea typeface="Arial Unicode MS" pitchFamily="34" charset="-128"/>
                            <a:cs typeface="Arial Unicode MS" pitchFamily="34" charset="-128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noProof="0" dirty="0"/>
                  <a:t> the adjusted p-value for </a:t>
                </a:r>
                <a14:m>
                  <m:oMath xmlns:m="http://schemas.openxmlformats.org/officeDocument/2006/math">
                    <m:r>
                      <a:rPr lang="en-US" i="1" noProof="0" smtClean="0">
                        <a:latin typeface="Cambria Math"/>
                      </a:rPr>
                      <m:t>𝑖</m:t>
                    </m:r>
                    <m:r>
                      <a:rPr lang="en-US" i="1" noProof="0" smtClean="0">
                        <a:latin typeface="Cambria Math"/>
                      </a:rPr>
                      <m:t>=1,…,</m:t>
                    </m:r>
                    <m:r>
                      <a:rPr lang="en-US" i="1" noProof="0" smtClean="0">
                        <a:latin typeface="Cambria Math"/>
                      </a:rPr>
                      <m:t>𝑚</m:t>
                    </m:r>
                  </m:oMath>
                </a14:m>
                <a:endParaRPr lang="en-US" noProof="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688FD83-13F8-2F43-3FEC-821D0E77583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49" y="1369219"/>
                <a:ext cx="8244131" cy="3263504"/>
              </a:xfrm>
              <a:blipFill>
                <a:blip r:embed="rId4"/>
                <a:stretch>
                  <a:fillRect l="-739" t="-2243" b="-69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7665DE-C3CC-9B9C-C972-B862A13D9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 noProof="0"/>
              <a:t>Bretz, Chen, Xi | ISBS | October 2026</a:t>
            </a:r>
            <a:endParaRPr lang="en-US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FC5997-5FD5-19A7-2F70-E509A91207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D9F39-F344-41AE-B531-1D3ECACBC820}" type="slidenum">
              <a:rPr lang="en-US" noProof="0" smtClean="0"/>
              <a:t>20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5476570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0AF352-2209-23FE-DD43-EDD7915EA7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Common multiple test procedures</a:t>
            </a:r>
            <a:br>
              <a:rPr lang="en-US" noProof="0" dirty="0"/>
            </a:br>
            <a:r>
              <a:rPr lang="en-US" sz="2200" i="1" noProof="0" dirty="0">
                <a:solidFill>
                  <a:srgbClr val="000000"/>
                </a:solidFill>
              </a:rPr>
              <a:t>Single step and stepwise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C5345B-CA64-E007-9C18-3F1E37CEF3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69219"/>
            <a:ext cx="7975798" cy="3263504"/>
          </a:xfrm>
        </p:spPr>
        <p:txBody>
          <a:bodyPr>
            <a:normAutofit/>
          </a:bodyPr>
          <a:lstStyle/>
          <a:p>
            <a:pPr>
              <a:tabLst>
                <a:tab pos="230400" algn="r"/>
                <a:tab pos="3999600" algn="r"/>
                <a:tab pos="8229600" algn="r"/>
              </a:tabLst>
            </a:pPr>
            <a:r>
              <a:rPr lang="en-US" noProof="0" dirty="0">
                <a:solidFill>
                  <a:srgbClr val="5291DD"/>
                </a:solidFill>
              </a:rPr>
              <a:t>Single step test</a:t>
            </a:r>
          </a:p>
          <a:p>
            <a:pPr lvl="1">
              <a:tabLst>
                <a:tab pos="230400" algn="r"/>
                <a:tab pos="3999600" algn="r"/>
                <a:tab pos="8229600" algn="r"/>
              </a:tabLst>
            </a:pPr>
            <a:r>
              <a:rPr lang="en-US" noProof="0" dirty="0"/>
              <a:t>Use </a:t>
            </a:r>
            <a:r>
              <a:rPr lang="en-US" noProof="0" dirty="0">
                <a:solidFill>
                  <a:srgbClr val="5291DD"/>
                </a:solidFill>
              </a:rPr>
              <a:t>constant critical values </a:t>
            </a:r>
            <a:r>
              <a:rPr lang="en-US" noProof="0" dirty="0"/>
              <a:t>for all hypotheses.</a:t>
            </a:r>
          </a:p>
          <a:p>
            <a:pPr lvl="1">
              <a:tabLst>
                <a:tab pos="230400" algn="r"/>
                <a:tab pos="3999600" algn="r"/>
                <a:tab pos="8229600" algn="r"/>
              </a:tabLst>
            </a:pPr>
            <a:r>
              <a:rPr lang="en-US" noProof="0" dirty="0"/>
              <a:t>	Examples: Bonferroni, Simes, Dunnett, …</a:t>
            </a:r>
          </a:p>
          <a:p>
            <a:pPr>
              <a:tabLst>
                <a:tab pos="230400" algn="r"/>
                <a:tab pos="3999600" algn="r"/>
                <a:tab pos="8229600" algn="r"/>
              </a:tabLst>
            </a:pPr>
            <a:r>
              <a:rPr lang="en-US" noProof="0" dirty="0">
                <a:solidFill>
                  <a:srgbClr val="5291DD"/>
                </a:solidFill>
              </a:rPr>
              <a:t>Stepwise test procedures</a:t>
            </a:r>
          </a:p>
          <a:p>
            <a:pPr lvl="1">
              <a:tabLst>
                <a:tab pos="230400" algn="r"/>
                <a:tab pos="3999600" algn="r"/>
                <a:tab pos="8229600" algn="r"/>
              </a:tabLst>
            </a:pPr>
            <a:r>
              <a:rPr lang="en-US" noProof="0" dirty="0"/>
              <a:t>	</a:t>
            </a:r>
            <a:r>
              <a:rPr lang="en-US" noProof="0" dirty="0">
                <a:solidFill>
                  <a:srgbClr val="5291DD"/>
                </a:solidFill>
              </a:rPr>
              <a:t>Critical values may change </a:t>
            </a:r>
            <a:r>
              <a:rPr lang="en-US" noProof="0" dirty="0"/>
              <a:t>depending on the decision of a different null hypothesis</a:t>
            </a:r>
          </a:p>
          <a:p>
            <a:pPr lvl="1">
              <a:tabLst>
                <a:tab pos="230400" algn="r"/>
                <a:tab pos="3999600" algn="r"/>
                <a:tab pos="8229600" algn="r"/>
              </a:tabLst>
            </a:pPr>
            <a:r>
              <a:rPr lang="en-US" noProof="0" dirty="0"/>
              <a:t>Rely on closed testing (general principle to construct multiple test procedures)</a:t>
            </a:r>
          </a:p>
          <a:p>
            <a:pPr lvl="1">
              <a:tabLst>
                <a:tab pos="230400" algn="r"/>
                <a:tab pos="3999600" algn="r"/>
                <a:tab pos="8229600" algn="r"/>
              </a:tabLst>
            </a:pPr>
            <a:r>
              <a:rPr lang="en-US" noProof="0" dirty="0"/>
              <a:t>	Examples: Holm, Hochberg, Hommel, step-down Dunnett, …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021F66-BBC2-BD2B-D122-9DD16216F4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 noProof="0"/>
              <a:t>Bretz, Chen, Xi | ISBS | October 2026</a:t>
            </a:r>
            <a:endParaRPr lang="en-US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3587B0-AAEA-164C-D5D1-109FBBE551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D9F39-F344-41AE-B531-1D3ECACBC820}" type="slidenum">
              <a:rPr lang="en-US" noProof="0" smtClean="0"/>
              <a:t>21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1321534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39B1CCD7-960C-27DE-4B99-269455E05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 noProof="0"/>
              <a:t>Bretz, Chen, Xi | ISBS | October 2026</a:t>
            </a:r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E0AF352-2209-23FE-DD43-EDD7915EA7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noProof="0" dirty="0"/>
              <a:t>Common multiple test procedures</a:t>
            </a:r>
            <a:br>
              <a:rPr lang="en-US" noProof="0" dirty="0"/>
            </a:br>
            <a:r>
              <a:rPr lang="en-US" sz="2000" i="1" noProof="0" dirty="0">
                <a:solidFill>
                  <a:srgbClr val="000000"/>
                </a:solidFill>
              </a:rPr>
              <a:t>Hochberg and Tamhane (1987); </a:t>
            </a:r>
            <a:r>
              <a:rPr lang="en-US" sz="2000" i="1" noProof="0" dirty="0" err="1">
                <a:solidFill>
                  <a:srgbClr val="000000"/>
                </a:solidFill>
              </a:rPr>
              <a:t>Dmitrienko</a:t>
            </a:r>
            <a:r>
              <a:rPr lang="en-US" sz="2000" i="1" noProof="0" dirty="0">
                <a:solidFill>
                  <a:srgbClr val="000000"/>
                </a:solidFill>
              </a:rPr>
              <a:t>, Tamhane and Bretz (2009)</a:t>
            </a:r>
            <a:endParaRPr lang="en-US" sz="2000" i="1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C5345B-CA64-E007-9C18-3F1E37CEF3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2558808"/>
            <a:ext cx="7886700" cy="2575619"/>
          </a:xfrm>
          <a:solidFill>
            <a:schemeClr val="bg1"/>
          </a:solidFill>
        </p:spPr>
        <p:txBody>
          <a:bodyPr>
            <a:normAutofit/>
          </a:bodyPr>
          <a:lstStyle/>
          <a:p>
            <a:r>
              <a:rPr lang="en-US" sz="2000" noProof="0" dirty="0"/>
              <a:t>Stepwise procedures are </a:t>
            </a:r>
            <a:r>
              <a:rPr lang="en-US" sz="2000" noProof="0" dirty="0">
                <a:solidFill>
                  <a:srgbClr val="5291DD"/>
                </a:solidFill>
              </a:rPr>
              <a:t>more powerful </a:t>
            </a:r>
            <a:r>
              <a:rPr lang="en-US" sz="2000" noProof="0" dirty="0"/>
              <a:t>than single step tests</a:t>
            </a:r>
          </a:p>
          <a:p>
            <a:pPr lvl="1"/>
            <a:r>
              <a:rPr lang="en-US" sz="1600" noProof="0" dirty="0"/>
              <a:t>Single step methods are often used as ‘building blocks’ for advanced multiple test procedures (e.g., graphical approaches)</a:t>
            </a:r>
          </a:p>
          <a:p>
            <a:r>
              <a:rPr lang="en-US" sz="2000" noProof="0" dirty="0"/>
              <a:t>Simes-based methods are </a:t>
            </a:r>
            <a:r>
              <a:rPr lang="en-US" sz="2000" noProof="0" dirty="0">
                <a:solidFill>
                  <a:srgbClr val="5291DD"/>
                </a:solidFill>
              </a:rPr>
              <a:t>more powerful </a:t>
            </a:r>
            <a:r>
              <a:rPr lang="en-US" sz="2000" noProof="0" dirty="0"/>
              <a:t>than Bonferroni-based methods, but rely on ‘positivity’ assumption</a:t>
            </a:r>
          </a:p>
          <a:p>
            <a:r>
              <a:rPr lang="en-US" sz="2000" noProof="0" dirty="0"/>
              <a:t>Accounting for known correlations leads to </a:t>
            </a:r>
            <a:r>
              <a:rPr lang="en-US" sz="2000" noProof="0" dirty="0">
                <a:solidFill>
                  <a:srgbClr val="5291DD"/>
                </a:solidFill>
              </a:rPr>
              <a:t>power increase</a:t>
            </a:r>
          </a:p>
          <a:p>
            <a:r>
              <a:rPr lang="en-US" sz="2000" noProof="0" dirty="0"/>
              <a:t>All these methods treat the null </a:t>
            </a:r>
            <a:r>
              <a:rPr lang="en-US" sz="2000" noProof="0" dirty="0">
                <a:solidFill>
                  <a:srgbClr val="5291DD"/>
                </a:solidFill>
              </a:rPr>
              <a:t>hypotheses as equally important</a:t>
            </a:r>
          </a:p>
          <a:p>
            <a:pPr lvl="1"/>
            <a:r>
              <a:rPr lang="en-US" sz="1600" noProof="0" dirty="0">
                <a:solidFill>
                  <a:srgbClr val="5291DD"/>
                </a:solidFill>
              </a:rPr>
              <a:t>Need for tailored approaches </a:t>
            </a:r>
            <a:r>
              <a:rPr lang="en-US" sz="1600" noProof="0" dirty="0"/>
              <a:t>that address structured multiplicity problems</a:t>
            </a: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D867AAA4-0A45-268E-14CB-0315C92275D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93958259"/>
              </p:ext>
            </p:extLst>
          </p:nvPr>
        </p:nvGraphicFramePr>
        <p:xfrm>
          <a:off x="419549" y="1236979"/>
          <a:ext cx="8616950" cy="13403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66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146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684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771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2005">
                <a:tc rowSpan="2">
                  <a:txBody>
                    <a:bodyPr/>
                    <a:lstStyle/>
                    <a:p>
                      <a:pPr algn="ctr"/>
                      <a:endParaRPr lang="en-US" sz="1400" noProof="0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1400" noProof="0" dirty="0"/>
                        <a:t>Account for (known) correlations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925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kern="1200" noProof="0" dirty="0"/>
                        <a:t>No</a:t>
                      </a:r>
                      <a:endParaRPr lang="en-US" sz="1400" kern="12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200" noProof="0" dirty="0"/>
                        <a:t>Yes</a:t>
                      </a:r>
                      <a:endParaRPr lang="en-US" sz="1400" kern="12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6755">
                <a:tc>
                  <a:txBody>
                    <a:bodyPr/>
                    <a:lstStyle/>
                    <a:p>
                      <a:pPr algn="ctr"/>
                      <a:r>
                        <a:rPr lang="en-US" sz="1400" b="1" noProof="0" dirty="0">
                          <a:solidFill>
                            <a:schemeClr val="bg1"/>
                          </a:solidFill>
                        </a:rPr>
                        <a:t>Single step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kern="1200" noProof="0" dirty="0"/>
                        <a:t>Bonferroni</a:t>
                      </a:r>
                      <a:endParaRPr lang="en-US" sz="1400" kern="12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kern="1200" noProof="0" dirty="0"/>
                        <a:t>Simes</a:t>
                      </a:r>
                      <a:endParaRPr lang="en-US" sz="1400" kern="12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 dirty="0"/>
                        <a:t>Dunnett</a:t>
                      </a: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6755">
                <a:tc>
                  <a:txBody>
                    <a:bodyPr/>
                    <a:lstStyle/>
                    <a:p>
                      <a:pPr algn="ctr"/>
                      <a:r>
                        <a:rPr lang="en-US" sz="1400" b="1" noProof="0" dirty="0">
                          <a:solidFill>
                            <a:schemeClr val="bg1"/>
                          </a:solidFill>
                        </a:rPr>
                        <a:t>Stepwise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 dirty="0"/>
                        <a:t>Holm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 dirty="0"/>
                        <a:t>Hochberg or Hommel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 dirty="0"/>
                        <a:t>Stepdown Dunnett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12BA9D55-D4EC-2A8B-3CD2-4D3281225FBD}"/>
              </a:ext>
            </a:extLst>
          </p:cNvPr>
          <p:cNvSpPr txBox="1"/>
          <p:nvPr/>
        </p:nvSpPr>
        <p:spPr>
          <a:xfrm>
            <a:off x="2062800" y="1138339"/>
            <a:ext cx="6973696" cy="147732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7434CE8-B90D-2555-ED72-6FF6FB3A4F24}"/>
              </a:ext>
            </a:extLst>
          </p:cNvPr>
          <p:cNvSpPr txBox="1"/>
          <p:nvPr/>
        </p:nvSpPr>
        <p:spPr>
          <a:xfrm>
            <a:off x="6228184" y="1586573"/>
            <a:ext cx="2845966" cy="10080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sz="2400" noProof="0" dirty="0"/>
          </a:p>
          <a:p>
            <a:endParaRPr lang="en-US" sz="2400" noProof="0" dirty="0"/>
          </a:p>
          <a:p>
            <a:endParaRPr lang="en-US" sz="2400" noProof="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38E858D-C3BF-228B-1140-FF340B9C6569}"/>
              </a:ext>
            </a:extLst>
          </p:cNvPr>
          <p:cNvSpPr txBox="1"/>
          <p:nvPr/>
        </p:nvSpPr>
        <p:spPr>
          <a:xfrm>
            <a:off x="2062800" y="1175507"/>
            <a:ext cx="7056784" cy="70788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sz="2000" noProof="0" dirty="0"/>
          </a:p>
          <a:p>
            <a:endParaRPr lang="en-US" sz="2000" noProof="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CF0C722-F5BA-7C7F-8CAF-014379EE7ECF}"/>
              </a:ext>
            </a:extLst>
          </p:cNvPr>
          <p:cNvSpPr txBox="1"/>
          <p:nvPr/>
        </p:nvSpPr>
        <p:spPr>
          <a:xfrm>
            <a:off x="107501" y="1134827"/>
            <a:ext cx="9012083" cy="14760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sz="2000" noProof="0" dirty="0"/>
          </a:p>
          <a:p>
            <a:endParaRPr lang="en-US" sz="2000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2C5CC9-9B85-C722-F49E-0E7D5F956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D9F39-F344-41AE-B531-1D3ECACBC820}" type="slidenum">
              <a:rPr lang="en-US" noProof="0" smtClean="0"/>
              <a:t>22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2758039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7A23A8-403D-F9FD-A412-795DDDB26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769E4F-1B7E-9AA5-95DB-B512B30B56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80ADE5-32CA-4447-2CB2-A5EE99AFFC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noProof="0" dirty="0">
                <a:solidFill>
                  <a:schemeClr val="bg1">
                    <a:lumMod val="75000"/>
                  </a:schemeClr>
                </a:solidFill>
              </a:rPr>
              <a:t>Introduction and basic concepts</a:t>
            </a:r>
          </a:p>
          <a:p>
            <a:r>
              <a:rPr lang="en-US" noProof="0" dirty="0"/>
              <a:t>Graphical approaches to multiple testing</a:t>
            </a:r>
          </a:p>
          <a:p>
            <a:pPr lvl="1"/>
            <a:r>
              <a:rPr lang="en-US" noProof="0" dirty="0"/>
              <a:t>Heuristics and conventions</a:t>
            </a:r>
          </a:p>
          <a:p>
            <a:pPr lvl="1"/>
            <a:r>
              <a:rPr lang="en-US" noProof="0" dirty="0"/>
              <a:t>Connection to common multiple test procedures</a:t>
            </a:r>
          </a:p>
          <a:p>
            <a:pPr lvl="1"/>
            <a:r>
              <a:rPr lang="en-US" noProof="0" dirty="0"/>
              <a:t>Formal description</a:t>
            </a:r>
          </a:p>
          <a:p>
            <a:pPr lvl="1"/>
            <a:r>
              <a:rPr lang="en-US" noProof="0" dirty="0"/>
              <a:t>Suggested workflow and Example 3 revisited</a:t>
            </a:r>
          </a:p>
          <a:p>
            <a:r>
              <a:rPr lang="en-US" noProof="0" dirty="0">
                <a:solidFill>
                  <a:schemeClr val="bg1">
                    <a:lumMod val="75000"/>
                  </a:schemeClr>
                </a:solidFill>
              </a:rPr>
              <a:t>Optimizing graphical multiple comparison procedures</a:t>
            </a:r>
          </a:p>
          <a:p>
            <a:r>
              <a:rPr lang="en-US" noProof="0" dirty="0" err="1">
                <a:solidFill>
                  <a:schemeClr val="bg1">
                    <a:lumMod val="75000"/>
                  </a:schemeClr>
                </a:solidFill>
              </a:rPr>
              <a:t>graphicalMCP</a:t>
            </a:r>
            <a:r>
              <a:rPr lang="en-US" noProof="0" dirty="0">
                <a:solidFill>
                  <a:schemeClr val="bg1">
                    <a:lumMod val="75000"/>
                  </a:schemeClr>
                </a:solidFill>
              </a:rPr>
              <a:t>: implementation of graphical approaches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0AACA5-8358-F423-E83F-DD3C990A7F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 noProof="0"/>
              <a:t>Bretz, Chen, Xi | ISBS | October 2026</a:t>
            </a:r>
            <a:endParaRPr lang="en-US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18E102-4138-2CDD-BD6B-4F1D1610B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D9F39-F344-41AE-B531-1D3ECACBC820}" type="slidenum">
              <a:rPr lang="en-US" noProof="0" smtClean="0"/>
              <a:t>23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17547128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0AF352-2209-23FE-DD43-EDD7915EA7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Heuristics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8C5345B-CA64-E007-9C18-3F1E37CEF33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defRPr/>
                </a:pPr>
                <a:r>
                  <a:rPr lang="en-US" noProof="0" dirty="0">
                    <a:solidFill>
                      <a:schemeClr val="tx1"/>
                    </a:solidFill>
                  </a:rPr>
                  <a:t>As before: </a:t>
                </a:r>
              </a:p>
              <a:p>
                <a:pPr lvl="1">
                  <a:defRPr/>
                </a:pPr>
                <a:r>
                  <a:rPr lang="en-US" noProof="0" dirty="0">
                    <a:solidFill>
                      <a:schemeClr val="tx1"/>
                    </a:solidFill>
                  </a:rPr>
                  <a:t>Null hypotheses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noProof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b="0" i="1" noProof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𝐻</m:t>
                        </m:r>
                      </m:e>
                      <m:sub>
                        <m:r>
                          <a:rPr lang="en-US" b="0" i="1" noProof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b="0" i="1" noProof="0" smtClean="0">
                        <a:solidFill>
                          <a:schemeClr val="tx1"/>
                        </a:solidFill>
                        <a:latin typeface="Cambria Math"/>
                      </a:rPr>
                      <m:t>,…,</m:t>
                    </m:r>
                    <m:sSub>
                      <m:sSubPr>
                        <m:ctrlPr>
                          <a:rPr lang="en-US" b="0" i="1" noProof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b="0" i="1" noProof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𝐻</m:t>
                        </m:r>
                      </m:e>
                      <m:sub>
                        <m:r>
                          <a:rPr lang="en-US" b="0" i="1" noProof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𝑚</m:t>
                        </m:r>
                      </m:sub>
                    </m:sSub>
                  </m:oMath>
                </a14:m>
                <a:endParaRPr lang="en-US" b="0" noProof="0" dirty="0">
                  <a:solidFill>
                    <a:schemeClr val="tx1"/>
                  </a:solidFill>
                </a:endParaRPr>
              </a:p>
              <a:p>
                <a:pPr lvl="1">
                  <a:defRPr/>
                </a:pPr>
                <a:r>
                  <a:rPr lang="en-US" noProof="0" dirty="0">
                    <a:solidFill>
                      <a:schemeClr val="tx1"/>
                    </a:solidFill>
                  </a:rPr>
                  <a:t>Initial allocation of the significance level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noProof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b="0" i="1" noProof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𝛼</m:t>
                        </m:r>
                      </m:e>
                      <m:sub>
                        <m:r>
                          <a:rPr lang="en-US" b="0" i="1" noProof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b="0" i="1" noProof="0" smtClean="0">
                        <a:solidFill>
                          <a:schemeClr val="tx1"/>
                        </a:solidFill>
                        <a:latin typeface="Cambria Math"/>
                      </a:rPr>
                      <m:t>+…+</m:t>
                    </m:r>
                    <m:sSub>
                      <m:sSubPr>
                        <m:ctrlPr>
                          <a:rPr lang="en-US" b="0" i="1" noProof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b="0" i="1" noProof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𝛼</m:t>
                        </m:r>
                      </m:e>
                      <m:sub>
                        <m:r>
                          <a:rPr lang="en-US" b="0" i="1" noProof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𝑚</m:t>
                        </m:r>
                      </m:sub>
                    </m:sSub>
                    <m:r>
                      <a:rPr lang="en-US" b="0" i="1" noProof="0" smtClean="0">
                        <a:solidFill>
                          <a:schemeClr val="tx1"/>
                        </a:solidFill>
                        <a:latin typeface="Cambria Math"/>
                      </a:rPr>
                      <m:t>=</m:t>
                    </m:r>
                    <m:r>
                      <a:rPr lang="en-US" b="0" i="1" noProof="0" smtClean="0">
                        <a:solidFill>
                          <a:schemeClr val="tx1"/>
                        </a:solidFill>
                        <a:latin typeface="Cambria Math"/>
                      </a:rPr>
                      <m:t>𝛼</m:t>
                    </m:r>
                  </m:oMath>
                </a14:m>
                <a:endParaRPr lang="en-US" noProof="0" dirty="0">
                  <a:solidFill>
                    <a:schemeClr val="tx1"/>
                  </a:solidFill>
                </a:endParaRPr>
              </a:p>
              <a:p>
                <a:pPr lvl="1">
                  <a:defRPr/>
                </a:pPr>
                <a:r>
                  <a:rPr lang="en-US" noProof="0" dirty="0">
                    <a:solidFill>
                      <a:schemeClr val="tx1"/>
                    </a:solidFill>
                  </a:rPr>
                  <a:t>Unadjusted p-values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noProof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b="0" i="1" noProof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𝑝</m:t>
                        </m:r>
                      </m:e>
                      <m:sub>
                        <m:r>
                          <a:rPr lang="en-US" i="1" noProof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i="1" noProof="0" smtClean="0">
                        <a:solidFill>
                          <a:schemeClr val="tx1"/>
                        </a:solidFill>
                        <a:latin typeface="Cambria Math"/>
                      </a:rPr>
                      <m:t>,…,</m:t>
                    </m:r>
                    <m:sSub>
                      <m:sSubPr>
                        <m:ctrlPr>
                          <a:rPr lang="en-US" b="0" i="1" noProof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b="0" i="1" noProof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𝑝</m:t>
                        </m:r>
                      </m:e>
                      <m:sub>
                        <m:r>
                          <a:rPr lang="en-US" i="1" noProof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𝑚</m:t>
                        </m:r>
                      </m:sub>
                    </m:sSub>
                  </m:oMath>
                </a14:m>
                <a:endParaRPr lang="en-US" noProof="0" dirty="0">
                  <a:solidFill>
                    <a:schemeClr val="tx1"/>
                  </a:solidFill>
                </a:endParaRPr>
              </a:p>
              <a:p>
                <a:pPr>
                  <a:defRPr/>
                </a:pPr>
                <a:endParaRPr lang="en-US" b="0" i="1" noProof="0" dirty="0">
                  <a:solidFill>
                    <a:schemeClr val="tx1"/>
                  </a:solidFill>
                  <a:latin typeface="Cambria Math"/>
                </a:endParaRPr>
              </a:p>
              <a:p>
                <a:pPr>
                  <a:defRPr/>
                </a:pPr>
                <a14:m>
                  <m:oMath xmlns:m="http://schemas.openxmlformats.org/officeDocument/2006/math">
                    <m:r>
                      <a:rPr lang="en-US" b="0" i="1" noProof="0" smtClean="0">
                        <a:solidFill>
                          <a:srgbClr val="5291DD"/>
                        </a:solidFill>
                        <a:latin typeface="Cambria Math"/>
                      </a:rPr>
                      <m:t>𝛼</m:t>
                    </m:r>
                  </m:oMath>
                </a14:m>
                <a:r>
                  <a:rPr lang="en-US" noProof="0" dirty="0">
                    <a:solidFill>
                      <a:srgbClr val="5291DD"/>
                    </a:solidFill>
                  </a:rPr>
                  <a:t>–propagation</a:t>
                </a:r>
              </a:p>
              <a:p>
                <a:pPr marL="234000" indent="-266700">
                  <a:buNone/>
                  <a:defRPr/>
                </a:pPr>
                <a:r>
                  <a:rPr lang="en-US" noProof="0" dirty="0">
                    <a:solidFill>
                      <a:schemeClr val="tx1"/>
                    </a:solidFill>
                  </a:rPr>
                  <a:t>	If a hypothesis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noProof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b="0" i="1" noProof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𝐻</m:t>
                        </m:r>
                      </m:e>
                      <m:sub>
                        <m:r>
                          <a:rPr lang="en-US" b="0" i="1" noProof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noProof="0" dirty="0">
                    <a:solidFill>
                      <a:schemeClr val="tx1"/>
                    </a:solidFill>
                  </a:rPr>
                  <a:t> can be rejected at level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noProof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b="0" i="1" noProof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𝛼</m:t>
                        </m:r>
                      </m:e>
                      <m:sub>
                        <m:r>
                          <a:rPr lang="en-US" b="0" i="1" noProof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noProof="0" dirty="0">
                    <a:solidFill>
                      <a:schemeClr val="tx1"/>
                    </a:solidFill>
                  </a:rPr>
                  <a:t> (i.e.,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b="0" i="1" noProof="0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b="0" i="1" noProof="0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noProof="0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noProof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≤</m:t>
                        </m:r>
                        <m:r>
                          <a:rPr lang="en-US" i="1" noProof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𝛼</m:t>
                        </m:r>
                      </m:e>
                      <m:sub>
                        <m:r>
                          <a:rPr lang="en-US" i="1" noProof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noProof="0" dirty="0">
                    <a:solidFill>
                      <a:schemeClr val="tx1"/>
                    </a:solidFill>
                  </a:rPr>
                  <a:t>), reallocate its level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noProof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i="1" noProof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𝛼</m:t>
                        </m:r>
                      </m:e>
                      <m:sub>
                        <m:r>
                          <a:rPr lang="en-US" i="1" noProof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noProof="0" dirty="0">
                    <a:solidFill>
                      <a:schemeClr val="tx1"/>
                    </a:solidFill>
                  </a:rPr>
                  <a:t> to the remaining, not yet rejected hypotheses (according to a prefixed rule) and continue testing with the updated </a:t>
                </a:r>
                <a14:m>
                  <m:oMath xmlns:m="http://schemas.openxmlformats.org/officeDocument/2006/math">
                    <m:r>
                      <a:rPr lang="en-US" b="0" i="1" noProof="0" smtClean="0">
                        <a:solidFill>
                          <a:schemeClr val="tx1"/>
                        </a:solidFill>
                        <a:latin typeface="Cambria Math"/>
                      </a:rPr>
                      <m:t>𝛼</m:t>
                    </m:r>
                  </m:oMath>
                </a14:m>
                <a:r>
                  <a:rPr lang="en-US" noProof="0" dirty="0">
                    <a:solidFill>
                      <a:schemeClr val="tx1"/>
                    </a:solidFill>
                  </a:rPr>
                  <a:t> levels</a:t>
                </a:r>
              </a:p>
              <a:p>
                <a:endParaRPr lang="en-US" noProof="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8C5345B-CA64-E007-9C18-3F1E37CEF33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73" t="-2243" r="-14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3A667F-40B2-886C-C186-3119D890E6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 noProof="0"/>
              <a:t>Bretz, Chen, Xi | ISBS | October 2026</a:t>
            </a:r>
            <a:endParaRPr lang="en-US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817FAB-C018-F05A-4851-1042DAC4F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D9F39-F344-41AE-B531-1D3ECACBC820}" type="slidenum">
              <a:rPr lang="en-US" noProof="0" smtClean="0"/>
              <a:t>24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8232850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0AF352-2209-23FE-DD43-EDD7915EA7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Conventions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7769D3AD-95D3-238B-730B-EE727DC73CF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534" b="41325"/>
          <a:stretch/>
        </p:blipFill>
        <p:spPr bwMode="auto">
          <a:xfrm>
            <a:off x="628650" y="2125084"/>
            <a:ext cx="8362949" cy="13034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444E0FB7-40D2-6D7E-7408-B2FE76EF4BB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6621"/>
          <a:stretch/>
        </p:blipFill>
        <p:spPr bwMode="auto">
          <a:xfrm>
            <a:off x="628650" y="1131590"/>
            <a:ext cx="8362949" cy="9481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2">
            <a:extLst>
              <a:ext uri="{FF2B5EF4-FFF2-40B4-BE49-F238E27FC236}">
                <a16:creationId xmlns:a16="http://schemas.microsoft.com/office/drawing/2014/main" id="{B5EBFE6F-D89D-BB71-74FE-93F1F1D5CCC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7436"/>
          <a:stretch/>
        </p:blipFill>
        <p:spPr bwMode="auto">
          <a:xfrm>
            <a:off x="628649" y="3722390"/>
            <a:ext cx="8362949" cy="13206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47F72CE-0D89-CA19-F570-F1766FD17CFE}"/>
              </a:ext>
            </a:extLst>
          </p:cNvPr>
          <p:cNvSpPr txBox="1"/>
          <p:nvPr/>
        </p:nvSpPr>
        <p:spPr>
          <a:xfrm>
            <a:off x="4663442" y="3107744"/>
            <a:ext cx="14401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noProof="0" dirty="0">
                <a:solidFill>
                  <a:srgbClr val="5291DD"/>
                </a:solidFill>
              </a:rPr>
              <a:t>Bonferroni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14B12F7-F20B-D447-6C3C-003E7AAC2B49}"/>
              </a:ext>
            </a:extLst>
          </p:cNvPr>
          <p:cNvSpPr txBox="1"/>
          <p:nvPr/>
        </p:nvSpPr>
        <p:spPr>
          <a:xfrm>
            <a:off x="4663442" y="4515966"/>
            <a:ext cx="14401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noProof="0" dirty="0">
                <a:solidFill>
                  <a:srgbClr val="5291DD"/>
                </a:solidFill>
              </a:rPr>
              <a:t>Holm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9F62AF0-2894-DE60-D994-360057871E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 noProof="0"/>
              <a:t>Bretz, Chen, Xi | ISBS | October 2026</a:t>
            </a:r>
            <a:endParaRPr lang="en-US" noProof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549AB48-4C9A-CC32-7B7E-605ED5EFD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D9F39-F344-41AE-B531-1D3ECACBC820}" type="slidenum">
              <a:rPr lang="en-US" noProof="0" smtClean="0"/>
              <a:t>25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882116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E0AF352-2209-23FE-DD43-EDD7915EA753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noProof="0" dirty="0"/>
                  <a:t>Common multiple test procedures</a:t>
                </a:r>
                <a:br>
                  <a:rPr lang="en-US" noProof="0" dirty="0"/>
                </a:br>
                <a:r>
                  <a:rPr lang="en-US" sz="2200" i="1" noProof="0" dirty="0">
                    <a:solidFill>
                      <a:srgbClr val="000000"/>
                    </a:solidFill>
                  </a:rPr>
                  <a:t>Bonferroni test – Example with </a:t>
                </a:r>
                <a14:m>
                  <m:oMath xmlns:m="http://schemas.openxmlformats.org/officeDocument/2006/math">
                    <m:r>
                      <a:rPr lang="en-US" sz="2200" i="1" spc="-100" noProof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2200" i="1" spc="-100" noProof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=0.025</m:t>
                    </m:r>
                  </m:oMath>
                </a14:m>
                <a:r>
                  <a:rPr lang="en-US" sz="2200" i="1" noProof="0" dirty="0">
                    <a:solidFill>
                      <a:srgbClr val="000000"/>
                    </a:solidFill>
                  </a:rPr>
                  <a:t> for </a:t>
                </a:r>
                <a14:m>
                  <m:oMath xmlns:m="http://schemas.openxmlformats.org/officeDocument/2006/math">
                    <m:r>
                      <a:rPr lang="en-US" sz="2200" b="0" i="1" noProof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200" b="0" i="1" noProof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US" sz="2200" i="1" noProof="0" dirty="0">
                    <a:solidFill>
                      <a:srgbClr val="000000"/>
                    </a:solidFill>
                  </a:rPr>
                  <a:t> null hypotheses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E0AF352-2209-23FE-DD43-EDD7915EA75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087" t="-6135" b="-55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C5345B-CA64-E007-9C18-3F1E37CEF3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pPr marL="0" indent="0">
              <a:buNone/>
            </a:pPr>
            <a:r>
              <a:rPr lang="en-US" noProof="0" dirty="0"/>
              <a:t>No edges between nodes, therefore no 𝛼–propagation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F38B8E-68FE-A283-87BB-41E3579E8E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 noProof="0"/>
              <a:t>Bretz, Chen, Xi | ISBS | October 2026</a:t>
            </a:r>
            <a:endParaRPr lang="en-US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5D7553-6408-1E21-8700-F8B9552FC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D9F39-F344-41AE-B531-1D3ECACBC820}" type="slidenum">
              <a:rPr lang="en-US" noProof="0" smtClean="0"/>
              <a:t>26</a:t>
            </a:fld>
            <a:endParaRPr lang="en-US" noProof="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BA2A129-E4F3-4FBC-5E6A-C7F32B4CD4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925" y="1807472"/>
            <a:ext cx="7296150" cy="152855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7EACAFB-BEA6-21FA-E7D9-66678147AC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925" y="1807473"/>
            <a:ext cx="7296150" cy="1526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46583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E0AF352-2209-23FE-DD43-EDD7915EA753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noProof="0" dirty="0"/>
                  <a:t>Common multiple test procedures</a:t>
                </a:r>
                <a:br>
                  <a:rPr kumimoji="0" lang="en-US" sz="3200" b="1" i="0" u="none" strike="noStrike" kern="1200" cap="none" spc="-10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 Black" panose="020B0A04020102020204"/>
                  </a:rPr>
                </a:br>
                <a:r>
                  <a:rPr lang="en-US" sz="2200" i="1" noProof="0" dirty="0">
                    <a:solidFill>
                      <a:srgbClr val="000000"/>
                    </a:solidFill>
                  </a:rPr>
                  <a:t>Holm procedure – Example with </a:t>
                </a:r>
                <a14:m>
                  <m:oMath xmlns:m="http://schemas.openxmlformats.org/officeDocument/2006/math">
                    <m:r>
                      <a:rPr lang="en-US" sz="2200" i="1" spc="-100" noProof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2200" i="1" spc="-100" noProof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=0.025</m:t>
                    </m:r>
                  </m:oMath>
                </a14:m>
                <a:r>
                  <a:rPr lang="en-US" sz="2200" i="1" noProof="0" dirty="0">
                    <a:solidFill>
                      <a:srgbClr val="000000"/>
                    </a:solidFill>
                  </a:rPr>
                  <a:t> for </a:t>
                </a:r>
                <a14:m>
                  <m:oMath xmlns:m="http://schemas.openxmlformats.org/officeDocument/2006/math">
                    <m:r>
                      <a:rPr lang="en-US" sz="2200" i="1" noProof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200" i="1" noProof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US" sz="2200" i="1" noProof="0" dirty="0">
                    <a:solidFill>
                      <a:srgbClr val="000000"/>
                    </a:solidFill>
                  </a:rPr>
                  <a:t> hypotheses</a:t>
                </a:r>
                <a:endParaRPr lang="en-US" sz="2200" noProof="0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E0AF352-2209-23FE-DD43-EDD7915EA75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087" t="-6135" b="-55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D8C5F39-31C8-71AF-BA96-1533A9757514}"/>
                  </a:ext>
                </a:extLst>
              </p:cNvPr>
              <p:cNvSpPr txBox="1"/>
              <p:nvPr/>
            </p:nvSpPr>
            <p:spPr>
              <a:xfrm>
                <a:off x="510995" y="1981200"/>
                <a:ext cx="280873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noProof="0" dirty="0">
                    <a:solidFill>
                      <a:srgbClr val="5291DD"/>
                    </a:solidFill>
                  </a:rPr>
                  <a:t>Test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noProof="0" smtClean="0">
                            <a:solidFill>
                              <a:srgbClr val="5291DD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b="0" i="1" noProof="0" smtClean="0">
                            <a:solidFill>
                              <a:srgbClr val="5291DD"/>
                            </a:solidFill>
                            <a:latin typeface="Cambria Math"/>
                          </a:rPr>
                          <m:t>𝐻</m:t>
                        </m:r>
                      </m:e>
                      <m:sub>
                        <m:r>
                          <a:rPr lang="en-US" sz="2000" b="0" i="1" noProof="0" smtClean="0">
                            <a:solidFill>
                              <a:srgbClr val="5291DD"/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000" noProof="0" dirty="0">
                    <a:solidFill>
                      <a:srgbClr val="5291DD"/>
                    </a:solidFill>
                  </a:rPr>
                  <a:t> at level </a:t>
                </a:r>
                <a14:m>
                  <m:oMath xmlns:m="http://schemas.openxmlformats.org/officeDocument/2006/math">
                    <m:r>
                      <a:rPr lang="en-US" sz="2000" b="0" i="1" noProof="0" smtClean="0">
                        <a:solidFill>
                          <a:srgbClr val="5291DD"/>
                        </a:solidFill>
                        <a:latin typeface="Cambria Math"/>
                      </a:rPr>
                      <m:t>𝛼</m:t>
                    </m:r>
                    <m:r>
                      <a:rPr lang="en-US" sz="2000" b="0" i="1" noProof="0" smtClean="0">
                        <a:solidFill>
                          <a:srgbClr val="5291DD"/>
                        </a:solidFill>
                        <a:latin typeface="Cambria Math"/>
                      </a:rPr>
                      <m:t>/2</m:t>
                    </m:r>
                  </m:oMath>
                </a14:m>
                <a:endParaRPr lang="en-US" sz="2000" baseline="-25000" noProof="0" dirty="0">
                  <a:solidFill>
                    <a:srgbClr val="5291DD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D8C5F39-31C8-71AF-BA96-1533A97575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995" y="1981200"/>
                <a:ext cx="2808737" cy="400110"/>
              </a:xfrm>
              <a:prstGeom prst="rect">
                <a:avLst/>
              </a:prstGeom>
              <a:blipFill>
                <a:blip r:embed="rId3"/>
                <a:stretch>
                  <a:fillRect l="-2386" t="-7576" b="-257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9F13079-C56E-B3A5-C1D7-2C5966EE04F0}"/>
                  </a:ext>
                </a:extLst>
              </p:cNvPr>
              <p:cNvSpPr txBox="1"/>
              <p:nvPr/>
            </p:nvSpPr>
            <p:spPr>
              <a:xfrm>
                <a:off x="6106663" y="1981200"/>
                <a:ext cx="288493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noProof="0" dirty="0">
                    <a:solidFill>
                      <a:srgbClr val="5291DD"/>
                    </a:solidFill>
                  </a:rPr>
                  <a:t>Test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noProof="0" smtClean="0">
                            <a:solidFill>
                              <a:srgbClr val="5291DD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b="0" i="1" noProof="0" smtClean="0">
                            <a:solidFill>
                              <a:srgbClr val="5291DD"/>
                            </a:solidFill>
                            <a:latin typeface="Cambria Math"/>
                          </a:rPr>
                          <m:t>𝐻</m:t>
                        </m:r>
                      </m:e>
                      <m:sub>
                        <m:r>
                          <a:rPr lang="en-US" sz="2000" b="0" i="1" noProof="0" smtClean="0">
                            <a:solidFill>
                              <a:srgbClr val="5291DD"/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000" noProof="0" dirty="0">
                    <a:solidFill>
                      <a:srgbClr val="5291DD"/>
                    </a:solidFill>
                  </a:rPr>
                  <a:t> at level </a:t>
                </a:r>
                <a14:m>
                  <m:oMath xmlns:m="http://schemas.openxmlformats.org/officeDocument/2006/math">
                    <m:r>
                      <a:rPr lang="en-US" sz="2000" b="0" i="1" noProof="0" smtClean="0">
                        <a:solidFill>
                          <a:srgbClr val="5291DD"/>
                        </a:solidFill>
                        <a:latin typeface="Cambria Math"/>
                      </a:rPr>
                      <m:t>𝛼</m:t>
                    </m:r>
                    <m:r>
                      <a:rPr lang="en-US" sz="2000" b="0" i="1" noProof="0" smtClean="0">
                        <a:solidFill>
                          <a:srgbClr val="5291DD"/>
                        </a:solidFill>
                        <a:latin typeface="Cambria Math"/>
                      </a:rPr>
                      <m:t>/2</m:t>
                    </m:r>
                  </m:oMath>
                </a14:m>
                <a:endParaRPr lang="en-US" sz="2000" baseline="-25000" noProof="0" dirty="0">
                  <a:solidFill>
                    <a:srgbClr val="5291DD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9F13079-C56E-B3A5-C1D7-2C5966EE04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6663" y="1981200"/>
                <a:ext cx="2884937" cy="400110"/>
              </a:xfrm>
              <a:prstGeom prst="rect">
                <a:avLst/>
              </a:prstGeom>
              <a:blipFill>
                <a:blip r:embed="rId4"/>
                <a:stretch>
                  <a:fillRect l="-2326" t="-7576" b="-257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A696AE-26F4-5F36-40A8-7D07D4BCF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 noProof="0"/>
              <a:t>Bretz, Chen, Xi | ISBS | October 2026</a:t>
            </a:r>
            <a:endParaRPr lang="en-US" noProof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5D2429A-5D4F-337F-31DA-07A831A576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D9F39-F344-41AE-B531-1D3ECACBC820}" type="slidenum">
              <a:rPr lang="en-US" noProof="0" smtClean="0"/>
              <a:t>27</a:t>
            </a:fld>
            <a:endParaRPr lang="en-US" noProof="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9B15794-9AA9-A24D-2EF0-8F9C8D363A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0000" y="2592000"/>
            <a:ext cx="7296150" cy="1594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409455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E0AF352-2209-23FE-DD43-EDD7915EA753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noProof="0" dirty="0"/>
                  <a:t>Common multiple test procedures</a:t>
                </a:r>
                <a:br>
                  <a:rPr kumimoji="0" lang="en-US" sz="3200" b="1" i="0" u="none" strike="noStrike" kern="1200" cap="none" spc="-10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 Black" panose="020B0A04020102020204"/>
                  </a:rPr>
                </a:br>
                <a:r>
                  <a:rPr lang="en-US" sz="2200" i="1" noProof="0" dirty="0">
                    <a:solidFill>
                      <a:srgbClr val="000000"/>
                    </a:solidFill>
                  </a:rPr>
                  <a:t>Holm procedure – Example with </a:t>
                </a:r>
                <a14:m>
                  <m:oMath xmlns:m="http://schemas.openxmlformats.org/officeDocument/2006/math">
                    <m:r>
                      <a:rPr lang="en-US" sz="2200" i="1" spc="-100" noProof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2200" i="1" spc="-100" noProof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=0.025</m:t>
                    </m:r>
                  </m:oMath>
                </a14:m>
                <a:r>
                  <a:rPr lang="en-US" sz="2200" i="1" noProof="0" dirty="0">
                    <a:solidFill>
                      <a:srgbClr val="000000"/>
                    </a:solidFill>
                  </a:rPr>
                  <a:t> for </a:t>
                </a:r>
                <a14:m>
                  <m:oMath xmlns:m="http://schemas.openxmlformats.org/officeDocument/2006/math">
                    <m:r>
                      <a:rPr lang="en-US" sz="2200" i="1" noProof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200" i="1" noProof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US" sz="2200" i="1" noProof="0" dirty="0">
                    <a:solidFill>
                      <a:srgbClr val="000000"/>
                    </a:solidFill>
                  </a:rPr>
                  <a:t> hypotheses</a:t>
                </a:r>
                <a:endParaRPr lang="en-US" sz="2200" i="1" spc="-100" noProof="0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E0AF352-2209-23FE-DD43-EDD7915EA75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087" t="-6135" b="-55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E00C295-3FA6-4C35-11D7-20D765935440}"/>
                  </a:ext>
                </a:extLst>
              </p:cNvPr>
              <p:cNvSpPr txBox="1"/>
              <p:nvPr/>
            </p:nvSpPr>
            <p:spPr>
              <a:xfrm>
                <a:off x="5943600" y="1981200"/>
                <a:ext cx="320040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noProof="0" smtClean="0">
                            <a:solidFill>
                              <a:srgbClr val="5291DD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b="0" i="1" noProof="0" smtClean="0">
                            <a:solidFill>
                              <a:srgbClr val="5291DD"/>
                            </a:solidFill>
                            <a:latin typeface="Cambria Math"/>
                          </a:rPr>
                          <m:t>𝑝</m:t>
                        </m:r>
                      </m:e>
                      <m:sub>
                        <m:r>
                          <a:rPr lang="en-US" sz="2000" b="0" i="1" noProof="0" smtClean="0">
                            <a:solidFill>
                              <a:srgbClr val="5291DD"/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sz="2000" b="0" i="1" noProof="0" smtClean="0">
                        <a:solidFill>
                          <a:srgbClr val="5291DD"/>
                        </a:solidFill>
                        <a:latin typeface="Cambria Math"/>
                      </a:rPr>
                      <m:t>&lt;</m:t>
                    </m:r>
                    <m:f>
                      <m:fPr>
                        <m:type m:val="lin"/>
                        <m:ctrlPr>
                          <a:rPr lang="en-US" sz="2000" b="0" i="1" noProof="0" smtClean="0">
                            <a:solidFill>
                              <a:srgbClr val="5291DD"/>
                            </a:solidFill>
                            <a:latin typeface="Cambria Math"/>
                          </a:rPr>
                        </m:ctrlPr>
                      </m:fPr>
                      <m:num>
                        <m:r>
                          <a:rPr lang="en-US" sz="2000" b="0" i="1" noProof="0" smtClean="0">
                            <a:solidFill>
                              <a:srgbClr val="5291DD"/>
                            </a:solidFill>
                            <a:latin typeface="Cambria Math"/>
                          </a:rPr>
                          <m:t>𝛼</m:t>
                        </m:r>
                      </m:num>
                      <m:den>
                        <m:r>
                          <a:rPr lang="en-US" sz="2000" b="0" i="1" noProof="0" smtClean="0">
                            <a:solidFill>
                              <a:srgbClr val="5291DD"/>
                            </a:solidFill>
                            <a:latin typeface="Cambria Math"/>
                          </a:rPr>
                          <m:t>2</m:t>
                        </m:r>
                      </m:den>
                    </m:f>
                    <m:r>
                      <a:rPr lang="en-US" sz="2000" b="0" i="1" noProof="0" smtClean="0">
                        <a:solidFill>
                          <a:srgbClr val="5291DD"/>
                        </a:solidFill>
                        <a:latin typeface="Cambria Math"/>
                        <a:ea typeface="Cambria Math"/>
                      </a:rPr>
                      <m:t>⟹</m:t>
                    </m:r>
                  </m:oMath>
                </a14:m>
                <a:r>
                  <a:rPr lang="en-US" sz="2000" noProof="0" dirty="0">
                    <a:solidFill>
                      <a:srgbClr val="5291DD"/>
                    </a:solidFill>
                  </a:rPr>
                  <a:t> reject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noProof="0" smtClean="0">
                            <a:solidFill>
                              <a:srgbClr val="5291DD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b="0" i="1" noProof="0" smtClean="0">
                            <a:solidFill>
                              <a:srgbClr val="5291DD"/>
                            </a:solidFill>
                            <a:latin typeface="Cambria Math"/>
                          </a:rPr>
                          <m:t>𝐻</m:t>
                        </m:r>
                      </m:e>
                      <m:sub>
                        <m:r>
                          <a:rPr lang="en-US" sz="2000" b="0" i="1" noProof="0" smtClean="0">
                            <a:solidFill>
                              <a:srgbClr val="5291DD"/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endParaRPr lang="en-US" sz="2000" baseline="-25000" noProof="0" dirty="0">
                  <a:solidFill>
                    <a:srgbClr val="5291DD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E00C295-3FA6-4C35-11D7-20D7659354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3600" y="1981200"/>
                <a:ext cx="3200400" cy="400110"/>
              </a:xfrm>
              <a:prstGeom prst="rect">
                <a:avLst/>
              </a:prstGeom>
              <a:blipFill>
                <a:blip r:embed="rId3"/>
                <a:stretch>
                  <a:fillRect t="-116667" b="-177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EA5365-00D5-FE21-8FE1-A53026B60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 noProof="0"/>
              <a:t>Bretz, Chen, Xi | ISBS | October 2026</a:t>
            </a:r>
            <a:endParaRPr lang="en-US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D8B25E-FC7E-837B-8CDF-38EB48CD9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D9F39-F344-41AE-B531-1D3ECACBC820}" type="slidenum">
              <a:rPr lang="en-US" noProof="0" smtClean="0"/>
              <a:t>28</a:t>
            </a:fld>
            <a:endParaRPr lang="en-US" noProof="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322A2EF-F94E-1DC8-454B-69991B4713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000" y="2592000"/>
            <a:ext cx="7296150" cy="1593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302371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E0AF352-2209-23FE-DD43-EDD7915EA753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noProof="0" dirty="0"/>
                  <a:t>Common multiple test procedures</a:t>
                </a:r>
                <a:br>
                  <a:rPr kumimoji="0" lang="en-US" sz="3200" b="1" i="0" u="none" strike="noStrike" kern="1200" cap="none" spc="-10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 Black" panose="020B0A04020102020204"/>
                  </a:rPr>
                </a:br>
                <a:r>
                  <a:rPr lang="en-US" sz="2200" i="1" noProof="0" dirty="0">
                    <a:solidFill>
                      <a:srgbClr val="000000"/>
                    </a:solidFill>
                  </a:rPr>
                  <a:t>Holm procedure – Example with </a:t>
                </a:r>
                <a14:m>
                  <m:oMath xmlns:m="http://schemas.openxmlformats.org/officeDocument/2006/math">
                    <m:r>
                      <a:rPr lang="en-US" sz="2200" i="1" spc="-100" noProof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2200" i="1" spc="-100" noProof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=0.025</m:t>
                    </m:r>
                  </m:oMath>
                </a14:m>
                <a:r>
                  <a:rPr lang="en-US" sz="2200" i="1" noProof="0" dirty="0">
                    <a:solidFill>
                      <a:srgbClr val="000000"/>
                    </a:solidFill>
                  </a:rPr>
                  <a:t> for </a:t>
                </a:r>
                <a14:m>
                  <m:oMath xmlns:m="http://schemas.openxmlformats.org/officeDocument/2006/math">
                    <m:r>
                      <a:rPr lang="en-US" sz="2200" i="1" noProof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200" i="1" noProof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US" sz="2200" i="1" noProof="0" dirty="0">
                    <a:solidFill>
                      <a:srgbClr val="000000"/>
                    </a:solidFill>
                  </a:rPr>
                  <a:t> hypotheses</a:t>
                </a:r>
                <a:endParaRPr lang="en-US" sz="2200" i="1" spc="-100" noProof="0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E0AF352-2209-23FE-DD43-EDD7915EA75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087" t="-6135" b="-55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2184153-0D09-E23F-3B50-476F0C9B4A54}"/>
                  </a:ext>
                </a:extLst>
              </p:cNvPr>
              <p:cNvSpPr txBox="1"/>
              <p:nvPr/>
            </p:nvSpPr>
            <p:spPr>
              <a:xfrm>
                <a:off x="6106663" y="1981200"/>
                <a:ext cx="288493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b="0" noProof="0" dirty="0">
                    <a:solidFill>
                      <a:srgbClr val="5291DD"/>
                    </a:solidFill>
                  </a:rPr>
                  <a:t>Propagate </a:t>
                </a:r>
                <a14:m>
                  <m:oMath xmlns:m="http://schemas.openxmlformats.org/officeDocument/2006/math">
                    <m:r>
                      <a:rPr lang="en-US" sz="2000" b="0" i="1" noProof="0" smtClean="0">
                        <a:solidFill>
                          <a:srgbClr val="5291DD"/>
                        </a:solidFill>
                        <a:latin typeface="Cambria Math"/>
                      </a:rPr>
                      <m:t>𝛼</m:t>
                    </m:r>
                    <m:r>
                      <a:rPr lang="en-US" sz="2000" b="0" i="1" noProof="0" smtClean="0">
                        <a:solidFill>
                          <a:srgbClr val="5291DD"/>
                        </a:solidFill>
                        <a:latin typeface="Cambria Math"/>
                      </a:rPr>
                      <m:t>/2</m:t>
                    </m:r>
                  </m:oMath>
                </a14:m>
                <a:endParaRPr lang="en-US" sz="2000" baseline="-25000" noProof="0" dirty="0">
                  <a:solidFill>
                    <a:srgbClr val="5291DD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2184153-0D09-E23F-3B50-476F0C9B4A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6663" y="1981200"/>
                <a:ext cx="2884937" cy="400110"/>
              </a:xfrm>
              <a:prstGeom prst="rect">
                <a:avLst/>
              </a:prstGeom>
              <a:blipFill>
                <a:blip r:embed="rId3"/>
                <a:stretch>
                  <a:fillRect t="-7576" b="-257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B5B023-C19D-5B04-D231-68760B6C8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 noProof="0"/>
              <a:t>Bretz, Chen, Xi | ISBS | October 2026</a:t>
            </a:r>
            <a:endParaRPr lang="en-US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D50CB6-FE42-EE3C-AE26-F86FBB9AFA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D9F39-F344-41AE-B531-1D3ECACBC820}" type="slidenum">
              <a:rPr lang="en-US" noProof="0" smtClean="0"/>
              <a:t>29</a:t>
            </a:fld>
            <a:endParaRPr lang="en-US" noProof="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02B17B6-A2C0-5361-74C2-C9CB9B3695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000" y="2592000"/>
            <a:ext cx="7225097" cy="1622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365070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E0AF352-2209-23FE-DD43-EDD7915EA753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noProof="0" dirty="0"/>
                  <a:t>Common multiple test procedures</a:t>
                </a:r>
                <a:br>
                  <a:rPr kumimoji="0" lang="en-US" sz="3200" b="1" i="0" u="none" strike="noStrike" kern="1200" cap="none" spc="-10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 Black" panose="020B0A04020102020204"/>
                  </a:rPr>
                </a:br>
                <a:r>
                  <a:rPr lang="en-US" sz="2200" i="1" noProof="0" dirty="0">
                    <a:solidFill>
                      <a:srgbClr val="000000"/>
                    </a:solidFill>
                  </a:rPr>
                  <a:t>Holm procedure – Example with </a:t>
                </a:r>
                <a14:m>
                  <m:oMath xmlns:m="http://schemas.openxmlformats.org/officeDocument/2006/math">
                    <m:r>
                      <a:rPr lang="en-US" sz="2200" i="1" spc="-100" noProof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2200" i="1" spc="-100" noProof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=0.025</m:t>
                    </m:r>
                  </m:oMath>
                </a14:m>
                <a:r>
                  <a:rPr lang="en-US" sz="2200" i="1" noProof="0" dirty="0">
                    <a:solidFill>
                      <a:srgbClr val="000000"/>
                    </a:solidFill>
                  </a:rPr>
                  <a:t> for </a:t>
                </a:r>
                <a14:m>
                  <m:oMath xmlns:m="http://schemas.openxmlformats.org/officeDocument/2006/math">
                    <m:r>
                      <a:rPr lang="en-US" sz="2200" i="1" noProof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200" i="1" noProof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US" sz="2200" i="1" noProof="0" dirty="0">
                    <a:solidFill>
                      <a:srgbClr val="000000"/>
                    </a:solidFill>
                  </a:rPr>
                  <a:t> hypotheses</a:t>
                </a:r>
                <a:endParaRPr lang="en-US" sz="2200" i="1" spc="-100" noProof="0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E0AF352-2209-23FE-DD43-EDD7915EA75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087" t="-6135" b="-55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3D20507-E4E3-835F-2E47-B673A938E34C}"/>
                  </a:ext>
                </a:extLst>
              </p:cNvPr>
              <p:cNvSpPr txBox="1"/>
              <p:nvPr/>
            </p:nvSpPr>
            <p:spPr>
              <a:xfrm>
                <a:off x="6019801" y="1981200"/>
                <a:ext cx="304800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noProof="0" dirty="0">
                    <a:solidFill>
                      <a:srgbClr val="5291DD"/>
                    </a:solidFill>
                  </a:rPr>
                  <a:t>Remove node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noProof="0" smtClean="0">
                            <a:solidFill>
                              <a:srgbClr val="5291DD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b="0" i="1" noProof="0" smtClean="0">
                            <a:solidFill>
                              <a:srgbClr val="5291DD"/>
                            </a:solidFill>
                            <a:latin typeface="Cambria Math"/>
                          </a:rPr>
                          <m:t>𝐻</m:t>
                        </m:r>
                      </m:e>
                      <m:sub>
                        <m:r>
                          <a:rPr lang="en-US" sz="2000" b="0" i="1" noProof="0" smtClean="0">
                            <a:solidFill>
                              <a:srgbClr val="5291DD"/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endParaRPr lang="en-US" sz="2000" baseline="-25000" noProof="0" dirty="0">
                  <a:solidFill>
                    <a:srgbClr val="5291DD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3D20507-E4E3-835F-2E47-B673A938E3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9801" y="1981200"/>
                <a:ext cx="3048000" cy="400110"/>
              </a:xfrm>
              <a:prstGeom prst="rect">
                <a:avLst/>
              </a:prstGeom>
              <a:blipFill>
                <a:blip r:embed="rId3"/>
                <a:stretch>
                  <a:fillRect l="-2200" t="-7576" b="-257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1056AC-6D93-CB85-7886-F55F5B1E9C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 noProof="0"/>
              <a:t>Bretz, Chen, Xi | ISBS | October 2026</a:t>
            </a:r>
            <a:endParaRPr lang="en-US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AD56B2-3D0C-610F-6604-50BAFFE4E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D9F39-F344-41AE-B531-1D3ECACBC820}" type="slidenum">
              <a:rPr lang="en-US" noProof="0" smtClean="0"/>
              <a:t>30</a:t>
            </a:fld>
            <a:endParaRPr lang="en-US" noProof="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7D52E0A-0A00-CC28-D4EC-F72449FA24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000" y="2592001"/>
            <a:ext cx="7296150" cy="1608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042665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E0AF352-2209-23FE-DD43-EDD7915EA753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noProof="0" dirty="0"/>
                  <a:t>Common multiple test procedures</a:t>
                </a:r>
                <a:br>
                  <a:rPr kumimoji="0" lang="en-US" sz="3200" b="1" i="0" u="none" strike="noStrike" kern="1200" cap="none" spc="-10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 Black" panose="020B0A04020102020204"/>
                  </a:rPr>
                </a:br>
                <a:r>
                  <a:rPr lang="en-US" sz="2200" i="1" noProof="0" dirty="0">
                    <a:solidFill>
                      <a:srgbClr val="000000"/>
                    </a:solidFill>
                  </a:rPr>
                  <a:t>Holm procedure – Example with </a:t>
                </a:r>
                <a14:m>
                  <m:oMath xmlns:m="http://schemas.openxmlformats.org/officeDocument/2006/math">
                    <m:r>
                      <a:rPr lang="en-US" sz="2200" i="1" spc="-100" noProof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2200" i="1" spc="-100" noProof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=0.025</m:t>
                    </m:r>
                  </m:oMath>
                </a14:m>
                <a:r>
                  <a:rPr lang="en-US" sz="2200" i="1" noProof="0" dirty="0">
                    <a:solidFill>
                      <a:srgbClr val="000000"/>
                    </a:solidFill>
                  </a:rPr>
                  <a:t> for </a:t>
                </a:r>
                <a14:m>
                  <m:oMath xmlns:m="http://schemas.openxmlformats.org/officeDocument/2006/math">
                    <m:r>
                      <a:rPr lang="en-US" sz="2200" i="1" noProof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200" i="1" noProof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US" sz="2200" i="1" noProof="0" dirty="0">
                    <a:solidFill>
                      <a:srgbClr val="000000"/>
                    </a:solidFill>
                  </a:rPr>
                  <a:t> hypotheses</a:t>
                </a:r>
                <a:endParaRPr lang="en-US" sz="2200" i="1" spc="-100" noProof="0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E0AF352-2209-23FE-DD43-EDD7915EA75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2087" t="-6135" b="-55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17BA196-49BC-BC15-7400-EE5C8B5F42A5}"/>
                  </a:ext>
                </a:extLst>
              </p:cNvPr>
              <p:cNvSpPr txBox="1"/>
              <p:nvPr/>
            </p:nvSpPr>
            <p:spPr>
              <a:xfrm>
                <a:off x="381000" y="1683603"/>
                <a:ext cx="4038600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noProof="0" dirty="0">
                    <a:solidFill>
                      <a:srgbClr val="5291DD"/>
                    </a:solidFill>
                  </a:rPr>
                  <a:t>Test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noProof="0" smtClean="0">
                            <a:solidFill>
                              <a:srgbClr val="5291DD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b="0" i="1" noProof="0" smtClean="0">
                            <a:solidFill>
                              <a:srgbClr val="5291DD"/>
                            </a:solidFill>
                            <a:latin typeface="Cambria Math"/>
                          </a:rPr>
                          <m:t>𝐻</m:t>
                        </m:r>
                      </m:e>
                      <m:sub>
                        <m:r>
                          <a:rPr lang="en-US" sz="2000" b="0" i="1" noProof="0" smtClean="0">
                            <a:solidFill>
                              <a:srgbClr val="5291DD"/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000" noProof="0" dirty="0">
                    <a:solidFill>
                      <a:srgbClr val="5291DD"/>
                    </a:solidFill>
                  </a:rPr>
                  <a:t> at level </a:t>
                </a:r>
                <a14:m>
                  <m:oMath xmlns:m="http://schemas.openxmlformats.org/officeDocument/2006/math">
                    <m:r>
                      <a:rPr lang="en-US" sz="2000" b="0" i="1" noProof="0" smtClean="0">
                        <a:solidFill>
                          <a:srgbClr val="5291DD"/>
                        </a:solidFill>
                        <a:latin typeface="Cambria Math"/>
                      </a:rPr>
                      <m:t>𝛼</m:t>
                    </m:r>
                  </m:oMath>
                </a14:m>
                <a:endParaRPr lang="en-US" sz="2000" noProof="0" dirty="0">
                  <a:solidFill>
                    <a:srgbClr val="5291DD"/>
                  </a:solidFill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noProof="0" smtClean="0">
                            <a:solidFill>
                              <a:srgbClr val="5291DD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i="1" noProof="0" smtClean="0">
                            <a:solidFill>
                              <a:srgbClr val="5291DD"/>
                            </a:solidFill>
                            <a:latin typeface="Cambria Math"/>
                          </a:rPr>
                          <m:t>𝑝</m:t>
                        </m:r>
                      </m:e>
                      <m:sub>
                        <m:r>
                          <a:rPr lang="en-US" sz="2000" b="0" i="1" noProof="0" smtClean="0">
                            <a:solidFill>
                              <a:srgbClr val="5291DD"/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2000" b="0" i="1" noProof="0" smtClean="0">
                        <a:solidFill>
                          <a:srgbClr val="5291DD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sz="2000" b="0" i="1" noProof="0" smtClean="0">
                        <a:solidFill>
                          <a:srgbClr val="5291DD"/>
                        </a:solidFill>
                        <a:latin typeface="Cambria Math"/>
                      </a:rPr>
                      <m:t>𝛼</m:t>
                    </m:r>
                    <m:r>
                      <a:rPr lang="en-US" sz="2000" i="1" noProof="0" smtClean="0">
                        <a:solidFill>
                          <a:srgbClr val="5291DD"/>
                        </a:solidFill>
                        <a:latin typeface="Cambria Math"/>
                        <a:ea typeface="Cambria Math"/>
                      </a:rPr>
                      <m:t>⟹</m:t>
                    </m:r>
                  </m:oMath>
                </a14:m>
                <a:r>
                  <a:rPr lang="en-US" sz="2000" noProof="0" dirty="0">
                    <a:solidFill>
                      <a:srgbClr val="5291DD"/>
                    </a:solidFill>
                  </a:rPr>
                  <a:t> reject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noProof="0" smtClean="0">
                            <a:solidFill>
                              <a:srgbClr val="5291DD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i="1" noProof="0" smtClean="0">
                            <a:solidFill>
                              <a:srgbClr val="5291DD"/>
                            </a:solidFill>
                            <a:latin typeface="Cambria Math"/>
                          </a:rPr>
                          <m:t>𝐻</m:t>
                        </m:r>
                      </m:e>
                      <m:sub>
                        <m:r>
                          <a:rPr lang="en-US" sz="2000" b="0" i="1" noProof="0" smtClean="0">
                            <a:solidFill>
                              <a:srgbClr val="5291DD"/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000" noProof="0" dirty="0">
                    <a:solidFill>
                      <a:srgbClr val="5291DD"/>
                    </a:solidFill>
                  </a:rPr>
                  <a:t> and stop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17BA196-49BC-BC15-7400-EE5C8B5F42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1683603"/>
                <a:ext cx="4038600" cy="707886"/>
              </a:xfrm>
              <a:prstGeom prst="rect">
                <a:avLst/>
              </a:prstGeom>
              <a:blipFill>
                <a:blip r:embed="rId4"/>
                <a:stretch>
                  <a:fillRect l="-1662" t="-4310" b="-146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2E83DE-3200-2C9D-5937-05CFE76AAD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 noProof="0"/>
              <a:t>Bretz, Chen, Xi | ISBS | October 2026</a:t>
            </a:r>
            <a:endParaRPr lang="en-US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136B9B-384C-A19C-DC32-B4B80B064F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D9F39-F344-41AE-B531-1D3ECACBC820}" type="slidenum">
              <a:rPr lang="en-US" noProof="0" smtClean="0"/>
              <a:t>31</a:t>
            </a:fld>
            <a:endParaRPr lang="en-US" noProof="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1AEBBCBC-5530-7C2F-BEA8-55DC36308B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0000" y="2592000"/>
            <a:ext cx="7296150" cy="1637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348610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0AF352-2209-23FE-DD43-EDD7915EA7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noProof="0" dirty="0"/>
              <a:t>Common multiple test procedures</a:t>
            </a:r>
            <a:br>
              <a:rPr lang="en-US" noProof="0" dirty="0"/>
            </a:br>
            <a:r>
              <a:rPr lang="en-US" sz="2200" i="1" noProof="0" dirty="0">
                <a:solidFill>
                  <a:srgbClr val="000000"/>
                </a:solidFill>
              </a:rPr>
              <a:t>Weighted Holm procedure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8C5345B-CA64-E007-9C18-3F1E37CEF33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noProof="0" dirty="0"/>
                  <a:t>Use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noProof="0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i="1" noProof="0" smtClean="0">
                            <a:latin typeface="Cambria Math"/>
                          </a:rPr>
                          <m:t>𝛼</m:t>
                        </m:r>
                      </m:e>
                      <m:sub>
                        <m:r>
                          <a:rPr lang="en-US" i="1" noProof="0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i="1" noProof="0" smtClean="0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i="1" noProof="0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i="1" noProof="0" smtClean="0">
                            <a:latin typeface="Cambria Math"/>
                          </a:rPr>
                          <m:t>𝛼</m:t>
                        </m:r>
                      </m:e>
                      <m:sub>
                        <m:r>
                          <a:rPr lang="en-US" i="1" noProof="0" smtClean="0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noProof="0" dirty="0"/>
                  <a:t>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noProof="0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i="1" noProof="0" smtClean="0">
                            <a:latin typeface="Cambria Math"/>
                          </a:rPr>
                          <m:t>𝛼</m:t>
                        </m:r>
                      </m:e>
                      <m:sub>
                        <m:r>
                          <a:rPr lang="en-US" i="1" noProof="0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i="1" noProof="0" smtClean="0">
                        <a:latin typeface="Cambria Math"/>
                      </a:rPr>
                      <m:t>+</m:t>
                    </m:r>
                    <m:sSub>
                      <m:sSubPr>
                        <m:ctrlPr>
                          <a:rPr lang="en-US" i="1" noProof="0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i="1" noProof="0" smtClean="0">
                            <a:latin typeface="Cambria Math"/>
                          </a:rPr>
                          <m:t>𝛼</m:t>
                        </m:r>
                      </m:e>
                      <m:sub>
                        <m:r>
                          <a:rPr lang="en-US" i="1" noProof="0" smtClean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i="1" noProof="0" smtClean="0">
                        <a:latin typeface="Cambria Math"/>
                      </a:rPr>
                      <m:t>=</m:t>
                    </m:r>
                    <m:r>
                      <a:rPr lang="en-US" i="1" noProof="0" smtClean="0">
                        <a:latin typeface="Cambria Math"/>
                      </a:rPr>
                      <m:t>𝛼</m:t>
                    </m:r>
                  </m:oMath>
                </a14:m>
                <a:r>
                  <a:rPr lang="en-US" noProof="0" dirty="0"/>
                  <a:t> instead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noProof="0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i="1" noProof="0" smtClean="0">
                            <a:latin typeface="Cambria Math"/>
                          </a:rPr>
                          <m:t>𝛼</m:t>
                        </m:r>
                      </m:e>
                      <m:sub>
                        <m:r>
                          <a:rPr lang="en-US" i="1" noProof="0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i="1" noProof="0" smtClean="0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i="1" noProof="0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i="1" noProof="0" smtClean="0">
                            <a:latin typeface="Cambria Math"/>
                          </a:rPr>
                          <m:t>𝛼</m:t>
                        </m:r>
                      </m:e>
                      <m:sub>
                        <m:r>
                          <a:rPr lang="en-US" i="1" noProof="0" smtClean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i="1" noProof="0" smtClean="0">
                        <a:latin typeface="Cambria Math"/>
                      </a:rPr>
                      <m:t>=</m:t>
                    </m:r>
                    <m:r>
                      <a:rPr lang="en-US" i="1" noProof="0" smtClean="0">
                        <a:latin typeface="Cambria Math"/>
                      </a:rPr>
                      <m:t>𝛼</m:t>
                    </m:r>
                    <m:r>
                      <a:rPr lang="en-US" i="1" noProof="0" smtClean="0">
                        <a:latin typeface="Cambria Math"/>
                      </a:rPr>
                      <m:t>/2</m:t>
                    </m:r>
                  </m:oMath>
                </a14:m>
                <a:endParaRPr lang="en-US" noProof="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8C5345B-CA64-E007-9C18-3F1E37CEF33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773" t="-22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2">
            <a:extLst>
              <a:ext uri="{FF2B5EF4-FFF2-40B4-BE49-F238E27FC236}">
                <a16:creationId xmlns:a16="http://schemas.microsoft.com/office/drawing/2014/main" id="{C2BC5755-474C-3CEB-E868-6B1B9088E1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6862" y="1944222"/>
            <a:ext cx="3070275" cy="12550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6E32EF-48C7-33BC-1E1F-B95FCCB8E4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 noProof="0"/>
              <a:t>Bretz, Chen, Xi | ISBS | October 2026</a:t>
            </a:r>
            <a:endParaRPr lang="en-US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008CEF-80ED-6E85-0364-514905DB50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D9F39-F344-41AE-B531-1D3ECACBC820}" type="slidenum">
              <a:rPr lang="en-US" noProof="0" smtClean="0"/>
              <a:t>32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18265441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9708C0-825C-649E-7753-219F4D45A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21E4B7-252F-07F2-A5CD-9D5927842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8047806" cy="994172"/>
          </a:xfrm>
        </p:spPr>
        <p:txBody>
          <a:bodyPr>
            <a:normAutofit/>
          </a:bodyPr>
          <a:lstStyle/>
          <a:p>
            <a:r>
              <a:rPr lang="en-US" noProof="0" dirty="0"/>
              <a:t>Common multiple test procedures</a:t>
            </a:r>
            <a:br>
              <a:rPr lang="en-US" noProof="0" dirty="0"/>
            </a:br>
            <a:r>
              <a:rPr lang="en-US" sz="2200" i="1" noProof="0" dirty="0">
                <a:solidFill>
                  <a:srgbClr val="000000"/>
                </a:solidFill>
              </a:rPr>
              <a:t>Fixed sequence tests (Maurer et al., 1995; Westfall and Krishen, 2001)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F4F140E-B172-3E68-D1E4-1F5F9EBFBEA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369218"/>
                <a:ext cx="8047806" cy="3398045"/>
              </a:xfrm>
              <a:solidFill>
                <a:schemeClr val="bg1"/>
              </a:solidFill>
            </p:spPr>
            <p:txBody>
              <a:bodyPr>
                <a:normAutofit/>
              </a:bodyPr>
              <a:lstStyle/>
              <a:p>
                <a:pPr>
                  <a:lnSpc>
                    <a:spcPct val="110000"/>
                  </a:lnSpc>
                  <a:spcBef>
                    <a:spcPts val="600"/>
                  </a:spcBef>
                </a:pPr>
                <a:r>
                  <a:rPr lang="en-US" noProof="0" dirty="0">
                    <a:solidFill>
                      <a:schemeClr val="tx1"/>
                    </a:solidFill>
                  </a:rPr>
                  <a:t>Assume for </a:t>
                </a:r>
                <a14:m>
                  <m:oMath xmlns:m="http://schemas.openxmlformats.org/officeDocument/2006/math">
                    <m:r>
                      <a:rPr lang="en-US" i="1" noProof="0">
                        <a:solidFill>
                          <a:schemeClr val="tx1"/>
                        </a:solidFill>
                        <a:latin typeface="Cambria Math"/>
                      </a:rPr>
                      <m:t>𝑚</m:t>
                    </m:r>
                    <m:r>
                      <a:rPr lang="en-US" i="1" noProof="0">
                        <a:solidFill>
                          <a:schemeClr val="tx1"/>
                        </a:solidFill>
                        <a:latin typeface="Cambria Math"/>
                      </a:rPr>
                      <m:t>=3</m:t>
                    </m:r>
                  </m:oMath>
                </a14:m>
                <a:r>
                  <a:rPr lang="en-US" noProof="0" dirty="0">
                    <a:solidFill>
                      <a:schemeClr val="tx1"/>
                    </a:solidFill>
                  </a:rPr>
                  <a:t>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noProof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i="1" noProof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𝐻</m:t>
                        </m:r>
                      </m:e>
                      <m:sub>
                        <m:r>
                          <a:rPr lang="en-US" i="1" noProof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i="1" noProof="0" smtClean="0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→</m:t>
                    </m:r>
                    <m:sSub>
                      <m:sSubPr>
                        <m:ctrlPr>
                          <a:rPr lang="en-US" i="1" noProof="0" smtClean="0">
                            <a:solidFill>
                              <a:schemeClr val="tx1"/>
                            </a:solidFill>
                            <a:latin typeface="Cambria Math"/>
                            <a:ea typeface="Cambria Math"/>
                          </a:rPr>
                        </m:ctrlPr>
                      </m:sSubPr>
                      <m:e>
                        <m:r>
                          <a:rPr lang="en-US" i="1" noProof="0" smtClean="0">
                            <a:solidFill>
                              <a:schemeClr val="tx1"/>
                            </a:solidFill>
                            <a:latin typeface="Cambria Math"/>
                            <a:ea typeface="Cambria Math"/>
                          </a:rPr>
                          <m:t>𝐻</m:t>
                        </m:r>
                      </m:e>
                      <m:sub>
                        <m:r>
                          <a:rPr lang="en-US" i="1" noProof="0" smtClean="0">
                            <a:solidFill>
                              <a:schemeClr val="tx1"/>
                            </a:solidFill>
                            <a:latin typeface="Cambria Math"/>
                            <a:ea typeface="Cambria Math"/>
                          </a:rPr>
                          <m:t>2</m:t>
                        </m:r>
                      </m:sub>
                    </m:sSub>
                    <m:r>
                      <a:rPr lang="en-US" i="1" noProof="0" smtClean="0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→</m:t>
                    </m:r>
                    <m:sSub>
                      <m:sSubPr>
                        <m:ctrlPr>
                          <a:rPr lang="en-US" i="1" noProof="0" smtClean="0">
                            <a:solidFill>
                              <a:schemeClr val="tx1"/>
                            </a:solidFill>
                            <a:latin typeface="Cambria Math"/>
                            <a:ea typeface="Cambria Math"/>
                          </a:rPr>
                        </m:ctrlPr>
                      </m:sSubPr>
                      <m:e>
                        <m:r>
                          <a:rPr lang="en-US" i="1" noProof="0" smtClean="0">
                            <a:solidFill>
                              <a:schemeClr val="tx1"/>
                            </a:solidFill>
                            <a:latin typeface="Cambria Math"/>
                            <a:ea typeface="Cambria Math"/>
                          </a:rPr>
                          <m:t>𝐻</m:t>
                        </m:r>
                      </m:e>
                      <m:sub>
                        <m:r>
                          <a:rPr lang="en-US" i="1" noProof="0" smtClean="0">
                            <a:solidFill>
                              <a:schemeClr val="tx1"/>
                            </a:solidFill>
                            <a:latin typeface="Cambria Math"/>
                            <a:ea typeface="Cambria Math"/>
                          </a:rPr>
                          <m:t>3</m:t>
                        </m:r>
                      </m:sub>
                    </m:sSub>
                  </m:oMath>
                </a14:m>
                <a:endParaRPr lang="en-US" noProof="0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10000"/>
                  </a:lnSpc>
                  <a:spcBef>
                    <a:spcPts val="600"/>
                  </a:spcBef>
                </a:pPr>
                <a:r>
                  <a:rPr lang="en-US" noProof="0" dirty="0">
                    <a:solidFill>
                      <a:schemeClr val="tx1"/>
                    </a:solidFill>
                  </a:rPr>
                  <a:t>The </a:t>
                </a:r>
                <a:r>
                  <a:rPr lang="en-US" noProof="0" dirty="0">
                    <a:solidFill>
                      <a:srgbClr val="5291DD"/>
                    </a:solidFill>
                  </a:rPr>
                  <a:t>fixed sequence procedure </a:t>
                </a:r>
                <a:r>
                  <a:rPr lang="en-US" noProof="0" dirty="0">
                    <a:solidFill>
                      <a:schemeClr val="tx1"/>
                    </a:solidFill>
                  </a:rPr>
                  <a:t>is visualized as follows:</a:t>
                </a:r>
                <a:endParaRPr lang="en-US" i="1" noProof="0" dirty="0">
                  <a:solidFill>
                    <a:schemeClr val="tx1"/>
                  </a:solidFill>
                  <a:latin typeface="Cambria Math"/>
                </a:endParaRPr>
              </a:p>
              <a:p>
                <a:pPr>
                  <a:lnSpc>
                    <a:spcPct val="110000"/>
                  </a:lnSpc>
                  <a:spcBef>
                    <a:spcPts val="600"/>
                  </a:spcBef>
                  <a:defRPr/>
                </a:pPr>
                <a:endParaRPr lang="en-US" noProof="0" dirty="0">
                  <a:solidFill>
                    <a:schemeClr val="tx1"/>
                  </a:solidFill>
                </a:endParaRPr>
              </a:p>
              <a:p>
                <a:pPr lvl="1">
                  <a:lnSpc>
                    <a:spcPct val="110000"/>
                  </a:lnSpc>
                  <a:spcBef>
                    <a:spcPts val="600"/>
                  </a:spcBef>
                  <a:defRPr/>
                </a:pPr>
                <a:endParaRPr lang="en-US" noProof="0" dirty="0">
                  <a:solidFill>
                    <a:schemeClr val="tx1"/>
                  </a:solidFill>
                </a:endParaRPr>
              </a:p>
              <a:p>
                <a:pPr lvl="1">
                  <a:lnSpc>
                    <a:spcPct val="110000"/>
                  </a:lnSpc>
                  <a:spcBef>
                    <a:spcPts val="600"/>
                  </a:spcBef>
                  <a:defRPr/>
                </a:pPr>
                <a:r>
                  <a:rPr lang="en-US" noProof="0" dirty="0">
                    <a:solidFill>
                      <a:srgbClr val="5291DD"/>
                    </a:solidFill>
                  </a:rPr>
                  <a:t>Caution</a:t>
                </a:r>
                <a:r>
                  <a:rPr lang="en-US" noProof="0" dirty="0">
                    <a:solidFill>
                      <a:schemeClr val="tx1"/>
                    </a:solidFill>
                  </a:rPr>
                  <a:t>: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noProof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i="1" noProof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𝐻</m:t>
                        </m:r>
                      </m:e>
                      <m:sub>
                        <m:r>
                          <a:rPr lang="en-US" i="1" noProof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noProof="0" dirty="0">
                    <a:solidFill>
                      <a:schemeClr val="tx1"/>
                    </a:solidFill>
                  </a:rPr>
                  <a:t> cannot be rejected,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noProof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i="1" noProof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𝐻</m:t>
                        </m:r>
                      </m:e>
                      <m:sub>
                        <m:r>
                          <a:rPr lang="en-US" i="1" noProof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noProof="0" dirty="0">
                    <a:solidFill>
                      <a:schemeClr val="tx1"/>
                    </a:solidFill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noProof="0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i="1" noProof="0" smtClean="0">
                            <a:latin typeface="Cambria Math"/>
                          </a:rPr>
                          <m:t>𝐻</m:t>
                        </m:r>
                      </m:e>
                      <m:sub>
                        <m:r>
                          <a:rPr lang="en-US" i="1" noProof="0" smtClean="0">
                            <a:latin typeface="Cambria Math"/>
                          </a:rPr>
                          <m:t>3</m:t>
                        </m:r>
                      </m:sub>
                    </m:sSub>
                    <m:r>
                      <a:rPr lang="en-US" i="1" noProof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noProof="0" dirty="0">
                    <a:solidFill>
                      <a:schemeClr val="tx1"/>
                    </a:solidFill>
                  </a:rPr>
                  <a:t>cannot be rejected regardless of their p-values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F4F140E-B172-3E68-D1E4-1F5F9EBFBEA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369218"/>
                <a:ext cx="8047806" cy="3398045"/>
              </a:xfrm>
              <a:blipFill>
                <a:blip r:embed="rId3"/>
                <a:stretch>
                  <a:fillRect l="-758" t="-8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4">
            <a:extLst>
              <a:ext uri="{FF2B5EF4-FFF2-40B4-BE49-F238E27FC236}">
                <a16:creationId xmlns:a16="http://schemas.microsoft.com/office/drawing/2014/main" id="{5C6488FA-1F05-80F0-4362-A91C3965A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9609" y="2208249"/>
            <a:ext cx="3206057" cy="6515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E7F8C15-B2A9-48DD-21E5-491504BE32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 noProof="0"/>
              <a:t>Bretz, Chen, Xi | ISBS | October 2026</a:t>
            </a:r>
            <a:endParaRPr lang="en-US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6BF53D-C31E-E270-096D-81D4BF0819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D9F39-F344-41AE-B531-1D3ECACBC820}" type="slidenum">
              <a:rPr lang="en-US" noProof="0" smtClean="0"/>
              <a:t>33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9561790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0AF352-2209-23FE-DD43-EDD7915EA7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Common multiple test procedures</a:t>
            </a:r>
            <a:br>
              <a:rPr lang="en-US" noProof="0" dirty="0"/>
            </a:br>
            <a:r>
              <a:rPr lang="en-US" sz="2200" i="1" noProof="0" dirty="0">
                <a:solidFill>
                  <a:srgbClr val="000000"/>
                </a:solidFill>
              </a:rPr>
              <a:t>Fallback procedures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8C5345B-CA64-E007-9C18-3F1E37CEF33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369218"/>
                <a:ext cx="4087366" cy="3671889"/>
              </a:xfrm>
              <a:solidFill>
                <a:schemeClr val="bg1"/>
              </a:solidFill>
            </p:spPr>
            <p:txBody>
              <a:bodyPr>
                <a:normAutofit/>
              </a:bodyPr>
              <a:lstStyle/>
              <a:p>
                <a:pPr>
                  <a:lnSpc>
                    <a:spcPct val="110000"/>
                  </a:lnSpc>
                  <a:spcBef>
                    <a:spcPts val="600"/>
                  </a:spcBef>
                  <a:defRPr/>
                </a:pPr>
                <a:r>
                  <a:rPr lang="en-US" noProof="0" dirty="0">
                    <a:solidFill>
                      <a:schemeClr val="tx1"/>
                    </a:solidFill>
                  </a:rPr>
                  <a:t>Splitting the significance level (e.g.,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noProof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i="1" noProof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𝛼</m:t>
                        </m:r>
                      </m:e>
                      <m:sub>
                        <m:r>
                          <a:rPr lang="en-US" i="1" noProof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i="1" noProof="0">
                        <a:solidFill>
                          <a:schemeClr val="tx1"/>
                        </a:solidFill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i="1" noProof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i="1" noProof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𝛼</m:t>
                        </m:r>
                      </m:e>
                      <m:sub>
                        <m:r>
                          <a:rPr lang="en-US" i="1" noProof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i="1" noProof="0">
                        <a:solidFill>
                          <a:schemeClr val="tx1"/>
                        </a:solidFill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i="1" noProof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i="1" noProof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𝛼</m:t>
                        </m:r>
                      </m:e>
                      <m:sub>
                        <m:r>
                          <a:rPr lang="en-US" i="1" noProof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3</m:t>
                        </m:r>
                      </m:sub>
                    </m:sSub>
                    <m:r>
                      <a:rPr lang="en-US" i="1" noProof="0">
                        <a:solidFill>
                          <a:schemeClr val="tx1"/>
                        </a:solidFill>
                        <a:latin typeface="Cambria Math"/>
                      </a:rPr>
                      <m:t>=</m:t>
                    </m:r>
                    <m:r>
                      <a:rPr lang="en-US" i="1" noProof="0">
                        <a:solidFill>
                          <a:schemeClr val="tx1"/>
                        </a:solidFill>
                        <a:latin typeface="Cambria Math"/>
                      </a:rPr>
                      <m:t>𝛼</m:t>
                    </m:r>
                    <m:r>
                      <a:rPr lang="en-US" i="1" noProof="0">
                        <a:solidFill>
                          <a:schemeClr val="tx1"/>
                        </a:solidFill>
                        <a:latin typeface="Cambria Math"/>
                      </a:rPr>
                      <m:t>/3</m:t>
                    </m:r>
                  </m:oMath>
                </a14:m>
                <a:r>
                  <a:rPr lang="en-US" noProof="0" dirty="0">
                    <a:solidFill>
                      <a:schemeClr val="tx1"/>
                    </a:solidFill>
                  </a:rPr>
                  <a:t>) leads to </a:t>
                </a:r>
                <a:r>
                  <a:rPr lang="en-US" noProof="0" dirty="0">
                    <a:solidFill>
                      <a:srgbClr val="5291DD"/>
                    </a:solidFill>
                  </a:rPr>
                  <a:t>fallback procedures</a:t>
                </a:r>
                <a:endParaRPr lang="en-US" noProof="0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10000"/>
                  </a:lnSpc>
                  <a:spcBef>
                    <a:spcPts val="600"/>
                  </a:spcBef>
                  <a:defRPr/>
                </a:pPr>
                <a:r>
                  <a:rPr lang="en-US" noProof="0" dirty="0">
                    <a:solidFill>
                      <a:schemeClr val="tx1"/>
                    </a:solidFill>
                  </a:rPr>
                  <a:t>Improved fallback procedures propagate significance levels back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noProof="0" dirty="0">
                    <a:solidFill>
                      <a:schemeClr val="tx1"/>
                    </a:solidFill>
                  </a:rPr>
                  <a:t> and/or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noProof="0" dirty="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8C5345B-CA64-E007-9C18-3F1E37CEF33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369218"/>
                <a:ext cx="4087366" cy="3671889"/>
              </a:xfrm>
              <a:blipFill>
                <a:blip r:embed="rId3"/>
                <a:stretch>
                  <a:fillRect l="-1490" t="-831" r="-11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54D0EAC-9A0D-192E-BDF7-06055F382B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 noProof="0"/>
              <a:t>Bretz, Chen, Xi | ISBS | October 2026</a:t>
            </a:r>
            <a:endParaRPr lang="en-US" noProof="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3DE148C-707F-427F-4262-8E3A76202C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92080" y="1567386"/>
            <a:ext cx="2492499" cy="50030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40C0EDB-6C43-7C40-0032-88591977387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92080" y="2598115"/>
            <a:ext cx="3745628" cy="99417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4154A10-4E2F-16BD-F792-479CB2F30DD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92080" y="3867894"/>
            <a:ext cx="3745628" cy="975193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018FA5-4D88-0C3F-3046-6E6C49667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D9F39-F344-41AE-B531-1D3ECACBC820}" type="slidenum">
              <a:rPr lang="en-US" noProof="0" smtClean="0"/>
              <a:t>34</a:t>
            </a:fld>
            <a:endParaRPr lang="en-US" noProof="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1E29978-3193-37DB-5C13-4D07C29DD1B7}"/>
              </a:ext>
            </a:extLst>
          </p:cNvPr>
          <p:cNvSpPr txBox="1"/>
          <p:nvPr/>
        </p:nvSpPr>
        <p:spPr>
          <a:xfrm>
            <a:off x="7146151" y="3340030"/>
            <a:ext cx="199784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50" noProof="0" dirty="0">
                <a:latin typeface="Arial" panose="020B0604020202020204" pitchFamily="34" charset="0"/>
                <a:cs typeface="Arial" panose="020B0604020202020204" pitchFamily="34" charset="0"/>
              </a:rPr>
              <a:t>(Wiens and </a:t>
            </a:r>
            <a:r>
              <a:rPr lang="en-US" sz="1050" noProof="0" dirty="0" err="1">
                <a:latin typeface="Arial" panose="020B0604020202020204" pitchFamily="34" charset="0"/>
                <a:cs typeface="Arial" panose="020B0604020202020204" pitchFamily="34" charset="0"/>
              </a:rPr>
              <a:t>Dmitrienko</a:t>
            </a:r>
            <a:r>
              <a:rPr lang="en-US" sz="1050" noProof="0" dirty="0">
                <a:latin typeface="Arial" panose="020B0604020202020204" pitchFamily="34" charset="0"/>
                <a:cs typeface="Arial" panose="020B0604020202020204" pitchFamily="34" charset="0"/>
              </a:rPr>
              <a:t>, 2005)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66FB1E8-7B5A-2F74-A238-F377FF1C5F3C}"/>
              </a:ext>
            </a:extLst>
          </p:cNvPr>
          <p:cNvSpPr txBox="1"/>
          <p:nvPr/>
        </p:nvSpPr>
        <p:spPr>
          <a:xfrm>
            <a:off x="7146150" y="1772494"/>
            <a:ext cx="199784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50" noProof="0" dirty="0">
                <a:latin typeface="Arial" panose="020B0604020202020204" pitchFamily="34" charset="0"/>
                <a:cs typeface="Arial" panose="020B0604020202020204" pitchFamily="34" charset="0"/>
              </a:rPr>
              <a:t>(Wiens, 2003)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B328A4C-56C7-EC06-A717-51C5B3C1A32C}"/>
              </a:ext>
            </a:extLst>
          </p:cNvPr>
          <p:cNvSpPr txBox="1"/>
          <p:nvPr/>
        </p:nvSpPr>
        <p:spPr>
          <a:xfrm>
            <a:off x="7156177" y="4608046"/>
            <a:ext cx="199784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50" noProof="0" dirty="0">
                <a:latin typeface="Arial" panose="020B0604020202020204" pitchFamily="34" charset="0"/>
                <a:cs typeface="Arial" panose="020B0604020202020204" pitchFamily="34" charset="0"/>
              </a:rPr>
              <a:t>(Hommel and Bretz, 2008)</a:t>
            </a:r>
          </a:p>
        </p:txBody>
      </p:sp>
    </p:spTree>
    <p:extLst>
      <p:ext uri="{BB962C8B-B14F-4D97-AF65-F5344CB8AC3E}">
        <p14:creationId xmlns:p14="http://schemas.microsoft.com/office/powerpoint/2010/main" val="19225517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9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0AF352-2209-23FE-DD43-EDD7915EA7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noProof="0" dirty="0"/>
              <a:t>Common multiple test procedures</a:t>
            </a:r>
            <a:br>
              <a:rPr lang="en-US" noProof="0" dirty="0"/>
            </a:br>
            <a:r>
              <a:rPr lang="en-US" sz="2200" i="1" noProof="0" dirty="0">
                <a:solidFill>
                  <a:srgbClr val="000000"/>
                </a:solidFill>
              </a:rPr>
              <a:t>Parallel gatekeeping procedure (</a:t>
            </a:r>
            <a:r>
              <a:rPr lang="en-US" sz="2200" i="1" noProof="0" dirty="0" err="1">
                <a:solidFill>
                  <a:srgbClr val="000000"/>
                </a:solidFill>
              </a:rPr>
              <a:t>Dmitrienko</a:t>
            </a:r>
            <a:r>
              <a:rPr lang="en-US" sz="2200" i="1" noProof="0" dirty="0">
                <a:solidFill>
                  <a:srgbClr val="000000"/>
                </a:solidFill>
              </a:rPr>
              <a:t> et al., 2003)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8C5345B-CA64-E007-9C18-3F1E37CEF33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369219"/>
                <a:ext cx="4644554" cy="3263504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60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noProof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i="1" noProof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 noProof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noProof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i="1" noProof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noProof="0" dirty="0"/>
                  <a:t> are </a:t>
                </a:r>
                <a:r>
                  <a:rPr lang="en-US" noProof="0" dirty="0">
                    <a:solidFill>
                      <a:srgbClr val="5291DD"/>
                    </a:solidFill>
                  </a:rPr>
                  <a:t>two primary hypotheses </a:t>
                </a:r>
              </a:p>
              <a:p>
                <a:pPr lvl="1">
                  <a:spcBef>
                    <a:spcPts val="600"/>
                  </a:spcBef>
                </a:pPr>
                <a:r>
                  <a:rPr lang="en-US" noProof="0" dirty="0"/>
                  <a:t>For example, comparison of a new drug with placebo for two primary endpoints</a:t>
                </a:r>
              </a:p>
              <a:p>
                <a:pPr>
                  <a:spcBef>
                    <a:spcPts val="60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noProof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i="1" noProof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i="1" noProof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noProof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i="1" noProof="0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noProof="0" dirty="0"/>
                  <a:t> are </a:t>
                </a:r>
                <a:r>
                  <a:rPr lang="en-US" noProof="0" dirty="0">
                    <a:solidFill>
                      <a:srgbClr val="5291DD"/>
                    </a:solidFill>
                  </a:rPr>
                  <a:t>two secondary hypotheses </a:t>
                </a:r>
                <a:endParaRPr lang="en-US" sz="2000" noProof="0" dirty="0">
                  <a:solidFill>
                    <a:srgbClr val="5291DD"/>
                  </a:solidFill>
                </a:endParaRPr>
              </a:p>
              <a:p>
                <a:pPr lvl="1">
                  <a:spcBef>
                    <a:spcPts val="600"/>
                  </a:spcBef>
                </a:pPr>
                <a:r>
                  <a:rPr lang="en-US" noProof="0" dirty="0"/>
                  <a:t>For example, comparison of a new drug with placebo for two secondary endpoints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noProof="0" dirty="0">
                    <a:solidFill>
                      <a:srgbClr val="5291DD"/>
                    </a:solidFill>
                  </a:rPr>
                  <a:t>Parallel gatekeeping</a:t>
                </a:r>
                <a:r>
                  <a:rPr lang="en-US" noProof="0" dirty="0"/>
                  <a:t>: Testing of secondary hypotheses occurs if at least one primary hypothesis is rejected</a:t>
                </a:r>
              </a:p>
              <a:p>
                <a:pPr marL="0" indent="0">
                  <a:lnSpc>
                    <a:spcPct val="110000"/>
                  </a:lnSpc>
                  <a:spcBef>
                    <a:spcPts val="600"/>
                  </a:spcBef>
                  <a:buNone/>
                </a:pPr>
                <a:endParaRPr lang="en-US" noProof="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8C5345B-CA64-E007-9C18-3F1E37CEF33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369219"/>
                <a:ext cx="4644554" cy="3263504"/>
              </a:xfrm>
              <a:blipFill>
                <a:blip r:embed="rId3"/>
                <a:stretch>
                  <a:fillRect l="-1312" t="-2243" r="-14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E7A94567-72BB-9DCD-CEC5-D64DE0C72A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3204" y="1371375"/>
            <a:ext cx="3674752" cy="2352503"/>
          </a:xfrm>
          <a:prstGeom prst="rect">
            <a:avLst/>
          </a:prstGeo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D21D4A-B539-E83A-55C7-58F778E282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 noProof="0"/>
              <a:t>Bretz, Chen, Xi | ISBS | October 2026</a:t>
            </a:r>
            <a:endParaRPr lang="en-US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BD5B7B-044F-796D-A21D-338612ADCE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D9F39-F344-41AE-B531-1D3ECACBC820}" type="slidenum">
              <a:rPr lang="en-US" noProof="0" smtClean="0"/>
              <a:t>35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2289516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E0AF352-2209-23FE-DD43-EDD7915EA753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noProof="0" dirty="0"/>
                  <a:t>Common multiple test procedures</a:t>
                </a:r>
                <a:br>
                  <a:rPr kumimoji="0" lang="en-US" sz="3200" b="1" i="0" u="none" strike="noStrike" kern="1200" cap="none" spc="-10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 Black" panose="020B0A04020102020204"/>
                  </a:rPr>
                </a:br>
                <a:r>
                  <a:rPr lang="en-US" sz="2200" i="1" noProof="0" dirty="0">
                    <a:solidFill>
                      <a:srgbClr val="000000"/>
                    </a:solidFill>
                  </a:rPr>
                  <a:t>Parallel gatekeeping procedure – Example with </a:t>
                </a:r>
                <a14:m>
                  <m:oMath xmlns:m="http://schemas.openxmlformats.org/officeDocument/2006/math">
                    <m:r>
                      <a:rPr lang="en-US" sz="2200" i="1" spc="-100" noProof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2200" i="1" spc="-100" noProof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=0.025</m:t>
                    </m:r>
                  </m:oMath>
                </a14:m>
                <a:endParaRPr lang="en-US" sz="2200" i="1" spc="-100" noProof="0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E0AF352-2209-23FE-DD43-EDD7915EA75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087" t="-6135" b="-55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BF5511C4-CD85-C924-5ED3-2ABC74C873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1890" y="1472158"/>
            <a:ext cx="7260220" cy="297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6DC6B8-E139-2F87-4A64-1303E2D0B9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 noProof="0"/>
              <a:t>Bretz, Chen, Xi | ISBS | October 2026</a:t>
            </a:r>
            <a:endParaRPr lang="en-US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CA6F21-440A-1D11-D80A-7EEDDCDDBB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D9F39-F344-41AE-B531-1D3ECACBC820}" type="slidenum">
              <a:rPr lang="en-US" noProof="0" smtClean="0"/>
              <a:t>36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11853301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E0AF352-2209-23FE-DD43-EDD7915EA753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noProof="0" dirty="0"/>
                  <a:t>Common multiple test procedures</a:t>
                </a:r>
                <a:br>
                  <a:rPr kumimoji="0" lang="en-US" sz="3200" b="1" i="0" u="none" strike="noStrike" kern="1200" cap="none" spc="-10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 Black" panose="020B0A04020102020204"/>
                  </a:rPr>
                </a:br>
                <a:r>
                  <a:rPr lang="en-US" sz="2200" i="1" noProof="0" dirty="0">
                    <a:solidFill>
                      <a:srgbClr val="000000"/>
                    </a:solidFill>
                  </a:rPr>
                  <a:t>Parallel gatekeeping procedure – Example with </a:t>
                </a:r>
                <a14:m>
                  <m:oMath xmlns:m="http://schemas.openxmlformats.org/officeDocument/2006/math">
                    <m:r>
                      <a:rPr lang="en-US" sz="2200" i="1" spc="-100" noProof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2200" i="1" spc="-100" noProof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=0.025</m:t>
                    </m:r>
                  </m:oMath>
                </a14:m>
                <a:endParaRPr lang="en-US" sz="2200" i="1" spc="-100" noProof="0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E0AF352-2209-23FE-DD43-EDD7915EA75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2087" t="-6135" b="-55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3">
            <a:extLst>
              <a:ext uri="{FF2B5EF4-FFF2-40B4-BE49-F238E27FC236}">
                <a16:creationId xmlns:a16="http://schemas.microsoft.com/office/drawing/2014/main" id="{EE7FAB13-4D2D-2322-6BF7-7531E18FF1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4067" y="1440000"/>
            <a:ext cx="7240341" cy="31479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F0DF85-C68F-9ADB-3BDB-779DE90C1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 noProof="0"/>
              <a:t>Bretz, Chen, Xi | ISBS | October 2026</a:t>
            </a:r>
            <a:endParaRPr lang="en-US" noProof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EE1F37B-0564-385A-DDFD-C472231322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D9F39-F344-41AE-B531-1D3ECACBC820}" type="slidenum">
              <a:rPr lang="en-US" noProof="0" smtClean="0"/>
              <a:t>37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87545122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E0AF352-2209-23FE-DD43-EDD7915EA753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noProof="0" dirty="0"/>
                  <a:t>Common multiple test procedures</a:t>
                </a:r>
                <a:br>
                  <a:rPr kumimoji="0" lang="en-US" sz="3200" b="1" i="0" u="none" strike="noStrike" kern="1200" cap="none" spc="-10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 Black" panose="020B0A04020102020204"/>
                  </a:rPr>
                </a:br>
                <a:r>
                  <a:rPr lang="en-US" sz="2200" i="1" noProof="0" dirty="0">
                    <a:solidFill>
                      <a:srgbClr val="000000"/>
                    </a:solidFill>
                  </a:rPr>
                  <a:t>Parallel gatekeeping procedure – Example with </a:t>
                </a:r>
                <a14:m>
                  <m:oMath xmlns:m="http://schemas.openxmlformats.org/officeDocument/2006/math">
                    <m:r>
                      <a:rPr lang="en-US" sz="2200" i="1" spc="-100" noProof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2200" i="1" spc="-100" noProof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=0.025</m:t>
                    </m:r>
                  </m:oMath>
                </a14:m>
                <a:endParaRPr lang="en-US" sz="2200" i="1" spc="-100" noProof="0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E0AF352-2209-23FE-DD43-EDD7915EA75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087" t="-6135" b="-55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0A6C092F-633A-ED97-02E2-D7A76CBCA9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046" y="1440000"/>
            <a:ext cx="7387362" cy="30759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2EE94B-60B0-0DE8-1902-B11D87651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 noProof="0"/>
              <a:t>Bretz, Chen, Xi | ISBS | October 2026</a:t>
            </a:r>
            <a:endParaRPr lang="en-US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E5FF5A-7FB7-7DEF-2EF3-8A90E211A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D9F39-F344-41AE-B531-1D3ECACBC820}" type="slidenum">
              <a:rPr lang="en-US" noProof="0" smtClean="0"/>
              <a:t>38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9053052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E0AF352-2209-23FE-DD43-EDD7915EA753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noProof="0" dirty="0"/>
                  <a:t>Common multiple test procedures</a:t>
                </a:r>
                <a:br>
                  <a:rPr kumimoji="0" lang="en-US" sz="3200" b="1" i="0" u="none" strike="noStrike" kern="1200" cap="none" spc="-10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 Black" panose="020B0A04020102020204"/>
                  </a:rPr>
                </a:br>
                <a:r>
                  <a:rPr lang="en-US" sz="2200" i="1" noProof="0" dirty="0">
                    <a:solidFill>
                      <a:srgbClr val="000000"/>
                    </a:solidFill>
                  </a:rPr>
                  <a:t>Parallel gatekeeping procedure – Example with </a:t>
                </a:r>
                <a14:m>
                  <m:oMath xmlns:m="http://schemas.openxmlformats.org/officeDocument/2006/math">
                    <m:r>
                      <a:rPr lang="en-US" sz="2200" i="1" spc="-100" noProof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2200" i="1" spc="-100" noProof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=0.025</m:t>
                    </m:r>
                  </m:oMath>
                </a14:m>
                <a:endParaRPr lang="en-US" sz="2200" i="1" spc="-100" noProof="0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E0AF352-2209-23FE-DD43-EDD7915EA75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087" t="-6135" b="-55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3">
            <a:extLst>
              <a:ext uri="{FF2B5EF4-FFF2-40B4-BE49-F238E27FC236}">
                <a16:creationId xmlns:a16="http://schemas.microsoft.com/office/drawing/2014/main" id="{FFCA8036-53B5-257A-0BBB-0E61CF9987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9346" y="1347614"/>
            <a:ext cx="7365062" cy="31456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574BCB-FAAD-8A55-12EF-49E8744FE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 noProof="0"/>
              <a:t>Bretz, Chen, Xi | ISBS | October 2026</a:t>
            </a:r>
            <a:endParaRPr lang="en-US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2CFE35-9555-16EE-E3AD-061342741C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D9F39-F344-41AE-B531-1D3ECACBC820}" type="slidenum">
              <a:rPr lang="en-US" noProof="0" smtClean="0"/>
              <a:t>39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22367261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E0AF352-2209-23FE-DD43-EDD7915EA753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noProof="0" dirty="0"/>
                  <a:t>Common multiple test procedures</a:t>
                </a:r>
                <a:br>
                  <a:rPr kumimoji="0" lang="en-US" sz="3200" b="1" i="0" u="none" strike="noStrike" kern="1200" cap="none" spc="-10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 Black" panose="020B0A04020102020204"/>
                  </a:rPr>
                </a:br>
                <a:r>
                  <a:rPr lang="en-US" sz="2200" i="1" noProof="0" dirty="0">
                    <a:solidFill>
                      <a:srgbClr val="000000"/>
                    </a:solidFill>
                  </a:rPr>
                  <a:t>Parallel gatekeeping procedure – Example with </a:t>
                </a:r>
                <a14:m>
                  <m:oMath xmlns:m="http://schemas.openxmlformats.org/officeDocument/2006/math">
                    <m:r>
                      <a:rPr lang="en-US" sz="2200" i="1" spc="-100" noProof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2200" i="1" spc="-100" noProof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=0.025</m:t>
                    </m:r>
                  </m:oMath>
                </a14:m>
                <a:endParaRPr lang="en-US" sz="2200" i="1" spc="-100" noProof="0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E0AF352-2209-23FE-DD43-EDD7915EA75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087" t="-6135" b="-55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434A5F3D-2BA8-2789-C487-C1AF0F8CCD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3241" y="1462718"/>
            <a:ext cx="7329159" cy="30039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4D5B8A-3D33-4943-FF1B-923BAA0742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 noProof="0"/>
              <a:t>Bretz, Chen, Xi | ISBS | October 2026</a:t>
            </a:r>
            <a:endParaRPr lang="en-US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86C257-564C-C4EC-B700-F4229D4328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D9F39-F344-41AE-B531-1D3ECACBC820}" type="slidenum">
              <a:rPr lang="en-US" noProof="0" smtClean="0"/>
              <a:t>40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980600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E0AF352-2209-23FE-DD43-EDD7915EA753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noProof="0" dirty="0"/>
                  <a:t>Common multiple test procedures</a:t>
                </a:r>
                <a:br>
                  <a:rPr kumimoji="0" lang="en-US" sz="3200" b="1" i="0" u="none" strike="noStrike" kern="1200" cap="none" spc="-10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 Black" panose="020B0A04020102020204"/>
                  </a:rPr>
                </a:br>
                <a:r>
                  <a:rPr lang="en-US" sz="2200" i="1" noProof="0" dirty="0">
                    <a:solidFill>
                      <a:srgbClr val="000000"/>
                    </a:solidFill>
                  </a:rPr>
                  <a:t>Parallel gatekeeping procedure – Example with </a:t>
                </a:r>
                <a14:m>
                  <m:oMath xmlns:m="http://schemas.openxmlformats.org/officeDocument/2006/math">
                    <m:r>
                      <a:rPr lang="en-US" sz="2200" i="1" spc="-100" noProof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2200" i="1" spc="-100" noProof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=0.025</m:t>
                    </m:r>
                  </m:oMath>
                </a14:m>
                <a:endParaRPr lang="en-US" sz="2200" i="1" spc="-100" noProof="0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E0AF352-2209-23FE-DD43-EDD7915EA75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087" t="-6135" b="-55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2">
            <a:extLst>
              <a:ext uri="{FF2B5EF4-FFF2-40B4-BE49-F238E27FC236}">
                <a16:creationId xmlns:a16="http://schemas.microsoft.com/office/drawing/2014/main" id="{C97B4C2F-BA5D-A924-D3AF-71E0AC760B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3241" y="1419622"/>
            <a:ext cx="7257151" cy="31278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60E1C31-238F-CE1C-340E-8E5321E76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 noProof="0"/>
              <a:t>Bretz, Chen, Xi | ISBS | October 2026</a:t>
            </a:r>
            <a:endParaRPr lang="en-US" noProof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1311DC7-7E53-9492-B814-E536D2D3DE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D9F39-F344-41AE-B531-1D3ECACBC820}" type="slidenum">
              <a:rPr lang="en-US" noProof="0" smtClean="0"/>
              <a:t>41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07283812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E0AF352-2209-23FE-DD43-EDD7915EA753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noProof="0" dirty="0"/>
                  <a:t>Common multiple test procedures</a:t>
                </a:r>
                <a:br>
                  <a:rPr kumimoji="0" lang="en-US" sz="3200" b="1" i="0" u="none" strike="noStrike" kern="1200" cap="none" spc="-10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 Black" panose="020B0A04020102020204"/>
                  </a:rPr>
                </a:br>
                <a:r>
                  <a:rPr lang="en-US" sz="2200" i="1" noProof="0" dirty="0">
                    <a:solidFill>
                      <a:srgbClr val="000000"/>
                    </a:solidFill>
                  </a:rPr>
                  <a:t>Parallel gatekeeping procedure – Example with </a:t>
                </a:r>
                <a14:m>
                  <m:oMath xmlns:m="http://schemas.openxmlformats.org/officeDocument/2006/math">
                    <m:r>
                      <a:rPr lang="en-US" sz="2200" i="1" spc="-100" noProof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2200" i="1" spc="-100" noProof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=0.025</m:t>
                    </m:r>
                  </m:oMath>
                </a14:m>
                <a:endParaRPr lang="en-US" sz="2200" i="1" spc="-100" noProof="0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E0AF352-2209-23FE-DD43-EDD7915EA75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087" t="-6135" b="-55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2">
            <a:extLst>
              <a:ext uri="{FF2B5EF4-FFF2-40B4-BE49-F238E27FC236}">
                <a16:creationId xmlns:a16="http://schemas.microsoft.com/office/drawing/2014/main" id="{FB963222-0D8F-5130-DAA4-CDFDE91A9A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8840" y="1419622"/>
            <a:ext cx="6925568" cy="31252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CA7542-F3C2-2DBF-E784-DB2BF98836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 noProof="0"/>
              <a:t>Bretz, Chen, Xi | ISBS | October 2026</a:t>
            </a:r>
            <a:endParaRPr lang="en-US" noProof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C3A65C4-03F5-9669-2EB6-BFE3979689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D9F39-F344-41AE-B531-1D3ECACBC820}" type="slidenum">
              <a:rPr lang="en-US" noProof="0" smtClean="0"/>
              <a:t>42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39157228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E0AF352-2209-23FE-DD43-EDD7915EA753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noProof="0" dirty="0"/>
                  <a:t>Common multiple test procedures</a:t>
                </a:r>
                <a:br>
                  <a:rPr kumimoji="0" lang="en-US" sz="3200" b="1" i="0" u="none" strike="noStrike" kern="1200" cap="none" spc="-10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 Black" panose="020B0A04020102020204"/>
                  </a:rPr>
                </a:br>
                <a:r>
                  <a:rPr lang="en-US" sz="2200" i="1" noProof="0" dirty="0">
                    <a:solidFill>
                      <a:srgbClr val="000000"/>
                    </a:solidFill>
                  </a:rPr>
                  <a:t>Parallel gatekeeping procedure – Example with </a:t>
                </a:r>
                <a14:m>
                  <m:oMath xmlns:m="http://schemas.openxmlformats.org/officeDocument/2006/math">
                    <m:r>
                      <a:rPr lang="en-US" sz="2200" i="1" spc="-100" noProof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2200" i="1" spc="-100" noProof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=0.025</m:t>
                    </m:r>
                  </m:oMath>
                </a14:m>
                <a:endParaRPr lang="en-US" sz="2200" i="1" spc="-100" noProof="0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E0AF352-2209-23FE-DD43-EDD7915EA75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087" t="-6135" b="-55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2">
            <a:extLst>
              <a:ext uri="{FF2B5EF4-FFF2-40B4-BE49-F238E27FC236}">
                <a16:creationId xmlns:a16="http://schemas.microsoft.com/office/drawing/2014/main" id="{1740FACB-19B8-2D56-7EC5-B4CE324CCF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5121" y="1462718"/>
            <a:ext cx="2286000" cy="29742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468B6E-045A-F80F-78E9-5FC72339C3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 noProof="0"/>
              <a:t>Bretz, Chen, Xi | ISBS | October 2026</a:t>
            </a:r>
            <a:endParaRPr lang="en-US" noProof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2F07C39-EA4C-B0CD-323B-C8A600DA86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D9F39-F344-41AE-B531-1D3ECACBC820}" type="slidenum">
              <a:rPr lang="en-US" noProof="0" smtClean="0"/>
              <a:t>43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89208566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E0AF352-2209-23FE-DD43-EDD7915EA753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noProof="0" dirty="0"/>
                  <a:t>Common multiple test procedures</a:t>
                </a:r>
                <a:br>
                  <a:rPr kumimoji="0" lang="en-US" sz="3200" b="1" i="0" u="none" strike="noStrike" kern="1200" cap="none" spc="-10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 Black" panose="020B0A04020102020204"/>
                  </a:rPr>
                </a:br>
                <a:r>
                  <a:rPr lang="en-US" sz="2200" i="1" noProof="0" dirty="0">
                    <a:solidFill>
                      <a:srgbClr val="000000"/>
                    </a:solidFill>
                  </a:rPr>
                  <a:t>Parallel gatekeeping procedure – Example with </a:t>
                </a:r>
                <a14:m>
                  <m:oMath xmlns:m="http://schemas.openxmlformats.org/officeDocument/2006/math">
                    <m:r>
                      <a:rPr lang="en-US" sz="2200" i="1" spc="-100" noProof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2200" i="1" spc="-100" noProof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=0.025</m:t>
                    </m:r>
                  </m:oMath>
                </a14:m>
                <a:endParaRPr lang="en-US" sz="2200" i="1" spc="-100" noProof="0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E0AF352-2209-23FE-DD43-EDD7915EA75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087" t="-6135" b="-55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A1187F9A-F7C8-3466-ACD9-70429BCB8B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3563" y="1378433"/>
            <a:ext cx="2128837" cy="3065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6DD540-DA35-3942-6FB2-31D0146463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 noProof="0"/>
              <a:t>Bretz, Chen, Xi | ISBS | October 2026</a:t>
            </a:r>
            <a:endParaRPr lang="en-US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E6DE0E-1A4D-0AAC-5630-185AEA3326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D9F39-F344-41AE-B531-1D3ECACBC820}" type="slidenum">
              <a:rPr lang="en-US" noProof="0" smtClean="0"/>
              <a:t>44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8380598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E0AF352-2209-23FE-DD43-EDD7915EA753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noProof="0" dirty="0"/>
                  <a:t>Common multiple test procedures</a:t>
                </a:r>
                <a:br>
                  <a:rPr kumimoji="0" lang="en-US" sz="3200" b="1" i="0" u="none" strike="noStrike" kern="1200" cap="none" spc="-10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 Black" panose="020B0A04020102020204"/>
                  </a:rPr>
                </a:br>
                <a:r>
                  <a:rPr lang="en-US" sz="2200" i="1" noProof="0" dirty="0">
                    <a:solidFill>
                      <a:srgbClr val="000000"/>
                    </a:solidFill>
                  </a:rPr>
                  <a:t>Parallel gatekeeping procedure – Example with </a:t>
                </a:r>
                <a14:m>
                  <m:oMath xmlns:m="http://schemas.openxmlformats.org/officeDocument/2006/math">
                    <m:r>
                      <a:rPr lang="en-US" sz="2200" i="1" spc="-100" noProof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2200" i="1" spc="-100" noProof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=0.025</m:t>
                    </m:r>
                  </m:oMath>
                </a14:m>
                <a:endParaRPr lang="en-US" sz="2200" i="1" spc="-100" noProof="0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E0AF352-2209-23FE-DD43-EDD7915EA75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087" t="-6135" b="-55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D24C1915-8330-1218-212C-FA2CA5830B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6176" y="3182587"/>
            <a:ext cx="2052637" cy="12543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AB9603-4012-FE2A-AEF7-8E23CF40AC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 noProof="0"/>
              <a:t>Bretz, Chen, Xi | ISBS | October 2026</a:t>
            </a:r>
            <a:endParaRPr lang="en-US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5D45CF-EE7E-E048-C6F5-C3DEF48AD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D9F39-F344-41AE-B531-1D3ECACBC820}" type="slidenum">
              <a:rPr lang="en-US" noProof="0" smtClean="0"/>
              <a:t>45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17346563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0AF352-2209-23FE-DD43-EDD7915EA7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Formal description</a:t>
            </a:r>
            <a:br>
              <a:rPr lang="en-US" noProof="0" dirty="0"/>
            </a:br>
            <a:r>
              <a:rPr lang="en-US" sz="2200" i="1" noProof="0" dirty="0">
                <a:solidFill>
                  <a:srgbClr val="000000"/>
                </a:solidFill>
              </a:rPr>
              <a:t>Notation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8C5345B-CA64-E007-9C18-3F1E37CEF33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369219"/>
                <a:ext cx="8407846" cy="3263504"/>
              </a:xfrm>
            </p:spPr>
            <p:txBody>
              <a:bodyPr/>
              <a:lstStyle/>
              <a:p>
                <a:r>
                  <a:rPr lang="en-US" noProof="0" dirty="0">
                    <a:solidFill>
                      <a:schemeClr val="tx1"/>
                    </a:solidFill>
                  </a:rPr>
                  <a:t>Define</a:t>
                </a:r>
              </a:p>
              <a:p>
                <a:pPr lvl="1"/>
                <a:r>
                  <a:rPr lang="en-US" noProof="0" dirty="0">
                    <a:solidFill>
                      <a:srgbClr val="5291DD"/>
                    </a:solidFill>
                  </a:rPr>
                  <a:t>Initial local significance levels </a:t>
                </a:r>
                <a14:m>
                  <m:oMath xmlns:m="http://schemas.openxmlformats.org/officeDocument/2006/math">
                    <m:r>
                      <a:rPr lang="en-US" b="1" i="1" noProof="0" smtClean="0">
                        <a:solidFill>
                          <a:schemeClr val="tx1"/>
                        </a:solidFill>
                        <a:latin typeface="Cambria Math"/>
                      </a:rPr>
                      <m:t>𝜶</m:t>
                    </m:r>
                    <m:r>
                      <a:rPr lang="en-US" b="0" i="1" noProof="0" smtClean="0">
                        <a:solidFill>
                          <a:schemeClr val="tx1"/>
                        </a:solidFill>
                        <a:latin typeface="Cambria Math"/>
                      </a:rPr>
                      <m:t>=</m:t>
                    </m:r>
                    <m:d>
                      <m:dPr>
                        <m:ctrlPr>
                          <a:rPr lang="en-US" b="0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noProof="0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b="0" i="1" noProof="0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𝛼</m:t>
                            </m:r>
                          </m:e>
                          <m:sub>
                            <m:r>
                              <a:rPr lang="en-US" b="0" i="1" noProof="0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en-US" b="0" i="1" noProof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,…,</m:t>
                        </m:r>
                        <m:sSub>
                          <m:sSubPr>
                            <m:ctrlPr>
                              <a:rPr lang="en-US" b="0" i="1" noProof="0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b="0" i="1" noProof="0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𝛼</m:t>
                            </m:r>
                          </m:e>
                          <m:sub>
                            <m:r>
                              <a:rPr lang="en-US" b="0" i="1" noProof="0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𝑚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noProof="0" dirty="0">
                    <a:solidFill>
                      <a:schemeClr val="tx1"/>
                    </a:solidFill>
                  </a:rPr>
                  <a:t> with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ctrlPr>
                          <a:rPr lang="en-US" b="0" i="1" noProof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b="0" i="1" noProof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𝑖</m:t>
                        </m:r>
                        <m:r>
                          <a:rPr lang="en-US" b="0" i="1" noProof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=1</m:t>
                        </m:r>
                      </m:sub>
                      <m:sup>
                        <m:r>
                          <a:rPr lang="en-US" b="0" i="1" noProof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𝑚</m:t>
                        </m:r>
                      </m:sup>
                      <m:e>
                        <m:sSub>
                          <m:sSubPr>
                            <m:ctrlPr>
                              <a:rPr lang="en-US" b="0" i="1" noProof="0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b="0" i="1" noProof="0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𝛼</m:t>
                            </m:r>
                          </m:e>
                          <m:sub>
                            <m:r>
                              <a:rPr lang="en-US" b="0" i="1" noProof="0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en-US" b="0" i="1" noProof="0" smtClean="0">
                        <a:solidFill>
                          <a:schemeClr val="tx1"/>
                        </a:solidFill>
                        <a:latin typeface="Cambria Math"/>
                      </a:rPr>
                      <m:t>=</m:t>
                    </m:r>
                    <m:r>
                      <a:rPr lang="en-US" b="0" i="1" noProof="0" smtClean="0">
                        <a:solidFill>
                          <a:schemeClr val="tx1"/>
                        </a:solidFill>
                        <a:latin typeface="Cambria Math"/>
                      </a:rPr>
                      <m:t>𝛼</m:t>
                    </m:r>
                    <m:r>
                      <a:rPr lang="en-US" b="0" i="1" noProof="0" smtClean="0">
                        <a:solidFill>
                          <a:schemeClr val="tx1"/>
                        </a:solidFill>
                        <a:latin typeface="Cambria Math"/>
                      </a:rPr>
                      <m:t>∈</m:t>
                    </m:r>
                    <m:d>
                      <m:dPr>
                        <m:ctrlPr>
                          <a:rPr lang="en-US" b="0" i="1" noProof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dPr>
                      <m:e>
                        <m:r>
                          <a:rPr lang="en-US" b="0" i="1" noProof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0,1</m:t>
                        </m:r>
                      </m:e>
                    </m:d>
                  </m:oMath>
                </a14:m>
                <a:endParaRPr lang="en-US" noProof="0" dirty="0">
                  <a:solidFill>
                    <a:schemeClr val="tx1"/>
                  </a:solidFill>
                </a:endParaRPr>
              </a:p>
              <a:p>
                <a:pPr lvl="1">
                  <a:tabLst>
                    <a:tab pos="398463" algn="l"/>
                  </a:tabLst>
                </a:pPr>
                <a14:m>
                  <m:oMath xmlns:m="http://schemas.openxmlformats.org/officeDocument/2006/math">
                    <m:r>
                      <a:rPr lang="en-US" b="0" i="1" noProof="0" smtClean="0">
                        <a:solidFill>
                          <a:schemeClr val="tx1"/>
                        </a:solidFill>
                        <a:latin typeface="Cambria Math"/>
                      </a:rPr>
                      <m:t>𝑚</m:t>
                    </m:r>
                    <m:r>
                      <a:rPr lang="en-US" b="0" i="1" noProof="0" smtClean="0">
                        <a:solidFill>
                          <a:schemeClr val="tx1"/>
                        </a:solidFill>
                        <a:latin typeface="Cambria Math"/>
                      </a:rPr>
                      <m:t>×</m:t>
                    </m:r>
                    <m:r>
                      <a:rPr lang="en-US" b="0" i="1" noProof="0" smtClean="0">
                        <a:solidFill>
                          <a:schemeClr val="tx1"/>
                        </a:solidFill>
                        <a:latin typeface="Cambria Math"/>
                      </a:rPr>
                      <m:t>𝑚</m:t>
                    </m:r>
                  </m:oMath>
                </a14:m>
                <a:r>
                  <a:rPr lang="en-US" noProof="0" dirty="0">
                    <a:solidFill>
                      <a:schemeClr val="tx1"/>
                    </a:solidFill>
                  </a:rPr>
                  <a:t> </a:t>
                </a:r>
                <a:r>
                  <a:rPr lang="en-US" noProof="0" dirty="0">
                    <a:solidFill>
                      <a:srgbClr val="5291DD"/>
                    </a:solidFill>
                  </a:rPr>
                  <a:t>transition matrix </a:t>
                </a:r>
                <a14:m>
                  <m:oMath xmlns:m="http://schemas.openxmlformats.org/officeDocument/2006/math">
                    <m:r>
                      <a:rPr lang="en-US" b="1" i="1" noProof="0" smtClean="0">
                        <a:solidFill>
                          <a:schemeClr val="tx1"/>
                        </a:solidFill>
                        <a:latin typeface="Cambria Math"/>
                      </a:rPr>
                      <m:t>𝑮</m:t>
                    </m:r>
                    <m:r>
                      <a:rPr lang="en-US" b="0" i="1" noProof="0" smtClean="0">
                        <a:solidFill>
                          <a:schemeClr val="tx1"/>
                        </a:solidFill>
                        <a:latin typeface="Cambria Math"/>
                      </a:rPr>
                      <m:t>=</m:t>
                    </m:r>
                    <m:d>
                      <m:dPr>
                        <m:ctrlPr>
                          <a:rPr lang="en-US" b="0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noProof="0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b="0" i="1" noProof="0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𝑔</m:t>
                            </m:r>
                          </m:e>
                          <m:sub>
                            <m:r>
                              <a:rPr lang="en-US" b="0" i="1" noProof="0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𝑖𝑗</m:t>
                            </m:r>
                          </m:sub>
                        </m:sSub>
                      </m:e>
                    </m:d>
                    <m:r>
                      <a:rPr lang="en-US" b="0" i="0" noProof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n-US" noProof="0" dirty="0">
                    <a:solidFill>
                      <a:schemeClr val="tx1"/>
                    </a:solidFill>
                  </a:rPr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noProof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b="0" i="1" noProof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𝑔</m:t>
                        </m:r>
                      </m:e>
                      <m:sub>
                        <m:r>
                          <a:rPr lang="en-US" b="0" i="1" noProof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noProof="0" dirty="0">
                    <a:solidFill>
                      <a:schemeClr val="tx1"/>
                    </a:solidFill>
                  </a:rPr>
                  <a:t> is the fraction of the level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noProof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b="0" i="1" noProof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𝐻</m:t>
                        </m:r>
                      </m:e>
                      <m:sub>
                        <m:r>
                          <a:rPr lang="en-US" b="0" i="1" noProof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noProof="0" dirty="0">
                    <a:solidFill>
                      <a:schemeClr val="tx1"/>
                    </a:solidFill>
                  </a:rPr>
                  <a:t> that is propagated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noProof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i="1" noProof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𝐻</m:t>
                        </m:r>
                      </m:e>
                      <m:sub>
                        <m:r>
                          <a:rPr lang="en-US" b="0" i="1" noProof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noProof="0" dirty="0">
                    <a:solidFill>
                      <a:schemeClr val="tx1"/>
                    </a:solidFill>
                  </a:rPr>
                  <a:t> with </a:t>
                </a:r>
                <a14:m>
                  <m:oMath xmlns:m="http://schemas.openxmlformats.org/officeDocument/2006/math">
                    <m:r>
                      <a:rPr lang="en-US" b="0" i="1" noProof="0" smtClean="0">
                        <a:solidFill>
                          <a:schemeClr val="tx1"/>
                        </a:solidFill>
                        <a:latin typeface="Cambria Math"/>
                      </a:rPr>
                      <m:t>0≤</m:t>
                    </m:r>
                    <m:sSub>
                      <m:sSubPr>
                        <m:ctrlPr>
                          <a:rPr lang="en-US" b="0" i="1" noProof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b="0" i="1" noProof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𝑔</m:t>
                        </m:r>
                      </m:e>
                      <m:sub>
                        <m:r>
                          <a:rPr lang="en-US" b="0" i="1" noProof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𝑖𝑗</m:t>
                        </m:r>
                      </m:sub>
                    </m:sSub>
                    <m:r>
                      <a:rPr lang="en-US" b="0" i="1" noProof="0" smtClean="0">
                        <a:solidFill>
                          <a:schemeClr val="tx1"/>
                        </a:solidFill>
                        <a:latin typeface="Cambria Math"/>
                      </a:rPr>
                      <m:t>≤1</m:t>
                    </m:r>
                  </m:oMath>
                </a14:m>
                <a:r>
                  <a:rPr lang="en-US" noProof="0" dirty="0">
                    <a:solidFill>
                      <a:schemeClr val="tx1"/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noProof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b="0" i="1" noProof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𝑔</m:t>
                        </m:r>
                      </m:e>
                      <m:sub>
                        <m:r>
                          <a:rPr lang="en-US" b="0" i="1" noProof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𝑖𝑖</m:t>
                        </m:r>
                      </m:sub>
                    </m:sSub>
                    <m:r>
                      <a:rPr lang="en-US" b="0" i="1" noProof="0" smtClean="0">
                        <a:solidFill>
                          <a:schemeClr val="tx1"/>
                        </a:solidFill>
                        <a:latin typeface="Cambria Math"/>
                      </a:rPr>
                      <m:t>=0</m:t>
                    </m:r>
                  </m:oMath>
                </a14:m>
                <a:r>
                  <a:rPr lang="en-US" noProof="0" dirty="0">
                    <a:solidFill>
                      <a:schemeClr val="tx1"/>
                    </a:solidFill>
                  </a:rPr>
                  <a:t>, and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ctrlPr>
                          <a:rPr lang="en-US" b="0" i="1" noProof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b="0" i="1" noProof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𝑗</m:t>
                        </m:r>
                        <m:r>
                          <a:rPr lang="en-US" b="0" i="1" noProof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=1</m:t>
                        </m:r>
                      </m:sub>
                      <m:sup>
                        <m:r>
                          <a:rPr lang="en-US" b="0" i="1" noProof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𝑚</m:t>
                        </m:r>
                      </m:sup>
                      <m:e>
                        <m:sSub>
                          <m:sSubPr>
                            <m:ctrlPr>
                              <a:rPr lang="en-US" b="0" i="1" noProof="0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b="0" i="1" noProof="0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𝑔</m:t>
                            </m:r>
                          </m:e>
                          <m:sub>
                            <m:r>
                              <a:rPr lang="en-US" b="0" i="1" noProof="0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𝑖𝑗</m:t>
                            </m:r>
                          </m:sub>
                        </m:sSub>
                      </m:e>
                    </m:nary>
                    <m:r>
                      <a:rPr lang="en-US" b="0" i="1" noProof="0" smtClean="0">
                        <a:solidFill>
                          <a:schemeClr val="tx1"/>
                        </a:solidFill>
                        <a:latin typeface="Cambria Math"/>
                      </a:rPr>
                      <m:t>≤1</m:t>
                    </m:r>
                  </m:oMath>
                </a14:m>
                <a:r>
                  <a:rPr lang="en-US" noProof="0" dirty="0">
                    <a:solidFill>
                      <a:schemeClr val="tx1"/>
                    </a:solidFill>
                  </a:rPr>
                  <a:t> for </a:t>
                </a:r>
                <a14:m>
                  <m:oMath xmlns:m="http://schemas.openxmlformats.org/officeDocument/2006/math">
                    <m:r>
                      <a:rPr lang="en-US" i="1" noProof="0" smtClean="0">
                        <a:latin typeface="Cambria Math"/>
                      </a:rPr>
                      <m:t>𝑖</m:t>
                    </m:r>
                    <m:r>
                      <a:rPr lang="en-US" i="1" noProof="0" smtClean="0">
                        <a:latin typeface="Cambria Math"/>
                      </a:rPr>
                      <m:t>=1,…,</m:t>
                    </m:r>
                    <m:r>
                      <a:rPr lang="en-US" i="1" noProof="0" smtClean="0">
                        <a:latin typeface="Cambria Math"/>
                      </a:rPr>
                      <m:t>𝑚</m:t>
                    </m:r>
                  </m:oMath>
                </a14:m>
                <a:endParaRPr lang="en-US" noProof="0" dirty="0">
                  <a:solidFill>
                    <a:schemeClr val="tx1"/>
                  </a:solidFill>
                </a:endParaRPr>
              </a:p>
              <a:p>
                <a:endParaRPr lang="en-US" b="1" i="1" noProof="0" dirty="0">
                  <a:solidFill>
                    <a:schemeClr val="tx1"/>
                  </a:solidFill>
                  <a:latin typeface="Cambria Math"/>
                </a:endParaRPr>
              </a:p>
              <a:p>
                <a14:m>
                  <m:oMath xmlns:m="http://schemas.openxmlformats.org/officeDocument/2006/math">
                    <m:d>
                      <m:dPr>
                        <m:ctrlPr>
                          <a:rPr lang="en-US" b="1" i="1" noProof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dPr>
                      <m:e>
                        <m:r>
                          <a:rPr lang="en-US" b="1" i="1" noProof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𝑮</m:t>
                        </m:r>
                        <m:r>
                          <a:rPr lang="en-US" b="1" i="1" noProof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,</m:t>
                        </m:r>
                        <m:r>
                          <a:rPr lang="en-US" b="1" i="1" noProof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𝜶</m:t>
                        </m:r>
                      </m:e>
                    </m:d>
                  </m:oMath>
                </a14:m>
                <a:r>
                  <a:rPr lang="en-US" noProof="0" dirty="0">
                    <a:solidFill>
                      <a:schemeClr val="tx1"/>
                    </a:solidFill>
                  </a:rPr>
                  <a:t> determine a graph with an associated </a:t>
                </a:r>
                <a:r>
                  <a:rPr lang="en-US" noProof="0" dirty="0">
                    <a:solidFill>
                      <a:srgbClr val="5291DD"/>
                    </a:solidFill>
                  </a:rPr>
                  <a:t>multiple test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8C5345B-CA64-E007-9C18-3F1E37CEF33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369219"/>
                <a:ext cx="8407846" cy="3263504"/>
              </a:xfrm>
              <a:blipFill>
                <a:blip r:embed="rId3"/>
                <a:stretch>
                  <a:fillRect l="-725" t="-4112" r="-5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5FD675-CF25-DA44-929F-EEC9F09B63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 noProof="0"/>
              <a:t>Bretz, Chen, Xi | ISBS | October 2026</a:t>
            </a:r>
            <a:endParaRPr lang="en-US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AA39DE-2CF2-6DA0-3AA7-F16EF47CC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D9F39-F344-41AE-B531-1D3ECACBC820}" type="slidenum">
              <a:rPr lang="en-US" noProof="0" smtClean="0"/>
              <a:t>46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360454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0AF352-2209-23FE-DD43-EDD7915EA7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Formal description</a:t>
            </a:r>
            <a:br>
              <a:rPr lang="en-US" noProof="0" dirty="0"/>
            </a:br>
            <a:r>
              <a:rPr lang="en-US" sz="2200" i="1" noProof="0" dirty="0">
                <a:solidFill>
                  <a:srgbClr val="000000"/>
                </a:solidFill>
              </a:rPr>
              <a:t>Update algorithm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8C5345B-CA64-E007-9C18-3F1E37CEF33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369218"/>
                <a:ext cx="7886700" cy="3500437"/>
              </a:xfrm>
            </p:spPr>
            <p:txBody>
              <a:bodyPr>
                <a:normAutofit/>
              </a:bodyPr>
              <a:lstStyle/>
              <a:p>
                <a:pPr marL="165100" lvl="1" indent="0">
                  <a:buClr>
                    <a:srgbClr val="FF6600"/>
                  </a:buClr>
                  <a:buSzPct val="70000"/>
                  <a:buNone/>
                </a:pPr>
                <a:r>
                  <a:rPr lang="en-US" sz="1800" noProof="0" dirty="0"/>
                  <a:t>Set </a:t>
                </a:r>
                <a14:m>
                  <m:oMath xmlns:m="http://schemas.openxmlformats.org/officeDocument/2006/math">
                    <m:r>
                      <a:rPr lang="en-US" sz="1800" b="0" i="1" noProof="0" smtClean="0">
                        <a:latin typeface="Cambria Math"/>
                      </a:rPr>
                      <m:t>𝐽</m:t>
                    </m:r>
                    <m:r>
                      <a:rPr lang="en-US" sz="1800" b="0" i="1" noProof="0" smtClean="0">
                        <a:latin typeface="Cambria Math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1800" b="0" i="1" noProof="0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sz="1800" b="0" i="1" noProof="0" smtClean="0">
                            <a:latin typeface="Cambria Math"/>
                          </a:rPr>
                          <m:t>1,…,</m:t>
                        </m:r>
                        <m:r>
                          <a:rPr lang="en-US" sz="1800" b="0" i="1" noProof="0" smtClean="0">
                            <a:latin typeface="Cambria Math"/>
                          </a:rPr>
                          <m:t>𝑚</m:t>
                        </m:r>
                      </m:e>
                    </m:d>
                  </m:oMath>
                </a14:m>
                <a:endParaRPr lang="en-US" sz="1800" noProof="0" dirty="0"/>
              </a:p>
              <a:p>
                <a:pPr marL="527050" lvl="1" indent="-361950" defTabSz="914400">
                  <a:lnSpc>
                    <a:spcPct val="100000"/>
                  </a:lnSpc>
                  <a:spcBef>
                    <a:spcPts val="300"/>
                  </a:spcBef>
                  <a:buClr>
                    <a:srgbClr val="5191DD">
                      <a:lumMod val="75000"/>
                    </a:srgbClr>
                  </a:buClr>
                  <a:buSzPct val="70000"/>
                  <a:buFont typeface="Cambria" panose="02040503050406030204" pitchFamily="18" charset="0"/>
                  <a:buChar char="❶"/>
                </a:pPr>
                <a:r>
                  <a:rPr lang="en-US" sz="1800" noProof="0" dirty="0"/>
                  <a:t>Select a </a:t>
                </a:r>
                <a14:m>
                  <m:oMath xmlns:m="http://schemas.openxmlformats.org/officeDocument/2006/math">
                    <m:r>
                      <a:rPr lang="en-US" sz="1800" b="0" i="1" noProof="0" smtClean="0">
                        <a:solidFill>
                          <a:srgbClr val="5291DD"/>
                        </a:solidFill>
                        <a:latin typeface="Cambria Math"/>
                      </a:rPr>
                      <m:t>𝑗</m:t>
                    </m:r>
                  </m:oMath>
                </a14:m>
                <a:r>
                  <a:rPr lang="en-US" sz="1800" noProof="0" dirty="0"/>
                  <a:t> such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noProof="0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1800" b="0" i="1" noProof="0" smtClean="0">
                            <a:latin typeface="Cambria Math"/>
                          </a:rPr>
                          <m:t>𝑝</m:t>
                        </m:r>
                      </m:e>
                      <m:sub>
                        <m:r>
                          <a:rPr lang="en-US" sz="1800" b="0" i="1" noProof="0" smtClean="0">
                            <a:solidFill>
                              <a:srgbClr val="5291DD"/>
                            </a:solidFill>
                            <a:latin typeface="Cambria Math"/>
                          </a:rPr>
                          <m:t>𝑗</m:t>
                        </m:r>
                      </m:sub>
                    </m:sSub>
                    <m:r>
                      <a:rPr lang="en-US" sz="1800" b="0" i="1" noProof="0" smtClean="0">
                        <a:latin typeface="Cambria Math"/>
                      </a:rPr>
                      <m:t>≤</m:t>
                    </m:r>
                    <m:sSub>
                      <m:sSubPr>
                        <m:ctrlPr>
                          <a:rPr lang="en-US" sz="1800" b="0" i="1" noProof="0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1800" b="0" i="1" noProof="0" smtClean="0">
                            <a:latin typeface="Cambria Math"/>
                          </a:rPr>
                          <m:t>𝛼</m:t>
                        </m:r>
                      </m:e>
                      <m:sub>
                        <m:r>
                          <a:rPr lang="en-US" sz="1800" b="0" i="1" noProof="0" smtClean="0">
                            <a:solidFill>
                              <a:srgbClr val="5291DD"/>
                            </a:solidFill>
                            <a:latin typeface="Cambria Math"/>
                          </a:rPr>
                          <m:t>𝑗</m:t>
                        </m:r>
                      </m:sub>
                    </m:sSub>
                  </m:oMath>
                </a14:m>
                <a:endParaRPr lang="en-US" sz="1800" noProof="0" dirty="0"/>
              </a:p>
              <a:p>
                <a:pPr marL="165100" lvl="1" indent="0">
                  <a:buClr>
                    <a:srgbClr val="FF6600"/>
                  </a:buClr>
                  <a:buSzPct val="70000"/>
                  <a:buNone/>
                  <a:tabLst>
                    <a:tab pos="525600" algn="l"/>
                  </a:tabLst>
                </a:pPr>
                <a:r>
                  <a:rPr lang="en-US" sz="1800" noProof="0" dirty="0"/>
                  <a:t>	If no such </a:t>
                </a:r>
                <a14:m>
                  <m:oMath xmlns:m="http://schemas.openxmlformats.org/officeDocument/2006/math">
                    <m:r>
                      <a:rPr lang="en-US" sz="1800" b="0" i="1" noProof="0" smtClean="0">
                        <a:solidFill>
                          <a:srgbClr val="5291DD"/>
                        </a:solidFill>
                        <a:latin typeface="Cambria Math"/>
                      </a:rPr>
                      <m:t>𝑗</m:t>
                    </m:r>
                  </m:oMath>
                </a14:m>
                <a:r>
                  <a:rPr lang="en-US" sz="1800" noProof="0" dirty="0"/>
                  <a:t> exists, stop; otherwise reject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noProof="0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1800" b="0" i="1" noProof="0" smtClean="0">
                            <a:latin typeface="Cambria Math"/>
                          </a:rPr>
                          <m:t>𝐻</m:t>
                        </m:r>
                      </m:e>
                      <m:sub>
                        <m:r>
                          <a:rPr lang="en-US" sz="1800" b="0" i="1" noProof="0" smtClean="0">
                            <a:solidFill>
                              <a:srgbClr val="5291DD"/>
                            </a:solidFill>
                            <a:latin typeface="Cambria Math"/>
                          </a:rPr>
                          <m:t>𝑗</m:t>
                        </m:r>
                      </m:sub>
                    </m:sSub>
                  </m:oMath>
                </a14:m>
                <a:endParaRPr lang="en-US" sz="1800" noProof="0" dirty="0"/>
              </a:p>
              <a:p>
                <a:pPr marL="527050" lvl="1" indent="-361950" defTabSz="914400">
                  <a:lnSpc>
                    <a:spcPct val="100000"/>
                  </a:lnSpc>
                  <a:spcBef>
                    <a:spcPts val="300"/>
                  </a:spcBef>
                  <a:buClr>
                    <a:srgbClr val="5191DD">
                      <a:lumMod val="75000"/>
                    </a:srgbClr>
                  </a:buClr>
                  <a:buSzPct val="70000"/>
                  <a:buFont typeface="Cambria" panose="02040503050406030204" pitchFamily="18" charset="0"/>
                  <a:buChar char="❷"/>
                </a:pPr>
                <a:r>
                  <a:rPr lang="en-US" sz="1800" noProof="0" dirty="0"/>
                  <a:t>Update the graph:</a:t>
                </a:r>
              </a:p>
              <a:p>
                <a:pPr marL="165100" lvl="1" indent="0">
                  <a:buClr>
                    <a:srgbClr val="FF6600"/>
                  </a:buClr>
                  <a:buSzPct val="70000"/>
                  <a:buNone/>
                  <a:tabLst>
                    <a:tab pos="1077913" algn="l"/>
                    <a:tab pos="1527175" algn="l"/>
                  </a:tabLst>
                </a:pPr>
                <a:r>
                  <a:rPr lang="en-US" sz="1800" noProof="0" dirty="0"/>
                  <a:t>	</a:t>
                </a:r>
                <a14:m>
                  <m:oMath xmlns:m="http://schemas.openxmlformats.org/officeDocument/2006/math">
                    <m:r>
                      <a:rPr lang="en-US" sz="1800" b="0" i="1" noProof="0" smtClean="0">
                        <a:latin typeface="Cambria Math"/>
                      </a:rPr>
                      <m:t>𝐽</m:t>
                    </m:r>
                  </m:oMath>
                </a14:m>
                <a:r>
                  <a:rPr lang="en-US" sz="1800" noProof="0" dirty="0"/>
                  <a:t>	</a:t>
                </a:r>
                <a14:m>
                  <m:oMath xmlns:m="http://schemas.openxmlformats.org/officeDocument/2006/math">
                    <m:r>
                      <a:rPr lang="en-US" sz="1800" i="1" noProof="0" smtClean="0">
                        <a:latin typeface="Cambria Math"/>
                        <a:ea typeface="Cambria Math"/>
                      </a:rPr>
                      <m:t>→</m:t>
                    </m:r>
                    <m:r>
                      <a:rPr lang="en-US" sz="1800" i="1" noProof="0" smtClean="0">
                        <a:latin typeface="Cambria Math"/>
                        <a:ea typeface="Cambria Math"/>
                      </a:rPr>
                      <m:t>𝐽</m:t>
                    </m:r>
                    <m:r>
                      <a:rPr lang="en-US" sz="1800" i="1" noProof="0" smtClean="0">
                        <a:latin typeface="Cambria Math"/>
                        <a:ea typeface="Cambria Math"/>
                      </a:rPr>
                      <m:t>∖</m:t>
                    </m:r>
                    <m:d>
                      <m:dPr>
                        <m:begChr m:val="{"/>
                        <m:endChr m:val="}"/>
                        <m:ctrlPr>
                          <a:rPr lang="en-US" sz="1800" i="1" noProof="0" smtClean="0">
                            <a:solidFill>
                              <a:srgbClr val="5291DD"/>
                            </a:solidFill>
                            <a:latin typeface="Cambria Math"/>
                            <a:ea typeface="Cambria Math"/>
                          </a:rPr>
                        </m:ctrlPr>
                      </m:dPr>
                      <m:e>
                        <m:r>
                          <a:rPr lang="en-US" sz="1800" i="1" noProof="0" smtClean="0">
                            <a:solidFill>
                              <a:srgbClr val="5291DD"/>
                            </a:solidFill>
                            <a:latin typeface="Cambria Math"/>
                            <a:ea typeface="Cambria Math"/>
                          </a:rPr>
                          <m:t>𝑗</m:t>
                        </m:r>
                      </m:e>
                    </m:d>
                  </m:oMath>
                </a14:m>
                <a:endParaRPr lang="en-US" sz="1800" noProof="0" dirty="0"/>
              </a:p>
              <a:p>
                <a:pPr marL="165100" lvl="1" indent="0">
                  <a:buClr>
                    <a:srgbClr val="FF6600"/>
                  </a:buClr>
                  <a:buSzPct val="70000"/>
                  <a:buNone/>
                  <a:tabLst>
                    <a:tab pos="1077913" algn="l"/>
                    <a:tab pos="1527175" algn="l"/>
                  </a:tabLst>
                </a:pPr>
                <a:r>
                  <a:rPr lang="en-US" sz="1800" noProof="0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noProof="0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1800" i="1" noProof="0" smtClean="0">
                            <a:latin typeface="Cambria Math"/>
                          </a:rPr>
                          <m:t>𝛼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800" i="1" noProof="0" smtClean="0">
                            <a:latin typeface="Cambria Math"/>
                          </a:rPr>
                          <m:t>ℓ</m:t>
                        </m:r>
                      </m:sub>
                    </m:sSub>
                  </m:oMath>
                </a14:m>
                <a:r>
                  <a:rPr lang="en-US" sz="1800" noProof="0" dirty="0"/>
                  <a:t>	</a:t>
                </a:r>
                <a14:m>
                  <m:oMath xmlns:m="http://schemas.openxmlformats.org/officeDocument/2006/math">
                    <m:r>
                      <a:rPr lang="en-US" sz="1800" i="1" noProof="0" smtClean="0">
                        <a:latin typeface="Cambria Math"/>
                        <a:ea typeface="Cambria Math"/>
                      </a:rPr>
                      <m:t>→</m:t>
                    </m:r>
                  </m:oMath>
                </a14:m>
                <a:r>
                  <a:rPr lang="en-US" sz="1800" noProof="0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sz="1800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sz="1800" i="1" noProof="0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sz="1800" i="1" noProof="0" smtClean="0">
                                <a:latin typeface="Cambria Math"/>
                              </a:rPr>
                              <m:t>&amp;</m:t>
                            </m:r>
                            <m:sSub>
                              <m:sSubPr>
                                <m:ctrlPr>
                                  <a:rPr lang="en-US" sz="1800" i="1" noProof="0" smtClean="0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sz="1800" i="1" noProof="0" smtClean="0">
                                    <a:latin typeface="Cambria Math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sz="1800" i="1" noProof="0" smtClean="0">
                                    <a:latin typeface="Cambria Math"/>
                                  </a:rPr>
                                  <m:t>ℓ</m:t>
                                </m:r>
                              </m:sub>
                            </m:sSub>
                            <m:r>
                              <a:rPr lang="en-US" sz="1800" i="1" noProof="0" smtClean="0">
                                <a:latin typeface="Cambria Math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sz="1800" i="1" noProof="0" smtClean="0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sz="1800" i="1" noProof="0" smtClean="0">
                                    <a:latin typeface="Cambria Math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 lang="en-US" sz="1800" i="1" noProof="0" smtClean="0">
                                    <a:solidFill>
                                      <a:srgbClr val="5291DD"/>
                                    </a:solidFill>
                                    <a:latin typeface="Cambria Math"/>
                                  </a:rPr>
                                  <m:t>𝑗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sz="1800" i="1" noProof="0" smtClean="0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sz="1800" i="1" noProof="0" smtClean="0">
                                    <a:latin typeface="Cambria Math"/>
                                  </a:rPr>
                                  <m:t>𝑔</m:t>
                                </m:r>
                              </m:e>
                              <m:sub>
                                <m:r>
                                  <a:rPr lang="en-US" sz="1800" i="1" noProof="0" smtClean="0">
                                    <a:solidFill>
                                      <a:srgbClr val="5291DD"/>
                                    </a:solidFill>
                                    <a:latin typeface="Cambria Math"/>
                                  </a:rPr>
                                  <m:t>𝑗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1800" i="1" noProof="0" smtClean="0">
                                    <a:latin typeface="Cambria Math"/>
                                  </a:rPr>
                                  <m:t>ℓ</m:t>
                                </m:r>
                              </m:sub>
                            </m:sSub>
                            <m:r>
                              <a:rPr lang="en-US" sz="1800" b="0" i="1" noProof="0" smtClean="0">
                                <a:latin typeface="Cambria Math"/>
                              </a:rPr>
                              <m:t>,   </m:t>
                            </m:r>
                            <m:r>
                              <m:rPr>
                                <m:sty m:val="p"/>
                              </m:rPr>
                              <a:rPr lang="en-US" sz="1800" b="0" i="1" noProof="0" smtClean="0">
                                <a:latin typeface="Cambria Math"/>
                              </a:rPr>
                              <m:t>ℓ</m:t>
                            </m:r>
                            <m:r>
                              <a:rPr lang="en-US" sz="1800" b="0" i="1" noProof="0" smtClean="0">
                                <a:latin typeface="Cambria Math"/>
                              </a:rPr>
                              <m:t>∈</m:t>
                            </m:r>
                            <m:r>
                              <a:rPr lang="en-US" sz="1800" b="0" i="1" noProof="0" smtClean="0">
                                <a:latin typeface="Cambria Math"/>
                              </a:rPr>
                              <m:t>𝐽</m:t>
                            </m:r>
                            <m:r>
                              <a:rPr lang="en-US" sz="1800" b="0" i="1" noProof="0" smtClean="0">
                                <a:latin typeface="Cambria Math"/>
                              </a:rPr>
                              <m:t> </m:t>
                            </m:r>
                          </m:e>
                          <m:e>
                            <m:r>
                              <a:rPr lang="en-US" sz="1800" b="0" i="1" noProof="0" smtClean="0">
                                <a:latin typeface="Cambria Math"/>
                              </a:rPr>
                              <m:t> &amp;0, </m:t>
                            </m:r>
                            <m:r>
                              <m:rPr>
                                <m:nor/>
                              </m:rPr>
                              <a:rPr lang="en-US" sz="1800" b="0" i="0" noProof="0" smtClean="0">
                                <a:latin typeface="Cambria Math"/>
                              </a:rPr>
                              <m:t>                   otherwise</m:t>
                            </m:r>
                          </m:e>
                        </m:eqArr>
                      </m:e>
                    </m:d>
                  </m:oMath>
                </a14:m>
                <a:endParaRPr lang="en-US" sz="1800" noProof="0" dirty="0"/>
              </a:p>
              <a:p>
                <a:pPr marL="165100" lvl="1" indent="0">
                  <a:buClr>
                    <a:srgbClr val="FF6600"/>
                  </a:buClr>
                  <a:buSzPct val="70000"/>
                  <a:buNone/>
                  <a:tabLst>
                    <a:tab pos="1077913" algn="l"/>
                    <a:tab pos="1527175" algn="l"/>
                  </a:tabLst>
                </a:pPr>
                <a:r>
                  <a:rPr lang="en-US" sz="1800" noProof="0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noProof="0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1800" b="0" i="1" noProof="0" smtClean="0">
                            <a:latin typeface="Cambria Math"/>
                          </a:rPr>
                          <m:t>𝑔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800" b="0" i="1" noProof="0" smtClean="0">
                            <a:latin typeface="Cambria Math"/>
                          </a:rPr>
                          <m:t>ℓ</m:t>
                        </m:r>
                        <m:r>
                          <a:rPr lang="en-US" sz="1800" b="0" i="1" noProof="0" smtClean="0">
                            <a:latin typeface="Cambria Math"/>
                          </a:rPr>
                          <m:t>𝑚</m:t>
                        </m:r>
                      </m:sub>
                    </m:sSub>
                    <m:r>
                      <a:rPr lang="en-US" sz="1800" i="1" noProof="0" smtClean="0">
                        <a:latin typeface="Cambria Math"/>
                        <a:ea typeface="Cambria Math"/>
                      </a:rPr>
                      <m:t>→</m:t>
                    </m:r>
                  </m:oMath>
                </a14:m>
                <a:r>
                  <a:rPr lang="en-US" sz="1800" noProof="0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sz="1800" b="0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sz="1800" b="0" i="1" noProof="0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sz="1800" b="0" i="1" noProof="0" smtClean="0">
                                <a:latin typeface="Cambria Math"/>
                              </a:rPr>
                              <m:t>&amp;</m:t>
                            </m:r>
                            <m:f>
                              <m:fPr>
                                <m:ctrlPr>
                                  <a:rPr lang="en-US" sz="1800" b="0" i="1" noProof="0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sz="1800" b="0" i="1" noProof="0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noProof="0" smtClean="0">
                                        <a:latin typeface="Cambria Math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sz="1800" b="0" i="1" noProof="0" smtClean="0">
                                        <a:latin typeface="Cambria Math"/>
                                      </a:rPr>
                                      <m:t>ℓ</m:t>
                                    </m:r>
                                    <m:r>
                                      <a:rPr lang="en-US" sz="1800" b="0" i="1" noProof="0" smtClean="0">
                                        <a:latin typeface="Cambria Math"/>
                                      </a:rPr>
                                      <m:t>𝑚</m:t>
                                    </m:r>
                                  </m:sub>
                                </m:sSub>
                                <m:r>
                                  <a:rPr lang="en-US" sz="1800" b="0" i="1" noProof="0" smtClean="0">
                                    <a:latin typeface="Cambria Math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800" b="0" i="1" noProof="0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noProof="0" smtClean="0">
                                        <a:latin typeface="Cambria Math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sz="1800" b="0" i="1" noProof="0" smtClean="0">
                                        <a:latin typeface="Cambria Math"/>
                                      </a:rPr>
                                      <m:t>ℓ</m:t>
                                    </m:r>
                                    <m:r>
                                      <a:rPr lang="en-US" sz="1800" b="0" i="1" noProof="0" smtClean="0">
                                        <a:solidFill>
                                          <a:srgbClr val="5291DD"/>
                                        </a:solidFill>
                                        <a:latin typeface="Cambria Math"/>
                                      </a:rPr>
                                      <m:t>𝑗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800" b="0" i="1" noProof="0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noProof="0" smtClean="0">
                                        <a:latin typeface="Cambria Math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lang="en-US" sz="1800" b="0" i="1" noProof="0" smtClean="0">
                                        <a:solidFill>
                                          <a:srgbClr val="5291DD"/>
                                        </a:solidFill>
                                        <a:latin typeface="Cambria Math"/>
                                      </a:rPr>
                                      <m:t>𝑗</m:t>
                                    </m:r>
                                    <m:r>
                                      <a:rPr lang="en-US" sz="1800" b="0" i="1" noProof="0" smtClean="0">
                                        <a:latin typeface="Cambria Math"/>
                                      </a:rPr>
                                      <m:t>𝑚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a:rPr lang="en-US" sz="1800" b="0" i="1" noProof="0" smtClean="0">
                                    <a:latin typeface="Cambria Math"/>
                                  </a:rPr>
                                  <m:t>1−</m:t>
                                </m:r>
                                <m:sSub>
                                  <m:sSubPr>
                                    <m:ctrlPr>
                                      <a:rPr lang="en-US" sz="1800" b="0" i="1" noProof="0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noProof="0" smtClean="0">
                                        <a:latin typeface="Cambria Math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sz="1800" b="0" i="1" noProof="0" smtClean="0">
                                        <a:latin typeface="Cambria Math"/>
                                      </a:rPr>
                                      <m:t>ℓ</m:t>
                                    </m:r>
                                    <m:r>
                                      <a:rPr lang="en-US" sz="1800" b="0" i="1" noProof="0" smtClean="0">
                                        <a:solidFill>
                                          <a:srgbClr val="5291DD"/>
                                        </a:solidFill>
                                        <a:latin typeface="Cambria Math"/>
                                      </a:rPr>
                                      <m:t>𝑗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800" b="0" i="1" noProof="0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noProof="0" smtClean="0">
                                        <a:latin typeface="Cambria Math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lang="en-US" sz="1800" b="0" i="1" noProof="0" smtClean="0">
                                        <a:solidFill>
                                          <a:srgbClr val="5291DD"/>
                                        </a:solidFill>
                                        <a:latin typeface="Cambria Math"/>
                                      </a:rPr>
                                      <m:t>𝑗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sz="1800" b="0" i="1" noProof="0" smtClean="0">
                                        <a:latin typeface="Cambria Math"/>
                                      </a:rPr>
                                      <m:t>ℓ</m:t>
                                    </m:r>
                                  </m:sub>
                                </m:sSub>
                              </m:den>
                            </m:f>
                            <m:r>
                              <a:rPr lang="en-US" sz="1800" b="0" i="1" noProof="0" smtClean="0">
                                <a:latin typeface="Cambria Math"/>
                              </a:rPr>
                              <m:t>,   </m:t>
                            </m:r>
                            <m:r>
                              <m:rPr>
                                <m:sty m:val="p"/>
                              </m:rPr>
                              <a:rPr lang="en-US" sz="1800" b="0" i="1" noProof="0" smtClean="0">
                                <a:latin typeface="Cambria Math"/>
                              </a:rPr>
                              <m:t>ℓ</m:t>
                            </m:r>
                            <m:r>
                              <a:rPr lang="en-US" sz="1800" b="0" i="1" noProof="0" smtClean="0">
                                <a:latin typeface="Cambria Math"/>
                              </a:rPr>
                              <m:t>,</m:t>
                            </m:r>
                            <m:r>
                              <a:rPr lang="en-US" sz="1800" b="0" i="1" noProof="0" smtClean="0">
                                <a:latin typeface="Cambria Math"/>
                              </a:rPr>
                              <m:t>𝑚</m:t>
                            </m:r>
                            <m:r>
                              <a:rPr lang="en-US" sz="1800" b="0" i="1" noProof="0" smtClean="0">
                                <a:latin typeface="Cambria Math"/>
                              </a:rPr>
                              <m:t>∈</m:t>
                            </m:r>
                            <m:r>
                              <a:rPr lang="en-US" sz="1800" b="0" i="1" noProof="0" smtClean="0">
                                <a:latin typeface="Cambria Math"/>
                              </a:rPr>
                              <m:t>𝐽</m:t>
                            </m:r>
                            <m:r>
                              <a:rPr lang="en-US" sz="1800" b="0" i="1" noProof="0" smtClean="0">
                                <a:latin typeface="Cambria Math"/>
                              </a:rPr>
                              <m:t>,</m:t>
                            </m:r>
                            <m:r>
                              <m:rPr>
                                <m:sty m:val="p"/>
                              </m:rPr>
                              <a:rPr lang="en-US" sz="1800" b="0" i="1" noProof="0" smtClean="0">
                                <a:latin typeface="Cambria Math"/>
                              </a:rPr>
                              <m:t>ℓ</m:t>
                            </m:r>
                            <m:r>
                              <a:rPr lang="en-US" sz="1800" b="0" i="1" noProof="0" smtClean="0">
                                <a:latin typeface="Cambria Math"/>
                              </a:rPr>
                              <m:t>≠</m:t>
                            </m:r>
                            <m:r>
                              <a:rPr lang="en-US" sz="1800" b="0" i="1" noProof="0" smtClean="0">
                                <a:latin typeface="Cambria Math"/>
                              </a:rPr>
                              <m:t>𝑚</m:t>
                            </m:r>
                            <m:r>
                              <a:rPr lang="en-US" sz="1800" b="0" i="1" noProof="0" smtClean="0">
                                <a:latin typeface="Cambria Math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1800" i="1" noProof="0" smtClean="0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sz="1800" i="1" noProof="0" smtClean="0">
                                    <a:latin typeface="Cambria Math"/>
                                  </a:rPr>
                                  <m:t>𝑔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sz="1800" i="1" noProof="0" smtClean="0">
                                    <a:latin typeface="Cambria Math"/>
                                  </a:rPr>
                                  <m:t>ℓ</m:t>
                                </m:r>
                                <m:r>
                                  <a:rPr lang="en-US" sz="1800" i="1" noProof="0" smtClean="0">
                                    <a:solidFill>
                                      <a:srgbClr val="5291DD"/>
                                    </a:solidFill>
                                    <a:latin typeface="Cambria Math"/>
                                  </a:rPr>
                                  <m:t>𝑗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sz="1800" i="1" noProof="0" smtClean="0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sz="1800" i="1" noProof="0" smtClean="0">
                                    <a:latin typeface="Cambria Math"/>
                                  </a:rPr>
                                  <m:t>𝑔</m:t>
                                </m:r>
                              </m:e>
                              <m:sub>
                                <m:r>
                                  <a:rPr lang="en-US" sz="1800" i="1" noProof="0" smtClean="0">
                                    <a:solidFill>
                                      <a:srgbClr val="5291DD"/>
                                    </a:solidFill>
                                    <a:latin typeface="Cambria Math"/>
                                  </a:rPr>
                                  <m:t>𝑗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1800" i="1" noProof="0" smtClean="0">
                                    <a:latin typeface="Cambria Math"/>
                                  </a:rPr>
                                  <m:t>ℓ</m:t>
                                </m:r>
                              </m:sub>
                            </m:sSub>
                            <m:r>
                              <a:rPr lang="en-US" sz="1800" b="0" i="1" noProof="0" smtClean="0">
                                <a:latin typeface="Cambria Math"/>
                              </a:rPr>
                              <m:t>&lt;1 </m:t>
                            </m:r>
                          </m:e>
                          <m:e>
                            <m:r>
                              <a:rPr lang="en-US" sz="1800" b="0" i="1" noProof="0" smtClean="0">
                                <a:latin typeface="Cambria Math"/>
                              </a:rPr>
                              <m:t> &amp;0, </m:t>
                            </m:r>
                            <m:r>
                              <m:rPr>
                                <m:nor/>
                              </m:rPr>
                              <a:rPr lang="en-US" sz="1800" b="0" i="0" noProof="0" smtClean="0">
                                <a:latin typeface="Cambria Math"/>
                              </a:rPr>
                              <m:t>                   otherwise</m:t>
                            </m:r>
                          </m:e>
                        </m:eqArr>
                      </m:e>
                    </m:d>
                  </m:oMath>
                </a14:m>
                <a:endParaRPr lang="en-US" sz="1800" noProof="0" dirty="0"/>
              </a:p>
              <a:p>
                <a:pPr marL="527050" lvl="1" indent="-361950" defTabSz="914400">
                  <a:lnSpc>
                    <a:spcPct val="100000"/>
                  </a:lnSpc>
                  <a:spcBef>
                    <a:spcPts val="300"/>
                  </a:spcBef>
                  <a:buClr>
                    <a:srgbClr val="5191DD">
                      <a:lumMod val="75000"/>
                    </a:srgbClr>
                  </a:buClr>
                  <a:buSzPct val="70000"/>
                  <a:buFont typeface="Cambria" panose="02040503050406030204" pitchFamily="18" charset="0"/>
                  <a:buChar char="❸"/>
                </a:pPr>
                <a:r>
                  <a:rPr lang="en-US" noProof="0" dirty="0">
                    <a:solidFill>
                      <a:srgbClr val="000000"/>
                    </a:solidFill>
                  </a:rPr>
                  <a:t>Go to Step 1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8C5345B-CA64-E007-9C18-3F1E37CEF33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369218"/>
                <a:ext cx="7886700" cy="3500437"/>
              </a:xfrm>
              <a:blipFill>
                <a:blip r:embed="rId3"/>
                <a:stretch>
                  <a:fillRect t="-17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EE4822-2412-34C7-2CA3-6A5CEB898F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 noProof="0"/>
              <a:t>Bretz, Chen, Xi | ISBS | October 2026</a:t>
            </a:r>
            <a:endParaRPr lang="en-US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60BBBE-32CA-00EE-B264-6E8A873039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D9F39-F344-41AE-B531-1D3ECACBC820}" type="slidenum">
              <a:rPr lang="en-US" noProof="0" smtClean="0"/>
              <a:t>47</a:t>
            </a:fld>
            <a:endParaRPr lang="en-US" noProof="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B64F8E9-B78B-A341-2E0C-DA37B9147C17}"/>
              </a:ext>
            </a:extLst>
          </p:cNvPr>
          <p:cNvSpPr txBox="1"/>
          <p:nvPr/>
        </p:nvSpPr>
        <p:spPr>
          <a:xfrm>
            <a:off x="6938682" y="3824123"/>
            <a:ext cx="220531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50" noProof="0" dirty="0">
                <a:latin typeface="Arial" panose="020B0604020202020204" pitchFamily="34" charset="0"/>
                <a:cs typeface="Arial" panose="020B0604020202020204" pitchFamily="34" charset="0"/>
              </a:rPr>
              <a:t>(Maurer, Bretz and Posch, 2022)</a:t>
            </a:r>
          </a:p>
        </p:txBody>
      </p:sp>
    </p:spTree>
    <p:extLst>
      <p:ext uri="{BB962C8B-B14F-4D97-AF65-F5344CB8AC3E}">
        <p14:creationId xmlns:p14="http://schemas.microsoft.com/office/powerpoint/2010/main" val="24869020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0AF352-2209-23FE-DD43-EDD7915EA7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Formal description</a:t>
            </a:r>
            <a:br>
              <a:rPr lang="en-US" noProof="0" dirty="0"/>
            </a:br>
            <a:r>
              <a:rPr lang="en-US" sz="2200" i="1" noProof="0" dirty="0">
                <a:solidFill>
                  <a:srgbClr val="000000"/>
                </a:solidFill>
              </a:rPr>
              <a:t>Main result (Bretz, Maurer, Brannath, and Posch 2009)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8C5345B-CA64-E007-9C18-3F1E37CEF33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369218"/>
                <a:ext cx="7886700" cy="3671889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sz="2000" noProof="0" dirty="0"/>
                  <a:t>The initial levels </a:t>
                </a:r>
                <a14:m>
                  <m:oMath xmlns:m="http://schemas.openxmlformats.org/officeDocument/2006/math">
                    <m:r>
                      <a:rPr lang="en-US" sz="2000" b="1" i="1" noProof="0" smtClean="0">
                        <a:latin typeface="Cambria Math"/>
                      </a:rPr>
                      <m:t>𝜶</m:t>
                    </m:r>
                  </m:oMath>
                </a14:m>
                <a:r>
                  <a:rPr lang="en-US" sz="2000" noProof="0" dirty="0"/>
                  <a:t>, the transition matrix </a:t>
                </a:r>
                <a14:m>
                  <m:oMath xmlns:m="http://schemas.openxmlformats.org/officeDocument/2006/math">
                    <m:r>
                      <a:rPr lang="en-US" sz="2000" b="1" i="1" noProof="0" smtClean="0">
                        <a:latin typeface="Cambria Math"/>
                      </a:rPr>
                      <m:t>𝑮</m:t>
                    </m:r>
                  </m:oMath>
                </a14:m>
                <a:r>
                  <a:rPr lang="en-US" sz="2000" noProof="0" dirty="0"/>
                  <a:t>, and the algorithm define a unique sequentially rejective test procedure that controls the familywise error rate (FWER) at level </a:t>
                </a:r>
                <a14:m>
                  <m:oMath xmlns:m="http://schemas.openxmlformats.org/officeDocument/2006/math">
                    <m:r>
                      <a:rPr lang="en-US" sz="2000" b="0" i="1" noProof="0" smtClean="0">
                        <a:latin typeface="Cambria Math"/>
                      </a:rPr>
                      <m:t>𝛼</m:t>
                    </m:r>
                  </m:oMath>
                </a14:m>
                <a:r>
                  <a:rPr lang="en-US" sz="2000" noProof="0" dirty="0"/>
                  <a:t> in the strong sense.</a:t>
                </a:r>
              </a:p>
              <a:p>
                <a:pPr marL="0" indent="0">
                  <a:buNone/>
                </a:pPr>
                <a:r>
                  <a:rPr lang="en-US" noProof="0" dirty="0"/>
                  <a:t>Remarks:</a:t>
                </a:r>
              </a:p>
              <a:p>
                <a:r>
                  <a:rPr lang="en-US" noProof="0" dirty="0"/>
                  <a:t>Any multiple test procedure derived and visualized by a graph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1" i="1" noProof="0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b="1" i="1" noProof="0" smtClean="0">
                            <a:latin typeface="Cambria Math"/>
                          </a:rPr>
                          <m:t>𝑮</m:t>
                        </m:r>
                        <m:r>
                          <a:rPr lang="en-US" b="1" i="1" noProof="0" smtClean="0">
                            <a:latin typeface="Cambria Math"/>
                          </a:rPr>
                          <m:t>,</m:t>
                        </m:r>
                        <m:r>
                          <a:rPr lang="en-US" b="1" i="1" noProof="0" smtClean="0">
                            <a:latin typeface="Cambria Math"/>
                          </a:rPr>
                          <m:t>𝜶</m:t>
                        </m:r>
                      </m:e>
                    </m:d>
                  </m:oMath>
                </a14:m>
                <a:r>
                  <a:rPr lang="en-US" noProof="0" dirty="0"/>
                  <a:t> is based on the </a:t>
                </a:r>
                <a:r>
                  <a:rPr lang="en-US" noProof="0" dirty="0">
                    <a:solidFill>
                      <a:srgbClr val="5291DD"/>
                    </a:solidFill>
                  </a:rPr>
                  <a:t>closed test principle</a:t>
                </a:r>
              </a:p>
              <a:p>
                <a:r>
                  <a:rPr lang="en-US" noProof="0" dirty="0"/>
                  <a:t>The graph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1" i="1" noProof="0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b="1" i="1" noProof="0" smtClean="0">
                            <a:latin typeface="Cambria Math"/>
                          </a:rPr>
                          <m:t>𝑮</m:t>
                        </m:r>
                        <m:r>
                          <a:rPr lang="en-US" b="1" i="1" noProof="0" smtClean="0">
                            <a:latin typeface="Cambria Math"/>
                          </a:rPr>
                          <m:t>,</m:t>
                        </m:r>
                        <m:r>
                          <a:rPr lang="en-US" b="1" i="1" noProof="0" smtClean="0">
                            <a:latin typeface="Cambria Math"/>
                          </a:rPr>
                          <m:t>𝜶</m:t>
                        </m:r>
                      </m:e>
                    </m:d>
                    <m:r>
                      <a:rPr lang="en-US" b="1" i="1" noProof="0" smtClean="0">
                        <a:latin typeface="Cambria Math"/>
                      </a:rPr>
                      <m:t> </m:t>
                    </m:r>
                  </m:oMath>
                </a14:m>
                <a:r>
                  <a:rPr lang="en-US" noProof="0" dirty="0"/>
                  <a:t>and the algorithm define </a:t>
                </a:r>
                <a:r>
                  <a:rPr lang="en-US" noProof="0" dirty="0">
                    <a:solidFill>
                      <a:srgbClr val="5291DD"/>
                    </a:solidFill>
                  </a:rPr>
                  <a:t>weighted Bonferroni tests for each intersection hypothesis</a:t>
                </a:r>
                <a:r>
                  <a:rPr lang="en-US" noProof="0" dirty="0"/>
                  <a:t> in a closed test procedure</a:t>
                </a:r>
              </a:p>
              <a:p>
                <a:r>
                  <a:rPr lang="en-US" noProof="0" dirty="0"/>
                  <a:t>The algorithm </a:t>
                </a:r>
                <a:r>
                  <a:rPr lang="en-US" noProof="0" dirty="0">
                    <a:solidFill>
                      <a:srgbClr val="5291DD"/>
                    </a:solidFill>
                  </a:rPr>
                  <a:t>defines a shortcut </a:t>
                </a:r>
                <a:r>
                  <a:rPr lang="en-US" noProof="0" dirty="0"/>
                  <a:t>for the resulting closed test procedure, which does not depend on the rejection sequence</a:t>
                </a:r>
              </a:p>
              <a:p>
                <a:r>
                  <a:rPr lang="en-US" noProof="0" dirty="0"/>
                  <a:t>Alternative algorithm based on adjusted p-values (next slide) leads to the same test decisions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8C5345B-CA64-E007-9C18-3F1E37CEF33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369218"/>
                <a:ext cx="7886700" cy="3671889"/>
              </a:xfrm>
              <a:blipFill>
                <a:blip r:embed="rId4"/>
                <a:stretch>
                  <a:fillRect l="-927" t="-2492" r="-1005" b="-24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EB5B49-04CF-A5A6-C400-6B6D3EB243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 noProof="0"/>
              <a:t>Bretz, Chen, Xi | ISBS | October 2026</a:t>
            </a:r>
            <a:endParaRPr lang="en-US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CBAFE8-BD6F-3DA4-245D-8B16C95FC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D9F39-F344-41AE-B531-1D3ECACBC820}" type="slidenum">
              <a:rPr lang="en-US" noProof="0" smtClean="0"/>
              <a:t>48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85935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88944A-E3C2-D6FC-DD67-E12DCCA752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F12B5A-53B4-F4F5-41D9-BE728380D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Formal description</a:t>
            </a:r>
            <a:br>
              <a:rPr lang="en-US" noProof="0" dirty="0"/>
            </a:br>
            <a:r>
              <a:rPr lang="en-US" sz="2200" i="1" noProof="0" dirty="0">
                <a:solidFill>
                  <a:srgbClr val="000000"/>
                </a:solidFill>
              </a:rPr>
              <a:t>Adjusted p-values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0EE067-7B25-1992-DE08-047E518D81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 noProof="0"/>
              <a:t>Bretz, Chen, Xi | ISBS | October 2026</a:t>
            </a:r>
            <a:endParaRPr lang="en-US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1ECA6D-93DC-9DEA-3F9E-D1FDF9738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D9F39-F344-41AE-B531-1D3ECACBC820}" type="slidenum">
              <a:rPr lang="en-US" noProof="0" smtClean="0"/>
              <a:t>49</a:t>
            </a:fld>
            <a:endParaRPr lang="en-US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96A0988-AF3E-CC3D-8070-70477C0624A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369218"/>
                <a:ext cx="7886700" cy="3774282"/>
              </a:xfrm>
              <a:solidFill>
                <a:schemeClr val="bg1"/>
              </a:solidFill>
            </p:spPr>
            <p:txBody>
              <a:bodyPr>
                <a:normAutofit lnSpcReduction="10000"/>
              </a:bodyPr>
              <a:lstStyle/>
              <a:p>
                <a:pPr marL="165100" lvl="1" indent="0">
                  <a:buClr>
                    <a:srgbClr val="FF6600"/>
                  </a:buClr>
                  <a:buSzPct val="70000"/>
                  <a:buNone/>
                </a:pPr>
                <a:r>
                  <a:rPr lang="en-US" sz="1800" noProof="0" dirty="0"/>
                  <a:t>Set </a:t>
                </a:r>
                <a14:m>
                  <m:oMath xmlns:m="http://schemas.openxmlformats.org/officeDocument/2006/math">
                    <m:r>
                      <a:rPr lang="en-US" sz="1800" b="0" i="1" noProof="0" smtClean="0">
                        <a:latin typeface="Cambria Math"/>
                      </a:rPr>
                      <m:t>𝐽</m:t>
                    </m:r>
                    <m:r>
                      <a:rPr lang="en-US" sz="1800" b="0" i="1" noProof="0" smtClean="0">
                        <a:latin typeface="Cambria Math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1800" b="0" i="1" noProof="0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sz="1800" b="0" i="1" noProof="0" smtClean="0">
                            <a:latin typeface="Cambria Math"/>
                          </a:rPr>
                          <m:t>1,…,</m:t>
                        </m:r>
                        <m:r>
                          <a:rPr lang="en-US" sz="1800" b="0" i="1" noProof="0" smtClean="0">
                            <a:latin typeface="Cambria Math"/>
                          </a:rPr>
                          <m:t>𝑚</m:t>
                        </m:r>
                      </m:e>
                    </m:d>
                  </m:oMath>
                </a14:m>
                <a:r>
                  <a:rPr lang="en-US" sz="1800" noProof="0" dirty="0"/>
                  <a:t>,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800" b="0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b="0" i="1" noProof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noProof="0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1800" b="0" i="1" noProof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800" b="0" i="1" noProof="0" smtClean="0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sz="1800" b="0" i="1" noProof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noProof="0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1800" b="0" i="1" noProof="0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d>
                    <m:r>
                      <a:rPr lang="en-US" sz="1800" b="0" i="1" noProof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lin"/>
                        <m:ctrlPr>
                          <a:rPr lang="en-US" i="1" noProof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US" i="1" noProof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 noProof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 noProof="0" smtClean="0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 lang="en-US" i="1" noProof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i="1" noProof="0" smtClean="0">
                                <a:latin typeface="Cambria Math" panose="02040503050406030204" pitchFamily="18" charset="0"/>
                              </a:rPr>
                              <m:t>,…,</m:t>
                            </m:r>
                            <m:sSub>
                              <m:sSubPr>
                                <m:ctrlPr>
                                  <a:rPr lang="en-US" i="1" noProof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 noProof="0" smtClean="0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 lang="en-US" i="1" noProof="0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</m:sSub>
                          </m:e>
                        </m:d>
                      </m:num>
                      <m:den>
                        <m:r>
                          <a:rPr lang="en-US" sz="1800" b="0" i="1" noProof="0" smtClean="0">
                            <a:latin typeface="Cambria Math" panose="02040503050406030204" pitchFamily="18" charset="0"/>
                          </a:rPr>
                          <m:t>𝛼</m:t>
                        </m:r>
                      </m:den>
                    </m:f>
                  </m:oMath>
                </a14:m>
                <a:r>
                  <a:rPr lang="en-US" sz="1800" noProof="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noProof="0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noProof="0" smtClean="0">
                            <a:latin typeface="Cambria Math" panose="02040503050406030204" pitchFamily="18" charset="0"/>
                          </a:rPr>
                          <m:t>max</m:t>
                        </m:r>
                      </m:sub>
                    </m:sSub>
                    <m:r>
                      <a:rPr lang="en-US" sz="1800" b="0" i="1" noProof="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sz="1800" noProof="0" dirty="0"/>
              </a:p>
              <a:p>
                <a:pPr marL="527050" lvl="1" indent="-361950" defTabSz="914400">
                  <a:lnSpc>
                    <a:spcPct val="100000"/>
                  </a:lnSpc>
                  <a:spcBef>
                    <a:spcPts val="300"/>
                  </a:spcBef>
                  <a:buClr>
                    <a:srgbClr val="5191DD">
                      <a:lumMod val="75000"/>
                    </a:srgbClr>
                  </a:buClr>
                  <a:buSzPct val="70000"/>
                  <a:buFont typeface="Cambria" panose="02040503050406030204" pitchFamily="18" charset="0"/>
                  <a:buChar char="❶"/>
                </a:pPr>
                <a:r>
                  <a:rPr lang="en-US" sz="1800" noProof="0" dirty="0"/>
                  <a:t>Select </a:t>
                </a:r>
                <a14:m>
                  <m:oMath xmlns:m="http://schemas.openxmlformats.org/officeDocument/2006/math">
                    <m:r>
                      <a:rPr lang="en-US" sz="1800" b="0" i="1" noProof="0" smtClean="0">
                        <a:solidFill>
                          <a:srgbClr val="5291DD"/>
                        </a:solidFill>
                        <a:latin typeface="Cambria Math"/>
                      </a:rPr>
                      <m:t>𝑗</m:t>
                    </m:r>
                    <m:r>
                      <a:rPr lang="en-US" sz="1800" b="0" i="1" noProof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sz="1800" b="0" i="0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1800" b="0" i="0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arg</m:t>
                        </m:r>
                      </m:fName>
                      <m:e>
                        <m:func>
                          <m:funcPr>
                            <m:ctrlPr>
                              <a:rPr lang="en-US" sz="1800" b="0" i="1" noProof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US" sz="1800" b="0" i="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en-US" sz="1800" b="0" i="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min</m:t>
                                </m:r>
                              </m:e>
                              <m:lim>
                                <m:r>
                                  <a:rPr lang="en-US" sz="1800" b="0" i="1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1800" b="0" i="1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∈</m:t>
                                </m:r>
                                <m:r>
                                  <a:rPr lang="en-US" sz="1800" b="0" i="1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𝐽</m:t>
                                </m:r>
                              </m:lim>
                            </m:limLow>
                          </m:fName>
                          <m:e>
                            <m:f>
                              <m:fPr>
                                <m:type m:val="lin"/>
                                <m:ctrlPr>
                                  <a:rPr lang="en-US" i="1" noProof="0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 noProof="0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b="0" i="1" noProof="0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n-US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 noProof="0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b="0" i="1" noProof="0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den>
                            </m:f>
                          </m:e>
                        </m:func>
                      </m:e>
                    </m:func>
                  </m:oMath>
                </a14:m>
                <a:endParaRPr lang="en-US" sz="1800" noProof="0" dirty="0"/>
              </a:p>
              <a:p>
                <a:pPr marL="165100" lvl="1" indent="0">
                  <a:buClr>
                    <a:srgbClr val="FF6600"/>
                  </a:buClr>
                  <a:buSzPct val="70000"/>
                  <a:buNone/>
                  <a:tabLst>
                    <a:tab pos="525600" algn="l"/>
                  </a:tabLst>
                </a:pPr>
                <a:r>
                  <a:rPr lang="en-US" sz="1800" noProof="0" dirty="0"/>
                  <a:t>	</a:t>
                </a:r>
                <a:r>
                  <a:rPr lang="en-US" noProof="0" dirty="0"/>
                  <a:t>C</a:t>
                </a:r>
                <a:r>
                  <a:rPr lang="en-US" noProof="0" dirty="0">
                    <a:solidFill>
                      <a:prstClr val="black"/>
                    </a:solidFill>
                  </a:rPr>
                  <a:t>alculate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noProof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noProof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i="1" noProof="0" smtClean="0">
                            <a:solidFill>
                              <a:srgbClr val="5291DD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i="1" noProof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noProof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noProof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i="1" noProof="0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lin"/>
                                <m:ctrlPr>
                                  <a:rPr lang="en-US" i="1" noProof="0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i="1" noProof="0" smtClean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 noProof="0" smtClean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i="1" noProof="0" smtClean="0">
                                        <a:solidFill>
                                          <a:srgbClr val="5291DD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n-US" i="1" noProof="0" smtClean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 noProof="0" smtClean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i="1" noProof="0" smtClean="0">
                                        <a:solidFill>
                                          <a:srgbClr val="5291DD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den>
                            </m:f>
                            <m:r>
                              <a:rPr lang="en-US" i="1" noProof="0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i="1" noProof="0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 noProof="0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noProof="0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max</m:t>
                                </m:r>
                              </m:sub>
                            </m:sSub>
                          </m:e>
                        </m:d>
                      </m:e>
                    </m:func>
                  </m:oMath>
                </a14:m>
                <a:r>
                  <a:rPr lang="en-US" noProof="0" dirty="0">
                    <a:solidFill>
                      <a:prstClr val="black"/>
                    </a:solidFill>
                  </a:rPr>
                  <a:t> and set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noProof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noProof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noProof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max</m:t>
                        </m:r>
                      </m:sub>
                    </m:sSub>
                    <m:r>
                      <a:rPr lang="en-US" i="1" noProof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 noProof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noProof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i="1" noProof="0" smtClean="0">
                            <a:solidFill>
                              <a:srgbClr val="5291DD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endParaRPr lang="en-US" noProof="0" dirty="0"/>
              </a:p>
              <a:p>
                <a:pPr marL="527050" lvl="1" indent="-361950" defTabSz="914400">
                  <a:lnSpc>
                    <a:spcPct val="100000"/>
                  </a:lnSpc>
                  <a:spcBef>
                    <a:spcPts val="300"/>
                  </a:spcBef>
                  <a:buClr>
                    <a:srgbClr val="5191DD">
                      <a:lumMod val="75000"/>
                    </a:srgbClr>
                  </a:buClr>
                  <a:buSzPct val="70000"/>
                  <a:buFont typeface="Cambria" panose="02040503050406030204" pitchFamily="18" charset="0"/>
                  <a:buChar char="❷"/>
                </a:pPr>
                <a:r>
                  <a:rPr lang="en-US" sz="1800" noProof="0" dirty="0"/>
                  <a:t>Update the graph:</a:t>
                </a:r>
              </a:p>
              <a:p>
                <a:pPr marL="165100" lvl="1" indent="0">
                  <a:buClr>
                    <a:srgbClr val="FF6600"/>
                  </a:buClr>
                  <a:buSzPct val="70000"/>
                  <a:buNone/>
                  <a:tabLst>
                    <a:tab pos="1077913" algn="l"/>
                    <a:tab pos="1527175" algn="l"/>
                  </a:tabLst>
                </a:pPr>
                <a:r>
                  <a:rPr lang="en-US" sz="1800" noProof="0" dirty="0"/>
                  <a:t>	</a:t>
                </a:r>
                <a14:m>
                  <m:oMath xmlns:m="http://schemas.openxmlformats.org/officeDocument/2006/math">
                    <m:r>
                      <a:rPr lang="en-US" sz="1800" b="0" i="1" noProof="0" smtClean="0">
                        <a:latin typeface="Cambria Math"/>
                      </a:rPr>
                      <m:t>𝐽</m:t>
                    </m:r>
                  </m:oMath>
                </a14:m>
                <a:r>
                  <a:rPr lang="en-US" sz="1800" noProof="0" dirty="0"/>
                  <a:t>	</a:t>
                </a:r>
                <a14:m>
                  <m:oMath xmlns:m="http://schemas.openxmlformats.org/officeDocument/2006/math">
                    <m:r>
                      <a:rPr lang="en-US" sz="1800" i="1" noProof="0" smtClean="0">
                        <a:latin typeface="Cambria Math"/>
                        <a:ea typeface="Cambria Math"/>
                      </a:rPr>
                      <m:t>→</m:t>
                    </m:r>
                    <m:r>
                      <a:rPr lang="en-US" sz="1800" i="1" noProof="0" smtClean="0">
                        <a:latin typeface="Cambria Math"/>
                        <a:ea typeface="Cambria Math"/>
                      </a:rPr>
                      <m:t>𝐽</m:t>
                    </m:r>
                    <m:r>
                      <a:rPr lang="en-US" sz="1800" i="1" noProof="0" smtClean="0">
                        <a:latin typeface="Cambria Math"/>
                        <a:ea typeface="Cambria Math"/>
                      </a:rPr>
                      <m:t>∖</m:t>
                    </m:r>
                    <m:d>
                      <m:dPr>
                        <m:begChr m:val="{"/>
                        <m:endChr m:val="}"/>
                        <m:ctrlPr>
                          <a:rPr lang="en-US" sz="1800" i="1" noProof="0" smtClean="0">
                            <a:solidFill>
                              <a:srgbClr val="5291DD"/>
                            </a:solidFill>
                            <a:latin typeface="Cambria Math"/>
                            <a:ea typeface="Cambria Math"/>
                          </a:rPr>
                        </m:ctrlPr>
                      </m:dPr>
                      <m:e>
                        <m:r>
                          <a:rPr lang="en-US" sz="1800" i="1" noProof="0" smtClean="0">
                            <a:solidFill>
                              <a:srgbClr val="5291DD"/>
                            </a:solidFill>
                            <a:latin typeface="Cambria Math"/>
                            <a:ea typeface="Cambria Math"/>
                          </a:rPr>
                          <m:t>𝑗</m:t>
                        </m:r>
                      </m:e>
                    </m:d>
                  </m:oMath>
                </a14:m>
                <a:endParaRPr lang="en-US" sz="1800" noProof="0" dirty="0"/>
              </a:p>
              <a:p>
                <a:pPr marL="165100" lvl="1" indent="0">
                  <a:buClr>
                    <a:srgbClr val="FF6600"/>
                  </a:buClr>
                  <a:buSzPct val="70000"/>
                  <a:buNone/>
                  <a:tabLst>
                    <a:tab pos="1077913" algn="l"/>
                    <a:tab pos="1527175" algn="l"/>
                  </a:tabLst>
                </a:pPr>
                <a:r>
                  <a:rPr lang="en-US" sz="1800" noProof="0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noProof="0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800" i="1" noProof="0" smtClean="0">
                            <a:latin typeface="Cambria Math"/>
                          </a:rPr>
                          <m:t>ℓ</m:t>
                        </m:r>
                      </m:sub>
                    </m:sSub>
                  </m:oMath>
                </a14:m>
                <a:r>
                  <a:rPr lang="en-US" sz="1800" noProof="0" dirty="0"/>
                  <a:t>	</a:t>
                </a:r>
                <a14:m>
                  <m:oMath xmlns:m="http://schemas.openxmlformats.org/officeDocument/2006/math">
                    <m:r>
                      <a:rPr lang="en-US" sz="1800" i="1" noProof="0" smtClean="0">
                        <a:latin typeface="Cambria Math"/>
                        <a:ea typeface="Cambria Math"/>
                      </a:rPr>
                      <m:t>→</m:t>
                    </m:r>
                  </m:oMath>
                </a14:m>
                <a:r>
                  <a:rPr lang="en-US" sz="1800" noProof="0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sz="1800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sz="1800" i="1" noProof="0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sz="1800" i="1" noProof="0" smtClean="0">
                                <a:latin typeface="Cambria Math"/>
                              </a:rPr>
                              <m:t>&amp;</m:t>
                            </m:r>
                            <m:sSub>
                              <m:sSubPr>
                                <m:ctrlPr>
                                  <a:rPr lang="en-US" sz="1800" b="0" i="1" noProof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b="0" i="1" noProof="0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sz="1800" i="1" noProof="0" smtClean="0">
                                    <a:latin typeface="Cambria Math"/>
                                  </a:rPr>
                                  <m:t>ℓ</m:t>
                                </m:r>
                              </m:sub>
                            </m:sSub>
                            <m:r>
                              <a:rPr lang="en-US" sz="1800" i="1" noProof="0" smtClean="0">
                                <a:latin typeface="Cambria Math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sz="1800" b="0" i="1" noProof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b="0" i="1" noProof="0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sz="1800" i="1" noProof="0" smtClean="0">
                                    <a:solidFill>
                                      <a:srgbClr val="5291DD"/>
                                    </a:solidFill>
                                    <a:latin typeface="Cambria Math"/>
                                  </a:rPr>
                                  <m:t>𝑗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sz="1800" i="1" noProof="0" smtClean="0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sz="1800" i="1" noProof="0" smtClean="0">
                                    <a:latin typeface="Cambria Math"/>
                                  </a:rPr>
                                  <m:t>𝑔</m:t>
                                </m:r>
                              </m:e>
                              <m:sub>
                                <m:r>
                                  <a:rPr lang="en-US" sz="1800" i="1" noProof="0" smtClean="0">
                                    <a:solidFill>
                                      <a:srgbClr val="5291DD"/>
                                    </a:solidFill>
                                    <a:latin typeface="Cambria Math"/>
                                  </a:rPr>
                                  <m:t>𝑗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1800" i="1" noProof="0" smtClean="0">
                                    <a:latin typeface="Cambria Math"/>
                                  </a:rPr>
                                  <m:t>ℓ</m:t>
                                </m:r>
                              </m:sub>
                            </m:sSub>
                            <m:r>
                              <a:rPr lang="en-US" sz="1800" b="0" i="1" noProof="0" smtClean="0">
                                <a:latin typeface="Cambria Math"/>
                              </a:rPr>
                              <m:t>,   </m:t>
                            </m:r>
                            <m:r>
                              <m:rPr>
                                <m:sty m:val="p"/>
                              </m:rPr>
                              <a:rPr lang="en-US" sz="1800" b="0" i="1" noProof="0" smtClean="0">
                                <a:latin typeface="Cambria Math"/>
                              </a:rPr>
                              <m:t>ℓ</m:t>
                            </m:r>
                            <m:r>
                              <a:rPr lang="en-US" sz="1800" b="0" i="1" noProof="0" smtClean="0">
                                <a:latin typeface="Cambria Math"/>
                              </a:rPr>
                              <m:t>∈</m:t>
                            </m:r>
                            <m:r>
                              <a:rPr lang="en-US" sz="1800" b="0" i="1" noProof="0" smtClean="0">
                                <a:latin typeface="Cambria Math"/>
                              </a:rPr>
                              <m:t>𝐽</m:t>
                            </m:r>
                            <m:r>
                              <a:rPr lang="en-US" sz="1800" b="0" i="1" noProof="0" smtClean="0">
                                <a:latin typeface="Cambria Math"/>
                              </a:rPr>
                              <m:t> </m:t>
                            </m:r>
                          </m:e>
                          <m:e>
                            <m:r>
                              <a:rPr lang="en-US" sz="1800" b="0" i="1" noProof="0" smtClean="0">
                                <a:latin typeface="Cambria Math"/>
                              </a:rPr>
                              <m:t> &amp;0, </m:t>
                            </m:r>
                            <m:r>
                              <m:rPr>
                                <m:nor/>
                              </m:rPr>
                              <a:rPr lang="en-US" sz="1800" b="0" i="0" noProof="0" smtClean="0">
                                <a:latin typeface="Cambria Math"/>
                              </a:rPr>
                              <m:t>                   otherwise</m:t>
                            </m:r>
                          </m:e>
                        </m:eqArr>
                      </m:e>
                    </m:d>
                  </m:oMath>
                </a14:m>
                <a:endParaRPr lang="en-US" sz="1800" noProof="0" dirty="0"/>
              </a:p>
              <a:p>
                <a:pPr marL="165100" lvl="1" indent="0">
                  <a:buClr>
                    <a:srgbClr val="FF6600"/>
                  </a:buClr>
                  <a:buSzPct val="70000"/>
                  <a:buNone/>
                  <a:tabLst>
                    <a:tab pos="1077913" algn="l"/>
                    <a:tab pos="1527175" algn="l"/>
                  </a:tabLst>
                </a:pPr>
                <a:endParaRPr lang="en-US" sz="1800" noProof="0" dirty="0"/>
              </a:p>
              <a:p>
                <a:pPr marL="165100" lvl="1" indent="0">
                  <a:buClr>
                    <a:srgbClr val="FF6600"/>
                  </a:buClr>
                  <a:buSzPct val="70000"/>
                  <a:buNone/>
                  <a:tabLst>
                    <a:tab pos="1077913" algn="l"/>
                    <a:tab pos="1527175" algn="l"/>
                  </a:tabLst>
                </a:pPr>
                <a:r>
                  <a:rPr lang="en-US" sz="1800" noProof="0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noProof="0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1800" b="0" i="1" noProof="0" smtClean="0">
                            <a:latin typeface="Cambria Math"/>
                          </a:rPr>
                          <m:t>𝑔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800" b="0" i="1" noProof="0" smtClean="0">
                            <a:latin typeface="Cambria Math"/>
                          </a:rPr>
                          <m:t>ℓ</m:t>
                        </m:r>
                        <m:r>
                          <a:rPr lang="en-US" sz="1800" b="0" i="1" noProof="0" smtClean="0">
                            <a:latin typeface="Cambria Math"/>
                          </a:rPr>
                          <m:t>𝑚</m:t>
                        </m:r>
                      </m:sub>
                    </m:sSub>
                    <m:r>
                      <a:rPr lang="en-US" sz="1800" i="1" noProof="0" smtClean="0">
                        <a:latin typeface="Cambria Math"/>
                        <a:ea typeface="Cambria Math"/>
                      </a:rPr>
                      <m:t>→</m:t>
                    </m:r>
                  </m:oMath>
                </a14:m>
                <a:r>
                  <a:rPr lang="en-US" sz="1800" noProof="0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sz="1800" b="0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sz="1800" b="0" i="1" noProof="0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sz="1800" b="0" i="1" noProof="0" smtClean="0">
                                <a:latin typeface="Cambria Math"/>
                              </a:rPr>
                              <m:t>&amp;</m:t>
                            </m:r>
                            <m:f>
                              <m:fPr>
                                <m:ctrlPr>
                                  <a:rPr lang="en-US" sz="1800" b="0" i="1" noProof="0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sz="1800" b="0" i="1" noProof="0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noProof="0" smtClean="0">
                                        <a:latin typeface="Cambria Math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sz="1800" b="0" i="1" noProof="0" smtClean="0">
                                        <a:latin typeface="Cambria Math"/>
                                      </a:rPr>
                                      <m:t>ℓ</m:t>
                                    </m:r>
                                    <m:r>
                                      <a:rPr lang="en-US" sz="1800" b="0" i="1" noProof="0" smtClean="0">
                                        <a:latin typeface="Cambria Math"/>
                                      </a:rPr>
                                      <m:t>𝑚</m:t>
                                    </m:r>
                                  </m:sub>
                                </m:sSub>
                                <m:r>
                                  <a:rPr lang="en-US" sz="1800" b="0" i="1" noProof="0" smtClean="0">
                                    <a:latin typeface="Cambria Math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800" b="0" i="1" noProof="0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noProof="0" smtClean="0">
                                        <a:latin typeface="Cambria Math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sz="1800" b="0" i="1" noProof="0" smtClean="0">
                                        <a:latin typeface="Cambria Math"/>
                                      </a:rPr>
                                      <m:t>ℓ</m:t>
                                    </m:r>
                                    <m:r>
                                      <a:rPr lang="en-US" sz="1800" b="0" i="1" noProof="0" smtClean="0">
                                        <a:solidFill>
                                          <a:srgbClr val="5291DD"/>
                                        </a:solidFill>
                                        <a:latin typeface="Cambria Math"/>
                                      </a:rPr>
                                      <m:t>𝑗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800" b="0" i="1" noProof="0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noProof="0" smtClean="0">
                                        <a:latin typeface="Cambria Math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lang="en-US" sz="1800" b="0" i="1" noProof="0" smtClean="0">
                                        <a:solidFill>
                                          <a:srgbClr val="5291DD"/>
                                        </a:solidFill>
                                        <a:latin typeface="Cambria Math"/>
                                      </a:rPr>
                                      <m:t>𝑗</m:t>
                                    </m:r>
                                    <m:r>
                                      <a:rPr lang="en-US" sz="1800" b="0" i="1" noProof="0" smtClean="0">
                                        <a:latin typeface="Cambria Math"/>
                                      </a:rPr>
                                      <m:t>𝑚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a:rPr lang="en-US" sz="1800" b="0" i="1" noProof="0" smtClean="0">
                                    <a:latin typeface="Cambria Math"/>
                                  </a:rPr>
                                  <m:t>1−</m:t>
                                </m:r>
                                <m:sSub>
                                  <m:sSubPr>
                                    <m:ctrlPr>
                                      <a:rPr lang="en-US" sz="1800" b="0" i="1" noProof="0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noProof="0" smtClean="0">
                                        <a:latin typeface="Cambria Math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sz="1800" b="0" i="1" noProof="0" smtClean="0">
                                        <a:latin typeface="Cambria Math"/>
                                      </a:rPr>
                                      <m:t>ℓ</m:t>
                                    </m:r>
                                    <m:r>
                                      <a:rPr lang="en-US" sz="1800" b="0" i="1" noProof="0" smtClean="0">
                                        <a:solidFill>
                                          <a:srgbClr val="5291DD"/>
                                        </a:solidFill>
                                        <a:latin typeface="Cambria Math"/>
                                      </a:rPr>
                                      <m:t>𝑗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800" b="0" i="1" noProof="0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noProof="0" smtClean="0">
                                        <a:latin typeface="Cambria Math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lang="en-US" sz="1800" b="0" i="1" noProof="0" smtClean="0">
                                        <a:solidFill>
                                          <a:srgbClr val="5291DD"/>
                                        </a:solidFill>
                                        <a:latin typeface="Cambria Math"/>
                                      </a:rPr>
                                      <m:t>𝑗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sz="1800" b="0" i="1" noProof="0" smtClean="0">
                                        <a:latin typeface="Cambria Math"/>
                                      </a:rPr>
                                      <m:t>ℓ</m:t>
                                    </m:r>
                                  </m:sub>
                                </m:sSub>
                              </m:den>
                            </m:f>
                            <m:r>
                              <a:rPr lang="en-US" sz="1800" b="0" i="1" noProof="0" smtClean="0">
                                <a:latin typeface="Cambria Math"/>
                              </a:rPr>
                              <m:t>,   </m:t>
                            </m:r>
                            <m:r>
                              <m:rPr>
                                <m:sty m:val="p"/>
                              </m:rPr>
                              <a:rPr lang="en-US" sz="1800" b="0" i="1" noProof="0" smtClean="0">
                                <a:latin typeface="Cambria Math"/>
                              </a:rPr>
                              <m:t>ℓ</m:t>
                            </m:r>
                            <m:r>
                              <a:rPr lang="en-US" sz="1800" b="0" i="1" noProof="0" smtClean="0">
                                <a:latin typeface="Cambria Math"/>
                              </a:rPr>
                              <m:t>,</m:t>
                            </m:r>
                            <m:r>
                              <a:rPr lang="en-US" sz="1800" b="0" i="1" noProof="0" smtClean="0">
                                <a:latin typeface="Cambria Math"/>
                              </a:rPr>
                              <m:t>𝑚</m:t>
                            </m:r>
                            <m:r>
                              <a:rPr lang="en-US" sz="1800" b="0" i="1" noProof="0" smtClean="0">
                                <a:latin typeface="Cambria Math"/>
                              </a:rPr>
                              <m:t>∈</m:t>
                            </m:r>
                            <m:r>
                              <a:rPr lang="en-US" sz="1800" b="0" i="1" noProof="0" smtClean="0">
                                <a:latin typeface="Cambria Math"/>
                              </a:rPr>
                              <m:t>𝐽</m:t>
                            </m:r>
                            <m:r>
                              <a:rPr lang="en-US" sz="1800" b="0" i="1" noProof="0" smtClean="0">
                                <a:latin typeface="Cambria Math"/>
                              </a:rPr>
                              <m:t>,</m:t>
                            </m:r>
                            <m:r>
                              <m:rPr>
                                <m:sty m:val="p"/>
                              </m:rPr>
                              <a:rPr lang="en-US" sz="1800" b="0" i="1" noProof="0" smtClean="0">
                                <a:latin typeface="Cambria Math"/>
                              </a:rPr>
                              <m:t>ℓ</m:t>
                            </m:r>
                            <m:r>
                              <a:rPr lang="en-US" sz="1800" b="0" i="1" noProof="0" smtClean="0">
                                <a:latin typeface="Cambria Math"/>
                              </a:rPr>
                              <m:t>≠</m:t>
                            </m:r>
                            <m:r>
                              <a:rPr lang="en-US" sz="1800" b="0" i="1" noProof="0" smtClean="0">
                                <a:latin typeface="Cambria Math"/>
                              </a:rPr>
                              <m:t>𝑚</m:t>
                            </m:r>
                            <m:r>
                              <a:rPr lang="en-US" sz="1800" b="0" i="1" noProof="0" smtClean="0">
                                <a:latin typeface="Cambria Math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1800" i="1" noProof="0" smtClean="0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sz="1800" i="1" noProof="0" smtClean="0">
                                    <a:latin typeface="Cambria Math"/>
                                  </a:rPr>
                                  <m:t>𝑔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sz="1800" i="1" noProof="0" smtClean="0">
                                    <a:latin typeface="Cambria Math"/>
                                  </a:rPr>
                                  <m:t>ℓ</m:t>
                                </m:r>
                                <m:r>
                                  <a:rPr lang="en-US" sz="1800" i="1" noProof="0" smtClean="0">
                                    <a:solidFill>
                                      <a:srgbClr val="5291DD"/>
                                    </a:solidFill>
                                    <a:latin typeface="Cambria Math"/>
                                  </a:rPr>
                                  <m:t>𝑗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sz="1800" i="1" noProof="0" smtClean="0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sz="1800" i="1" noProof="0" smtClean="0">
                                    <a:latin typeface="Cambria Math"/>
                                  </a:rPr>
                                  <m:t>𝑔</m:t>
                                </m:r>
                              </m:e>
                              <m:sub>
                                <m:r>
                                  <a:rPr lang="en-US" sz="1800" i="1" noProof="0" smtClean="0">
                                    <a:solidFill>
                                      <a:srgbClr val="5291DD"/>
                                    </a:solidFill>
                                    <a:latin typeface="Cambria Math"/>
                                  </a:rPr>
                                  <m:t>𝑗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1800" i="1" noProof="0" smtClean="0">
                                    <a:latin typeface="Cambria Math"/>
                                  </a:rPr>
                                  <m:t>ℓ</m:t>
                                </m:r>
                              </m:sub>
                            </m:sSub>
                            <m:r>
                              <a:rPr lang="en-US" sz="1800" b="0" i="1" noProof="0" smtClean="0">
                                <a:latin typeface="Cambria Math"/>
                              </a:rPr>
                              <m:t>&lt;1 </m:t>
                            </m:r>
                          </m:e>
                          <m:e>
                            <m:r>
                              <a:rPr lang="en-US" sz="1800" b="0" i="1" noProof="0" smtClean="0">
                                <a:latin typeface="Cambria Math"/>
                              </a:rPr>
                              <m:t> &amp;0, </m:t>
                            </m:r>
                            <m:r>
                              <m:rPr>
                                <m:nor/>
                              </m:rPr>
                              <a:rPr lang="en-US" sz="1800" b="0" i="0" noProof="0" smtClean="0">
                                <a:latin typeface="Cambria Math"/>
                              </a:rPr>
                              <m:t>                   otherwise</m:t>
                            </m:r>
                          </m:e>
                        </m:eqArr>
                      </m:e>
                    </m:d>
                  </m:oMath>
                </a14:m>
                <a:endParaRPr lang="en-US" sz="1800" noProof="0" dirty="0"/>
              </a:p>
              <a:p>
                <a:pPr marL="527050" lvl="1" indent="-361950" defTabSz="914400">
                  <a:lnSpc>
                    <a:spcPct val="100000"/>
                  </a:lnSpc>
                  <a:spcBef>
                    <a:spcPts val="300"/>
                  </a:spcBef>
                  <a:buClr>
                    <a:srgbClr val="5191DD">
                      <a:lumMod val="75000"/>
                    </a:srgbClr>
                  </a:buClr>
                  <a:buSzPct val="70000"/>
                  <a:buFont typeface="Cambria" panose="02040503050406030204" pitchFamily="18" charset="0"/>
                  <a:buChar char="❸"/>
                </a:pPr>
                <a:r>
                  <a:rPr lang="en-US" noProof="0" dirty="0">
                    <a:solidFill>
                      <a:srgbClr val="000000"/>
                    </a:solidFill>
                  </a:rPr>
                  <a:t>If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noProof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noProof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</m:d>
                    <m:r>
                      <a:rPr lang="en-US" b="0" i="1" noProof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≥1</m:t>
                    </m:r>
                  </m:oMath>
                </a14:m>
                <a:r>
                  <a:rPr lang="en-US" noProof="0" dirty="0">
                    <a:solidFill>
                      <a:srgbClr val="000000"/>
                    </a:solidFill>
                  </a:rPr>
                  <a:t>, go to Step 1; otherwise stop</a:t>
                </a:r>
              </a:p>
              <a:p>
                <a:pPr marL="527050" lvl="1" indent="-361950" defTabSz="914400">
                  <a:lnSpc>
                    <a:spcPct val="100000"/>
                  </a:lnSpc>
                  <a:spcBef>
                    <a:spcPts val="300"/>
                  </a:spcBef>
                  <a:buClr>
                    <a:srgbClr val="5191DD">
                      <a:lumMod val="75000"/>
                    </a:srgbClr>
                  </a:buClr>
                  <a:buSzPct val="70000"/>
                  <a:buFont typeface="Cambria" panose="02040503050406030204" pitchFamily="18" charset="0"/>
                  <a:buChar char="❹"/>
                </a:pPr>
                <a:r>
                  <a:rPr lang="en-US" noProof="0" dirty="0">
                    <a:solidFill>
                      <a:srgbClr val="000000"/>
                    </a:solidFill>
                  </a:rPr>
                  <a:t>Reject all hypotheses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noProof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noProof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i="1" noProof="0" smtClean="0">
                            <a:solidFill>
                              <a:srgbClr val="5291DD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noProof="0" dirty="0">
                    <a:solidFill>
                      <a:srgbClr val="000000"/>
                    </a:solidFill>
                  </a:rPr>
                  <a:t>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noProof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noProof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i="1" noProof="0" smtClean="0">
                            <a:solidFill>
                              <a:srgbClr val="5291DD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b="0" i="1" noProof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0" i="1" noProof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b="0" i="0" noProof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noProof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b="0" i="1" noProof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=1,…,</m:t>
                    </m:r>
                    <m:r>
                      <a:rPr lang="en-US" i="1" noProof="0" smtClean="0">
                        <a:latin typeface="Cambria Math"/>
                      </a:rPr>
                      <m:t>𝑚</m:t>
                    </m:r>
                  </m:oMath>
                </a14:m>
                <a:endParaRPr lang="en-US" noProof="0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96A0988-AF3E-CC3D-8070-70477C0624A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369218"/>
                <a:ext cx="7886700" cy="3774282"/>
              </a:xfrm>
              <a:blipFill>
                <a:blip r:embed="rId4"/>
                <a:stretch>
                  <a:fillRect t="-12763" b="-4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410572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204D93-BD3A-5A0C-EB89-1BA38E2AB5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92FC2-7628-ACE0-6591-42F70A7308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975798" cy="994172"/>
          </a:xfrm>
        </p:spPr>
        <p:txBody>
          <a:bodyPr>
            <a:normAutofit/>
          </a:bodyPr>
          <a:lstStyle/>
          <a:p>
            <a:r>
              <a:rPr lang="en-US" sz="3200" spc="-100" noProof="0" dirty="0"/>
              <a:t>Example 3 revisited</a:t>
            </a:r>
            <a:br>
              <a:rPr lang="en-US" sz="3200" spc="-100" noProof="0" dirty="0"/>
            </a:br>
            <a:r>
              <a:rPr lang="en-US" sz="2200" i="1" noProof="0" dirty="0">
                <a:solidFill>
                  <a:srgbClr val="000000"/>
                </a:solidFill>
              </a:rPr>
              <a:t>Background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EAB2553-946E-669C-82B2-050F35B8DB3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369219"/>
                <a:ext cx="8119814" cy="3263504"/>
              </a:xfrm>
            </p:spPr>
            <p:txBody>
              <a:bodyPr>
                <a:normAutofit/>
              </a:bodyPr>
              <a:lstStyle/>
              <a:p>
                <a:r>
                  <a:rPr lang="en-US" noProof="0" dirty="0"/>
                  <a:t>Objective: To demonstrate that dose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noProof="0">
                            <a:solidFill>
                              <a:srgbClr val="5291DD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noProof="0">
                            <a:solidFill>
                              <a:srgbClr val="5291DD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i="1" noProof="0" smtClean="0">
                            <a:solidFill>
                              <a:srgbClr val="5291D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 noProof="0" smtClean="0">
                        <a:solidFill>
                          <a:srgbClr val="5291DD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 noProof="0" smtClean="0">
                            <a:solidFill>
                              <a:srgbClr val="5291DD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noProof="0" smtClean="0">
                            <a:solidFill>
                              <a:srgbClr val="5291DD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i="1" noProof="0" smtClean="0">
                            <a:solidFill>
                              <a:srgbClr val="5291D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noProof="0" dirty="0"/>
                  <a:t> of a new drug is better than control 𝐶 in COPD patients for two endpoints </a:t>
                </a:r>
              </a:p>
              <a:p>
                <a:pPr lvl="1">
                  <a:tabLst>
                    <a:tab pos="2511425" algn="l"/>
                  </a:tabLst>
                </a:pPr>
                <a:r>
                  <a:rPr lang="en-US" noProof="0" dirty="0">
                    <a:solidFill>
                      <a:srgbClr val="5291DD"/>
                    </a:solidFill>
                  </a:rPr>
                  <a:t>Primary</a:t>
                </a:r>
                <a:r>
                  <a:rPr lang="en-US" noProof="0" dirty="0"/>
                  <a:t> endpoint: 	FEV1</a:t>
                </a:r>
              </a:p>
              <a:p>
                <a:pPr lvl="1">
                  <a:tabLst>
                    <a:tab pos="2511425" algn="l"/>
                  </a:tabLst>
                </a:pPr>
                <a:r>
                  <a:rPr lang="en-US" noProof="0" dirty="0">
                    <a:solidFill>
                      <a:srgbClr val="5291DD"/>
                    </a:solidFill>
                  </a:rPr>
                  <a:t>Secondary</a:t>
                </a:r>
                <a:r>
                  <a:rPr lang="en-US" noProof="0" dirty="0"/>
                  <a:t> endpoint:	Time to exacerbation</a:t>
                </a:r>
              </a:p>
              <a:p>
                <a:r>
                  <a:rPr lang="en-US" noProof="0" dirty="0"/>
                  <a:t>There is a </a:t>
                </a:r>
                <a:r>
                  <a:rPr lang="en-US" noProof="0" dirty="0">
                    <a:solidFill>
                      <a:srgbClr val="5291DD"/>
                    </a:solidFill>
                  </a:rPr>
                  <a:t>natural order </a:t>
                </a:r>
                <a:r>
                  <a:rPr lang="en-US" noProof="0" dirty="0"/>
                  <a:t>in that the primary endpoint is more important than the secondary endpoint </a:t>
                </a:r>
              </a:p>
              <a:p>
                <a:pPr lvl="1"/>
                <a:r>
                  <a:rPr lang="en-US" noProof="0" dirty="0"/>
                  <a:t>Thus, we would like to test the primary null hypothesis first; only if that is rejected, we test the secondary hypothesis</a:t>
                </a:r>
              </a:p>
              <a:p>
                <a:r>
                  <a:rPr lang="en-US" noProof="0" dirty="0"/>
                  <a:t>Both </a:t>
                </a:r>
                <a:r>
                  <a:rPr lang="en-US" noProof="0" dirty="0">
                    <a:solidFill>
                      <a:srgbClr val="5291DD"/>
                    </a:solidFill>
                  </a:rPr>
                  <a:t>doses are equally important</a:t>
                </a:r>
              </a:p>
              <a:p>
                <a:pPr lvl="1"/>
                <a:r>
                  <a:rPr lang="en-US" noProof="0" dirty="0"/>
                  <a:t>Thus, both doses are simultaneously tested against the control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EAB2553-946E-669C-82B2-050F35B8DB3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369219"/>
                <a:ext cx="8119814" cy="3263504"/>
              </a:xfrm>
              <a:blipFill>
                <a:blip r:embed="rId2"/>
                <a:stretch>
                  <a:fillRect l="-751" t="-2243" r="-1351" b="-3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984D33-D9E4-A532-FDCA-A9FF986D8C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 noProof="0"/>
              <a:t>Bretz, Chen, Xi | ISBS | October 2026</a:t>
            </a:r>
            <a:endParaRPr lang="en-US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5E49BF-D4EA-F0E5-7A3A-072072DA3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D9F39-F344-41AE-B531-1D3ECACBC820}" type="slidenum">
              <a:rPr lang="en-US" noProof="0" smtClean="0"/>
              <a:t>50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132072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11104C-6E61-C7A0-9AD3-B0F0760CF9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noProof="0" dirty="0"/>
              <a:t>Suggested workflow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463FC7-D824-F3D9-737C-B7B5A65510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69219"/>
            <a:ext cx="8119814" cy="3263504"/>
          </a:xfrm>
        </p:spPr>
        <p:txBody>
          <a:bodyPr/>
          <a:lstStyle/>
          <a:p>
            <a:pPr marL="525600" indent="-363600">
              <a:buFont typeface="+mj-lt"/>
              <a:buAutoNum type="arabicPeriod"/>
            </a:pPr>
            <a:r>
              <a:rPr lang="en-US" noProof="0" dirty="0"/>
              <a:t>In close </a:t>
            </a:r>
            <a:r>
              <a:rPr lang="en-US" noProof="0" dirty="0">
                <a:solidFill>
                  <a:srgbClr val="5291DD"/>
                </a:solidFill>
              </a:rPr>
              <a:t>collaboration between clinicians and statisticians </a:t>
            </a:r>
            <a:r>
              <a:rPr lang="en-US" noProof="0" dirty="0"/>
              <a:t>(LaLonde and Nissen, 2025), </a:t>
            </a:r>
            <a:r>
              <a:rPr lang="en-US" noProof="0" dirty="0">
                <a:solidFill>
                  <a:srgbClr val="5291DD"/>
                </a:solidFill>
              </a:rPr>
              <a:t>select a general graphical test strategy </a:t>
            </a:r>
            <a:r>
              <a:rPr lang="en-US" noProof="0" dirty="0"/>
              <a:t>that addresses the trial objectives</a:t>
            </a:r>
          </a:p>
          <a:p>
            <a:pPr marL="525600" indent="-363600">
              <a:buFont typeface="+mj-lt"/>
              <a:buAutoNum type="arabicPeriod"/>
            </a:pPr>
            <a:r>
              <a:rPr lang="en-US" noProof="0" dirty="0">
                <a:solidFill>
                  <a:srgbClr val="5291DD"/>
                </a:solidFill>
              </a:rPr>
              <a:t>Finetune it </a:t>
            </a:r>
            <a:r>
              <a:rPr lang="en-US" noProof="0" dirty="0"/>
              <a:t>based on</a:t>
            </a:r>
          </a:p>
          <a:p>
            <a:pPr marL="715963" lvl="1"/>
            <a:r>
              <a:rPr lang="en-US" noProof="0" dirty="0"/>
              <a:t>clinical importance relationships among trial objectives</a:t>
            </a:r>
          </a:p>
          <a:p>
            <a:pPr marL="715963" lvl="1"/>
            <a:r>
              <a:rPr lang="en-US" noProof="0" dirty="0"/>
              <a:t>assumptions about effect sizes, nuisance parameters, correlations, ...</a:t>
            </a:r>
          </a:p>
          <a:p>
            <a:pPr marL="525600" indent="-363600">
              <a:buFont typeface="+mj-lt"/>
              <a:buAutoNum type="arabicPeriod"/>
            </a:pPr>
            <a:r>
              <a:rPr lang="en-US" noProof="0" dirty="0"/>
              <a:t>Perform </a:t>
            </a:r>
            <a:r>
              <a:rPr lang="en-US" noProof="0" dirty="0">
                <a:solidFill>
                  <a:srgbClr val="5291DD"/>
                </a:solidFill>
              </a:rPr>
              <a:t>sample size calculations for a suitable power definition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B5BB4D-D6CD-AFE2-C7EC-4D89CE6966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 noProof="0"/>
              <a:t>Bretz, Chen, Xi | ISBS | October 2026</a:t>
            </a:r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F57991-37AD-37AD-E7C7-89BD33BEE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D9F39-F344-41AE-B531-1D3ECACBC820}" type="slidenum">
              <a:rPr lang="en-US" noProof="0" smtClean="0"/>
              <a:t>51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8809705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6C8CE3-2BB9-16F4-F4F5-8250B49CD2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7AB84D-D0FC-B42E-017E-33B893A613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975798" cy="994172"/>
          </a:xfrm>
        </p:spPr>
        <p:txBody>
          <a:bodyPr>
            <a:normAutofit/>
          </a:bodyPr>
          <a:lstStyle/>
          <a:p>
            <a:r>
              <a:rPr lang="en-US" sz="3200" spc="-100" noProof="0" dirty="0"/>
              <a:t>Example 3 revisited</a:t>
            </a:r>
            <a:br>
              <a:rPr lang="en-US" sz="3200" spc="-100" noProof="0" dirty="0"/>
            </a:br>
            <a:r>
              <a:rPr lang="en-US" sz="2200" i="1" noProof="0" dirty="0">
                <a:solidFill>
                  <a:srgbClr val="000000"/>
                </a:solidFill>
              </a:rPr>
              <a:t>Building a multiple test procedure – </a:t>
            </a:r>
            <a:r>
              <a:rPr lang="en-US" sz="2200" i="1" noProof="0" dirty="0">
                <a:solidFill>
                  <a:srgbClr val="5291DD"/>
                </a:solidFill>
              </a:rPr>
              <a:t>Hypotheses</a:t>
            </a:r>
          </a:p>
        </p:txBody>
      </p:sp>
      <p:pic>
        <p:nvPicPr>
          <p:cNvPr id="8" name="Picture 3">
            <a:extLst>
              <a:ext uri="{FF2B5EF4-FFF2-40B4-BE49-F238E27FC236}">
                <a16:creationId xmlns:a16="http://schemas.microsoft.com/office/drawing/2014/main" id="{497F81C6-E744-0DC2-586A-DE58BC3E96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4" y="1296102"/>
            <a:ext cx="6177279" cy="31478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DEA03F-039E-8D86-37C6-E7C82152C6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 noProof="0"/>
              <a:t>Bretz, Chen, Xi | ISBS | October 2026</a:t>
            </a:r>
            <a:endParaRPr lang="en-US" noProof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4A2B863-BC1C-771A-3705-B158F8CD1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D9F39-F344-41AE-B531-1D3ECACBC820}" type="slidenum">
              <a:rPr lang="en-US" noProof="0" smtClean="0"/>
              <a:t>52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05840873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D85C2C-9B6C-46CD-421C-406D64CB5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A66F96-477F-D07D-EF88-FBCF0BACAD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975798" cy="994172"/>
          </a:xfrm>
        </p:spPr>
        <p:txBody>
          <a:bodyPr>
            <a:normAutofit/>
          </a:bodyPr>
          <a:lstStyle/>
          <a:p>
            <a:r>
              <a:rPr lang="en-US" sz="3200" spc="-100" noProof="0" dirty="0"/>
              <a:t>Example 3 revisited</a:t>
            </a:r>
            <a:br>
              <a:rPr lang="en-US" sz="3200" spc="-100" noProof="0" dirty="0"/>
            </a:br>
            <a:r>
              <a:rPr lang="en-US" sz="2200" i="1" noProof="0" dirty="0">
                <a:solidFill>
                  <a:srgbClr val="000000"/>
                </a:solidFill>
              </a:rPr>
              <a:t>Building a multiple test procedure – </a:t>
            </a:r>
            <a:r>
              <a:rPr lang="en-US" sz="2200" i="1" noProof="0" dirty="0">
                <a:solidFill>
                  <a:srgbClr val="5291DD"/>
                </a:solidFill>
              </a:rPr>
              <a:t>Initial significance levels</a:t>
            </a:r>
          </a:p>
        </p:txBody>
      </p:sp>
      <p:pic>
        <p:nvPicPr>
          <p:cNvPr id="3" name="Picture 3">
            <a:extLst>
              <a:ext uri="{FF2B5EF4-FFF2-40B4-BE49-F238E27FC236}">
                <a16:creationId xmlns:a16="http://schemas.microsoft.com/office/drawing/2014/main" id="{0799ACA2-95B1-F673-B956-FE729FC592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02" y="1286577"/>
            <a:ext cx="6171301" cy="31540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515F97-FFB0-901D-7C83-BAF755C5A9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 noProof="0"/>
              <a:t>Bretz, Chen, Xi | ISBS | October 2026</a:t>
            </a:r>
            <a:endParaRPr lang="en-US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50CE31-C437-BBEE-466A-FFC264AF3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D9F39-F344-41AE-B531-1D3ECACBC820}" type="slidenum">
              <a:rPr lang="en-US" noProof="0" smtClean="0"/>
              <a:t>53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11108080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DCFECD-5F45-B94D-468D-AAA844F188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CBF69-A16D-546E-D2E9-A40ACDAD68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975798" cy="994172"/>
          </a:xfrm>
        </p:spPr>
        <p:txBody>
          <a:bodyPr>
            <a:normAutofit/>
          </a:bodyPr>
          <a:lstStyle/>
          <a:p>
            <a:r>
              <a:rPr lang="en-US" sz="3200" spc="-100" noProof="0" dirty="0"/>
              <a:t>Example 3 revisited</a:t>
            </a:r>
            <a:br>
              <a:rPr lang="en-US" sz="3200" spc="-100" noProof="0" dirty="0"/>
            </a:br>
            <a:r>
              <a:rPr lang="en-US" sz="2200" i="1" noProof="0" dirty="0">
                <a:solidFill>
                  <a:srgbClr val="000000"/>
                </a:solidFill>
              </a:rPr>
              <a:t>Building a multiple test procedure – </a:t>
            </a:r>
            <a:r>
              <a:rPr lang="en-US" sz="2200" i="1" noProof="0" dirty="0">
                <a:solidFill>
                  <a:srgbClr val="5291DD"/>
                </a:solidFill>
              </a:rPr>
              <a:t>Propagation of significance levels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0703A3C-320B-E6EC-F8D2-C87859C57A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61976"/>
            <a:ext cx="6186803" cy="31743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F7CD261-C861-D6F8-BABD-5DDECDC01195}"/>
                  </a:ext>
                </a:extLst>
              </p:cNvPr>
              <p:cNvSpPr txBox="1"/>
              <p:nvPr/>
            </p:nvSpPr>
            <p:spPr>
              <a:xfrm>
                <a:off x="6551712" y="1836890"/>
                <a:ext cx="2592288" cy="153792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b="1" i="1" noProof="0" smtClean="0">
                          <a:latin typeface="Cambria Math"/>
                        </a:rPr>
                        <m:t>𝜶</m:t>
                      </m:r>
                      <m:r>
                        <a:rPr lang="en-US" b="0" i="1" noProof="0" smtClean="0"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lang="en-US" b="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b="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box>
                                        <m:boxPr>
                                          <m:ctrlPr>
                                            <a:rPr lang="en-US" b="0" i="1" noProof="0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boxPr>
                                        <m:e>
                                          <m:f>
                                            <m:fPr>
                                              <m:ctrlPr>
                                                <a:rPr lang="en-US" b="0" i="1" noProof="0" smtClean="0">
                                                  <a:latin typeface="Cambria Math"/>
                                                </a:rPr>
                                              </m:ctrlPr>
                                            </m:fPr>
                                            <m:num>
                                              <m:r>
                                                <a:rPr lang="en-US" b="0" i="1" noProof="0" smtClean="0">
                                                  <a:latin typeface="Cambria Math"/>
                                                </a:rPr>
                                                <m:t>𝛼</m:t>
                                              </m:r>
                                            </m:num>
                                            <m:den>
                                              <m:r>
                                                <a:rPr lang="en-US" b="0" i="1" noProof="0" smtClean="0">
                                                  <a:latin typeface="Cambria Math"/>
                                                </a:rPr>
                                                <m:t>2</m:t>
                                              </m:r>
                                            </m:den>
                                          </m:f>
                                        </m:e>
                                      </m:box>
                                    </m:e>
                                    <m:e>
                                      <m:box>
                                        <m:boxPr>
                                          <m:ctrlPr>
                                            <a:rPr lang="en-US" b="0" i="1" noProof="0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boxPr>
                                        <m:e>
                                          <m:f>
                                            <m:fPr>
                                              <m:ctrlPr>
                                                <a:rPr lang="en-US" b="0" i="1" noProof="0" smtClean="0">
                                                  <a:latin typeface="Cambria Math"/>
                                                </a:rPr>
                                              </m:ctrlPr>
                                            </m:fPr>
                                            <m:num>
                                              <m:r>
                                                <a:rPr lang="en-US" b="0" i="1" noProof="0" smtClean="0">
                                                  <a:latin typeface="Cambria Math"/>
                                                </a:rPr>
                                                <m:t>𝛼</m:t>
                                              </m:r>
                                            </m:num>
                                            <m:den>
                                              <m:r>
                                                <a:rPr lang="en-US" b="0" i="1" noProof="0" smtClean="0">
                                                  <a:latin typeface="Cambria Math"/>
                                                </a:rPr>
                                                <m:t>2</m:t>
                                              </m:r>
                                            </m:den>
                                          </m:f>
                                        </m:e>
                                      </m:box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b="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b="0" i="1" noProof="0" smtClean="0">
                                          <a:latin typeface="Cambria Math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US" b="0" i="1" noProof="0" smtClean="0">
                                          <a:latin typeface="Cambria Math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  <m:r>
                            <a:rPr lang="en-US" i="1" noProof="0" smtClean="0">
                              <a:latin typeface="Cambria Math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US" sz="1600" noProof="0" dirty="0"/>
              </a:p>
              <a:p>
                <a:endParaRPr lang="en-US" sz="1100" noProof="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b="1" i="1" noProof="0" smtClean="0">
                          <a:latin typeface="Cambria Math"/>
                        </a:rPr>
                        <m:t>𝑮</m:t>
                      </m:r>
                      <m:r>
                        <a:rPr lang="en-US" b="0" i="1" noProof="0" smtClean="0"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lang="en-US" b="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b="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b="0" i="1" noProof="0" smtClean="0">
                                          <a:latin typeface="Cambria Math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US" b="0" i="1" noProof="0" smtClean="0">
                                          <a:latin typeface="Cambria Math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b="0" i="1" noProof="0" smtClean="0">
                                          <a:latin typeface="Cambria Math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US" b="0" i="1" noProof="0" smtClean="0">
                                          <a:latin typeface="Cambria Math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b="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b="0" i="1" noProof="0" smtClean="0">
                                          <a:latin typeface="Cambria Math"/>
                                        </a:rPr>
                                        <m:t>1</m:t>
                                      </m:r>
                                    </m:e>
                                    <m:e>
                                      <m:r>
                                        <a:rPr lang="en-US" b="0" i="1" noProof="0" smtClean="0">
                                          <a:latin typeface="Cambria Math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b="0" i="1" noProof="0" smtClean="0">
                                          <a:latin typeface="Cambria Math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US" b="0" i="1" noProof="0" smtClean="0">
                                          <a:latin typeface="Cambria Math"/>
                                        </a:rPr>
                                        <m:t>1</m:t>
                                      </m: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b="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b="0" i="1" noProof="0" smtClean="0">
                                          <a:latin typeface="Cambria Math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US" b="0" i="1" noProof="0" smtClean="0">
                                          <a:latin typeface="Cambria Math"/>
                                        </a:rPr>
                                        <m:t>1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b="0" i="1" noProof="0" smtClean="0">
                                          <a:latin typeface="Cambria Math"/>
                                        </a:rPr>
                                        <m:t>1</m:t>
                                      </m:r>
                                    </m:e>
                                    <m:e>
                                      <m:r>
                                        <a:rPr lang="en-US" b="0" i="1" noProof="0" smtClean="0">
                                          <a:latin typeface="Cambria Math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b="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b="0" i="1" noProof="0" smtClean="0">
                                          <a:latin typeface="Cambria Math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US" b="0" i="1" noProof="0" smtClean="0">
                                          <a:latin typeface="Cambria Math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b="0" i="1" noProof="0" smtClean="0">
                                          <a:latin typeface="Cambria Math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US" b="0" i="1" noProof="0" smtClean="0">
                                          <a:latin typeface="Cambria Math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noProof="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F7CD261-C861-D6F8-BABD-5DDECDC011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1712" y="1836890"/>
                <a:ext cx="2592288" cy="1537922"/>
              </a:xfrm>
              <a:prstGeom prst="rect">
                <a:avLst/>
              </a:prstGeom>
              <a:blipFill>
                <a:blip r:embed="rId3"/>
                <a:stretch>
                  <a:fillRect b="-11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454B3F-8D5C-CB45-49A7-2FEC0324E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 noProof="0"/>
              <a:t>Bretz, Chen, Xi | ISBS | October 2026</a:t>
            </a:r>
            <a:endParaRPr lang="en-US" noProof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F423FB8-BAA0-CC58-95DA-2CA689A3B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D9F39-F344-41AE-B531-1D3ECACBC820}" type="slidenum">
              <a:rPr lang="en-US" noProof="0" smtClean="0"/>
              <a:t>54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921797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3E71EB-4EB0-00E7-F0BB-6D34560EF7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F02A0-3A33-52AE-8624-57FC181C8B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975798" cy="994172"/>
          </a:xfrm>
        </p:spPr>
        <p:txBody>
          <a:bodyPr>
            <a:normAutofit/>
          </a:bodyPr>
          <a:lstStyle/>
          <a:p>
            <a:r>
              <a:rPr lang="en-US" sz="3200" spc="-100" noProof="0" dirty="0"/>
              <a:t>Example 3 revisited</a:t>
            </a:r>
            <a:br>
              <a:rPr lang="en-US" sz="3200" spc="-100" noProof="0" dirty="0"/>
            </a:br>
            <a:r>
              <a:rPr lang="en-US" sz="2200" i="1" noProof="0" dirty="0">
                <a:solidFill>
                  <a:srgbClr val="000000"/>
                </a:solidFill>
              </a:rPr>
              <a:t>Building a multiple test procedure – </a:t>
            </a:r>
            <a:r>
              <a:rPr lang="en-US" sz="2200" i="1" noProof="0" dirty="0">
                <a:solidFill>
                  <a:srgbClr val="5291DD"/>
                </a:solidFill>
              </a:rPr>
              <a:t>Alternative propagation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C2D95C0-AB3D-7E7D-576A-0EC6F0CA803E}"/>
                  </a:ext>
                </a:extLst>
              </p:cNvPr>
              <p:cNvSpPr txBox="1"/>
              <p:nvPr/>
            </p:nvSpPr>
            <p:spPr>
              <a:xfrm>
                <a:off x="6549405" y="1836890"/>
                <a:ext cx="2487091" cy="188930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b="1" i="1" noProof="0" smtClean="0">
                          <a:latin typeface="Cambria Math"/>
                        </a:rPr>
                        <m:t>𝜶</m:t>
                      </m:r>
                      <m:r>
                        <a:rPr lang="en-US" b="0" i="1" noProof="0" smtClean="0"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lang="en-US" b="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b="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box>
                                        <m:boxPr>
                                          <m:ctrlPr>
                                            <a:rPr lang="en-US" b="0" i="1" noProof="0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boxPr>
                                        <m:e>
                                          <m:f>
                                            <m:fPr>
                                              <m:ctrlPr>
                                                <a:rPr lang="en-US" b="0" i="1" noProof="0" smtClean="0">
                                                  <a:latin typeface="Cambria Math"/>
                                                </a:rPr>
                                              </m:ctrlPr>
                                            </m:fPr>
                                            <m:num>
                                              <m:r>
                                                <a:rPr lang="en-US" b="0" i="1" noProof="0" smtClean="0">
                                                  <a:latin typeface="Cambria Math"/>
                                                </a:rPr>
                                                <m:t>𝛼</m:t>
                                              </m:r>
                                            </m:num>
                                            <m:den>
                                              <m:r>
                                                <a:rPr lang="en-US" b="0" i="1" noProof="0" smtClean="0">
                                                  <a:latin typeface="Cambria Math"/>
                                                </a:rPr>
                                                <m:t>2</m:t>
                                              </m:r>
                                            </m:den>
                                          </m:f>
                                        </m:e>
                                      </m:box>
                                    </m:e>
                                    <m:e>
                                      <m:box>
                                        <m:boxPr>
                                          <m:ctrlPr>
                                            <a:rPr lang="en-US" b="0" i="1" noProof="0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boxPr>
                                        <m:e>
                                          <m:f>
                                            <m:fPr>
                                              <m:ctrlPr>
                                                <a:rPr lang="en-US" b="0" i="1" noProof="0" smtClean="0">
                                                  <a:latin typeface="Cambria Math"/>
                                                </a:rPr>
                                              </m:ctrlPr>
                                            </m:fPr>
                                            <m:num>
                                              <m:r>
                                                <a:rPr lang="en-US" b="0" i="1" noProof="0" smtClean="0">
                                                  <a:latin typeface="Cambria Math"/>
                                                </a:rPr>
                                                <m:t>𝛼</m:t>
                                              </m:r>
                                            </m:num>
                                            <m:den>
                                              <m:r>
                                                <a:rPr lang="en-US" b="0" i="1" noProof="0" smtClean="0">
                                                  <a:latin typeface="Cambria Math"/>
                                                </a:rPr>
                                                <m:t>2</m:t>
                                              </m:r>
                                            </m:den>
                                          </m:f>
                                        </m:e>
                                      </m:box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b="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b="0" i="1" noProof="0" smtClean="0">
                                          <a:latin typeface="Cambria Math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US" b="0" i="1" noProof="0" smtClean="0">
                                          <a:latin typeface="Cambria Math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  <m:r>
                            <a:rPr lang="en-US" i="1" noProof="0" smtClean="0">
                              <a:latin typeface="Cambria Math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US" noProof="0" dirty="0"/>
              </a:p>
              <a:p>
                <a:endParaRPr lang="en-US" sz="1100" noProof="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b="1" i="1" noProof="0" smtClean="0">
                          <a:latin typeface="Cambria Math"/>
                        </a:rPr>
                        <m:t>𝑮</m:t>
                      </m:r>
                      <m:r>
                        <a:rPr lang="en-US" b="0" i="1" noProof="0" smtClean="0"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lang="en-US" b="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b="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b="0" i="1" noProof="0" smtClean="0">
                                          <a:latin typeface="Cambria Math"/>
                                        </a:rPr>
                                        <m:t>0</m:t>
                                      </m:r>
                                    </m:e>
                                    <m:e>
                                      <m:box>
                                        <m:boxPr>
                                          <m:ctrlPr>
                                            <a:rPr lang="en-US" b="0" i="1" noProof="0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boxPr>
                                        <m:e>
                                          <m:f>
                                            <m:fPr>
                                              <m:ctrlPr>
                                                <a:rPr lang="en-US" b="0" i="1" noProof="0" smtClean="0">
                                                  <a:latin typeface="Cambria Math"/>
                                                </a:rPr>
                                              </m:ctrlPr>
                                            </m:fPr>
                                            <m:num>
                                              <m:r>
                                                <a:rPr lang="en-US" b="0" i="1" noProof="0" smtClean="0">
                                                  <a:latin typeface="Cambria Math"/>
                                                </a:rPr>
                                                <m:t>1</m:t>
                                              </m:r>
                                            </m:num>
                                            <m:den>
                                              <m:r>
                                                <a:rPr lang="en-US" b="0" i="1" noProof="0" smtClean="0">
                                                  <a:latin typeface="Cambria Math"/>
                                                </a:rPr>
                                                <m:t>2</m:t>
                                              </m:r>
                                            </m:den>
                                          </m:f>
                                        </m:e>
                                      </m:box>
                                    </m:e>
                                  </m:mr>
                                  <m:mr>
                                    <m:e>
                                      <m:box>
                                        <m:boxPr>
                                          <m:ctrlPr>
                                            <a:rPr lang="en-US" b="0" i="1" noProof="0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boxPr>
                                        <m:e>
                                          <m:f>
                                            <m:fPr>
                                              <m:ctrlPr>
                                                <a:rPr lang="en-US" b="0" i="1" noProof="0" smtClean="0">
                                                  <a:latin typeface="Cambria Math"/>
                                                </a:rPr>
                                              </m:ctrlPr>
                                            </m:fPr>
                                            <m:num>
                                              <m:r>
                                                <a:rPr lang="en-US" b="0" i="1" noProof="0" smtClean="0">
                                                  <a:latin typeface="Cambria Math"/>
                                                </a:rPr>
                                                <m:t>1</m:t>
                                              </m:r>
                                            </m:num>
                                            <m:den>
                                              <m:r>
                                                <a:rPr lang="en-US" b="0" i="1" noProof="0" smtClean="0">
                                                  <a:latin typeface="Cambria Math"/>
                                                </a:rPr>
                                                <m:t>2</m:t>
                                              </m:r>
                                            </m:den>
                                          </m:f>
                                        </m:e>
                                      </m:box>
                                    </m:e>
                                    <m:e>
                                      <m:r>
                                        <a:rPr lang="en-US" b="0" i="1" noProof="0" smtClean="0">
                                          <a:latin typeface="Cambria Math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b="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box>
                                        <m:boxPr>
                                          <m:ctrlPr>
                                            <a:rPr lang="en-US" b="0" i="1" noProof="0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boxPr>
                                        <m:e>
                                          <m:f>
                                            <m:fPr>
                                              <m:ctrlPr>
                                                <a:rPr lang="en-US" b="0" i="1" noProof="0" smtClean="0">
                                                  <a:latin typeface="Cambria Math"/>
                                                </a:rPr>
                                              </m:ctrlPr>
                                            </m:fPr>
                                            <m:num>
                                              <m:r>
                                                <a:rPr lang="en-US" b="0" i="1" noProof="0" smtClean="0">
                                                  <a:latin typeface="Cambria Math"/>
                                                </a:rPr>
                                                <m:t>1</m:t>
                                              </m:r>
                                            </m:num>
                                            <m:den>
                                              <m:r>
                                                <a:rPr lang="en-US" b="0" i="1" noProof="0" smtClean="0">
                                                  <a:latin typeface="Cambria Math"/>
                                                </a:rPr>
                                                <m:t>2</m:t>
                                              </m:r>
                                            </m:den>
                                          </m:f>
                                        </m:e>
                                      </m:box>
                                    </m:e>
                                    <m:e>
                                      <m:r>
                                        <a:rPr lang="en-US" b="0" i="1" noProof="0" smtClean="0">
                                          <a:latin typeface="Cambria Math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b="0" i="1" noProof="0" smtClean="0">
                                          <a:latin typeface="Cambria Math"/>
                                        </a:rPr>
                                        <m:t>0</m:t>
                                      </m:r>
                                    </m:e>
                                    <m:e>
                                      <m:box>
                                        <m:boxPr>
                                          <m:ctrlPr>
                                            <a:rPr lang="en-US" b="0" i="1" noProof="0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boxPr>
                                        <m:e>
                                          <m:f>
                                            <m:fPr>
                                              <m:ctrlPr>
                                                <a:rPr lang="en-US" b="0" i="1" noProof="0" smtClean="0">
                                                  <a:latin typeface="Cambria Math"/>
                                                </a:rPr>
                                              </m:ctrlPr>
                                            </m:fPr>
                                            <m:num>
                                              <m:r>
                                                <a:rPr lang="en-US" b="0" i="1" noProof="0" smtClean="0">
                                                  <a:latin typeface="Cambria Math"/>
                                                </a:rPr>
                                                <m:t>1</m:t>
                                              </m:r>
                                            </m:num>
                                            <m:den>
                                              <m:r>
                                                <a:rPr lang="en-US" b="0" i="1" noProof="0" smtClean="0">
                                                  <a:latin typeface="Cambria Math"/>
                                                </a:rPr>
                                                <m:t>2</m:t>
                                              </m:r>
                                            </m:den>
                                          </m:f>
                                        </m:e>
                                      </m:box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b="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b="0" i="1" noProof="0" smtClean="0">
                                          <a:latin typeface="Cambria Math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US" b="0" i="1" noProof="0" smtClean="0">
                                          <a:latin typeface="Cambria Math"/>
                                        </a:rPr>
                                        <m:t>1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b="0" i="1" noProof="0" smtClean="0">
                                          <a:latin typeface="Cambria Math"/>
                                        </a:rPr>
                                        <m:t>1</m:t>
                                      </m:r>
                                    </m:e>
                                    <m:e>
                                      <m:r>
                                        <a:rPr lang="en-US" b="0" i="1" noProof="0" smtClean="0">
                                          <a:latin typeface="Cambria Math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b="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b="0" i="1" noProof="0" smtClean="0">
                                          <a:latin typeface="Cambria Math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US" b="0" i="1" noProof="0" smtClean="0">
                                          <a:latin typeface="Cambria Math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b="0" i="1" noProof="0" smtClean="0">
                                          <a:latin typeface="Cambria Math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US" b="0" i="1" noProof="0" smtClean="0">
                                          <a:latin typeface="Cambria Math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noProof="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C2D95C0-AB3D-7E7D-576A-0EC6F0CA80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9405" y="1836890"/>
                <a:ext cx="2487091" cy="18893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4">
            <a:extLst>
              <a:ext uri="{FF2B5EF4-FFF2-40B4-BE49-F238E27FC236}">
                <a16:creationId xmlns:a16="http://schemas.microsoft.com/office/drawing/2014/main" id="{52A7AF77-0E6B-6293-9A93-EAEFA13D12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219200"/>
            <a:ext cx="6228184" cy="3223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64CE96-035B-C814-C5E2-7CA6A4F991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 noProof="0"/>
              <a:t>Bretz, Chen, Xi | ISBS | October 2026</a:t>
            </a:r>
            <a:endParaRPr lang="en-US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FF9B54-1767-FAFF-6AE2-4204A93CB4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D9F39-F344-41AE-B531-1D3ECACBC820}" type="slidenum">
              <a:rPr lang="en-US" noProof="0" smtClean="0"/>
              <a:t>55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03472886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608A71-1671-2F55-4849-EB5D142033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54736-2EC6-631E-41E8-2BE6AF534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975798" cy="994172"/>
          </a:xfrm>
        </p:spPr>
        <p:txBody>
          <a:bodyPr>
            <a:normAutofit/>
          </a:bodyPr>
          <a:lstStyle/>
          <a:p>
            <a:r>
              <a:rPr lang="en-US" sz="3200" spc="-100" noProof="0" dirty="0"/>
              <a:t>Example 3 revisited</a:t>
            </a:r>
            <a:br>
              <a:rPr lang="en-US" sz="3200" spc="-100" noProof="0" dirty="0"/>
            </a:br>
            <a:r>
              <a:rPr lang="en-US" sz="2200" i="1" noProof="0" dirty="0">
                <a:solidFill>
                  <a:srgbClr val="000000"/>
                </a:solidFill>
              </a:rPr>
              <a:t>Building a multiple test procedure – </a:t>
            </a:r>
            <a:r>
              <a:rPr lang="en-US" sz="2200" i="1" noProof="0" dirty="0">
                <a:solidFill>
                  <a:srgbClr val="5291DD"/>
                </a:solidFill>
              </a:rPr>
              <a:t>General approach</a:t>
            </a:r>
          </a:p>
        </p:txBody>
      </p:sp>
      <p:pic>
        <p:nvPicPr>
          <p:cNvPr id="6" name="Picture 3">
            <a:extLst>
              <a:ext uri="{FF2B5EF4-FFF2-40B4-BE49-F238E27FC236}">
                <a16:creationId xmlns:a16="http://schemas.microsoft.com/office/drawing/2014/main" id="{6FD4D70A-C7F3-DA06-7296-449DD3F5D5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" y="1303819"/>
            <a:ext cx="5631112" cy="27080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FCED5D3-C38C-8E83-D048-1D78E821CB22}"/>
                  </a:ext>
                </a:extLst>
              </p:cNvPr>
              <p:cNvSpPr txBox="1"/>
              <p:nvPr/>
            </p:nvSpPr>
            <p:spPr>
              <a:xfrm>
                <a:off x="5796136" y="1836890"/>
                <a:ext cx="3347863" cy="1573251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b="1" i="1" noProof="0" smtClean="0">
                          <a:latin typeface="Cambria Math"/>
                        </a:rPr>
                        <m:t>𝜶</m:t>
                      </m:r>
                      <m:r>
                        <a:rPr lang="en-US" b="0" i="1" noProof="0" smtClean="0"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lang="en-US" b="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b="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b="0" i="1" noProof="0" smtClean="0">
                                              <a:latin typeface="Cambria Math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noProof="0" smtClean="0">
                                              <a:latin typeface="Cambria Math"/>
                                            </a:rPr>
                                            <m:t>𝛼</m:t>
                                          </m:r>
                                        </m:e>
                                        <m:sub>
                                          <m:r>
                                            <a:rPr lang="en-US" b="0" i="1" noProof="0" smtClean="0">
                                              <a:latin typeface="Cambria Math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b="0" i="1" noProof="0" smtClean="0">
                                              <a:latin typeface="Cambria Math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b="0" i="1" noProof="0" smtClean="0">
                                              <a:latin typeface="Cambria Math"/>
                                            </a:rPr>
                                            <m:t>𝛼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b="0" i="1" noProof="0" smtClean="0">
                                              <a:latin typeface="Cambria Math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b="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b="0" i="1" noProof="0" smtClean="0">
                                          <a:latin typeface="Cambria Math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US" b="0" i="1" noProof="0" smtClean="0">
                                          <a:latin typeface="Cambria Math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  <m:r>
                            <a:rPr lang="en-US" i="1" noProof="0" smtClean="0">
                              <a:latin typeface="Cambria Math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US" noProof="0" dirty="0"/>
              </a:p>
              <a:p>
                <a:endParaRPr lang="en-US" sz="1100" noProof="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b="1" i="1" noProof="0" smtClean="0">
                          <a:latin typeface="Cambria Math"/>
                        </a:rPr>
                        <m:t>𝑮</m:t>
                      </m:r>
                      <m:r>
                        <a:rPr lang="en-US" b="0" i="1" noProof="0" smtClean="0"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lang="en-US" b="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b="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b="0" i="1" noProof="0" smtClean="0">
                                          <a:latin typeface="Cambria Math"/>
                                        </a:rPr>
                                        <m:t>0</m:t>
                                      </m:r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b="0" i="1" noProof="0" smtClean="0">
                                              <a:latin typeface="Cambria Math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noProof="0" smtClean="0">
                                              <a:latin typeface="Cambria Math"/>
                                            </a:rPr>
                                            <m:t>𝛾</m:t>
                                          </m:r>
                                        </m:e>
                                        <m:sub>
                                          <m:r>
                                            <a:rPr lang="en-US" b="0" i="1" noProof="0" smtClean="0">
                                              <a:latin typeface="Cambria Math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i="1" noProof="0" smtClean="0">
                                              <a:latin typeface="Cambria Math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 noProof="0" smtClean="0">
                                              <a:latin typeface="Cambria Math"/>
                                            </a:rPr>
                                            <m:t>𝛾</m:t>
                                          </m:r>
                                        </m:e>
                                        <m:sub>
                                          <m:r>
                                            <a:rPr lang="en-US" b="0" i="1" noProof="0" smtClean="0">
                                              <a:latin typeface="Cambria Math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  <m:e>
                                      <m:r>
                                        <a:rPr lang="en-US" b="0" i="1" noProof="0" smtClean="0">
                                          <a:latin typeface="Cambria Math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b="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b="0" i="1" noProof="0" smtClean="0">
                                          <a:latin typeface="Cambria Math"/>
                                        </a:rPr>
                                        <m:t>1</m:t>
                                      </m:r>
                                      <m:r>
                                        <a:rPr lang="en-US" b="0" i="1" noProof="0" smtClean="0">
                                          <a:latin typeface="Cambria Math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i="1" noProof="0" smtClean="0">
                                              <a:latin typeface="Cambria Math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 noProof="0" smtClean="0">
                                              <a:latin typeface="Cambria Math"/>
                                            </a:rPr>
                                            <m:t>𝛾</m:t>
                                          </m:r>
                                        </m:e>
                                        <m:sub>
                                          <m:r>
                                            <a:rPr lang="en-US" i="1" noProof="0" smtClean="0">
                                              <a:latin typeface="Cambria Math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  <m:e>
                                      <m:r>
                                        <a:rPr lang="en-US" b="0" i="1" noProof="0" smtClean="0">
                                          <a:latin typeface="Cambria Math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b="0" i="1" noProof="0" smtClean="0">
                                          <a:latin typeface="Cambria Math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US" b="0" i="1" noProof="0" smtClean="0">
                                          <a:latin typeface="Cambria Math"/>
                                        </a:rPr>
                                        <m:t>1−</m:t>
                                      </m:r>
                                      <m:sSub>
                                        <m:sSubPr>
                                          <m:ctrlPr>
                                            <a:rPr lang="en-US" i="1" noProof="0" smtClean="0">
                                              <a:latin typeface="Cambria Math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 noProof="0" smtClean="0">
                                              <a:latin typeface="Cambria Math"/>
                                            </a:rPr>
                                            <m:t>𝛾</m:t>
                                          </m:r>
                                        </m:e>
                                        <m:sub>
                                          <m:r>
                                            <a:rPr lang="en-US" b="0" i="1" noProof="0" smtClean="0">
                                              <a:latin typeface="Cambria Math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b="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b="0" i="1" noProof="0" smtClean="0">
                                          <a:latin typeface="Cambria Math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US" b="0" i="1" noProof="0" smtClean="0">
                                          <a:latin typeface="Cambria Math"/>
                                        </a:rPr>
                                        <m:t>1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b="0" i="1" noProof="0" smtClean="0">
                                          <a:latin typeface="Cambria Math"/>
                                        </a:rPr>
                                        <m:t>1</m:t>
                                      </m:r>
                                    </m:e>
                                    <m:e>
                                      <m:r>
                                        <a:rPr lang="en-US" b="0" i="1" noProof="0" smtClean="0">
                                          <a:latin typeface="Cambria Math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b="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b="0" i="1" noProof="0" smtClean="0">
                                          <a:latin typeface="Cambria Math"/>
                                        </a:rPr>
                                        <m:t>0</m:t>
                                      </m:r>
                                      <m:r>
                                        <a:rPr lang="en-US" b="0" i="1" noProof="0" smtClean="0">
                                          <a:latin typeface="Cambria Math"/>
                                        </a:rPr>
                                        <m:t>          </m:t>
                                      </m:r>
                                    </m:e>
                                    <m:e>
                                      <m:r>
                                        <a:rPr lang="en-US" b="0" i="1" noProof="0" smtClean="0">
                                          <a:latin typeface="Cambria Math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b="0" i="1" noProof="0" smtClean="0">
                                          <a:latin typeface="Cambria Math"/>
                                        </a:rPr>
                                        <m:t>0          </m:t>
                                      </m:r>
                                    </m:e>
                                    <m:e>
                                      <m:r>
                                        <a:rPr lang="en-US" b="0" i="1" noProof="0" smtClean="0">
                                          <a:latin typeface="Cambria Math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noProof="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FCED5D3-C38C-8E83-D048-1D78E821CB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6136" y="1836890"/>
                <a:ext cx="3347863" cy="157325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03C0E9-5559-83A6-8F56-24F06DA707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 noProof="0"/>
              <a:t>Bretz, Chen, Xi | ISBS | October 2026</a:t>
            </a:r>
            <a:endParaRPr lang="en-US" noProof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6441F30-252A-C3B6-CB91-147270DBA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D9F39-F344-41AE-B531-1D3ECACBC820}" type="slidenum">
              <a:rPr lang="en-US" noProof="0" smtClean="0"/>
              <a:t>56</a:t>
            </a:fld>
            <a:endParaRPr lang="en-US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5FE004A-EDA2-87A8-55AB-8E4A263A7EA6}"/>
                  </a:ext>
                </a:extLst>
              </p:cNvPr>
              <p:cNvSpPr txBox="1"/>
              <p:nvPr/>
            </p:nvSpPr>
            <p:spPr>
              <a:xfrm>
                <a:off x="457200" y="4127972"/>
                <a:ext cx="8424936" cy="92333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noProof="0" dirty="0"/>
                  <a:t>Resulting graph depends on the remaining </a:t>
                </a:r>
                <a:r>
                  <a:rPr lang="en-US" noProof="0" dirty="0">
                    <a:solidFill>
                      <a:srgbClr val="5291DD"/>
                    </a:solidFill>
                  </a:rPr>
                  <a:t>design parameters</a:t>
                </a:r>
                <a:r>
                  <a:rPr lang="en-US" noProof="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noProof="0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i="1" noProof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noProof="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noProof="0" smtClean="0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en-US" i="1" noProof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noProof="0" dirty="0"/>
                  <a:t>,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noProof="0" smtClean="0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en-US" i="1" noProof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noProof="0" dirty="0"/>
                  <a:t>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noProof="0" dirty="0"/>
                  <a:t>These need to be fine-tuned based on further clinical considerations, or assumptions about effect sizes, nuisance parameters, correlations, ... 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5FE004A-EDA2-87A8-55AB-8E4A263A7E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4127972"/>
                <a:ext cx="8424936" cy="923330"/>
              </a:xfrm>
              <a:prstGeom prst="rect">
                <a:avLst/>
              </a:prstGeom>
              <a:blipFill>
                <a:blip r:embed="rId4"/>
                <a:stretch>
                  <a:fillRect l="-434" t="-3289" r="-217" b="-9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490523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C201FF-C77A-3AD8-CCB0-040B5B762C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spc="-100" noProof="0" dirty="0"/>
              <a:t>Sample size and power calculations</a:t>
            </a:r>
            <a:br>
              <a:rPr lang="en-US" noProof="0" dirty="0"/>
            </a:br>
            <a:r>
              <a:rPr lang="en-US" sz="2200" i="1" noProof="0" dirty="0">
                <a:solidFill>
                  <a:srgbClr val="000000"/>
                </a:solidFill>
              </a:rPr>
              <a:t>Scenarios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F9C9CE-7024-0D8C-2AEA-9012A2470F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69218"/>
            <a:ext cx="8191822" cy="3398045"/>
          </a:xfrm>
        </p:spPr>
        <p:txBody>
          <a:bodyPr>
            <a:normAutofit/>
          </a:bodyPr>
          <a:lstStyle/>
          <a:p>
            <a:r>
              <a:rPr lang="en-US" noProof="0" dirty="0"/>
              <a:t>Calculating the power or sample size for a given test procedure should be done under a </a:t>
            </a:r>
            <a:r>
              <a:rPr lang="en-US" noProof="0" dirty="0">
                <a:solidFill>
                  <a:srgbClr val="5291DD"/>
                </a:solidFill>
              </a:rPr>
              <a:t>plausible range of assumptions ('scenarios')</a:t>
            </a:r>
          </a:p>
          <a:p>
            <a:pPr lvl="1"/>
            <a:r>
              <a:rPr lang="en-US" noProof="0" dirty="0"/>
              <a:t>This ensures a robust assessment of the performance of the proposed graphical test procedure</a:t>
            </a:r>
          </a:p>
          <a:p>
            <a:r>
              <a:rPr lang="en-US" noProof="0" dirty="0"/>
              <a:t>Assumptions may have to be made for a variety of parameters (e.g., effect sizes, nuisance parameters, correlations)</a:t>
            </a:r>
          </a:p>
          <a:p>
            <a:pPr lvl="1"/>
            <a:r>
              <a:rPr lang="en-US" noProof="0" dirty="0"/>
              <a:t>For some parameters there might be more information available (e.g., effect sizes) than for others (e.g., correlation between endpoints)</a:t>
            </a:r>
          </a:p>
          <a:p>
            <a:r>
              <a:rPr lang="en-US" noProof="0" dirty="0"/>
              <a:t>Parameters underlying the scenarios can take different forms</a:t>
            </a:r>
          </a:p>
          <a:p>
            <a:pPr lvl="1"/>
            <a:r>
              <a:rPr lang="en-US" noProof="0" dirty="0"/>
              <a:t>For example, standardized effect sizes can conveniently be expressed through marginal power values or non-centrality parameters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72125B-95BB-F2A9-F006-2BCDE79EE8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 noProof="0"/>
              <a:t>Bretz, Chen, Xi | ISBS | October 2026</a:t>
            </a:r>
            <a:endParaRPr lang="en-US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89023F-232B-B16F-0F81-4FCFDCDFB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D9F39-F344-41AE-B531-1D3ECACBC820}" type="slidenum">
              <a:rPr lang="en-US" noProof="0" smtClean="0"/>
              <a:t>57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064601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18BD5B-861C-9073-E458-E9D4506996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8C37EF-2871-31F4-8F71-6E4A15EE04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spc="-100" noProof="0" dirty="0"/>
              <a:t>Sample size and power calculations</a:t>
            </a:r>
            <a:br>
              <a:rPr lang="en-US" noProof="0" dirty="0"/>
            </a:br>
            <a:r>
              <a:rPr lang="en-US" sz="2200" i="1" noProof="0" dirty="0">
                <a:solidFill>
                  <a:srgbClr val="000000"/>
                </a:solidFill>
              </a:rPr>
              <a:t>Outcome measures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2BA6B5-90FB-6AAA-AAB3-517745F0AE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69218"/>
            <a:ext cx="8191822" cy="336277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noProof="0" dirty="0"/>
              <a:t>To calculate the power for a given graphical test procedure, </a:t>
            </a:r>
            <a:r>
              <a:rPr lang="en-US" noProof="0" dirty="0">
                <a:solidFill>
                  <a:srgbClr val="5291DD"/>
                </a:solidFill>
              </a:rPr>
              <a:t>distinguish between the probabilities</a:t>
            </a:r>
            <a:r>
              <a:rPr lang="en-US" noProof="0" dirty="0"/>
              <a:t> of </a:t>
            </a:r>
          </a:p>
          <a:p>
            <a:r>
              <a:rPr lang="en-US" noProof="0" dirty="0"/>
              <a:t>successful trial (as driven by the primary objectives)</a:t>
            </a:r>
          </a:p>
          <a:p>
            <a:r>
              <a:rPr lang="en-US" noProof="0" dirty="0"/>
              <a:t>rejecting an individual null hypotheses</a:t>
            </a:r>
          </a:p>
          <a:p>
            <a:r>
              <a:rPr lang="en-US" noProof="0" dirty="0"/>
              <a:t>(weighted) combination of individual rejections, e.g., probability of rejecting</a:t>
            </a:r>
          </a:p>
          <a:p>
            <a:pPr lvl="1"/>
            <a:r>
              <a:rPr lang="en-US" noProof="0" dirty="0"/>
              <a:t>at least one hypothesis ('disjunctive power')</a:t>
            </a:r>
          </a:p>
          <a:p>
            <a:pPr lvl="1"/>
            <a:r>
              <a:rPr lang="en-US" noProof="0" dirty="0"/>
              <a:t>the primary endpoint hypothesis for at least one dose</a:t>
            </a:r>
          </a:p>
          <a:p>
            <a:pPr lvl="1"/>
            <a:r>
              <a:rPr lang="en-US" noProof="0" dirty="0"/>
              <a:t>all primary and secondary endpoint hypotheses for at least one dose</a:t>
            </a:r>
          </a:p>
          <a:p>
            <a:pPr lvl="1"/>
            <a:r>
              <a:rPr lang="en-US" noProof="0" dirty="0"/>
              <a:t>all hypotheses ('conjunctive power')</a:t>
            </a:r>
          </a:p>
          <a:p>
            <a:pPr lvl="2"/>
            <a:endParaRPr lang="en-US" noProof="0" dirty="0"/>
          </a:p>
          <a:p>
            <a:endParaRPr lang="en-US" noProof="0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CB09A6-B329-AD86-4922-53C53D669F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 noProof="0"/>
              <a:t>Bretz, Chen, Xi | ISBS | October 2026</a:t>
            </a:r>
            <a:endParaRPr lang="en-US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07933D-E471-CAC6-D111-0082A3D19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D9F39-F344-41AE-B531-1D3ECACBC820}" type="slidenum">
              <a:rPr lang="en-US" noProof="0" smtClean="0"/>
              <a:t>58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7930566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EBFEDF-C9F8-DE92-DFDE-6834C1E597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353E22-1157-6B98-9408-DCA243C67D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0" lang="en-US" sz="32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Example 3 revisited</a:t>
            </a:r>
            <a:br>
              <a:rPr kumimoji="0" lang="en-US" sz="32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</a:br>
            <a:r>
              <a:rPr lang="en-US" sz="2200" i="1" noProof="0" dirty="0">
                <a:solidFill>
                  <a:srgbClr val="000000"/>
                </a:solidFill>
              </a:rPr>
              <a:t>Building a multiple test procedure – </a:t>
            </a:r>
            <a:r>
              <a:rPr kumimoji="0" lang="en-US" sz="2200" b="0" i="1" u="none" strike="noStrike" kern="1200" cap="none" spc="0" normalizeH="0" baseline="0" noProof="0" dirty="0">
                <a:ln>
                  <a:noFill/>
                </a:ln>
                <a:solidFill>
                  <a:srgbClr val="5291DD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Power</a:t>
            </a:r>
            <a:endParaRPr lang="en-US" sz="2200" i="1" noProof="0" dirty="0">
              <a:solidFill>
                <a:srgbClr val="5291DD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393F16C-1E94-7C86-53FF-8B110ED030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0125" y="102393"/>
            <a:ext cx="3347864" cy="1541881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AB315F-82E9-7817-299C-EDF7AEBAD6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 noProof="0"/>
              <a:t>Bretz, Chen, Xi | ISBS | October 2026</a:t>
            </a:r>
            <a:endParaRPr lang="en-US" noProof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FDC138E-F4DD-AF2D-F1F6-807FFE405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D9F39-F344-41AE-B531-1D3ECACBC820}" type="slidenum">
              <a:rPr lang="en-US" noProof="0" smtClean="0"/>
              <a:t>59</a:t>
            </a:fld>
            <a:endParaRPr lang="en-US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01467899-66DD-101B-486E-BC272504D90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32589256"/>
                  </p:ext>
                </p:extLst>
              </p:nvPr>
            </p:nvGraphicFramePr>
            <p:xfrm>
              <a:off x="628650" y="1698022"/>
              <a:ext cx="7886697" cy="295402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606669">
                      <a:extLst>
                        <a:ext uri="{9D8B030D-6E8A-4147-A177-3AD203B41FA5}">
                          <a16:colId xmlns:a16="http://schemas.microsoft.com/office/drawing/2014/main" val="2508677474"/>
                        </a:ext>
                      </a:extLst>
                    </a:gridCol>
                    <a:gridCol w="606669">
                      <a:extLst>
                        <a:ext uri="{9D8B030D-6E8A-4147-A177-3AD203B41FA5}">
                          <a16:colId xmlns:a16="http://schemas.microsoft.com/office/drawing/2014/main" val="2789123770"/>
                        </a:ext>
                      </a:extLst>
                    </a:gridCol>
                    <a:gridCol w="606669">
                      <a:extLst>
                        <a:ext uri="{9D8B030D-6E8A-4147-A177-3AD203B41FA5}">
                          <a16:colId xmlns:a16="http://schemas.microsoft.com/office/drawing/2014/main" val="3126093318"/>
                        </a:ext>
                      </a:extLst>
                    </a:gridCol>
                    <a:gridCol w="606669">
                      <a:extLst>
                        <a:ext uri="{9D8B030D-6E8A-4147-A177-3AD203B41FA5}">
                          <a16:colId xmlns:a16="http://schemas.microsoft.com/office/drawing/2014/main" val="965697123"/>
                        </a:ext>
                      </a:extLst>
                    </a:gridCol>
                    <a:gridCol w="606669">
                      <a:extLst>
                        <a:ext uri="{9D8B030D-6E8A-4147-A177-3AD203B41FA5}">
                          <a16:colId xmlns:a16="http://schemas.microsoft.com/office/drawing/2014/main" val="2678347437"/>
                        </a:ext>
                      </a:extLst>
                    </a:gridCol>
                    <a:gridCol w="606669">
                      <a:extLst>
                        <a:ext uri="{9D8B030D-6E8A-4147-A177-3AD203B41FA5}">
                          <a16:colId xmlns:a16="http://schemas.microsoft.com/office/drawing/2014/main" val="4015675292"/>
                        </a:ext>
                      </a:extLst>
                    </a:gridCol>
                    <a:gridCol w="606669">
                      <a:extLst>
                        <a:ext uri="{9D8B030D-6E8A-4147-A177-3AD203B41FA5}">
                          <a16:colId xmlns:a16="http://schemas.microsoft.com/office/drawing/2014/main" val="3828835640"/>
                        </a:ext>
                      </a:extLst>
                    </a:gridCol>
                    <a:gridCol w="606669">
                      <a:extLst>
                        <a:ext uri="{9D8B030D-6E8A-4147-A177-3AD203B41FA5}">
                          <a16:colId xmlns:a16="http://schemas.microsoft.com/office/drawing/2014/main" val="2032177015"/>
                        </a:ext>
                      </a:extLst>
                    </a:gridCol>
                    <a:gridCol w="606669">
                      <a:extLst>
                        <a:ext uri="{9D8B030D-6E8A-4147-A177-3AD203B41FA5}">
                          <a16:colId xmlns:a16="http://schemas.microsoft.com/office/drawing/2014/main" val="262069575"/>
                        </a:ext>
                      </a:extLst>
                    </a:gridCol>
                    <a:gridCol w="606669">
                      <a:extLst>
                        <a:ext uri="{9D8B030D-6E8A-4147-A177-3AD203B41FA5}">
                          <a16:colId xmlns:a16="http://schemas.microsoft.com/office/drawing/2014/main" val="1177163593"/>
                        </a:ext>
                      </a:extLst>
                    </a:gridCol>
                    <a:gridCol w="606669">
                      <a:extLst>
                        <a:ext uri="{9D8B030D-6E8A-4147-A177-3AD203B41FA5}">
                          <a16:colId xmlns:a16="http://schemas.microsoft.com/office/drawing/2014/main" val="3670408660"/>
                        </a:ext>
                      </a:extLst>
                    </a:gridCol>
                    <a:gridCol w="606669">
                      <a:extLst>
                        <a:ext uri="{9D8B030D-6E8A-4147-A177-3AD203B41FA5}">
                          <a16:colId xmlns:a16="http://schemas.microsoft.com/office/drawing/2014/main" val="3878452425"/>
                        </a:ext>
                      </a:extLst>
                    </a:gridCol>
                    <a:gridCol w="606669">
                      <a:extLst>
                        <a:ext uri="{9D8B030D-6E8A-4147-A177-3AD203B41FA5}">
                          <a16:colId xmlns:a16="http://schemas.microsoft.com/office/drawing/2014/main" val="2658767111"/>
                        </a:ext>
                      </a:extLst>
                    </a:gridCol>
                  </a:tblGrid>
                  <a:tr h="293355"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n-US" b="1" noProof="0" dirty="0">
                              <a:solidFill>
                                <a:schemeClr val="bg1"/>
                              </a:solidFill>
                            </a:rPr>
                            <a:t>Design parameters</a:t>
                          </a:r>
                        </a:p>
                      </a:txBody>
                      <a:tcPr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rgbClr val="5291DD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/>
                    </a:tc>
                    <a:tc gridSpan="5">
                      <a:txBody>
                        <a:bodyPr/>
                        <a:lstStyle/>
                        <a:p>
                          <a:pPr algn="ctr"/>
                          <a:r>
                            <a:rPr lang="en-US" b="1" noProof="0" dirty="0">
                              <a:solidFill>
                                <a:schemeClr val="bg1"/>
                              </a:solidFill>
                            </a:rPr>
                            <a:t>Scenarios</a:t>
                          </a:r>
                        </a:p>
                      </a:txBody>
                      <a:tcPr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rgbClr val="5291DD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/>
                    </a:tc>
                    <a:tc gridSpan="5">
                      <a:txBody>
                        <a:bodyPr/>
                        <a:lstStyle/>
                        <a:p>
                          <a:pPr algn="ctr"/>
                          <a:r>
                            <a:rPr lang="en-US" b="1" noProof="0" dirty="0">
                              <a:solidFill>
                                <a:schemeClr val="bg1"/>
                              </a:solidFill>
                            </a:rPr>
                            <a:t>Outcome measures</a:t>
                          </a:r>
                        </a:p>
                      </a:txBody>
                      <a:tcPr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solidFill>
                          <a:srgbClr val="5291DD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96602655"/>
                      </a:ext>
                    </a:extLst>
                  </a:tr>
                  <a:tr h="320936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b="1" i="1" noProof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noProof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𝜶</m:t>
                                    </m:r>
                                  </m:e>
                                  <m:sub>
                                    <m:r>
                                      <a:rPr lang="en-US" b="1" i="1" noProof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b="1" noProof="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12700" cap="flat" cmpd="sng" algn="ctr">
                          <a:solidFill>
                            <a:srgbClr val="5291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5291D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b="1" i="1" noProof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noProof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𝜸</m:t>
                                    </m:r>
                                  </m:e>
                                  <m:sub>
                                    <m:r>
                                      <a:rPr lang="en-US" b="1" i="1" noProof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b="1" noProof="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B w="12700" cap="flat" cmpd="sng" algn="ctr">
                          <a:solidFill>
                            <a:srgbClr val="5291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5291D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b="1" i="1" noProof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noProof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𝜸</m:t>
                                    </m:r>
                                  </m:e>
                                  <m:sub>
                                    <m:r>
                                      <a:rPr lang="en-US" b="1" i="1" noProof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b="1" noProof="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rgbClr val="5291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5291D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1" i="1" noProof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𝝆</m:t>
                                </m:r>
                              </m:oMath>
                            </m:oMathPara>
                          </a14:m>
                          <a:endParaRPr lang="en-US" b="1" noProof="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12700" cap="flat" cmpd="sng" algn="ctr">
                          <a:solidFill>
                            <a:srgbClr val="5291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5291D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sSubSup>
                                  <m:sSubSupPr>
                                    <m:ctrlPr>
                                      <a:rPr lang="en-US" b="1" i="1" noProof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1" i="1" noProof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𝝅</m:t>
                                    </m:r>
                                  </m:e>
                                  <m:sub>
                                    <m:r>
                                      <a:rPr lang="en-US" b="1" i="1" noProof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  <m:sup>
                                    <m:r>
                                      <a:rPr lang="en-US" b="1" i="0" noProof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𝐦𝐚𝐫𝐠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b="1" noProof="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B w="12700" cap="flat" cmpd="sng" algn="ctr">
                          <a:solidFill>
                            <a:srgbClr val="5291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5291D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sSubSup>
                                  <m:sSubSupPr>
                                    <m:ctrlPr>
                                      <a:rPr lang="en-US" b="1" i="1" noProof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1" i="1" noProof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𝝅</m:t>
                                    </m:r>
                                  </m:e>
                                  <m:sub>
                                    <m:r>
                                      <a:rPr lang="en-US" b="1" i="1" noProof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  <m:sup>
                                    <m:r>
                                      <a:rPr lang="en-US" b="1" i="0" noProof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𝐦𝐚𝐫𝐠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b="1" noProof="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B w="12700" cap="flat" cmpd="sng" algn="ctr">
                          <a:solidFill>
                            <a:srgbClr val="5291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5291D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sSubSup>
                                  <m:sSubSupPr>
                                    <m:ctrlPr>
                                      <a:rPr lang="en-US" b="1" i="1" noProof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1" i="1" noProof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𝝅</m:t>
                                    </m:r>
                                  </m:e>
                                  <m:sub>
                                    <m:r>
                                      <a:rPr lang="en-US" b="1" i="1" noProof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  <m:sup>
                                    <m:r>
                                      <a:rPr lang="en-US" b="1" i="0" noProof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𝐦𝐚𝐫𝐠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b="1" noProof="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B w="12700" cap="flat" cmpd="sng" algn="ctr">
                          <a:solidFill>
                            <a:srgbClr val="5291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5291D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sSubSup>
                                  <m:sSubSupPr>
                                    <m:ctrlPr>
                                      <a:rPr lang="en-US" b="1" i="1" noProof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1" i="1" noProof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𝝅</m:t>
                                    </m:r>
                                  </m:e>
                                  <m:sub>
                                    <m:r>
                                      <a:rPr lang="en-US" b="1" i="1" noProof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𝟒</m:t>
                                    </m:r>
                                  </m:sub>
                                  <m:sup>
                                    <m:r>
                                      <a:rPr lang="en-US" b="1" i="0" noProof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𝐦𝐚𝐫𝐠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b="1" noProof="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rgbClr val="5291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5291D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1" i="1" noProof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𝝅</m:t>
                                </m:r>
                              </m:oMath>
                            </m:oMathPara>
                          </a14:m>
                          <a:endParaRPr lang="en-US" b="1" noProof="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12700" cap="flat" cmpd="sng" algn="ctr">
                          <a:solidFill>
                            <a:srgbClr val="5291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5291D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sSubSup>
                                  <m:sSubSupPr>
                                    <m:ctrlPr>
                                      <a:rPr lang="en-US" b="1" i="1" noProof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1" i="1" noProof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𝝅</m:t>
                                    </m:r>
                                  </m:e>
                                  <m:sub>
                                    <m:r>
                                      <a:rPr lang="en-US" b="1" i="1" noProof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  <m:sup>
                                    <m:r>
                                      <a:rPr lang="en-US" b="1" i="0" noProof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𝐢𝐧𝐝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b="1" noProof="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B w="12700" cap="flat" cmpd="sng" algn="ctr">
                          <a:solidFill>
                            <a:srgbClr val="5291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5291D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sSubSup>
                                  <m:sSubSupPr>
                                    <m:ctrlPr>
                                      <a:rPr lang="en-US" b="1" i="1" noProof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1" i="1" noProof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𝝅</m:t>
                                    </m:r>
                                  </m:e>
                                  <m:sub>
                                    <m:r>
                                      <a:rPr lang="en-US" b="1" i="1" noProof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  <m:sup>
                                    <m:r>
                                      <a:rPr lang="en-US" b="1" i="0" noProof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𝐢𝐧𝐝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b="1" noProof="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B w="12700" cap="flat" cmpd="sng" algn="ctr">
                          <a:solidFill>
                            <a:srgbClr val="5291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5291D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sSubSup>
                                  <m:sSubSupPr>
                                    <m:ctrlPr>
                                      <a:rPr lang="en-US" b="1" i="1" noProof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1" i="1" noProof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𝝅</m:t>
                                    </m:r>
                                  </m:e>
                                  <m:sub>
                                    <m:r>
                                      <a:rPr lang="en-US" b="1" i="1" noProof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  <m:sup>
                                    <m:r>
                                      <a:rPr lang="en-US" b="1" i="0" noProof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𝐢𝐧𝐝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b="1" noProof="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B w="12700" cap="flat" cmpd="sng" algn="ctr">
                          <a:solidFill>
                            <a:srgbClr val="5291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5291D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sSubSup>
                                  <m:sSubSupPr>
                                    <m:ctrlPr>
                                      <a:rPr lang="en-US" b="1" i="1" noProof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1" i="1" noProof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𝝅</m:t>
                                    </m:r>
                                  </m:e>
                                  <m:sub>
                                    <m:r>
                                      <a:rPr lang="en-US" b="1" i="1" noProof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𝟒</m:t>
                                    </m:r>
                                  </m:sub>
                                  <m:sup>
                                    <m:r>
                                      <a:rPr lang="en-US" b="1" i="0" noProof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𝐢𝐧𝐝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b="1" noProof="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B w="12700" cap="flat" cmpd="sng" algn="ctr">
                          <a:solidFill>
                            <a:srgbClr val="5291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5291DD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91298481"/>
                      </a:ext>
                    </a:extLst>
                  </a:tr>
                  <a:tr h="216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noProof="0" dirty="0"/>
                            <a:t>0.0125</a:t>
                          </a:r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rgbClr val="5291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noProof="0" dirty="0"/>
                            <a:t>0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rgbClr val="5291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noProof="0" dirty="0"/>
                            <a:t>0</a:t>
                          </a:r>
                        </a:p>
                      </a:txBody>
                      <a:tcPr anchor="ctr"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5291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noProof="0" dirty="0"/>
                            <a:t>0.5</a:t>
                          </a:r>
                        </a:p>
                      </a:txBody>
                      <a:tcPr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rgbClr val="5291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noProof="0" dirty="0"/>
                            <a:t>0.9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rgbClr val="5291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noProof="0" dirty="0"/>
                            <a:t>0.9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rgbClr val="5291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noProof="0" dirty="0"/>
                            <a:t>0.8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rgbClr val="5291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noProof="0" dirty="0"/>
                            <a:t>0.8</a:t>
                          </a:r>
                        </a:p>
                      </a:txBody>
                      <a:tcPr anchor="ctr"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5291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kern="1200" noProof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0.9372</a:t>
                          </a:r>
                        </a:p>
                      </a:txBody>
                      <a:tcPr marL="9525" marR="9525" marT="9525" marB="0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rgbClr val="5291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kern="1200" noProof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0.8694</a:t>
                          </a:r>
                        </a:p>
                      </a:txBody>
                      <a:tcPr marL="9525" marR="9525" marT="9525" marB="0" anchor="ctr">
                        <a:lnT w="12700" cap="flat" cmpd="sng" algn="ctr">
                          <a:solidFill>
                            <a:srgbClr val="5291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kern="1200" noProof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0.8694</a:t>
                          </a:r>
                        </a:p>
                      </a:txBody>
                      <a:tcPr marL="9525" marR="9525" marT="9525" marB="0" anchor="ctr">
                        <a:lnT w="12700" cap="flat" cmpd="sng" algn="ctr">
                          <a:solidFill>
                            <a:srgbClr val="5291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kern="1200" noProof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0.7042</a:t>
                          </a:r>
                        </a:p>
                      </a:txBody>
                      <a:tcPr marL="9525" marR="9525" marT="9525" marB="0" anchor="ctr">
                        <a:lnT w="12700" cap="flat" cmpd="sng" algn="ctr">
                          <a:solidFill>
                            <a:srgbClr val="5291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kern="1200" noProof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0.7046</a:t>
                          </a:r>
                        </a:p>
                      </a:txBody>
                      <a:tcPr marL="9525" marR="9525" marT="9525" marB="0" anchor="ctr">
                        <a:lnT w="12700" cap="flat" cmpd="sng" algn="ctr">
                          <a:solidFill>
                            <a:srgbClr val="5291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extLst>
                      <a:ext uri="{0D108BD9-81ED-4DB2-BD59-A6C34878D82A}">
                        <a16:rowId xmlns:a16="http://schemas.microsoft.com/office/drawing/2014/main" val="2778574799"/>
                      </a:ext>
                    </a:extLst>
                  </a:tr>
                  <a:tr h="2557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noProof="0" dirty="0"/>
                            <a:t>0.0125</a:t>
                          </a:r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noProof="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noProof="0" dirty="0"/>
                            <a:t>0</a:t>
                          </a:r>
                        </a:p>
                      </a:txBody>
                      <a:tcPr anchor="ctr"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noProof="0" dirty="0"/>
                            <a:t>0.8</a:t>
                          </a:r>
                        </a:p>
                      </a:txBody>
                      <a:tcPr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noProof="0" dirty="0"/>
                            <a:t>0.9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noProof="0" dirty="0"/>
                            <a:t>0.9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noProof="0" dirty="0"/>
                            <a:t>0.8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noProof="0" dirty="0"/>
                            <a:t>0.8</a:t>
                          </a:r>
                        </a:p>
                      </a:txBody>
                      <a:tcPr anchor="ctr"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kern="1200" noProof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0.9373</a:t>
                          </a:r>
                        </a:p>
                      </a:txBody>
                      <a:tcPr marL="9525" marR="9525" marT="9525" marB="0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kern="1200" noProof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0.8697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kern="1200" noProof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0.8702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kern="1200" noProof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0.7385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kern="1200" noProof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0.7392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464056494"/>
                      </a:ext>
                    </a:extLst>
                  </a:tr>
                  <a:tr h="2557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noProof="0" dirty="0"/>
                            <a:t>0.0125</a:t>
                          </a:r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noProof="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noProof="0" dirty="0"/>
                            <a:t>0</a:t>
                          </a:r>
                        </a:p>
                      </a:txBody>
                      <a:tcPr anchor="ctr"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noProof="0" dirty="0"/>
                            <a:t>0.95</a:t>
                          </a:r>
                        </a:p>
                      </a:txBody>
                      <a:tcPr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noProof="0" dirty="0"/>
                            <a:t>0.9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noProof="0" dirty="0"/>
                            <a:t>0.9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noProof="0" dirty="0"/>
                            <a:t>0.8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noProof="0" dirty="0"/>
                            <a:t>0.8</a:t>
                          </a:r>
                        </a:p>
                      </a:txBody>
                      <a:tcPr anchor="ctr"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kern="1200" noProof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0.9371</a:t>
                          </a:r>
                        </a:p>
                      </a:txBody>
                      <a:tcPr marL="9525" marR="9525" marT="9525" marB="0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kern="1200" noProof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0.8703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kern="1200" noProof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0.8706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kern="1200" noProof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0.7604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kern="1200" noProof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0.7607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333481700"/>
                      </a:ext>
                    </a:extLst>
                  </a:tr>
                  <a:tr h="2557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noProof="0" dirty="0"/>
                            <a:t>0.0125</a:t>
                          </a:r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noProof="0" dirty="0"/>
                            <a:t>0.5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noProof="0" dirty="0"/>
                            <a:t>0.5</a:t>
                          </a:r>
                        </a:p>
                      </a:txBody>
                      <a:tcPr anchor="ctr"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noProof="0" dirty="0"/>
                            <a:t>0.5</a:t>
                          </a:r>
                        </a:p>
                      </a:txBody>
                      <a:tcPr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noProof="0" dirty="0"/>
                            <a:t>0.9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noProof="0" dirty="0"/>
                            <a:t>0.9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noProof="0" dirty="0"/>
                            <a:t>0.8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noProof="0" dirty="0"/>
                            <a:t>0.8</a:t>
                          </a:r>
                        </a:p>
                      </a:txBody>
                      <a:tcPr anchor="ctr"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kern="1200" noProof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0.9372</a:t>
                          </a:r>
                        </a:p>
                      </a:txBody>
                      <a:tcPr marL="9525" marR="9525" marT="9525" marB="0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kern="1200" noProof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0.8752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kern="1200" noProof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0.8753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kern="1200" noProof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0.6988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kern="1200" noProof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0.6993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48757496"/>
                      </a:ext>
                    </a:extLst>
                  </a:tr>
                  <a:tr h="2557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noProof="0" dirty="0"/>
                            <a:t>0.0125</a:t>
                          </a:r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noProof="0" dirty="0"/>
                            <a:t>0.5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noProof="0" dirty="0"/>
                            <a:t>0.5</a:t>
                          </a:r>
                        </a:p>
                      </a:txBody>
                      <a:tcPr anchor="ctr"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noProof="0" dirty="0"/>
                            <a:t>0.8</a:t>
                          </a:r>
                        </a:p>
                      </a:txBody>
                      <a:tcPr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noProof="0" dirty="0"/>
                            <a:t>0.9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noProof="0" dirty="0"/>
                            <a:t>0.9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noProof="0" dirty="0"/>
                            <a:t>0.8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noProof="0" dirty="0"/>
                            <a:t>0.8</a:t>
                          </a:r>
                        </a:p>
                      </a:txBody>
                      <a:tcPr anchor="ctr"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kern="1200" noProof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0.9373</a:t>
                          </a:r>
                        </a:p>
                      </a:txBody>
                      <a:tcPr marL="9525" marR="9525" marT="9525" marB="0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kern="1200" noProof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0.8751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kern="1200" noProof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0.8753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kern="1200" noProof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0.7301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kern="1200" noProof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0.7307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711115523"/>
                      </a:ext>
                    </a:extLst>
                  </a:tr>
                  <a:tr h="2557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noProof="0" dirty="0"/>
                            <a:t>0.0125</a:t>
                          </a:r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noProof="0" dirty="0"/>
                            <a:t>0.5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noProof="0" dirty="0"/>
                            <a:t>0.5</a:t>
                          </a:r>
                        </a:p>
                      </a:txBody>
                      <a:tcPr anchor="ctr"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noProof="0" dirty="0"/>
                            <a:t>0.95</a:t>
                          </a:r>
                        </a:p>
                      </a:txBody>
                      <a:tcPr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noProof="0" dirty="0"/>
                            <a:t>0.9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noProof="0" dirty="0"/>
                            <a:t>0.9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noProof="0" dirty="0"/>
                            <a:t>0.8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noProof="0" dirty="0"/>
                            <a:t>0.8</a:t>
                          </a:r>
                        </a:p>
                      </a:txBody>
                      <a:tcPr anchor="ctr"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kern="1200" noProof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0.9371</a:t>
                          </a:r>
                        </a:p>
                      </a:txBody>
                      <a:tcPr marL="9525" marR="9525" marT="9525" marB="0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kern="1200" noProof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0.8745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kern="1200" noProof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0.8748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kern="1200" noProof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0.7483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kern="1200" noProof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0.7486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529601395"/>
                      </a:ext>
                    </a:extLst>
                  </a:tr>
                  <a:tr h="2557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noProof="0" dirty="0"/>
                            <a:t>0.0125</a:t>
                          </a:r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100" b="0" i="1" noProof="0" smtClean="0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r>
                                  <a:rPr lang="en-US" sz="1100" i="1" noProof="0" smtClean="0">
                                    <a:latin typeface="Cambria Math" panose="02040503050406030204" pitchFamily="18" charset="0"/>
                                  </a:rPr>
                                  <m:t>𝜖</m:t>
                                </m:r>
                              </m:oMath>
                            </m:oMathPara>
                          </a14:m>
                          <a:endParaRPr lang="en-US" sz="1100" noProof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100" b="0" i="1" noProof="0" smtClean="0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r>
                                  <a:rPr lang="en-US" sz="1100" i="1" noProof="0" smtClean="0">
                                    <a:latin typeface="Cambria Math" panose="02040503050406030204" pitchFamily="18" charset="0"/>
                                  </a:rPr>
                                  <m:t>𝜖</m:t>
                                </m:r>
                              </m:oMath>
                            </m:oMathPara>
                          </a14:m>
                          <a:endParaRPr lang="en-US" sz="1100" noProof="0" dirty="0"/>
                        </a:p>
                      </a:txBody>
                      <a:tcPr anchor="ctr"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noProof="0" dirty="0"/>
                            <a:t>0.5</a:t>
                          </a:r>
                        </a:p>
                      </a:txBody>
                      <a:tcPr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noProof="0" dirty="0"/>
                            <a:t>0.9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noProof="0" dirty="0"/>
                            <a:t>0.9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noProof="0" dirty="0"/>
                            <a:t>0.8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noProof="0" dirty="0"/>
                            <a:t>0.8</a:t>
                          </a:r>
                        </a:p>
                      </a:txBody>
                      <a:tcPr anchor="ctr"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kern="1200" noProof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0.9372</a:t>
                          </a:r>
                        </a:p>
                      </a:txBody>
                      <a:tcPr marL="9525" marR="9525" marT="9525" marB="0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kern="1200" noProof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0.8813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kern="1200" noProof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0.8815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kern="1200" noProof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0.6717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kern="1200" noProof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0.6719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484394969"/>
                      </a:ext>
                    </a:extLst>
                  </a:tr>
                  <a:tr h="2557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noProof="0" dirty="0"/>
                            <a:t>0.0125</a:t>
                          </a:r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100" b="0" i="1" noProof="0" smtClean="0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r>
                                  <a:rPr lang="en-US" sz="1100" i="1" noProof="0" smtClean="0">
                                    <a:latin typeface="Cambria Math" panose="02040503050406030204" pitchFamily="18" charset="0"/>
                                  </a:rPr>
                                  <m:t>𝜖</m:t>
                                </m:r>
                              </m:oMath>
                            </m:oMathPara>
                          </a14:m>
                          <a:endParaRPr lang="en-US" sz="1100" noProof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100" b="0" i="1" noProof="0" smtClean="0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r>
                                  <a:rPr lang="en-US" sz="1100" i="1" noProof="0" smtClean="0">
                                    <a:latin typeface="Cambria Math" panose="02040503050406030204" pitchFamily="18" charset="0"/>
                                  </a:rPr>
                                  <m:t>𝜖</m:t>
                                </m:r>
                              </m:oMath>
                            </m:oMathPara>
                          </a14:m>
                          <a:endParaRPr lang="en-US" sz="1100" noProof="0" dirty="0"/>
                        </a:p>
                      </a:txBody>
                      <a:tcPr anchor="ctr"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noProof="0" dirty="0"/>
                            <a:t>0.8</a:t>
                          </a:r>
                        </a:p>
                      </a:txBody>
                      <a:tcPr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noProof="0" dirty="0"/>
                            <a:t>0.9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noProof="0" dirty="0"/>
                            <a:t>0.9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noProof="0" dirty="0"/>
                            <a:t>0.8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noProof="0" dirty="0"/>
                            <a:t>0.8</a:t>
                          </a:r>
                        </a:p>
                      </a:txBody>
                      <a:tcPr anchor="ctr"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kern="1200" noProof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0.9373</a:t>
                          </a:r>
                        </a:p>
                      </a:txBody>
                      <a:tcPr marL="9525" marR="9525" marT="9525" marB="0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kern="1200" noProof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0.8815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kern="1200" noProof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0.8816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kern="1200" noProof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0.7035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kern="1200" noProof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0.704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170597670"/>
                      </a:ext>
                    </a:extLst>
                  </a:tr>
                  <a:tr h="2557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noProof="0" dirty="0"/>
                            <a:t>0.0125</a:t>
                          </a:r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100" b="0" i="1" noProof="0" smtClean="0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r>
                                  <a:rPr lang="en-US" sz="1100" i="1" noProof="0" smtClean="0">
                                    <a:latin typeface="Cambria Math" panose="02040503050406030204" pitchFamily="18" charset="0"/>
                                  </a:rPr>
                                  <m:t>𝜖</m:t>
                                </m:r>
                              </m:oMath>
                            </m:oMathPara>
                          </a14:m>
                          <a:endParaRPr lang="en-US" sz="1100" noProof="0" dirty="0"/>
                        </a:p>
                      </a:txBody>
                      <a:tcPr anchor="ctr"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100" b="0" i="1" noProof="0" smtClean="0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r>
                                  <a:rPr lang="en-US" sz="1100" i="1" noProof="0" smtClean="0">
                                    <a:latin typeface="Cambria Math" panose="02040503050406030204" pitchFamily="18" charset="0"/>
                                  </a:rPr>
                                  <m:t>𝜖</m:t>
                                </m:r>
                              </m:oMath>
                            </m:oMathPara>
                          </a14:m>
                          <a:endParaRPr lang="en-US" sz="1100" noProof="0" dirty="0"/>
                        </a:p>
                      </a:txBody>
                      <a:tcPr anchor="ctr"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noProof="0" dirty="0"/>
                            <a:t>0.95</a:t>
                          </a:r>
                        </a:p>
                      </a:txBody>
                      <a:tcPr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noProof="0" dirty="0"/>
                            <a:t>0.9</a:t>
                          </a:r>
                        </a:p>
                      </a:txBody>
                      <a:tcPr anchor="ctr"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noProof="0" dirty="0"/>
                            <a:t>0.9</a:t>
                          </a:r>
                        </a:p>
                      </a:txBody>
                      <a:tcPr anchor="ctr"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noProof="0" dirty="0"/>
                            <a:t>0.8</a:t>
                          </a:r>
                        </a:p>
                      </a:txBody>
                      <a:tcPr anchor="ctr"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noProof="0" dirty="0"/>
                            <a:t>0.8</a:t>
                          </a:r>
                        </a:p>
                      </a:txBody>
                      <a:tcPr anchor="ctr"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kern="1200" noProof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0.9371</a:t>
                          </a:r>
                        </a:p>
                      </a:txBody>
                      <a:tcPr marL="9525" marR="9525" marT="9525" marB="0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kern="1200" noProof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0.8815</a:t>
                          </a:r>
                        </a:p>
                      </a:txBody>
                      <a:tcPr marL="9525" marR="9525" marT="9525" marB="0" anchor="ctr"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kern="1200" noProof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0.8817</a:t>
                          </a:r>
                        </a:p>
                      </a:txBody>
                      <a:tcPr marL="9525" marR="9525" marT="9525" marB="0" anchor="ctr"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kern="1200" noProof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0.7236</a:t>
                          </a:r>
                        </a:p>
                      </a:txBody>
                      <a:tcPr marL="9525" marR="9525" marT="9525" marB="0" anchor="ctr"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kern="1200" noProof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0.7239</a:t>
                          </a:r>
                        </a:p>
                      </a:txBody>
                      <a:tcPr marL="9525" marR="9525" marT="9525" marB="0" anchor="ctr"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30184074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01467899-66DD-101B-486E-BC272504D90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32589256"/>
                  </p:ext>
                </p:extLst>
              </p:nvPr>
            </p:nvGraphicFramePr>
            <p:xfrm>
              <a:off x="628650" y="1698022"/>
              <a:ext cx="7886697" cy="295402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606669">
                      <a:extLst>
                        <a:ext uri="{9D8B030D-6E8A-4147-A177-3AD203B41FA5}">
                          <a16:colId xmlns:a16="http://schemas.microsoft.com/office/drawing/2014/main" val="2508677474"/>
                        </a:ext>
                      </a:extLst>
                    </a:gridCol>
                    <a:gridCol w="606669">
                      <a:extLst>
                        <a:ext uri="{9D8B030D-6E8A-4147-A177-3AD203B41FA5}">
                          <a16:colId xmlns:a16="http://schemas.microsoft.com/office/drawing/2014/main" val="2789123770"/>
                        </a:ext>
                      </a:extLst>
                    </a:gridCol>
                    <a:gridCol w="606669">
                      <a:extLst>
                        <a:ext uri="{9D8B030D-6E8A-4147-A177-3AD203B41FA5}">
                          <a16:colId xmlns:a16="http://schemas.microsoft.com/office/drawing/2014/main" val="3126093318"/>
                        </a:ext>
                      </a:extLst>
                    </a:gridCol>
                    <a:gridCol w="606669">
                      <a:extLst>
                        <a:ext uri="{9D8B030D-6E8A-4147-A177-3AD203B41FA5}">
                          <a16:colId xmlns:a16="http://schemas.microsoft.com/office/drawing/2014/main" val="965697123"/>
                        </a:ext>
                      </a:extLst>
                    </a:gridCol>
                    <a:gridCol w="606669">
                      <a:extLst>
                        <a:ext uri="{9D8B030D-6E8A-4147-A177-3AD203B41FA5}">
                          <a16:colId xmlns:a16="http://schemas.microsoft.com/office/drawing/2014/main" val="2678347437"/>
                        </a:ext>
                      </a:extLst>
                    </a:gridCol>
                    <a:gridCol w="606669">
                      <a:extLst>
                        <a:ext uri="{9D8B030D-6E8A-4147-A177-3AD203B41FA5}">
                          <a16:colId xmlns:a16="http://schemas.microsoft.com/office/drawing/2014/main" val="4015675292"/>
                        </a:ext>
                      </a:extLst>
                    </a:gridCol>
                    <a:gridCol w="606669">
                      <a:extLst>
                        <a:ext uri="{9D8B030D-6E8A-4147-A177-3AD203B41FA5}">
                          <a16:colId xmlns:a16="http://schemas.microsoft.com/office/drawing/2014/main" val="3828835640"/>
                        </a:ext>
                      </a:extLst>
                    </a:gridCol>
                    <a:gridCol w="606669">
                      <a:extLst>
                        <a:ext uri="{9D8B030D-6E8A-4147-A177-3AD203B41FA5}">
                          <a16:colId xmlns:a16="http://schemas.microsoft.com/office/drawing/2014/main" val="2032177015"/>
                        </a:ext>
                      </a:extLst>
                    </a:gridCol>
                    <a:gridCol w="606669">
                      <a:extLst>
                        <a:ext uri="{9D8B030D-6E8A-4147-A177-3AD203B41FA5}">
                          <a16:colId xmlns:a16="http://schemas.microsoft.com/office/drawing/2014/main" val="262069575"/>
                        </a:ext>
                      </a:extLst>
                    </a:gridCol>
                    <a:gridCol w="606669">
                      <a:extLst>
                        <a:ext uri="{9D8B030D-6E8A-4147-A177-3AD203B41FA5}">
                          <a16:colId xmlns:a16="http://schemas.microsoft.com/office/drawing/2014/main" val="1177163593"/>
                        </a:ext>
                      </a:extLst>
                    </a:gridCol>
                    <a:gridCol w="606669">
                      <a:extLst>
                        <a:ext uri="{9D8B030D-6E8A-4147-A177-3AD203B41FA5}">
                          <a16:colId xmlns:a16="http://schemas.microsoft.com/office/drawing/2014/main" val="3670408660"/>
                        </a:ext>
                      </a:extLst>
                    </a:gridCol>
                    <a:gridCol w="606669">
                      <a:extLst>
                        <a:ext uri="{9D8B030D-6E8A-4147-A177-3AD203B41FA5}">
                          <a16:colId xmlns:a16="http://schemas.microsoft.com/office/drawing/2014/main" val="3878452425"/>
                        </a:ext>
                      </a:extLst>
                    </a:gridCol>
                    <a:gridCol w="606669">
                      <a:extLst>
                        <a:ext uri="{9D8B030D-6E8A-4147-A177-3AD203B41FA5}">
                          <a16:colId xmlns:a16="http://schemas.microsoft.com/office/drawing/2014/main" val="2658767111"/>
                        </a:ext>
                      </a:extLst>
                    </a:gridCol>
                  </a:tblGrid>
                  <a:tr h="297180"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n-US" b="1" noProof="0" dirty="0">
                              <a:solidFill>
                                <a:schemeClr val="bg1"/>
                              </a:solidFill>
                            </a:rPr>
                            <a:t>Design parameters</a:t>
                          </a:r>
                        </a:p>
                      </a:txBody>
                      <a:tcPr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rgbClr val="5291DD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/>
                    </a:tc>
                    <a:tc gridSpan="5">
                      <a:txBody>
                        <a:bodyPr/>
                        <a:lstStyle/>
                        <a:p>
                          <a:pPr algn="ctr"/>
                          <a:r>
                            <a:rPr lang="en-US" b="1" noProof="0" dirty="0">
                              <a:solidFill>
                                <a:schemeClr val="bg1"/>
                              </a:solidFill>
                            </a:rPr>
                            <a:t>Scenarios</a:t>
                          </a:r>
                        </a:p>
                      </a:txBody>
                      <a:tcPr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rgbClr val="5291DD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/>
                    </a:tc>
                    <a:tc gridSpan="5">
                      <a:txBody>
                        <a:bodyPr/>
                        <a:lstStyle/>
                        <a:p>
                          <a:pPr algn="ctr"/>
                          <a:r>
                            <a:rPr lang="en-US" b="1" noProof="0" dirty="0">
                              <a:solidFill>
                                <a:schemeClr val="bg1"/>
                              </a:solidFill>
                            </a:rPr>
                            <a:t>Outcome measures</a:t>
                          </a:r>
                        </a:p>
                      </a:txBody>
                      <a:tcPr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solidFill>
                          <a:srgbClr val="5291DD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96602655"/>
                      </a:ext>
                    </a:extLst>
                  </a:tr>
                  <a:tr h="3251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12700" cap="flat" cmpd="sng" algn="ctr">
                          <a:solidFill>
                            <a:srgbClr val="5291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t="-94340" r="-1195000" b="-7358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B w="12700" cap="flat" cmpd="sng" algn="ctr">
                          <a:solidFill>
                            <a:srgbClr val="5291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1010" t="-94340" r="-1107071" b="-7358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rgbClr val="5291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99000" t="-94340" r="-996000" b="-7358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12700" cap="flat" cmpd="sng" algn="ctr">
                          <a:solidFill>
                            <a:srgbClr val="5291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02020" t="-94340" r="-906061" b="-7358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B w="12700" cap="flat" cmpd="sng" algn="ctr">
                          <a:solidFill>
                            <a:srgbClr val="5291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98000" t="-94340" r="-797000" b="-7358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B w="12700" cap="flat" cmpd="sng" algn="ctr">
                          <a:solidFill>
                            <a:srgbClr val="5291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03030" t="-94340" r="-705051" b="-7358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B w="12700" cap="flat" cmpd="sng" algn="ctr">
                          <a:solidFill>
                            <a:srgbClr val="5291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97000" t="-94340" r="-598000" b="-7358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rgbClr val="5291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704040" t="-94340" r="-504040" b="-7358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12700" cap="flat" cmpd="sng" algn="ctr">
                          <a:solidFill>
                            <a:srgbClr val="5291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796000" t="-94340" r="-399000" b="-7358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B w="12700" cap="flat" cmpd="sng" algn="ctr">
                          <a:solidFill>
                            <a:srgbClr val="5291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905051" t="-94340" r="-303030" b="-7358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B w="12700" cap="flat" cmpd="sng" algn="ctr">
                          <a:solidFill>
                            <a:srgbClr val="5291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995000" t="-94340" r="-200000" b="-7358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B w="12700" cap="flat" cmpd="sng" algn="ctr">
                          <a:solidFill>
                            <a:srgbClr val="5291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106061" t="-94340" r="-102020" b="-7358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B w="12700" cap="flat" cmpd="sng" algn="ctr">
                          <a:solidFill>
                            <a:srgbClr val="5291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194000" t="-94340" r="-1000" b="-73584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91298481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noProof="0" dirty="0"/>
                            <a:t>0.0125</a:t>
                          </a:r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rgbClr val="5291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noProof="0" dirty="0"/>
                            <a:t>0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rgbClr val="5291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noProof="0" dirty="0"/>
                            <a:t>0</a:t>
                          </a:r>
                        </a:p>
                      </a:txBody>
                      <a:tcPr anchor="ctr"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5291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noProof="0" dirty="0"/>
                            <a:t>0.5</a:t>
                          </a:r>
                        </a:p>
                      </a:txBody>
                      <a:tcPr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rgbClr val="5291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noProof="0" dirty="0"/>
                            <a:t>0.9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rgbClr val="5291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noProof="0" dirty="0"/>
                            <a:t>0.9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rgbClr val="5291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noProof="0" dirty="0"/>
                            <a:t>0.8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rgbClr val="5291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noProof="0" dirty="0"/>
                            <a:t>0.8</a:t>
                          </a:r>
                        </a:p>
                      </a:txBody>
                      <a:tcPr anchor="ctr"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5291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kern="1200" noProof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0.9372</a:t>
                          </a:r>
                        </a:p>
                      </a:txBody>
                      <a:tcPr marL="9525" marR="9525" marT="9525" marB="0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rgbClr val="5291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kern="1200" noProof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0.8694</a:t>
                          </a:r>
                        </a:p>
                      </a:txBody>
                      <a:tcPr marL="9525" marR="9525" marT="9525" marB="0" anchor="ctr">
                        <a:lnT w="12700" cap="flat" cmpd="sng" algn="ctr">
                          <a:solidFill>
                            <a:srgbClr val="5291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kern="1200" noProof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0.8694</a:t>
                          </a:r>
                        </a:p>
                      </a:txBody>
                      <a:tcPr marL="9525" marR="9525" marT="9525" marB="0" anchor="ctr">
                        <a:lnT w="12700" cap="flat" cmpd="sng" algn="ctr">
                          <a:solidFill>
                            <a:srgbClr val="5291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kern="1200" noProof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0.7042</a:t>
                          </a:r>
                        </a:p>
                      </a:txBody>
                      <a:tcPr marL="9525" marR="9525" marT="9525" marB="0" anchor="ctr">
                        <a:lnT w="12700" cap="flat" cmpd="sng" algn="ctr">
                          <a:solidFill>
                            <a:srgbClr val="5291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kern="1200" noProof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0.7046</a:t>
                          </a:r>
                        </a:p>
                      </a:txBody>
                      <a:tcPr marL="9525" marR="9525" marT="9525" marB="0" anchor="ctr">
                        <a:lnT w="12700" cap="flat" cmpd="sng" algn="ctr">
                          <a:solidFill>
                            <a:srgbClr val="5291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extLst>
                      <a:ext uri="{0D108BD9-81ED-4DB2-BD59-A6C34878D82A}">
                        <a16:rowId xmlns:a16="http://schemas.microsoft.com/office/drawing/2014/main" val="277857479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noProof="0" dirty="0"/>
                            <a:t>0.0125</a:t>
                          </a:r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noProof="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noProof="0" dirty="0"/>
                            <a:t>0</a:t>
                          </a:r>
                        </a:p>
                      </a:txBody>
                      <a:tcPr anchor="ctr"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noProof="0" dirty="0"/>
                            <a:t>0.8</a:t>
                          </a:r>
                        </a:p>
                      </a:txBody>
                      <a:tcPr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noProof="0" dirty="0"/>
                            <a:t>0.9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noProof="0" dirty="0"/>
                            <a:t>0.9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noProof="0" dirty="0"/>
                            <a:t>0.8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noProof="0" dirty="0"/>
                            <a:t>0.8</a:t>
                          </a:r>
                        </a:p>
                      </a:txBody>
                      <a:tcPr anchor="ctr"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kern="1200" noProof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0.9373</a:t>
                          </a:r>
                        </a:p>
                      </a:txBody>
                      <a:tcPr marL="9525" marR="9525" marT="9525" marB="0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kern="1200" noProof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0.8697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kern="1200" noProof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0.8702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kern="1200" noProof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0.7385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kern="1200" noProof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0.7392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464056494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noProof="0" dirty="0"/>
                            <a:t>0.0125</a:t>
                          </a:r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noProof="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noProof="0" dirty="0"/>
                            <a:t>0</a:t>
                          </a:r>
                        </a:p>
                      </a:txBody>
                      <a:tcPr anchor="ctr"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noProof="0" dirty="0"/>
                            <a:t>0.95</a:t>
                          </a:r>
                        </a:p>
                      </a:txBody>
                      <a:tcPr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noProof="0" dirty="0"/>
                            <a:t>0.9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noProof="0" dirty="0"/>
                            <a:t>0.9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noProof="0" dirty="0"/>
                            <a:t>0.8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noProof="0" dirty="0"/>
                            <a:t>0.8</a:t>
                          </a:r>
                        </a:p>
                      </a:txBody>
                      <a:tcPr anchor="ctr"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kern="1200" noProof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0.9371</a:t>
                          </a:r>
                        </a:p>
                      </a:txBody>
                      <a:tcPr marL="9525" marR="9525" marT="9525" marB="0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kern="1200" noProof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0.8703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kern="1200" noProof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0.8706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kern="1200" noProof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0.7604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kern="1200" noProof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0.7607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333481700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noProof="0" dirty="0"/>
                            <a:t>0.0125</a:t>
                          </a:r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noProof="0" dirty="0"/>
                            <a:t>0.5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noProof="0" dirty="0"/>
                            <a:t>0.5</a:t>
                          </a:r>
                        </a:p>
                      </a:txBody>
                      <a:tcPr anchor="ctr"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noProof="0" dirty="0"/>
                            <a:t>0.5</a:t>
                          </a:r>
                        </a:p>
                      </a:txBody>
                      <a:tcPr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noProof="0" dirty="0"/>
                            <a:t>0.9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noProof="0" dirty="0"/>
                            <a:t>0.9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noProof="0" dirty="0"/>
                            <a:t>0.8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noProof="0" dirty="0"/>
                            <a:t>0.8</a:t>
                          </a:r>
                        </a:p>
                      </a:txBody>
                      <a:tcPr anchor="ctr"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kern="1200" noProof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0.9372</a:t>
                          </a:r>
                        </a:p>
                      </a:txBody>
                      <a:tcPr marL="9525" marR="9525" marT="9525" marB="0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kern="1200" noProof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0.8752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kern="1200" noProof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0.8753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kern="1200" noProof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0.6988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kern="1200" noProof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0.6993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48757496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noProof="0" dirty="0"/>
                            <a:t>0.0125</a:t>
                          </a:r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noProof="0" dirty="0"/>
                            <a:t>0.5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noProof="0" dirty="0"/>
                            <a:t>0.5</a:t>
                          </a:r>
                        </a:p>
                      </a:txBody>
                      <a:tcPr anchor="ctr"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noProof="0" dirty="0"/>
                            <a:t>0.8</a:t>
                          </a:r>
                        </a:p>
                      </a:txBody>
                      <a:tcPr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noProof="0" dirty="0"/>
                            <a:t>0.9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noProof="0" dirty="0"/>
                            <a:t>0.9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noProof="0" dirty="0"/>
                            <a:t>0.8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noProof="0" dirty="0"/>
                            <a:t>0.8</a:t>
                          </a:r>
                        </a:p>
                      </a:txBody>
                      <a:tcPr anchor="ctr"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kern="1200" noProof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0.9373</a:t>
                          </a:r>
                        </a:p>
                      </a:txBody>
                      <a:tcPr marL="9525" marR="9525" marT="9525" marB="0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kern="1200" noProof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0.8751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kern="1200" noProof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0.8753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kern="1200" noProof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0.7301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kern="1200" noProof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0.7307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711115523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noProof="0" dirty="0"/>
                            <a:t>0.0125</a:t>
                          </a:r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noProof="0" dirty="0"/>
                            <a:t>0.5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noProof="0" dirty="0"/>
                            <a:t>0.5</a:t>
                          </a:r>
                        </a:p>
                      </a:txBody>
                      <a:tcPr anchor="ctr"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noProof="0" dirty="0"/>
                            <a:t>0.95</a:t>
                          </a:r>
                        </a:p>
                      </a:txBody>
                      <a:tcPr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noProof="0" dirty="0"/>
                            <a:t>0.9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noProof="0" dirty="0"/>
                            <a:t>0.9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noProof="0" dirty="0"/>
                            <a:t>0.8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noProof="0" dirty="0"/>
                            <a:t>0.8</a:t>
                          </a:r>
                        </a:p>
                      </a:txBody>
                      <a:tcPr anchor="ctr"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kern="1200" noProof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0.9371</a:t>
                          </a:r>
                        </a:p>
                      </a:txBody>
                      <a:tcPr marL="9525" marR="9525" marT="9525" marB="0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kern="1200" noProof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0.8745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kern="1200" noProof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0.8748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kern="1200" noProof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0.7483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kern="1200" noProof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0.7486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529601395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noProof="0" dirty="0"/>
                            <a:t>0.0125</a:t>
                          </a:r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1010" t="-834884" r="-1107071" b="-21162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3"/>
                          <a:stretch>
                            <a:fillRect l="-199000" t="-834884" r="-996000" b="-21162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noProof="0" dirty="0"/>
                            <a:t>0.5</a:t>
                          </a:r>
                        </a:p>
                      </a:txBody>
                      <a:tcPr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noProof="0" dirty="0"/>
                            <a:t>0.9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noProof="0" dirty="0"/>
                            <a:t>0.9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noProof="0" dirty="0"/>
                            <a:t>0.8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noProof="0" dirty="0"/>
                            <a:t>0.8</a:t>
                          </a:r>
                        </a:p>
                      </a:txBody>
                      <a:tcPr anchor="ctr"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kern="1200" noProof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0.9372</a:t>
                          </a:r>
                        </a:p>
                      </a:txBody>
                      <a:tcPr marL="9525" marR="9525" marT="9525" marB="0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kern="1200" noProof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0.8813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kern="1200" noProof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0.8815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kern="1200" noProof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0.6717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kern="1200" noProof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0.6719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48439496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noProof="0" dirty="0"/>
                            <a:t>0.0125</a:t>
                          </a:r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1010" t="-957143" r="-1107071" b="-11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3"/>
                          <a:stretch>
                            <a:fillRect l="-199000" t="-957143" r="-996000" b="-11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noProof="0" dirty="0"/>
                            <a:t>0.8</a:t>
                          </a:r>
                        </a:p>
                      </a:txBody>
                      <a:tcPr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noProof="0" dirty="0"/>
                            <a:t>0.9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noProof="0" dirty="0"/>
                            <a:t>0.9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noProof="0" dirty="0"/>
                            <a:t>0.8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noProof="0" dirty="0"/>
                            <a:t>0.8</a:t>
                          </a:r>
                        </a:p>
                      </a:txBody>
                      <a:tcPr anchor="ctr"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kern="1200" noProof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0.9373</a:t>
                          </a:r>
                        </a:p>
                      </a:txBody>
                      <a:tcPr marL="9525" marR="9525" marT="9525" marB="0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kern="1200" noProof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0.8815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kern="1200" noProof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0.8816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kern="1200" noProof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0.7035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kern="1200" noProof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0.704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170597670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noProof="0" dirty="0"/>
                            <a:t>0.0125</a:t>
                          </a:r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1010" t="-1032558" r="-1107071" b="-139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99000" t="-1032558" r="-996000" b="-139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noProof="0" dirty="0"/>
                            <a:t>0.95</a:t>
                          </a:r>
                        </a:p>
                      </a:txBody>
                      <a:tcPr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noProof="0" dirty="0"/>
                            <a:t>0.9</a:t>
                          </a:r>
                        </a:p>
                      </a:txBody>
                      <a:tcPr anchor="ctr"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noProof="0" dirty="0"/>
                            <a:t>0.9</a:t>
                          </a:r>
                        </a:p>
                      </a:txBody>
                      <a:tcPr anchor="ctr"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noProof="0" dirty="0"/>
                            <a:t>0.8</a:t>
                          </a:r>
                        </a:p>
                      </a:txBody>
                      <a:tcPr anchor="ctr"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noProof="0" dirty="0"/>
                            <a:t>0.8</a:t>
                          </a:r>
                        </a:p>
                      </a:txBody>
                      <a:tcPr anchor="ctr"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kern="1200" noProof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0.9371</a:t>
                          </a:r>
                        </a:p>
                      </a:txBody>
                      <a:tcPr marL="9525" marR="9525" marT="9525" marB="0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kern="1200" noProof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0.8815</a:t>
                          </a:r>
                        </a:p>
                      </a:txBody>
                      <a:tcPr marL="9525" marR="9525" marT="9525" marB="0" anchor="ctr"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kern="1200" noProof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0.8817</a:t>
                          </a:r>
                        </a:p>
                      </a:txBody>
                      <a:tcPr marL="9525" marR="9525" marT="9525" marB="0" anchor="ctr"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kern="1200" noProof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0.7236</a:t>
                          </a:r>
                        </a:p>
                      </a:txBody>
                      <a:tcPr marL="9525" marR="9525" marT="9525" marB="0" anchor="ctr"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kern="1200" noProof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0.7239</a:t>
                          </a:r>
                        </a:p>
                      </a:txBody>
                      <a:tcPr marL="9525" marR="9525" marT="9525" marB="0" anchor="ctr"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30184074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8290D2A-EEAB-37F8-B70B-3C3C23CFB707}"/>
                  </a:ext>
                </a:extLst>
              </p:cNvPr>
              <p:cNvSpPr txBox="1"/>
              <p:nvPr/>
            </p:nvSpPr>
            <p:spPr>
              <a:xfrm>
                <a:off x="628650" y="4655203"/>
                <a:ext cx="7554846" cy="455253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100" i="1" noProof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𝜖</m:t>
                    </m:r>
                    <m:r>
                      <a:rPr lang="en-US" sz="110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→0</m:t>
                    </m:r>
                  </m:oMath>
                </a14:m>
                <a:r>
                  <a:rPr lang="en-US" sz="1100" noProof="0" dirty="0">
                    <a:cs typeface="Arial" panose="020B0604020202020204" pitchFamily="34" charset="0"/>
                  </a:rPr>
                  <a:t>; </a:t>
                </a:r>
                <a14:m>
                  <m:oMath xmlns:m="http://schemas.openxmlformats.org/officeDocument/2006/math">
                    <m:r>
                      <a:rPr lang="en-US" sz="1100" i="1" noProof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𝜌</m:t>
                    </m:r>
                    <m:r>
                      <a:rPr lang="en-US" sz="1100" b="0" i="1" noProof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en-US" sz="1100" b="0" i="1" noProof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𝑐𝑜𝑟𝑟</m:t>
                    </m:r>
                    <m:d>
                      <m:dPr>
                        <m:ctrlPr>
                          <a:rPr lang="en-US" sz="1100" b="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100" b="0" i="1" noProof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sz="1100" b="0" i="1" noProof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US" sz="1100" b="0" i="1" noProof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100" b="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1100" b="0" i="1" noProof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sz="1100" b="0" i="1" noProof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US" sz="1100" b="0" i="1" noProof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3</m:t>
                            </m:r>
                          </m:sub>
                        </m:sSub>
                      </m:e>
                    </m:d>
                    <m:r>
                      <a:rPr lang="en-US" sz="1100" i="1" noProof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en-US" sz="1100" i="1" noProof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𝑐𝑜𝑟𝑟</m:t>
                    </m:r>
                    <m:d>
                      <m:dPr>
                        <m:ctrlPr>
                          <a:rPr lang="en-US" sz="110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100" i="1" noProof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sz="1100" i="1" noProof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US" sz="1100" b="0" i="1" noProof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110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1100" i="1" noProof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sz="1100" i="1" noProof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US" sz="1100" b="0" i="1" noProof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4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1100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10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10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𝑍</m:t>
                        </m:r>
                      </m:e>
                      <m:sub>
                        <m:r>
                          <a:rPr lang="en-US" sz="1100" b="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100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 denotes the test statistic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100" b="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100" b="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𝐻</m:t>
                        </m:r>
                      </m:e>
                      <m:sub>
                        <m:r>
                          <a:rPr lang="en-US" sz="110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100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; </a:t>
                </a:r>
                <a14:m>
                  <m:oMath xmlns:m="http://schemas.openxmlformats.org/officeDocument/2006/math">
                    <m:r>
                      <a:rPr lang="en-US" sz="1100" i="1" noProof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𝑐𝑜𝑟𝑟</m:t>
                    </m:r>
                    <m:d>
                      <m:dPr>
                        <m:ctrlPr>
                          <a:rPr lang="en-US" sz="110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100" i="1" noProof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sz="1100" i="1" noProof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US" sz="1100" i="1" noProof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10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1100" i="1" noProof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sz="1100" i="1" noProof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US" sz="1100" b="0" i="1" noProof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sz="1100" i="1" noProof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en-US" sz="1100" i="1" noProof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𝑐𝑜𝑟𝑟</m:t>
                    </m:r>
                    <m:d>
                      <m:dPr>
                        <m:ctrlPr>
                          <a:rPr lang="en-US" sz="110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100" i="1" noProof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sz="1100" i="1" noProof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US" sz="1100" b="0" i="1" noProof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3</m:t>
                            </m:r>
                          </m:sub>
                        </m:sSub>
                        <m:r>
                          <a:rPr lang="en-US" sz="110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1100" i="1" noProof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sz="1100" i="1" noProof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US" sz="1100" i="1" noProof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4</m:t>
                            </m:r>
                          </m:sub>
                        </m:sSub>
                      </m:e>
                    </m:d>
                    <m:r>
                      <a:rPr lang="en-US" sz="1100" b="0" i="1" noProof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=0.5</m:t>
                    </m:r>
                  </m:oMath>
                </a14:m>
                <a:endParaRPr lang="en-US" sz="1100" noProof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14:m>
                  <m:oMath xmlns:m="http://schemas.openxmlformats.org/officeDocument/2006/math">
                    <m:r>
                      <a:rPr lang="en-US" sz="1100" i="1" noProof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𝜋</m:t>
                    </m:r>
                  </m:oMath>
                </a14:m>
                <a:r>
                  <a:rPr lang="en-US" sz="1100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: probability of a for a successful trial;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10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SupPr>
                      <m:e>
                        <m:r>
                          <a:rPr lang="en-US" sz="110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𝜋</m:t>
                        </m:r>
                      </m:e>
                      <m:sub>
                        <m:r>
                          <a:rPr lang="en-US" sz="1100" b="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𝑖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sz="1100" b="0" i="0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marg</m:t>
                        </m:r>
                      </m:sup>
                    </m:sSubSup>
                  </m:oMath>
                </a14:m>
                <a:r>
                  <a:rPr lang="en-US" sz="1100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 and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10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SupPr>
                      <m:e>
                        <m:r>
                          <a:rPr lang="en-US" sz="110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𝜋</m:t>
                        </m:r>
                      </m:e>
                      <m:sub>
                        <m:r>
                          <a:rPr lang="en-US" sz="110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𝑖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sz="1100" b="0" i="0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ind</m:t>
                        </m:r>
                      </m:sup>
                    </m:sSubSup>
                  </m:oMath>
                </a14:m>
                <a:r>
                  <a:rPr lang="en-US" sz="1100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: marginal and individual power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10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10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𝐻</m:t>
                        </m:r>
                      </m:e>
                      <m:sub>
                        <m:r>
                          <a:rPr lang="en-US" sz="110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100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, respectively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8290D2A-EEAB-37F8-B70B-3C3C23CFB7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0" y="4655203"/>
                <a:ext cx="7554846" cy="455253"/>
              </a:xfrm>
              <a:prstGeom prst="rect">
                <a:avLst/>
              </a:prstGeom>
              <a:blipFill>
                <a:blip r:embed="rId4"/>
                <a:stretch>
                  <a:fillRect t="-1351" b="-67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TextBox 32">
            <a:extLst>
              <a:ext uri="{FF2B5EF4-FFF2-40B4-BE49-F238E27FC236}">
                <a16:creationId xmlns:a16="http://schemas.microsoft.com/office/drawing/2014/main" id="{6626C74D-B200-5F97-AF03-0FCCDE717CB2}"/>
              </a:ext>
            </a:extLst>
          </p:cNvPr>
          <p:cNvSpPr txBox="1"/>
          <p:nvPr/>
        </p:nvSpPr>
        <p:spPr>
          <a:xfrm>
            <a:off x="628650" y="1694860"/>
            <a:ext cx="1809750" cy="6480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noProof="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7212E7E-BF61-4A8F-ED7F-744083FF26E7}"/>
              </a:ext>
            </a:extLst>
          </p:cNvPr>
          <p:cNvSpPr txBox="1"/>
          <p:nvPr/>
        </p:nvSpPr>
        <p:spPr>
          <a:xfrm>
            <a:off x="2438400" y="1691699"/>
            <a:ext cx="3035300" cy="6480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noProof="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95767DE-EB30-B801-4B4A-5BA58525E76E}"/>
              </a:ext>
            </a:extLst>
          </p:cNvPr>
          <p:cNvSpPr txBox="1"/>
          <p:nvPr/>
        </p:nvSpPr>
        <p:spPr>
          <a:xfrm>
            <a:off x="5473697" y="1696691"/>
            <a:ext cx="3121662" cy="6480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noProof="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2F51BE6-3CDE-E48B-3687-30717C7C638E}"/>
              </a:ext>
            </a:extLst>
          </p:cNvPr>
          <p:cNvSpPr txBox="1"/>
          <p:nvPr/>
        </p:nvSpPr>
        <p:spPr>
          <a:xfrm>
            <a:off x="628650" y="2327260"/>
            <a:ext cx="1883962" cy="7560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noProof="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B546976-B0FB-4E6C-83A6-57791F85B7CC}"/>
              </a:ext>
            </a:extLst>
          </p:cNvPr>
          <p:cNvSpPr txBox="1"/>
          <p:nvPr/>
        </p:nvSpPr>
        <p:spPr>
          <a:xfrm>
            <a:off x="628650" y="3137008"/>
            <a:ext cx="1883962" cy="7560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noProof="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A0215D6-28B4-997C-624D-5F811498DAB4}"/>
              </a:ext>
            </a:extLst>
          </p:cNvPr>
          <p:cNvSpPr txBox="1"/>
          <p:nvPr/>
        </p:nvSpPr>
        <p:spPr>
          <a:xfrm>
            <a:off x="628650" y="3893008"/>
            <a:ext cx="1883962" cy="7560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noProof="0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4B6A4FF-DF20-09C0-14DF-6F5E4E049F1E}"/>
              </a:ext>
            </a:extLst>
          </p:cNvPr>
          <p:cNvSpPr txBox="1"/>
          <p:nvPr/>
        </p:nvSpPr>
        <p:spPr>
          <a:xfrm>
            <a:off x="2454301" y="2333583"/>
            <a:ext cx="3035299" cy="7560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noProof="0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6824F28-CE44-FD0B-0FCA-4E9B1C77E360}"/>
              </a:ext>
            </a:extLst>
          </p:cNvPr>
          <p:cNvSpPr txBox="1"/>
          <p:nvPr/>
        </p:nvSpPr>
        <p:spPr>
          <a:xfrm>
            <a:off x="2454301" y="3067659"/>
            <a:ext cx="3035299" cy="7560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noProof="0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FB5D2A2-99C5-29F3-8206-D6289FD607F0}"/>
              </a:ext>
            </a:extLst>
          </p:cNvPr>
          <p:cNvSpPr txBox="1"/>
          <p:nvPr/>
        </p:nvSpPr>
        <p:spPr>
          <a:xfrm>
            <a:off x="2454300" y="3893008"/>
            <a:ext cx="3035299" cy="7560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noProof="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15B4E76-0654-9E4A-0705-BBF580ADED17}"/>
              </a:ext>
            </a:extLst>
          </p:cNvPr>
          <p:cNvSpPr txBox="1"/>
          <p:nvPr/>
        </p:nvSpPr>
        <p:spPr>
          <a:xfrm>
            <a:off x="5489599" y="2327260"/>
            <a:ext cx="3121663" cy="225859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0784990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0204B7-0C47-63C0-BC0B-16F83FB741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B1EE10-3281-CCFD-9610-BD62F0E135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D62CA0-73FF-18A7-39B7-957C5315A2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>
                <a:solidFill>
                  <a:srgbClr val="BFBFBF"/>
                </a:solidFill>
              </a:rPr>
              <a:t>Introduction and basic concepts</a:t>
            </a:r>
          </a:p>
          <a:p>
            <a:r>
              <a:rPr lang="en-US" noProof="0" dirty="0">
                <a:solidFill>
                  <a:schemeClr val="bg1">
                    <a:lumMod val="75000"/>
                  </a:schemeClr>
                </a:solidFill>
              </a:rPr>
              <a:t>Graphical approaches to multiple testing</a:t>
            </a:r>
          </a:p>
          <a:p>
            <a:r>
              <a:rPr lang="en-US" noProof="0" dirty="0"/>
              <a:t>Optimizing graphical multiple comparison procedures</a:t>
            </a:r>
          </a:p>
          <a:p>
            <a:pPr lvl="1"/>
            <a:r>
              <a:rPr lang="en-US" noProof="0" dirty="0"/>
              <a:t>Optimizing weighted Bonferroni test</a:t>
            </a:r>
          </a:p>
          <a:p>
            <a:pPr lvl="1"/>
            <a:r>
              <a:rPr lang="en-US" noProof="0" dirty="0"/>
              <a:t>Optimizing graphical approach</a:t>
            </a:r>
          </a:p>
          <a:p>
            <a:r>
              <a:rPr lang="en-US" noProof="0" dirty="0" err="1">
                <a:solidFill>
                  <a:schemeClr val="bg1">
                    <a:lumMod val="75000"/>
                  </a:schemeClr>
                </a:solidFill>
              </a:rPr>
              <a:t>graphicalMCP</a:t>
            </a:r>
            <a:r>
              <a:rPr lang="en-US" noProof="0" dirty="0">
                <a:solidFill>
                  <a:schemeClr val="bg1">
                    <a:lumMod val="75000"/>
                  </a:schemeClr>
                </a:solidFill>
              </a:rPr>
              <a:t>: implementation of graphical approaches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DE482B-E426-BD74-B329-2840F0E4F5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Bretz, Chen, Xi | ISBS | October 2026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186CBF-3BB9-8979-8B38-96F216B792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BD9F39-F344-41AE-B531-1D3ECACBC820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60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5329986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D289EF-A0DA-5375-FC5E-AE4F53F3BB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C5596B-EAD8-1DC3-3C84-5E970A2870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1A76F3-98B8-B81D-C5F2-74A2E67D65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>
                <a:solidFill>
                  <a:srgbClr val="BFBFBF"/>
                </a:solidFill>
              </a:rPr>
              <a:t>Introduction and basic concepts</a:t>
            </a:r>
          </a:p>
          <a:p>
            <a:r>
              <a:rPr lang="en-US" noProof="0" dirty="0">
                <a:solidFill>
                  <a:schemeClr val="bg1">
                    <a:lumMod val="75000"/>
                  </a:schemeClr>
                </a:solidFill>
              </a:rPr>
              <a:t>Graphical approaches to multiple testing</a:t>
            </a:r>
          </a:p>
          <a:p>
            <a:r>
              <a:rPr lang="en-US" noProof="0" dirty="0"/>
              <a:t>Optimizing graphical multiple comparison procedures</a:t>
            </a:r>
          </a:p>
          <a:p>
            <a:pPr lvl="1"/>
            <a:r>
              <a:rPr lang="en-US" noProof="0" dirty="0"/>
              <a:t>Optimizing weighted Bonferroni test</a:t>
            </a:r>
          </a:p>
          <a:p>
            <a:pPr lvl="1"/>
            <a:r>
              <a:rPr lang="en-US" noProof="0" dirty="0">
                <a:solidFill>
                  <a:srgbClr val="BFBFBF"/>
                </a:solidFill>
              </a:rPr>
              <a:t>Optimizing graphical approach</a:t>
            </a:r>
          </a:p>
          <a:p>
            <a:r>
              <a:rPr lang="en-US" noProof="0" dirty="0" err="1">
                <a:solidFill>
                  <a:schemeClr val="bg1">
                    <a:lumMod val="75000"/>
                  </a:schemeClr>
                </a:solidFill>
              </a:rPr>
              <a:t>graphicalMCP</a:t>
            </a:r>
            <a:r>
              <a:rPr lang="en-US" noProof="0" dirty="0">
                <a:solidFill>
                  <a:schemeClr val="bg1">
                    <a:lumMod val="75000"/>
                  </a:schemeClr>
                </a:solidFill>
              </a:rPr>
              <a:t>: implementation of graphical approaches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A5C935-AEE5-1CC9-954D-B81F7B5CC1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Bretz, Chen, Xi | ISBS | October 2026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A72B75-47EB-2991-A43C-C323AD9402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BD9F39-F344-41AE-B531-1D3ECACBC820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61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4896037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FC941A-3AED-1925-13B5-B063F463D0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1A197-D2FC-06F3-03B0-C5F0D62832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noProof="0" dirty="0"/>
              <a:t>How to design a graph</a:t>
            </a:r>
            <a:br>
              <a:rPr lang="en-US" noProof="0" dirty="0"/>
            </a:br>
            <a:r>
              <a:rPr lang="en-US" sz="2200" i="1" noProof="0" dirty="0"/>
              <a:t>Example 3 revisited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A5AE771-39DD-102F-986E-79E13CA9365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3152551"/>
                <a:ext cx="7886700" cy="1614712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US" noProof="0" dirty="0"/>
                  <a:t>Graph design normally depends on the clinical consideration and certain metrics</a:t>
                </a:r>
              </a:p>
              <a:p>
                <a:pPr lvl="1"/>
                <a:r>
                  <a:rPr lang="en-US" sz="1700" noProof="0" dirty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700" i="1" noProof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700" i="1" noProof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700" i="1" noProof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700" noProof="0" dirty="0"/>
                  <a:t> is rejected, shall the weight be propagated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700" i="1" noProof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700" i="1" noProof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700" b="0" i="1" noProof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1700" noProof="0" dirty="0"/>
                  <a:t>?</a:t>
                </a:r>
              </a:p>
              <a:p>
                <a:pPr lvl="1"/>
                <a:r>
                  <a:rPr lang="en-US" sz="1700" noProof="0" dirty="0"/>
                  <a:t>Is equal split always reasonable among primary endpoints? What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7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700" b="0" i="1" noProof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700" b="0" i="1" noProof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1700" noProof="0" dirty="0"/>
                  <a:t> has smaller power than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7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700" b="0" i="1" noProof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700" b="0" i="1" noProof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700" noProof="0" dirty="0"/>
                  <a:t>?</a:t>
                </a:r>
              </a:p>
              <a:p>
                <a:r>
                  <a:rPr lang="en-US" noProof="0" dirty="0"/>
                  <a:t>What metric we should use to determine a good strategy?</a:t>
                </a:r>
              </a:p>
              <a:p>
                <a:endParaRPr lang="en-US" noProof="0" dirty="0">
                  <a:solidFill>
                    <a:schemeClr val="bg1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A5AE771-39DD-102F-986E-79E13CA9365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3152551"/>
                <a:ext cx="7886700" cy="1614712"/>
              </a:xfrm>
              <a:blipFill>
                <a:blip r:embed="rId2"/>
                <a:stretch>
                  <a:fillRect l="-541" t="-4906" b="-45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A5CE43-CCED-6FE2-6645-D1C7EB9C8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Bretz, Chen, Xi | ISBS | October 2026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8CD474-5104-0D5F-91C1-84228C7A6A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BD9F39-F344-41AE-B531-1D3ECACBC820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62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Picture 3">
            <a:extLst>
              <a:ext uri="{FF2B5EF4-FFF2-40B4-BE49-F238E27FC236}">
                <a16:creationId xmlns:a16="http://schemas.microsoft.com/office/drawing/2014/main" id="{EF3A6F37-FE69-C8BD-210D-031C79FDF8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8914" y="1206683"/>
            <a:ext cx="4046172" cy="19458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945A8E9-7724-5D3F-E763-C2093854C022}"/>
              </a:ext>
            </a:extLst>
          </p:cNvPr>
          <p:cNvSpPr txBox="1"/>
          <p:nvPr/>
        </p:nvSpPr>
        <p:spPr>
          <a:xfrm>
            <a:off x="1955800" y="1476103"/>
            <a:ext cx="67274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noProof="0" dirty="0">
                <a:solidFill>
                  <a:srgbClr val="CE755D"/>
                </a:solidFill>
              </a:rPr>
              <a:t>primary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5F47FA1-8126-DC84-39A7-1E2D8862904A}"/>
              </a:ext>
            </a:extLst>
          </p:cNvPr>
          <p:cNvSpPr txBox="1"/>
          <p:nvPr/>
        </p:nvSpPr>
        <p:spPr>
          <a:xfrm>
            <a:off x="1879497" y="2571750"/>
            <a:ext cx="8253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noProof="0" dirty="0">
                <a:solidFill>
                  <a:srgbClr val="CE755D"/>
                </a:solidFill>
              </a:rPr>
              <a:t>secondary</a:t>
            </a:r>
          </a:p>
        </p:txBody>
      </p:sp>
    </p:spTree>
    <p:extLst>
      <p:ext uri="{BB962C8B-B14F-4D97-AF65-F5344CB8AC3E}">
        <p14:creationId xmlns:p14="http://schemas.microsoft.com/office/powerpoint/2010/main" val="11519257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B8738C-B43D-6EED-2EE1-238EDCE0EF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BC489-3803-3406-2B0C-3F0C82C71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noProof="0" dirty="0"/>
              <a:t>Weighted Bonferroni test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F9E882-ADE8-00AD-ECD0-ADEF28F15F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Bretz, Chen, Xi | ISBS | October 2026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2D2E24-D4E9-F5FD-EF86-59602275FF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BD9F39-F344-41AE-B531-1D3ECACBC820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63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36143023-6C19-2E8C-E0C6-39ED9D2C62A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b="0" noProof="0" dirty="0"/>
                  <a:t>Consider testing </a:t>
                </a:r>
                <a14:m>
                  <m:oMath xmlns:m="http://schemas.openxmlformats.org/officeDocument/2006/math"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noProof="0" dirty="0"/>
                  <a:t> null hypotheses,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noProof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noProof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,…, </m:t>
                    </m:r>
                    <m:sSub>
                      <m:sSubPr>
                        <m:ctrlPr>
                          <a:rPr lang="en-US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noProof="0" dirty="0"/>
                  <a:t> vs. upper alternatives</a:t>
                </a:r>
              </a:p>
              <a:p>
                <a:r>
                  <a:rPr lang="en-US" noProof="0" dirty="0"/>
                  <a:t>To control the FWER at an overall significance level </a:t>
                </a:r>
                <a14:m>
                  <m:oMath xmlns:m="http://schemas.openxmlformats.org/officeDocument/2006/math"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noProof="0" dirty="0"/>
                  <a:t>, weighted Bonferroni tests are considered</a:t>
                </a:r>
              </a:p>
              <a:p>
                <a:r>
                  <a:rPr lang="en-US" noProof="0" dirty="0"/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noProof="0" dirty="0"/>
                  <a:t> be the one-sided </a:t>
                </a:r>
                <a14:m>
                  <m:oMath xmlns:m="http://schemas.openxmlformats.org/officeDocument/2006/math">
                    <m:r>
                      <a:rPr lang="en-US" i="1" noProof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noProof="0" dirty="0"/>
                  <a:t>-value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noProof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noProof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i="1" noProof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noProof="0" dirty="0"/>
                  <a:t>, marginal power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noProof="0" dirty="0"/>
                  <a:t>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noProof="0" smtClean="0">
                        <a:latin typeface="Cambria Math" panose="02040503050406030204" pitchFamily="18" charset="0"/>
                      </a:rPr>
                      <m:t>Pr</m:t>
                    </m:r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⁡(</m:t>
                    </m:r>
                    <m:sSub>
                      <m:sSubPr>
                        <m:ctrlPr>
                          <a:rPr lang="en-US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noProof="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𝜉</m:t>
                        </m:r>
                      </m:e>
                      <m:sub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noProof="0" dirty="0"/>
                  <a:t> is the non-centrality parameter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noProof="0" dirty="0"/>
              </a:p>
              <a:p>
                <a:r>
                  <a:rPr lang="en-US" noProof="0" dirty="0"/>
                  <a:t>Assign a weight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r>
                  <a:rPr lang="en-US" noProof="0" dirty="0"/>
                  <a:t>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noProof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noProof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noProof="0" dirty="0"/>
                  <a:t> and reject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noProof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noProof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noProof="0" dirty="0"/>
                  <a:t>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noProof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noProof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i="1" noProof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endParaRPr lang="en-US" noProof="0" dirty="0"/>
              </a:p>
              <a:p>
                <a:pPr lvl="1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sz="1500" i="1" noProof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sz="1500" i="1" noProof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sz="1500" i="1" noProof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500" i="1" noProof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1500" i="1" noProof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en-US" sz="1500" i="1" noProof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sz="1500" noProof="0" dirty="0"/>
              </a:p>
              <a:p>
                <a:r>
                  <a:rPr lang="en-US" noProof="0" dirty="0"/>
                  <a:t>Question of interest: how to choose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noProof="0" dirty="0"/>
                  <a:t> for an “optimized” weighted Bonferroni test?</a:t>
                </a:r>
              </a:p>
              <a:p>
                <a:endParaRPr lang="en-US" noProof="0" dirty="0"/>
              </a:p>
            </p:txBody>
          </p:sp>
        </mc:Choice>
        <mc:Fallback xmlns="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36143023-6C19-2E8C-E0C6-39ED9D2C62A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73" t="-22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4711504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6D4FC0-B517-4C02-71C6-18AE4D64FD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35BB15-FE6F-C370-67FF-4B82E9B8D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noProof="0" dirty="0"/>
              <a:t>What to optimize?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D4FFE3-5675-DD53-1235-21FB42A069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Bretz, Chen, Xi | ISBS | October 2026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5F45E9-3EF6-C513-0EC6-EB3E48346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BD9F39-F344-41AE-B531-1D3ECACBC820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64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3838595E-D856-24FF-BF74-5B89F9EAE6D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8800"/>
                <a:ext cx="7886700" cy="2938463"/>
              </a:xfrm>
            </p:spPr>
            <p:txBody>
              <a:bodyPr>
                <a:normAutofit/>
              </a:bodyPr>
              <a:lstStyle/>
              <a:p>
                <a:pPr>
                  <a:buFont typeface="Wingdings" panose="05000000000000000000" pitchFamily="2" charset="2"/>
                  <a:buChar char="§"/>
                </a:pPr>
                <a:r>
                  <a:rPr lang="en-US" sz="1800" b="0" noProof="0" dirty="0"/>
                  <a:t>Average power</a:t>
                </a:r>
                <a:r>
                  <a:rPr lang="en-US" sz="1800" noProof="0" dirty="0"/>
                  <a:t> 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800" i="1" noProof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i="1" noProof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800" i="1" noProof="0"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sz="1800" i="1" noProof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1800" i="1" noProof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800" i="1" noProof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1800" i="1" noProof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sSub>
                          <m:sSubPr>
                            <m:ctrlPr>
                              <a:rPr lang="en-US" sz="1800" i="1" noProof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 noProof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sz="1800" i="1" noProof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i="1" noProof="0">
                                    <a:latin typeface="Cambria Math" panose="02040503050406030204" pitchFamily="18" charset="0"/>
                                  </a:rPr>
                                  <m:t>𝜉</m:t>
                                </m:r>
                              </m:e>
                              <m:sub>
                                <m:r>
                                  <a:rPr lang="en-US" sz="1800" i="1" noProof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sub>
                        </m:sSub>
                        <m:r>
                          <a:rPr lang="en-US" sz="1800" i="1" noProof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1800" i="1" noProof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 noProof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1800" i="1" noProof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1800" i="1" noProof="0">
                            <a:latin typeface="Cambria Math" panose="02040503050406030204" pitchFamily="18" charset="0"/>
                          </a:rPr>
                          <m:t>≤</m:t>
                        </m:r>
                        <m:sSub>
                          <m:sSubPr>
                            <m:ctrlPr>
                              <a:rPr lang="en-US" sz="1800" i="1" noProof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 noProof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1800" i="1" noProof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1800" i="1" noProof="0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US" sz="1800" i="1" noProof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US" sz="1800" b="0" noProof="0" dirty="0"/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en-US" sz="1800" noProof="0" dirty="0"/>
                  <a:t>Disjunctive power: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noProof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noProof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sSubSup>
                          <m:sSubSupPr>
                            <m:ctrlPr>
                              <a:rPr lang="en-US" sz="1800" i="1" noProof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d>
                              <m:dPr>
                                <m:begChr m:val="{"/>
                                <m:endChr m:val="}"/>
                                <m:ctrlPr>
                                  <a:rPr lang="en-US" sz="1800" i="1" noProof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1800" i="1" noProof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i="1" noProof="0">
                                        <a:latin typeface="Cambria Math" panose="02040503050406030204" pitchFamily="18" charset="0"/>
                                      </a:rPr>
                                      <m:t>𝜉</m:t>
                                    </m:r>
                                  </m:e>
                                  <m:sub>
                                    <m:r>
                                      <a:rPr lang="en-US" sz="1800" i="1" noProof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e>
                          <m:sub>
                            <m:r>
                              <a:rPr lang="en-US" sz="1800" b="0" i="1" noProof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1800" b="0" i="1" noProof="0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sz="1800" b="0" i="1" noProof="0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p>
                        </m:sSubSup>
                      </m:sub>
                    </m:sSub>
                    <m:d>
                      <m:dPr>
                        <m:begChr m:val="{"/>
                        <m:endChr m:val="}"/>
                        <m:ctrlPr>
                          <a:rPr lang="en-US" sz="1800" i="1" noProof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⋃"/>
                            <m:limLoc m:val="subSup"/>
                            <m:supHide m:val="on"/>
                            <m:ctrlPr>
                              <a:rPr lang="en-US" sz="1800" i="1" noProof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9"/>
                              </m:rPr>
                              <a:rPr lang="en-US" sz="1800" i="1" noProof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/>
                          <m:e>
                            <m:d>
                              <m:dPr>
                                <m:ctrlPr>
                                  <a:rPr lang="en-US" sz="1800" i="1" noProof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1800" i="1" noProof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i="1" noProof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sz="1800" i="1" noProof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1800" i="1" noProof="0">
                                    <a:latin typeface="Cambria Math" panose="02040503050406030204" pitchFamily="18" charset="0"/>
                                  </a:rPr>
                                  <m:t>≤</m:t>
                                </m:r>
                                <m:sSub>
                                  <m:sSubPr>
                                    <m:ctrlPr>
                                      <a:rPr lang="en-US" sz="1800" i="1" noProof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i="1" noProof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sz="1800" i="1" noProof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1800" i="1" noProof="0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</m:d>
                          </m:e>
                        </m:nary>
                      </m:e>
                    </m:d>
                  </m:oMath>
                </a14:m>
                <a:r>
                  <a:rPr lang="en-US" sz="1800" noProof="0" dirty="0"/>
                  <a:t>, i.e., probability to reject at least one null hypothesis</a:t>
                </a:r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en-US" sz="1800" noProof="0" dirty="0"/>
                  <a:t>Conjunctive power: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noProof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noProof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sSubSup>
                          <m:sSubSupPr>
                            <m:ctrlPr>
                              <a:rPr lang="en-US" sz="1800" i="1" noProof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d>
                              <m:dPr>
                                <m:begChr m:val="{"/>
                                <m:endChr m:val="}"/>
                                <m:ctrlPr>
                                  <a:rPr lang="en-US" sz="1800" i="1" noProof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1800" i="1" noProof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i="1" noProof="0">
                                        <a:latin typeface="Cambria Math" panose="02040503050406030204" pitchFamily="18" charset="0"/>
                                      </a:rPr>
                                      <m:t>𝜉</m:t>
                                    </m:r>
                                  </m:e>
                                  <m:sub>
                                    <m:r>
                                      <a:rPr lang="en-US" sz="1800" i="1" noProof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e>
                          <m:sub>
                            <m:r>
                              <a:rPr lang="en-US" sz="1800" b="0" i="1" noProof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1800" b="0" i="1" noProof="0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sz="1800" b="0" i="1" noProof="0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p>
                        </m:sSubSup>
                      </m:sub>
                    </m:sSub>
                    <m:d>
                      <m:dPr>
                        <m:begChr m:val="{"/>
                        <m:endChr m:val="}"/>
                        <m:ctrlPr>
                          <a:rPr lang="en-US" sz="1800" i="1" noProof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⋂"/>
                            <m:supHide m:val="on"/>
                            <m:ctrlPr>
                              <a:rPr lang="en-US" sz="1800" i="1" noProof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7"/>
                              </m:rPr>
                              <a:rPr lang="en-US" sz="1800" i="1" noProof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/>
                          <m:e>
                            <m:d>
                              <m:dPr>
                                <m:ctrlPr>
                                  <a:rPr lang="en-US" sz="1800" i="1" noProof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1800" i="1" noProof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i="1" noProof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sz="1800" i="1" noProof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1800" i="1" noProof="0">
                                    <a:latin typeface="Cambria Math" panose="02040503050406030204" pitchFamily="18" charset="0"/>
                                  </a:rPr>
                                  <m:t>≤</m:t>
                                </m:r>
                                <m:sSub>
                                  <m:sSubPr>
                                    <m:ctrlPr>
                                      <a:rPr lang="en-US" sz="1800" i="1" noProof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i="1" noProof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sz="1800" i="1" noProof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1800" i="1" noProof="0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</m:d>
                          </m:e>
                        </m:nary>
                      </m:e>
                    </m:d>
                  </m:oMath>
                </a14:m>
                <a:r>
                  <a:rPr lang="en-US" sz="1800" noProof="0" dirty="0"/>
                  <a:t>, i.e., probability to reject all null hypotheses</a:t>
                </a:r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en-US" sz="1800" noProof="0" dirty="0"/>
                  <a:t>Disjunctive power and conjunctive power are more commonly used but the computation depends on joint distribution</a:t>
                </a:r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en-US" sz="1800" noProof="0" dirty="0"/>
                  <a:t>We will focus on disjunctive power today</a:t>
                </a:r>
              </a:p>
            </p:txBody>
          </p:sp>
        </mc:Choice>
        <mc:Fallback xmlns="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3838595E-D856-24FF-BF74-5B89F9EAE6D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8800"/>
                <a:ext cx="7886700" cy="2938463"/>
              </a:xfrm>
              <a:blipFill>
                <a:blip r:embed="rId3"/>
                <a:stretch>
                  <a:fillRect l="-464" t="-141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043EBC7-4C85-3340-6110-6BD35F09D4E3}"/>
                  </a:ext>
                </a:extLst>
              </p:cNvPr>
              <p:cNvSpPr txBox="1"/>
              <p:nvPr/>
            </p:nvSpPr>
            <p:spPr>
              <a:xfrm>
                <a:off x="1897741" y="1082964"/>
                <a:ext cx="5348518" cy="70807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r>
                  <a:rPr lang="en-US" sz="2000" noProof="0" dirty="0"/>
                  <a:t>Maximize "power" of weighted Bonferroni tests </a:t>
                </a:r>
              </a:p>
              <a:p>
                <a:r>
                  <a:rPr lang="en-US" sz="2000" noProof="0" dirty="0"/>
                  <a:t>    </a:t>
                </a:r>
                <a14:m>
                  <m:oMath xmlns:m="http://schemas.openxmlformats.org/officeDocument/2006/math">
                    <m:r>
                      <a:rPr lang="en-US" sz="2000" i="1" noProof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2000" i="1" noProof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000" i="1" noProof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000" i="1" noProof="0">
                        <a:latin typeface="Cambria Math" panose="02040503050406030204" pitchFamily="18" charset="0"/>
                      </a:rPr>
                      <m:t>.    0≤</m:t>
                    </m:r>
                    <m:sSub>
                      <m:sSubPr>
                        <m:ctrlPr>
                          <a:rPr lang="en-US" sz="2000" i="1" noProof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noProof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000" i="1" noProof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i="1" noProof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2000" noProof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000" noProof="0" dirty="0"/>
                  <a:t> for </a:t>
                </a:r>
                <a14:m>
                  <m:oMath xmlns:m="http://schemas.openxmlformats.org/officeDocument/2006/math">
                    <m:r>
                      <a:rPr lang="en-US" sz="2000" i="1" noProof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000" i="1" noProof="0">
                        <a:latin typeface="Cambria Math" panose="02040503050406030204" pitchFamily="18" charset="0"/>
                      </a:rPr>
                      <m:t>=1,…, </m:t>
                    </m:r>
                    <m:r>
                      <a:rPr lang="en-US" sz="2000" i="1" noProof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000" b="0" i="0" noProof="0" smtClean="0">
                        <a:latin typeface="Cambria Math" panose="02040503050406030204" pitchFamily="18" charset="0"/>
                      </a:rPr>
                      <m:t> </m:t>
                    </m:r>
                    <m:nary>
                      <m:naryPr>
                        <m:chr m:val="∑"/>
                        <m:supHide m:val="on"/>
                        <m:ctrlPr>
                          <a:rPr lang="en-US" sz="2000" i="1" noProof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sz="2000" i="1" noProof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sz="2000" i="1" noProof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noProof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2000" i="1" noProof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en-US" sz="2000" i="1" noProof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2000" noProof="0" dirty="0"/>
                  <a:t> 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043EBC7-4C85-3340-6110-6BD35F09D4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7741" y="1082964"/>
                <a:ext cx="5348518" cy="708079"/>
              </a:xfrm>
              <a:prstGeom prst="rect">
                <a:avLst/>
              </a:prstGeom>
              <a:blipFill>
                <a:blip r:embed="rId4"/>
                <a:stretch>
                  <a:fillRect l="-1023" t="-25424" b="-100847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49817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E4D5D6-2315-02CD-0398-DCE913D9E0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Existing approaches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444AB7-0F1A-630D-2B50-E573053C74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110910"/>
            <a:ext cx="7886700" cy="3717879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r>
              <a:rPr lang="en-US" noProof="0" dirty="0"/>
              <a:t>Optimal weights for </a:t>
            </a:r>
            <a:r>
              <a:rPr lang="en-US" b="1" i="1" noProof="0" dirty="0"/>
              <a:t>fixed sequence procedures </a:t>
            </a:r>
            <a:r>
              <a:rPr lang="en-US" noProof="0" dirty="0"/>
              <a:t>are determined:</a:t>
            </a:r>
          </a:p>
          <a:p>
            <a:pPr lvl="1"/>
            <a:r>
              <a:rPr lang="en-US" noProof="0" dirty="0"/>
              <a:t>By maximizing </a:t>
            </a:r>
            <a:r>
              <a:rPr lang="en-US" i="1" noProof="0" dirty="0"/>
              <a:t>weighted power </a:t>
            </a:r>
            <a:r>
              <a:rPr lang="en-US" noProof="0" dirty="0"/>
              <a:t>(Westfall et al. 2001)</a:t>
            </a:r>
          </a:p>
          <a:p>
            <a:pPr lvl="1"/>
            <a:r>
              <a:rPr lang="en-US" noProof="0" dirty="0"/>
              <a:t>And the </a:t>
            </a:r>
            <a:r>
              <a:rPr lang="en-US" i="1" noProof="0" dirty="0"/>
              <a:t>expected number of rejections </a:t>
            </a:r>
            <a:r>
              <a:rPr lang="en-US" noProof="0" dirty="0"/>
              <a:t>(Zhang et al. 2015)</a:t>
            </a:r>
          </a:p>
          <a:p>
            <a:r>
              <a:rPr lang="en-US" noProof="0" dirty="0"/>
              <a:t>Analytical formulae are derived for</a:t>
            </a:r>
            <a:r>
              <a:rPr lang="en-US" b="1" noProof="0" dirty="0"/>
              <a:t> </a:t>
            </a:r>
            <a:r>
              <a:rPr lang="en-US" b="1" i="1" noProof="0" dirty="0"/>
              <a:t>weighted Bonferroni </a:t>
            </a:r>
            <a:r>
              <a:rPr lang="en-US" i="1" noProof="0" dirty="0"/>
              <a:t>tests </a:t>
            </a:r>
            <a:r>
              <a:rPr lang="en-US" noProof="0" dirty="0"/>
              <a:t>to achieve optimal </a:t>
            </a:r>
            <a:r>
              <a:rPr lang="en-US" b="1" i="1" noProof="0" dirty="0"/>
              <a:t>average power </a:t>
            </a:r>
            <a:r>
              <a:rPr lang="en-US" noProof="0" dirty="0"/>
              <a:t>(Roeder &amp; Wasserman 2009, Rubin et al. 2006)</a:t>
            </a:r>
          </a:p>
          <a:p>
            <a:r>
              <a:rPr lang="en-US" noProof="0" dirty="0"/>
              <a:t>Optimal design for </a:t>
            </a:r>
            <a:r>
              <a:rPr lang="en-US" b="1" i="1" noProof="0" dirty="0"/>
              <a:t>disjunctive power</a:t>
            </a:r>
            <a:r>
              <a:rPr lang="en-US" b="1" noProof="0" dirty="0"/>
              <a:t> </a:t>
            </a:r>
            <a:r>
              <a:rPr lang="en-US" noProof="0" dirty="0"/>
              <a:t>and </a:t>
            </a:r>
            <a:r>
              <a:rPr lang="en-US" b="1" i="1" noProof="0" dirty="0"/>
              <a:t>total number of rejection </a:t>
            </a:r>
            <a:r>
              <a:rPr lang="en-US" i="1" noProof="0" dirty="0"/>
              <a:t>with small number of hypotheses </a:t>
            </a:r>
            <a:r>
              <a:rPr lang="en-US" noProof="0" dirty="0"/>
              <a:t>or</a:t>
            </a:r>
            <a:r>
              <a:rPr lang="en-US" i="1" noProof="0" dirty="0"/>
              <a:t> “two-trials rule” </a:t>
            </a:r>
            <a:r>
              <a:rPr lang="en-US" noProof="0" dirty="0"/>
              <a:t>(Heller et al. 2023, Robertson &amp; Jaki 2026)</a:t>
            </a:r>
          </a:p>
          <a:p>
            <a:r>
              <a:rPr lang="en-US" b="1" noProof="0" dirty="0"/>
              <a:t>Grid search</a:t>
            </a:r>
            <a:r>
              <a:rPr lang="en-US" noProof="0" dirty="0"/>
              <a:t> and </a:t>
            </a:r>
            <a:r>
              <a:rPr lang="en-US" b="1" noProof="0" dirty="0"/>
              <a:t>simulation</a:t>
            </a:r>
            <a:r>
              <a:rPr lang="en-US" noProof="0" dirty="0"/>
              <a:t> (Bretz et al. 2011, Wiens et al. 2013, </a:t>
            </a:r>
            <a:r>
              <a:rPr lang="en-US" noProof="0" dirty="0" err="1"/>
              <a:t>Dmitrienko</a:t>
            </a:r>
            <a:r>
              <a:rPr lang="en-US" noProof="0" dirty="0"/>
              <a:t> et al. 2015)</a:t>
            </a:r>
          </a:p>
          <a:p>
            <a:r>
              <a:rPr lang="en-US" noProof="0" dirty="0"/>
              <a:t>Optimization using </a:t>
            </a:r>
            <a:r>
              <a:rPr lang="en-US" i="1" noProof="0" dirty="0"/>
              <a:t>deep learning </a:t>
            </a:r>
            <a:r>
              <a:rPr lang="en-US" noProof="0" dirty="0"/>
              <a:t>to enhance </a:t>
            </a:r>
            <a:r>
              <a:rPr lang="en-US" b="1" i="1" noProof="0" dirty="0"/>
              <a:t>weighted power </a:t>
            </a:r>
            <a:r>
              <a:rPr lang="en-US" noProof="0" dirty="0"/>
              <a:t>in graphical approaches (Zhan et al. 2022)</a:t>
            </a:r>
          </a:p>
          <a:p>
            <a:r>
              <a:rPr lang="en-US" dirty="0"/>
              <a:t>Optimization of flexible objective function using global optimization algorithm (Spiers et al. 2026)</a:t>
            </a:r>
            <a:endParaRPr lang="en-US" noProof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BF375C-5C11-6A36-AA1B-E040283161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 noProof="0"/>
              <a:t>Bretz, Chen, Xi | ISBS | October 2026</a:t>
            </a:r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A761BF-7264-7195-D021-670DCC38D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D9F39-F344-41AE-B531-1D3ECACBC820}" type="slidenum">
              <a:rPr lang="en-US" noProof="0" smtClean="0"/>
              <a:t>65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95405647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6D679A-3608-D4CD-9B5F-F53A4A6B28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DA828B9C-BBDC-E8FB-7A4A-52ACD3427DAC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noProof="0" dirty="0"/>
                  <a:t>Why split </a:t>
                </a:r>
                <a14:m>
                  <m:oMath xmlns:m="http://schemas.openxmlformats.org/officeDocument/2006/math"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noProof="0" dirty="0"/>
                  <a:t>?</a:t>
                </a:r>
                <a:br>
                  <a:rPr lang="en-US" noProof="0" dirty="0"/>
                </a:br>
                <a:r>
                  <a:rPr lang="en-US" sz="2200" i="1" noProof="0" dirty="0"/>
                  <a:t>Comparison with fixed sequence procedure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DA828B9C-BBDC-E8FB-7A4A-52ACD3427DA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087" t="-6135" b="-55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A81CD5-7350-4F05-0DAD-3976726E7D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Bretz, Chen, Xi | ISBS | October 2026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DC92D2-761E-ADAE-399D-893A6D7AA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BD9F39-F344-41AE-B531-1D3ECACBC820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66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304C36F-E44B-5682-A0A1-7F712C6C694F}"/>
                  </a:ext>
                </a:extLst>
              </p:cNvPr>
              <p:cNvSpPr txBox="1"/>
              <p:nvPr/>
            </p:nvSpPr>
            <p:spPr>
              <a:xfrm>
                <a:off x="457200" y="1268016"/>
                <a:ext cx="8229599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=0.025</m:t>
                    </m:r>
                  </m:oMath>
                </a14:m>
                <a:r>
                  <a:rPr lang="en-US" noProof="0" dirty="0"/>
                  <a:t>, test statistics follow asymptotic normal distribution and are independent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noProof="0" dirty="0"/>
                  <a:t>Marginal powers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noProof="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noProof="0" dirty="0"/>
                  <a:t> (under full </a:t>
                </a:r>
                <a14:m>
                  <m:oMath xmlns:m="http://schemas.openxmlformats.org/officeDocument/2006/math"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noProof="0" dirty="0"/>
                  <a:t>) are 0.9, 0.8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noProof="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noProof="0" dirty="0"/>
                  <a:t> are </a:t>
                </a:r>
                <a14:m>
                  <m:oMath xmlns:m="http://schemas.openxmlformats.org/officeDocument/2006/math"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noProof="0" dirty="0"/>
                  <a:t>-values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noProof="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noProof="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304C36F-E44B-5682-A0A1-7F712C6C69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268016"/>
                <a:ext cx="8229599" cy="1200329"/>
              </a:xfrm>
              <a:prstGeom prst="rect">
                <a:avLst/>
              </a:prstGeom>
              <a:blipFill>
                <a:blip r:embed="rId4"/>
                <a:stretch>
                  <a:fillRect l="-444" t="-2538" b="-71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Group 9">
            <a:extLst>
              <a:ext uri="{FF2B5EF4-FFF2-40B4-BE49-F238E27FC236}">
                <a16:creationId xmlns:a16="http://schemas.microsoft.com/office/drawing/2014/main" id="{312FEBB8-09D8-D1BF-4506-D77B0FF6D926}"/>
              </a:ext>
            </a:extLst>
          </p:cNvPr>
          <p:cNvGrpSpPr/>
          <p:nvPr/>
        </p:nvGrpSpPr>
        <p:grpSpPr>
          <a:xfrm>
            <a:off x="1512359" y="2684369"/>
            <a:ext cx="2210119" cy="694553"/>
            <a:chOff x="1512359" y="2684369"/>
            <a:chExt cx="2210119" cy="69455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Oval 10">
                  <a:extLst>
                    <a:ext uri="{FF2B5EF4-FFF2-40B4-BE49-F238E27FC236}">
                      <a16:creationId xmlns:a16="http://schemas.microsoft.com/office/drawing/2014/main" id="{D7AC903C-04F4-8681-CC5C-35E5F2FDA904}"/>
                    </a:ext>
                  </a:extLst>
                </p:cNvPr>
                <p:cNvSpPr/>
                <p:nvPr/>
              </p:nvSpPr>
              <p:spPr>
                <a:xfrm>
                  <a:off x="1512359" y="2693122"/>
                  <a:ext cx="685800" cy="685800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b="1" i="1" noProof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noProof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𝑯</m:t>
                            </m:r>
                          </m:e>
                          <m:sub>
                            <m:r>
                              <a:rPr lang="en-US" b="1" i="1" noProof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noProof="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1" name="Oval 10">
                  <a:extLst>
                    <a:ext uri="{FF2B5EF4-FFF2-40B4-BE49-F238E27FC236}">
                      <a16:creationId xmlns:a16="http://schemas.microsoft.com/office/drawing/2014/main" id="{D7AC903C-04F4-8681-CC5C-35E5F2FDA90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12359" y="2693122"/>
                  <a:ext cx="685800" cy="685800"/>
                </a:xfrm>
                <a:prstGeom prst="ellipse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 w="1905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Oval 11">
                  <a:extLst>
                    <a:ext uri="{FF2B5EF4-FFF2-40B4-BE49-F238E27FC236}">
                      <a16:creationId xmlns:a16="http://schemas.microsoft.com/office/drawing/2014/main" id="{5AB3C4C6-2B90-2162-B0A7-6DD638862A63}"/>
                    </a:ext>
                  </a:extLst>
                </p:cNvPr>
                <p:cNvSpPr/>
                <p:nvPr/>
              </p:nvSpPr>
              <p:spPr>
                <a:xfrm>
                  <a:off x="3036678" y="2684369"/>
                  <a:ext cx="685800" cy="685800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b="1" i="1" noProof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noProof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𝑯</m:t>
                            </m:r>
                          </m:e>
                          <m:sub>
                            <m:r>
                              <a:rPr lang="en-US" b="1" i="1" noProof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 noProof="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2" name="Oval 11">
                  <a:extLst>
                    <a:ext uri="{FF2B5EF4-FFF2-40B4-BE49-F238E27FC236}">
                      <a16:creationId xmlns:a16="http://schemas.microsoft.com/office/drawing/2014/main" id="{5AB3C4C6-2B90-2162-B0A7-6DD638862A6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36678" y="2684369"/>
                  <a:ext cx="685800" cy="685800"/>
                </a:xfrm>
                <a:prstGeom prst="ellipse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 w="1905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5390F8B5-A261-BDDC-D207-E3C87B271D2F}"/>
                </a:ext>
              </a:extLst>
            </p:cNvPr>
            <p:cNvCxnSpPr>
              <a:cxnSpLocks/>
              <a:stCxn id="11" idx="6"/>
              <a:endCxn id="12" idx="2"/>
            </p:cNvCxnSpPr>
            <p:nvPr/>
          </p:nvCxnSpPr>
          <p:spPr>
            <a:xfrm flipV="1">
              <a:off x="2198159" y="3027269"/>
              <a:ext cx="838519" cy="875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B6457301-C210-0C25-36DF-E8987F7B38F6}"/>
              </a:ext>
            </a:extLst>
          </p:cNvPr>
          <p:cNvGrpSpPr/>
          <p:nvPr/>
        </p:nvGrpSpPr>
        <p:grpSpPr>
          <a:xfrm>
            <a:off x="5732894" y="2200961"/>
            <a:ext cx="2210119" cy="1097229"/>
            <a:chOff x="5732894" y="2200961"/>
            <a:chExt cx="2210119" cy="109722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Oval 14">
                  <a:extLst>
                    <a:ext uri="{FF2B5EF4-FFF2-40B4-BE49-F238E27FC236}">
                      <a16:creationId xmlns:a16="http://schemas.microsoft.com/office/drawing/2014/main" id="{A08B8459-4FAF-8F34-9E2E-956126B852E2}"/>
                    </a:ext>
                  </a:extLst>
                </p:cNvPr>
                <p:cNvSpPr/>
                <p:nvPr/>
              </p:nvSpPr>
              <p:spPr>
                <a:xfrm>
                  <a:off x="5732894" y="2612390"/>
                  <a:ext cx="685800" cy="685800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b="1" i="1" noProof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noProof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𝑯</m:t>
                            </m:r>
                          </m:e>
                          <m:sub>
                            <m:r>
                              <a:rPr lang="en-US" b="1" i="1" noProof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noProof="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5" name="Oval 14">
                  <a:extLst>
                    <a:ext uri="{FF2B5EF4-FFF2-40B4-BE49-F238E27FC236}">
                      <a16:creationId xmlns:a16="http://schemas.microsoft.com/office/drawing/2014/main" id="{A08B8459-4FAF-8F34-9E2E-956126B852E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32894" y="2612390"/>
                  <a:ext cx="685800" cy="685800"/>
                </a:xfrm>
                <a:prstGeom prst="ellipse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 w="1905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Oval 15">
                  <a:extLst>
                    <a:ext uri="{FF2B5EF4-FFF2-40B4-BE49-F238E27FC236}">
                      <a16:creationId xmlns:a16="http://schemas.microsoft.com/office/drawing/2014/main" id="{7C6A6AFB-03CD-B1F6-0366-A548DF02C5C1}"/>
                    </a:ext>
                  </a:extLst>
                </p:cNvPr>
                <p:cNvSpPr/>
                <p:nvPr/>
              </p:nvSpPr>
              <p:spPr>
                <a:xfrm>
                  <a:off x="7257213" y="2608580"/>
                  <a:ext cx="685800" cy="685800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b="1" i="1" noProof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noProof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𝑯</m:t>
                            </m:r>
                          </m:e>
                          <m:sub>
                            <m:r>
                              <a:rPr lang="en-US" b="1" i="1" noProof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 noProof="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6" name="Oval 15">
                  <a:extLst>
                    <a:ext uri="{FF2B5EF4-FFF2-40B4-BE49-F238E27FC236}">
                      <a16:creationId xmlns:a16="http://schemas.microsoft.com/office/drawing/2014/main" id="{7C6A6AFB-03CD-B1F6-0366-A548DF02C5C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57213" y="2608580"/>
                  <a:ext cx="685800" cy="685800"/>
                </a:xfrm>
                <a:prstGeom prst="ellipse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 w="1905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7" name="Connector: Curved 16">
              <a:extLst>
                <a:ext uri="{FF2B5EF4-FFF2-40B4-BE49-F238E27FC236}">
                  <a16:creationId xmlns:a16="http://schemas.microsoft.com/office/drawing/2014/main" id="{3B321125-311A-000A-4750-3038C80A0647}"/>
                </a:ext>
              </a:extLst>
            </p:cNvPr>
            <p:cNvCxnSpPr>
              <a:cxnSpLocks/>
              <a:stCxn id="15" idx="7"/>
              <a:endCxn id="16" idx="1"/>
            </p:cNvCxnSpPr>
            <p:nvPr/>
          </p:nvCxnSpPr>
          <p:spPr>
            <a:xfrm rot="5400000" flipH="1" flipV="1">
              <a:off x="6836048" y="2191226"/>
              <a:ext cx="3810" cy="1039385"/>
            </a:xfrm>
            <a:prstGeom prst="curvedConnector3">
              <a:avLst>
                <a:gd name="adj1" fmla="val 3669318"/>
              </a:avLst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nector: Curved 17">
              <a:extLst>
                <a:ext uri="{FF2B5EF4-FFF2-40B4-BE49-F238E27FC236}">
                  <a16:creationId xmlns:a16="http://schemas.microsoft.com/office/drawing/2014/main" id="{F8706339-33E1-9DA7-B071-75B93444182D}"/>
                </a:ext>
              </a:extLst>
            </p:cNvPr>
            <p:cNvCxnSpPr>
              <a:cxnSpLocks/>
              <a:stCxn id="16" idx="3"/>
              <a:endCxn id="15" idx="5"/>
            </p:cNvCxnSpPr>
            <p:nvPr/>
          </p:nvCxnSpPr>
          <p:spPr>
            <a:xfrm rot="5400000">
              <a:off x="6836049" y="2676160"/>
              <a:ext cx="3810" cy="1039385"/>
            </a:xfrm>
            <a:prstGeom prst="curvedConnector3">
              <a:avLst>
                <a:gd name="adj1" fmla="val 3935984"/>
              </a:avLst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72FBC1C6-6C7A-721C-3EFB-C50840B59466}"/>
                    </a:ext>
                  </a:extLst>
                </p:cNvPr>
                <p:cNvSpPr txBox="1"/>
                <p:nvPr/>
              </p:nvSpPr>
              <p:spPr>
                <a:xfrm>
                  <a:off x="5757950" y="2219157"/>
                  <a:ext cx="63568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/2</m:t>
                        </m:r>
                      </m:oMath>
                    </m:oMathPara>
                  </a14:m>
                  <a:endParaRPr lang="en-US" noProof="0" dirty="0"/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72FBC1C6-6C7A-721C-3EFB-C50840B5946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57950" y="2219157"/>
                  <a:ext cx="635687" cy="369332"/>
                </a:xfrm>
                <a:prstGeom prst="rect">
                  <a:avLst/>
                </a:prstGeom>
                <a:blipFill>
                  <a:blip r:embed="rId9"/>
                  <a:stretch>
                    <a:fillRect b="-1311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0D43CE7F-21ED-6E82-0C44-526665C1A90F}"/>
                    </a:ext>
                  </a:extLst>
                </p:cNvPr>
                <p:cNvSpPr txBox="1"/>
                <p:nvPr/>
              </p:nvSpPr>
              <p:spPr>
                <a:xfrm>
                  <a:off x="7282269" y="2200961"/>
                  <a:ext cx="63568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/2</m:t>
                        </m:r>
                      </m:oMath>
                    </m:oMathPara>
                  </a14:m>
                  <a:endParaRPr lang="en-US" noProof="0" dirty="0"/>
                </a:p>
              </p:txBody>
            </p:sp>
          </mc:Choice>
          <mc:Fallback xmlns="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0D43CE7F-21ED-6E82-0C44-526665C1A90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82269" y="2200961"/>
                  <a:ext cx="635687" cy="369332"/>
                </a:xfrm>
                <a:prstGeom prst="rect">
                  <a:avLst/>
                </a:prstGeom>
                <a:blipFill>
                  <a:blip r:embed="rId10"/>
                  <a:stretch>
                    <a:fillRect b="-1311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0C295AAE-DDDD-38C0-F580-B6C44EBADFCE}"/>
              </a:ext>
            </a:extLst>
          </p:cNvPr>
          <p:cNvCxnSpPr>
            <a:cxnSpLocks/>
          </p:cNvCxnSpPr>
          <p:nvPr/>
        </p:nvCxnSpPr>
        <p:spPr>
          <a:xfrm>
            <a:off x="4572000" y="2482649"/>
            <a:ext cx="0" cy="216408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068B3A6-A783-77F9-E90A-A8EE83C7A6D9}"/>
                  </a:ext>
                </a:extLst>
              </p:cNvPr>
              <p:cNvSpPr txBox="1"/>
              <p:nvPr/>
            </p:nvSpPr>
            <p:spPr>
              <a:xfrm>
                <a:off x="475834" y="3508603"/>
                <a:ext cx="4023360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noProof="0" dirty="0"/>
                  <a:t>Power of rejecting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noProof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noProof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i="1" noProof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noProof="0" dirty="0"/>
                  <a:t> is </a:t>
                </a:r>
                <a14:m>
                  <m:oMath xmlns:m="http://schemas.openxmlformats.org/officeDocument/2006/math">
                    <m:r>
                      <a:rPr lang="en-US" i="1" noProof="0">
                        <a:latin typeface="Cambria Math" panose="02040503050406030204" pitchFamily="18" charset="0"/>
                      </a:rPr>
                      <m:t>0.9</m:t>
                    </m:r>
                  </m:oMath>
                </a14:m>
                <a:endParaRPr lang="en-US" noProof="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noProof="0" dirty="0"/>
                  <a:t>Power of rejecting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noProof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noProof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i="1" noProof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noProof="0" dirty="0"/>
                  <a:t> is </a:t>
                </a:r>
                <a14:m>
                  <m:oMath xmlns:m="http://schemas.openxmlformats.org/officeDocument/2006/math">
                    <m:r>
                      <a:rPr lang="en-US" noProof="0">
                        <a:latin typeface="Cambria Math" panose="02040503050406030204" pitchFamily="18" charset="0"/>
                      </a:rPr>
                      <m:t>0.72</m:t>
                    </m:r>
                  </m:oMath>
                </a14:m>
                <a:endParaRPr lang="en-US" noProof="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noProof="0" dirty="0"/>
                  <a:t>Power of at least one rejection: 0.9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noProof="0" dirty="0"/>
                  <a:t>Expected # of rejections: 1.62</a:t>
                </a: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068B3A6-A783-77F9-E90A-A8EE83C7A6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834" y="3508603"/>
                <a:ext cx="4023360" cy="1200329"/>
              </a:xfrm>
              <a:prstGeom prst="rect">
                <a:avLst/>
              </a:prstGeom>
              <a:blipFill>
                <a:blip r:embed="rId11"/>
                <a:stretch>
                  <a:fillRect l="-909" t="-3061" b="-76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2C4FD236-C60E-0B93-ECE1-19049AB561C8}"/>
                  </a:ext>
                </a:extLst>
              </p:cNvPr>
              <p:cNvSpPr txBox="1"/>
              <p:nvPr/>
            </p:nvSpPr>
            <p:spPr>
              <a:xfrm>
                <a:off x="4826273" y="3503827"/>
                <a:ext cx="4023360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noProof="0" dirty="0"/>
                  <a:t>Power of rejecting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noProof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noProof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i="1" noProof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noProof="0" dirty="0"/>
                  <a:t> is </a:t>
                </a:r>
                <a14:m>
                  <m:oMath xmlns:m="http://schemas.openxmlformats.org/officeDocument/2006/math">
                    <m:r>
                      <a:rPr lang="en-US" i="1" noProof="0">
                        <a:latin typeface="Cambria Math" panose="02040503050406030204" pitchFamily="18" charset="0"/>
                      </a:rPr>
                      <m:t>0.883</m:t>
                    </m:r>
                  </m:oMath>
                </a14:m>
                <a:endParaRPr lang="en-US" noProof="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noProof="0" dirty="0"/>
                  <a:t>Power of rejecting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noProof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noProof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i="1" noProof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noProof="0" dirty="0"/>
                  <a:t> is </a:t>
                </a:r>
                <a14:m>
                  <m:oMath xmlns:m="http://schemas.openxmlformats.org/officeDocument/2006/math">
                    <m:r>
                      <a:rPr lang="en-US" i="1" noProof="0">
                        <a:latin typeface="Cambria Math" panose="02040503050406030204" pitchFamily="18" charset="0"/>
                      </a:rPr>
                      <m:t>0.786</m:t>
                    </m:r>
                  </m:oMath>
                </a14:m>
                <a:endParaRPr lang="en-US" noProof="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noProof="0" dirty="0"/>
                  <a:t>Power of at least one rejection: 0.953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noProof="0" dirty="0"/>
                  <a:t>Expected # of rejection: 1.67</a:t>
                </a: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2C4FD236-C60E-0B93-ECE1-19049AB561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6273" y="3503827"/>
                <a:ext cx="4023360" cy="1200329"/>
              </a:xfrm>
              <a:prstGeom prst="rect">
                <a:avLst/>
              </a:prstGeom>
              <a:blipFill>
                <a:blip r:embed="rId12"/>
                <a:stretch>
                  <a:fillRect l="-1061" t="-3046" b="-71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Speech Bubble: Rectangle 2">
                <a:extLst>
                  <a:ext uri="{FF2B5EF4-FFF2-40B4-BE49-F238E27FC236}">
                    <a16:creationId xmlns:a16="http://schemas.microsoft.com/office/drawing/2014/main" id="{123C227B-C057-D962-E704-3FCDF9CA4D08}"/>
                  </a:ext>
                </a:extLst>
              </p:cNvPr>
              <p:cNvSpPr/>
              <p:nvPr/>
            </p:nvSpPr>
            <p:spPr>
              <a:xfrm>
                <a:off x="1416851" y="2286265"/>
                <a:ext cx="4023359" cy="1157295"/>
              </a:xfrm>
              <a:prstGeom prst="wedgeRectCallout">
                <a:avLst>
                  <a:gd name="adj1" fmla="val 68663"/>
                  <a:gd name="adj2" fmla="val 63130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en-US" sz="1500" b="0" i="0" noProof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500" b="0" i="0" noProof="0" smtClean="0"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ctrlPr>
                                <a:rPr lang="en-US" sz="15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500" b="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500" b="0" i="1" noProof="0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sz="1500" b="0" i="1" noProof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1500" b="0" i="1" noProof="0" smtClean="0"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f>
                                <m:fPr>
                                  <m:ctrlPr>
                                    <a:rPr lang="en-US" sz="1500" b="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500" b="0" i="1" noProof="0" smtClean="0">
                                      <a:latin typeface="Cambria Math" panose="02040503050406030204" pitchFamily="18" charset="0"/>
                                    </a:rPr>
                                    <m:t>0.025</m:t>
                                  </m:r>
                                </m:num>
                                <m:den>
                                  <m:r>
                                    <a:rPr lang="en-US" sz="1500" b="0" i="1" noProof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e>
                      </m:func>
                      <m:r>
                        <a:rPr lang="en-US" sz="1500" b="0" i="1" noProof="0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 sz="1500" b="0" i="1" noProof="0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en-US" sz="1500" b="0" i="0" noProof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500" b="0" i="0" noProof="0" smtClean="0"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ctrlPr>
                                <a:rPr lang="en-US" sz="15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1500" b="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500" b="0" i="1" noProof="0" smtClean="0">
                                      <a:latin typeface="Cambria Math" panose="02040503050406030204" pitchFamily="18" charset="0"/>
                                    </a:rPr>
                                    <m:t>0.025</m:t>
                                  </m:r>
                                </m:num>
                                <m:den>
                                  <m:r>
                                    <a:rPr lang="en-US" sz="1500" b="0" i="1" noProof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US" sz="1500" b="0" i="1" noProof="0" smtClean="0"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sSub>
                                <m:sSubPr>
                                  <m:ctrlPr>
                                    <a:rPr lang="en-US" sz="1500" b="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500" b="0" i="1" noProof="0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sz="1500" b="0" i="1" noProof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1500" b="0" i="1" noProof="0" smtClean="0">
                                  <a:latin typeface="Cambria Math" panose="02040503050406030204" pitchFamily="18" charset="0"/>
                                </a:rPr>
                                <m:t>&lt;0.025</m:t>
                              </m:r>
                            </m:e>
                          </m:d>
                        </m:e>
                      </m:func>
                      <m:r>
                        <a:rPr lang="en-US" sz="1500" b="0" i="1" noProof="0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m:rPr>
                          <m:sty m:val="p"/>
                        </m:rPr>
                        <a:rPr lang="en-US" sz="1500" b="0" i="0" noProof="0" smtClean="0">
                          <a:latin typeface="Cambria Math" panose="02040503050406030204" pitchFamily="18" charset="0"/>
                        </a:rPr>
                        <m:t>Pr</m:t>
                      </m:r>
                      <m:d>
                        <m:dPr>
                          <m:ctrlPr>
                            <a:rPr lang="en-US" sz="1500" i="1" noProof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500" i="1" noProof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500" i="1" noProof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1500" i="1" noProof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1500" i="1" noProof="0">
                              <a:latin typeface="Cambria Math" panose="02040503050406030204" pitchFamily="18" charset="0"/>
                            </a:rPr>
                            <m:t>&lt;</m:t>
                          </m:r>
                          <m:f>
                            <m:fPr>
                              <m:ctrlPr>
                                <a:rPr lang="en-US" sz="1500" i="1" noProof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500" i="1" noProof="0">
                                  <a:latin typeface="Cambria Math" panose="02040503050406030204" pitchFamily="18" charset="0"/>
                                </a:rPr>
                                <m:t>0.025</m:t>
                              </m:r>
                            </m:num>
                            <m:den>
                              <m:r>
                                <a:rPr lang="en-US" sz="1500" i="1" noProof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en-US" sz="1500" b="0" i="1" noProof="0" smtClean="0">
                          <a:latin typeface="Cambria Math" panose="02040503050406030204" pitchFamily="18" charset="0"/>
                        </a:rPr>
                        <m:t>⁡</m:t>
                      </m:r>
                    </m:oMath>
                  </m:oMathPara>
                </a14:m>
                <a:endParaRPr lang="en-US" sz="1500" noProof="0" dirty="0"/>
              </a:p>
            </p:txBody>
          </p:sp>
        </mc:Choice>
        <mc:Fallback xmlns="">
          <p:sp>
            <p:nvSpPr>
              <p:cNvPr id="3" name="Speech Bubble: Rectangle 2">
                <a:extLst>
                  <a:ext uri="{FF2B5EF4-FFF2-40B4-BE49-F238E27FC236}">
                    <a16:creationId xmlns:a16="http://schemas.microsoft.com/office/drawing/2014/main" id="{123C227B-C057-D962-E704-3FCDF9CA4D0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6851" y="2286265"/>
                <a:ext cx="4023359" cy="1157295"/>
              </a:xfrm>
              <a:prstGeom prst="wedgeRectCallout">
                <a:avLst>
                  <a:gd name="adj1" fmla="val 68663"/>
                  <a:gd name="adj2" fmla="val 63130"/>
                </a:avLst>
              </a:prstGeom>
              <a:blipFill>
                <a:blip r:embed="rId1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513697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3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2BE12E-DA3C-2D07-5CA0-582D7035BD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35CD261E-323F-E31C-A5A5-91AE2F302A1B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noProof="0" dirty="0"/>
                  <a:t>Why split </a:t>
                </a:r>
                <a14:m>
                  <m:oMath xmlns:m="http://schemas.openxmlformats.org/officeDocument/2006/math"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noProof="0" dirty="0"/>
                  <a:t>?</a:t>
                </a:r>
                <a:br>
                  <a:rPr lang="en-US" noProof="0" dirty="0"/>
                </a:br>
                <a:r>
                  <a:rPr lang="en-US" sz="2200" i="1" noProof="0" dirty="0"/>
                  <a:t>Intuition and conclusion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35CD261E-323F-E31C-A5A5-91AE2F302A1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087" t="-6135" b="-55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526A01-BC17-E68E-F564-AA4CC02F64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Bretz, Chen, Xi | ISBS | October 2026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EC98F1-2F01-99FA-7FE9-C2B3A34B42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BD9F39-F344-41AE-B531-1D3ECACBC820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67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140DFDF-E18B-BA05-5FE0-55087F6FC9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7664" y="1268016"/>
            <a:ext cx="6324600" cy="23717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A79CD5ED-A9E1-71F7-B5BC-EADD9CE65FC6}"/>
                  </a:ext>
                </a:extLst>
              </p:cNvPr>
              <p:cNvSpPr/>
              <p:nvPr/>
            </p:nvSpPr>
            <p:spPr>
              <a:xfrm>
                <a:off x="2195364" y="1330284"/>
                <a:ext cx="1216152" cy="1965960"/>
              </a:xfrm>
              <a:prstGeom prst="rect">
                <a:avLst/>
              </a:prstGeom>
              <a:solidFill>
                <a:srgbClr val="92D050">
                  <a:alpha val="5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US" sz="1200" noProof="0" dirty="0"/>
              </a:p>
              <a:p>
                <a:pPr algn="ctr"/>
                <a:endParaRPr lang="en-US" sz="1200" noProof="0" dirty="0"/>
              </a:p>
              <a:p>
                <a:pPr algn="ctr"/>
                <a:endParaRPr lang="en-US" sz="1200" noProof="0" dirty="0"/>
              </a:p>
              <a:p>
                <a:pPr algn="ctr"/>
                <a:endParaRPr lang="en-US" sz="1200" noProof="0" dirty="0"/>
              </a:p>
              <a:p>
                <a:pPr algn="ctr"/>
                <a:endParaRPr lang="en-US" sz="1200" noProof="0" dirty="0"/>
              </a:p>
              <a:p>
                <a:pPr algn="ctr"/>
                <a:endParaRPr lang="en-US" sz="1200" noProof="0" dirty="0"/>
              </a:p>
              <a:p>
                <a:pPr algn="ctr"/>
                <a:endParaRPr lang="en-US" sz="1200" noProof="0" dirty="0"/>
              </a:p>
              <a:p>
                <a:pPr algn="ctr"/>
                <a:r>
                  <a:rPr lang="en-US" sz="1200" noProof="0" dirty="0">
                    <a:solidFill>
                      <a:srgbClr val="00B050"/>
                    </a:solidFill>
                  </a:rPr>
                  <a:t>More gain with increased </a:t>
                </a:r>
                <a14:m>
                  <m:oMath xmlns:m="http://schemas.openxmlformats.org/officeDocument/2006/math">
                    <m:r>
                      <a:rPr lang="en-US" sz="1200" b="0" i="1" noProof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endParaRPr lang="en-US" sz="1200" noProof="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A79CD5ED-A9E1-71F7-B5BC-EADD9CE65FC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5364" y="1330284"/>
                <a:ext cx="1216152" cy="196596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A2D9D64C-4A35-6AFB-64CC-CFABAAF8A330}"/>
                  </a:ext>
                </a:extLst>
              </p:cNvPr>
              <p:cNvSpPr/>
              <p:nvPr/>
            </p:nvSpPr>
            <p:spPr>
              <a:xfrm>
                <a:off x="5776764" y="1330284"/>
                <a:ext cx="1216152" cy="1965960"/>
              </a:xfrm>
              <a:prstGeom prst="rect">
                <a:avLst/>
              </a:prstGeom>
              <a:solidFill>
                <a:srgbClr val="FF0000">
                  <a:alpha val="5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US" sz="1200" noProof="0" dirty="0">
                  <a:solidFill>
                    <a:srgbClr val="FF0000"/>
                  </a:solidFill>
                </a:endParaRPr>
              </a:p>
              <a:p>
                <a:pPr algn="ctr"/>
                <a:endParaRPr lang="en-US" sz="1200" noProof="0" dirty="0">
                  <a:solidFill>
                    <a:srgbClr val="FF0000"/>
                  </a:solidFill>
                </a:endParaRPr>
              </a:p>
              <a:p>
                <a:pPr algn="ctr"/>
                <a:endParaRPr lang="en-US" sz="1200" noProof="0" dirty="0">
                  <a:solidFill>
                    <a:srgbClr val="FF0000"/>
                  </a:solidFill>
                </a:endParaRPr>
              </a:p>
              <a:p>
                <a:pPr algn="ctr"/>
                <a:endParaRPr lang="en-US" sz="1200" noProof="0" dirty="0">
                  <a:solidFill>
                    <a:srgbClr val="FF0000"/>
                  </a:solidFill>
                </a:endParaRPr>
              </a:p>
              <a:p>
                <a:pPr algn="ctr"/>
                <a:endParaRPr lang="en-US" sz="1200" noProof="0" dirty="0">
                  <a:solidFill>
                    <a:srgbClr val="FF0000"/>
                  </a:solidFill>
                </a:endParaRPr>
              </a:p>
              <a:p>
                <a:pPr algn="ctr"/>
                <a:endParaRPr lang="en-US" sz="1200" noProof="0" dirty="0">
                  <a:solidFill>
                    <a:srgbClr val="FF0000"/>
                  </a:solidFill>
                </a:endParaRPr>
              </a:p>
              <a:p>
                <a:pPr algn="ctr"/>
                <a:endParaRPr lang="en-US" sz="1200" noProof="0" dirty="0">
                  <a:solidFill>
                    <a:srgbClr val="FF0000"/>
                  </a:solidFill>
                </a:endParaRPr>
              </a:p>
              <a:p>
                <a:pPr algn="ctr"/>
                <a:r>
                  <a:rPr lang="en-US" sz="1200" noProof="0" dirty="0">
                    <a:solidFill>
                      <a:srgbClr val="FF0000"/>
                    </a:solidFill>
                  </a:rPr>
                  <a:t>Less gain with increased </a:t>
                </a:r>
                <a14:m>
                  <m:oMath xmlns:m="http://schemas.openxmlformats.org/officeDocument/2006/math">
                    <m:r>
                      <a:rPr lang="en-US" sz="1200" b="0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endParaRPr lang="en-US" sz="1200" noProof="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A2D9D64C-4A35-6AFB-64CC-CFABAAF8A33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76764" y="1330284"/>
                <a:ext cx="1216152" cy="196596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0F26A55-04A4-C6B5-D53A-4BDBE25966CC}"/>
                  </a:ext>
                </a:extLst>
              </p:cNvPr>
              <p:cNvSpPr txBox="1"/>
              <p:nvPr/>
            </p:nvSpPr>
            <p:spPr>
              <a:xfrm>
                <a:off x="457200" y="3507854"/>
                <a:ext cx="8229600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noProof="0" dirty="0"/>
                  <a:t>-splitting could achieve 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noProof="0" dirty="0"/>
                  <a:t>higher disjunctive power (i.e., reject at least one hypothesis)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noProof="0" dirty="0"/>
                  <a:t>larger expected number of rejections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noProof="0" dirty="0"/>
                  <a:t>More robust when we have uncertainty with assumptions</a:t>
                </a: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0F26A55-04A4-C6B5-D53A-4BDBE25966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3507854"/>
                <a:ext cx="8229600" cy="1200329"/>
              </a:xfrm>
              <a:prstGeom prst="rect">
                <a:avLst/>
              </a:prstGeom>
              <a:blipFill>
                <a:blip r:embed="rId6"/>
                <a:stretch>
                  <a:fillRect l="-444" t="-2538" b="-71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001996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59FB14-5591-EE83-8248-37F11F4C1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286ABDFA-4788-71F7-615D-FEB113DF0F97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noProof="0" dirty="0"/>
                  <a:t>How to split </a:t>
                </a:r>
                <a14:m>
                  <m:oMath xmlns:m="http://schemas.openxmlformats.org/officeDocument/2006/math"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noProof="0" dirty="0"/>
                  <a:t>?</a:t>
                </a:r>
                <a:br>
                  <a:rPr lang="en-US" noProof="0" dirty="0"/>
                </a:br>
                <a:r>
                  <a:rPr lang="en-US" sz="2200" i="1" noProof="0" dirty="0"/>
                  <a:t>Under independence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286ABDFA-4788-71F7-615D-FEB113DF0F9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087" t="-6135" b="-55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9EF568-BE89-0F8E-9857-2471C0D77A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Bretz, Chen, Xi | ISBS | October 2026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088513-111A-0225-0586-7B8E61997D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BD9F39-F344-41AE-B531-1D3ECACBC820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68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28FA282-EA26-1FA1-19D0-2B320B3F74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19201"/>
            <a:ext cx="8229600" cy="3257550"/>
          </a:xfrm>
        </p:spPr>
        <p:txBody>
          <a:bodyPr>
            <a:normAutofit fontScale="85000" lnSpcReduction="20000"/>
          </a:bodyPr>
          <a:lstStyle/>
          <a:p>
            <a:r>
              <a:rPr lang="en-US" b="0" noProof="0" dirty="0"/>
              <a:t>Consider two hypotheses with independent test statistics</a:t>
            </a:r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b="1" noProof="0" dirty="0"/>
          </a:p>
          <a:p>
            <a:r>
              <a:rPr lang="en-US" b="1" noProof="0" dirty="0"/>
              <a:t>Hypotheses with larger marginal power get larger weights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2C751FD-E089-6341-D243-CDA49FBD5F3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8082" r="6341" b="4521"/>
          <a:stretch/>
        </p:blipFill>
        <p:spPr>
          <a:xfrm>
            <a:off x="5006136" y="2001388"/>
            <a:ext cx="3203744" cy="176494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C89D35D-EE77-5D5B-0617-FEC2FC8FCD1F}"/>
              </a:ext>
            </a:extLst>
          </p:cNvPr>
          <p:cNvSpPr txBox="1"/>
          <p:nvPr/>
        </p:nvSpPr>
        <p:spPr>
          <a:xfrm>
            <a:off x="952708" y="1579454"/>
            <a:ext cx="3786521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 noProof="0" dirty="0"/>
              <a:t>Scenario 1: Marginal power of 80% and 80%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63CA2D4-6B54-5311-0653-41448F77173C}"/>
              </a:ext>
            </a:extLst>
          </p:cNvPr>
          <p:cNvSpPr txBox="1"/>
          <p:nvPr/>
        </p:nvSpPr>
        <p:spPr>
          <a:xfrm>
            <a:off x="952708" y="3717522"/>
            <a:ext cx="355792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 noProof="0" dirty="0"/>
              <a:t>Scenario 1: Optimal weights of 0.5 and 0.5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3F501FC-2A37-BE30-ABBC-15DE2091EDDF}"/>
              </a:ext>
            </a:extLst>
          </p:cNvPr>
          <p:cNvSpPr txBox="1"/>
          <p:nvPr/>
        </p:nvSpPr>
        <p:spPr>
          <a:xfrm>
            <a:off x="4914560" y="1579454"/>
            <a:ext cx="3710319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 noProof="0" dirty="0"/>
              <a:t>Scenario 2: Marginal power of 90% and 70%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BE9C058-A34B-29A7-53EC-4ED7450CCF26}"/>
              </a:ext>
            </a:extLst>
          </p:cNvPr>
          <p:cNvSpPr txBox="1"/>
          <p:nvPr/>
        </p:nvSpPr>
        <p:spPr>
          <a:xfrm>
            <a:off x="4914560" y="3717522"/>
            <a:ext cx="3914109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 noProof="0" dirty="0"/>
              <a:t>Scenario 2: Optimal weights of 0.679 and 0.321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E7652D7-6015-AF60-4C04-15F1013CC72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93" t="14657" r="4842" b="5460"/>
          <a:stretch/>
        </p:blipFill>
        <p:spPr>
          <a:xfrm>
            <a:off x="1111789" y="1940524"/>
            <a:ext cx="3239758" cy="1814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60556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2DC86F-22AC-8274-CE1A-2B8B786D1B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ABA5EBBF-6182-9BD3-9F50-F54729B0295D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noProof="0" dirty="0"/>
                  <a:t>How to split </a:t>
                </a:r>
                <a14:m>
                  <m:oMath xmlns:m="http://schemas.openxmlformats.org/officeDocument/2006/math"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noProof="0" dirty="0"/>
                  <a:t>?</a:t>
                </a:r>
                <a:br>
                  <a:rPr lang="en-US" noProof="0" dirty="0"/>
                </a:br>
                <a:r>
                  <a:rPr lang="en-US" sz="2200" i="1" noProof="0" dirty="0"/>
                  <a:t>Under dependence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ABA5EBBF-6182-9BD3-9F50-F54729B0295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087" t="-6135" b="-55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19F89F-2207-BF79-E270-5453BD40C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Bretz, Chen, Xi | ISBS | October 2026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0D937D-A2A0-8A91-3A2C-C3F85E307E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BD9F39-F344-41AE-B531-1D3ECACBC820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69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ontent Placeholder 4">
                <a:extLst>
                  <a:ext uri="{FF2B5EF4-FFF2-40B4-BE49-F238E27FC236}">
                    <a16:creationId xmlns:a16="http://schemas.microsoft.com/office/drawing/2014/main" id="{AF0E5655-14B8-CB4D-651B-1D82B007D92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268017"/>
                <a:ext cx="8229600" cy="3601640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en-US" sz="1900" b="0" noProof="0" dirty="0"/>
                  <a:t>Consider two hypotheses with correlated test statistics</a:t>
                </a:r>
              </a:p>
              <a:p>
                <a:pPr lvl="1"/>
                <a:r>
                  <a:rPr lang="en-US" noProof="0" dirty="0"/>
                  <a:t>Marginal power of 80% and 80%</a:t>
                </a:r>
              </a:p>
              <a:p>
                <a:endParaRPr lang="en-US" sz="1700" noProof="0" dirty="0"/>
              </a:p>
              <a:p>
                <a:endParaRPr lang="en-US" sz="1700" noProof="0" dirty="0"/>
              </a:p>
              <a:p>
                <a:endParaRPr lang="en-US" sz="1700" noProof="0" dirty="0"/>
              </a:p>
              <a:p>
                <a:endParaRPr lang="en-US" sz="1700" noProof="0" dirty="0"/>
              </a:p>
              <a:p>
                <a:endParaRPr lang="en-US" sz="1700" noProof="0" dirty="0"/>
              </a:p>
              <a:p>
                <a:endParaRPr lang="en-US" sz="1700" noProof="0" dirty="0"/>
              </a:p>
              <a:p>
                <a:endParaRPr lang="en-US" sz="1700" noProof="0" dirty="0"/>
              </a:p>
              <a:p>
                <a:endParaRPr lang="en-US" sz="1700" b="1" noProof="0" dirty="0"/>
              </a:p>
              <a:p>
                <a:endParaRPr lang="en-US" sz="900" b="1" noProof="0" dirty="0"/>
              </a:p>
              <a:p>
                <a:r>
                  <a:rPr lang="en-US" sz="1700" b="1" noProof="0" dirty="0"/>
                  <a:t>When correlation presents, it is not always optimal to split </a:t>
                </a:r>
                <a14:m>
                  <m:oMath xmlns:m="http://schemas.openxmlformats.org/officeDocument/2006/math">
                    <m:r>
                      <a:rPr lang="en-US" sz="1700" b="1" i="1" noProof="0" smtClean="0">
                        <a:latin typeface="Cambria Math" panose="02040503050406030204" pitchFamily="18" charset="0"/>
                      </a:rPr>
                      <m:t>𝜶</m:t>
                    </m:r>
                  </m:oMath>
                </a14:m>
                <a:endParaRPr lang="en-US" sz="1700" b="1" noProof="0" dirty="0"/>
              </a:p>
              <a:p>
                <a:r>
                  <a:rPr lang="en-US" sz="1700" b="1" noProof="0" dirty="0"/>
                  <a:t>Optimal </a:t>
                </a:r>
                <a14:m>
                  <m:oMath xmlns:m="http://schemas.openxmlformats.org/officeDocument/2006/math">
                    <m:r>
                      <a:rPr lang="en-US" sz="1700" b="1" i="1" noProof="0" smtClean="0">
                        <a:latin typeface="Cambria Math" panose="02040503050406030204" pitchFamily="18" charset="0"/>
                      </a:rPr>
                      <m:t>𝜶</m:t>
                    </m:r>
                  </m:oMath>
                </a14:m>
                <a:r>
                  <a:rPr lang="en-US" sz="1700" b="1" noProof="0" dirty="0"/>
                  <a:t> split may not be unique</a:t>
                </a:r>
              </a:p>
            </p:txBody>
          </p:sp>
        </mc:Choice>
        <mc:Fallback xmlns="">
          <p:sp>
            <p:nvSpPr>
              <p:cNvPr id="14" name="Content Placeholder 4">
                <a:extLst>
                  <a:ext uri="{FF2B5EF4-FFF2-40B4-BE49-F238E27FC236}">
                    <a16:creationId xmlns:a16="http://schemas.microsoft.com/office/drawing/2014/main" id="{AF0E5655-14B8-CB4D-651B-1D82B007D92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268017"/>
                <a:ext cx="8229600" cy="3601640"/>
              </a:xfrm>
              <a:blipFill>
                <a:blip r:embed="rId3"/>
                <a:stretch>
                  <a:fillRect l="-444" t="-27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D43A8EFD-6098-1778-FC16-DEAD4B85B7BF}"/>
              </a:ext>
            </a:extLst>
          </p:cNvPr>
          <p:cNvSpPr txBox="1"/>
          <p:nvPr/>
        </p:nvSpPr>
        <p:spPr>
          <a:xfrm>
            <a:off x="1078710" y="1725797"/>
            <a:ext cx="25146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 b="0" noProof="0" dirty="0"/>
              <a:t>Scenario 1: Correlation 0.9</a:t>
            </a:r>
            <a:endParaRPr lang="en-US" sz="1500" noProof="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A563A1F-0EF4-1933-495F-C6390C430473}"/>
              </a:ext>
            </a:extLst>
          </p:cNvPr>
          <p:cNvSpPr txBox="1"/>
          <p:nvPr/>
        </p:nvSpPr>
        <p:spPr>
          <a:xfrm>
            <a:off x="5422110" y="1725796"/>
            <a:ext cx="2686493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 b="0" noProof="0" dirty="0"/>
              <a:t>Scenario 2: Correlation </a:t>
            </a:r>
            <a:r>
              <a:rPr lang="en-US" sz="1500" noProof="0" dirty="0"/>
              <a:t>0.797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C116ACED-211A-6FBD-9255-27420A95028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-34" t="17496" r="4609" b="5324"/>
          <a:stretch/>
        </p:blipFill>
        <p:spPr>
          <a:xfrm>
            <a:off x="653064" y="2048961"/>
            <a:ext cx="3365891" cy="1814902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8F2112EE-C6B4-91FC-95A0-24D7CCF9CB9C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-379" t="13352" r="4494" b="4806"/>
          <a:stretch/>
        </p:blipFill>
        <p:spPr>
          <a:xfrm>
            <a:off x="5170616" y="2048961"/>
            <a:ext cx="3189479" cy="1814902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6A03EBE2-F259-BD15-DA83-81842FF7E567}"/>
              </a:ext>
            </a:extLst>
          </p:cNvPr>
          <p:cNvSpPr txBox="1"/>
          <p:nvPr/>
        </p:nvSpPr>
        <p:spPr>
          <a:xfrm>
            <a:off x="457200" y="3831851"/>
            <a:ext cx="3792539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 b="0" noProof="0" dirty="0"/>
              <a:t>Scenario 1: Optimal weights (1, 0) or (0, 1)</a:t>
            </a:r>
            <a:endParaRPr lang="en-US" sz="1500" noProof="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B68015-0277-B710-6079-C18D7ACF4DFB}"/>
              </a:ext>
            </a:extLst>
          </p:cNvPr>
          <p:cNvSpPr txBox="1"/>
          <p:nvPr/>
        </p:nvSpPr>
        <p:spPr>
          <a:xfrm>
            <a:off x="4593064" y="3837763"/>
            <a:ext cx="43549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 b="0" noProof="0" dirty="0"/>
              <a:t>Scenario 2: Optimal weights (1, 0) or (0.5, 0.5) or (0, 1)</a:t>
            </a:r>
            <a:endParaRPr lang="en-US" sz="1500" noProof="0" dirty="0"/>
          </a:p>
        </p:txBody>
      </p:sp>
    </p:spTree>
    <p:extLst>
      <p:ext uri="{BB962C8B-B14F-4D97-AF65-F5344CB8AC3E}">
        <p14:creationId xmlns:p14="http://schemas.microsoft.com/office/powerpoint/2010/main" val="16802419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9" grpId="0"/>
      <p:bldP spid="3" grpId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EBC817-AA3C-EE57-ECB9-364B809B2F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Optimization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9C9171-DC2C-B06C-745A-AEBD5CCDE7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2242353"/>
            <a:ext cx="7886700" cy="2421303"/>
          </a:xfrm>
        </p:spPr>
        <p:txBody>
          <a:bodyPr>
            <a:normAutofit fontScale="92500" lnSpcReduction="10000"/>
          </a:bodyPr>
          <a:lstStyle/>
          <a:p>
            <a:r>
              <a:rPr lang="en-US" sz="2000" noProof="0" dirty="0"/>
              <a:t>We choose </a:t>
            </a:r>
            <a:r>
              <a:rPr lang="en-US" noProof="0" dirty="0"/>
              <a:t>Sequential Least </a:t>
            </a:r>
            <a:r>
              <a:rPr lang="en-US" noProof="0" dirty="0" err="1"/>
              <a:t>SQuares</a:t>
            </a:r>
            <a:r>
              <a:rPr lang="en-US" noProof="0" dirty="0"/>
              <a:t> Programming</a:t>
            </a:r>
            <a:r>
              <a:rPr lang="en-US" sz="2000" noProof="0" dirty="0"/>
              <a:t> (SLSQP) algorithm in </a:t>
            </a:r>
            <a:r>
              <a:rPr lang="en-US" sz="2000" noProof="0" dirty="0" err="1"/>
              <a:t>Nloptr</a:t>
            </a:r>
            <a:r>
              <a:rPr lang="en-US" sz="2000" noProof="0" dirty="0"/>
              <a:t> library</a:t>
            </a:r>
          </a:p>
          <a:p>
            <a:pPr lvl="1"/>
            <a:r>
              <a:rPr lang="en-US" b="1" i="1" noProof="0" dirty="0">
                <a:solidFill>
                  <a:srgbClr val="5291DD"/>
                </a:solidFill>
              </a:rPr>
              <a:t>Explicit expression </a:t>
            </a:r>
            <a:r>
              <a:rPr lang="en-US" noProof="0" dirty="0"/>
              <a:t>on objective function and its gradients are available </a:t>
            </a:r>
          </a:p>
          <a:p>
            <a:pPr lvl="1"/>
            <a:r>
              <a:rPr lang="en-US" noProof="0" dirty="0"/>
              <a:t>The </a:t>
            </a:r>
            <a:r>
              <a:rPr lang="en-US" b="1" i="1" noProof="0" dirty="0">
                <a:solidFill>
                  <a:srgbClr val="5291DD"/>
                </a:solidFill>
              </a:rPr>
              <a:t>constraints </a:t>
            </a:r>
            <a:r>
              <a:rPr lang="en-US" noProof="0" dirty="0"/>
              <a:t>are needed when using optimization algorithms</a:t>
            </a:r>
          </a:p>
          <a:p>
            <a:r>
              <a:rPr lang="en-US" sz="2000" noProof="0" dirty="0"/>
              <a:t>For correlated case, searching with </a:t>
            </a:r>
            <a:r>
              <a:rPr lang="en-US" sz="2000" b="1" i="1" noProof="0" dirty="0">
                <a:solidFill>
                  <a:srgbClr val="5291DD"/>
                </a:solidFill>
              </a:rPr>
              <a:t>multiple starting points </a:t>
            </a:r>
            <a:r>
              <a:rPr lang="en-US" sz="2000" noProof="0" dirty="0"/>
              <a:t>can thoroughly investigating the space and return global optima in most cases</a:t>
            </a:r>
          </a:p>
          <a:p>
            <a:r>
              <a:rPr lang="en-US" sz="2000" b="1" i="1" noProof="0" dirty="0">
                <a:solidFill>
                  <a:srgbClr val="5291DD"/>
                </a:solidFill>
              </a:rPr>
              <a:t>Additional constraints </a:t>
            </a:r>
            <a:r>
              <a:rPr lang="en-US" sz="2000" noProof="0" dirty="0"/>
              <a:t>from clinical consideration can be incorporated in the upper/lower bound of the optimization</a:t>
            </a:r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848A9A-F667-6FD3-505C-BDE18EC32A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 noProof="0"/>
              <a:t>Bretz, Chen, Xi | ISBS | October 2026</a:t>
            </a:r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64BA6-D517-5772-2D1F-EE4895DFA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D9F39-F344-41AE-B531-1D3ECACBC820}" type="slidenum">
              <a:rPr lang="en-US" noProof="0" smtClean="0"/>
              <a:t>70</a:t>
            </a:fld>
            <a:endParaRPr lang="en-US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D5A30F6-B45F-A3D9-AB9D-B873D68CDC6E}"/>
                  </a:ext>
                </a:extLst>
              </p:cNvPr>
              <p:cNvSpPr txBox="1"/>
              <p:nvPr/>
            </p:nvSpPr>
            <p:spPr>
              <a:xfrm>
                <a:off x="1476523" y="1121930"/>
                <a:ext cx="6190952" cy="101681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r>
                  <a:rPr lang="en-US" sz="2000" noProof="0" dirty="0"/>
                  <a:t>Maximize disjunctive power of weighted Bonferroni tests</a:t>
                </a:r>
              </a:p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sz="2000" b="0" i="0" noProof="0" smtClean="0">
                          <a:latin typeface="Cambria Math" panose="02040503050406030204" pitchFamily="18" charset="0"/>
                        </a:rPr>
                        <m:t>Pr</m:t>
                      </m:r>
                      <m:r>
                        <a:rPr lang="en-US" sz="2000" b="0" i="1" noProof="0" smtClean="0">
                          <a:latin typeface="Cambria Math" panose="02040503050406030204" pitchFamily="18" charset="0"/>
                        </a:rPr>
                        <m:t>⁡(</m:t>
                      </m:r>
                      <m:sSubSup>
                        <m:sSubSupPr>
                          <m:ctrlP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∪</m:t>
                          </m:r>
                        </m:e>
                        <m:sub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</m:sSubSup>
                      <m:r>
                        <a:rPr lang="en-US" sz="2000" b="0" i="1" noProof="0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000" b="0" i="1" noProof="0" smtClean="0">
                          <a:latin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000" b="0" i="1" noProof="0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sz="2000" b="0" i="1" noProof="0" smtClean="0"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lang="en-US" sz="2000" noProof="0" dirty="0"/>
              </a:p>
              <a:p>
                <a:r>
                  <a:rPr lang="en-US" sz="2000" noProof="0" dirty="0"/>
                  <a:t>          </a:t>
                </a:r>
                <a14:m>
                  <m:oMath xmlns:m="http://schemas.openxmlformats.org/officeDocument/2006/math">
                    <m:r>
                      <a:rPr lang="en-US" sz="2000" i="1" noProof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2000" i="1" noProof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000" i="1" noProof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000" i="1" noProof="0">
                        <a:latin typeface="Cambria Math" panose="02040503050406030204" pitchFamily="18" charset="0"/>
                      </a:rPr>
                      <m:t>.    0≤</m:t>
                    </m:r>
                    <m:sSub>
                      <m:sSubPr>
                        <m:ctrlPr>
                          <a:rPr lang="en-US" sz="2000" i="1" noProof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noProof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000" i="1" noProof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i="1" noProof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2000" noProof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000" noProof="0" dirty="0"/>
                  <a:t> for </a:t>
                </a:r>
                <a14:m>
                  <m:oMath xmlns:m="http://schemas.openxmlformats.org/officeDocument/2006/math">
                    <m:r>
                      <a:rPr lang="en-US" sz="2000" i="1" noProof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000" i="1" noProof="0">
                        <a:latin typeface="Cambria Math" panose="02040503050406030204" pitchFamily="18" charset="0"/>
                      </a:rPr>
                      <m:t>=1,…, </m:t>
                    </m:r>
                    <m:r>
                      <a:rPr lang="en-US" sz="2000" i="1" noProof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000" b="0" i="1" noProof="0" smtClean="0">
                        <a:latin typeface="Cambria Math" panose="02040503050406030204" pitchFamily="18" charset="0"/>
                      </a:rPr>
                      <m:t>, </m:t>
                    </m:r>
                    <m:nary>
                      <m:naryPr>
                        <m:chr m:val="∑"/>
                        <m:supHide m:val="on"/>
                        <m:ctrlPr>
                          <a:rPr lang="en-US" sz="2000" i="1" noProof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sz="2000" i="1" noProof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sz="2000" i="1" noProof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noProof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2000" i="1" noProof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en-US" sz="2000" i="1" noProof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2000" noProof="0" dirty="0"/>
                  <a:t> 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D5A30F6-B45F-A3D9-AB9D-B873D68CDC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6523" y="1121930"/>
                <a:ext cx="6190952" cy="1016817"/>
              </a:xfrm>
              <a:prstGeom prst="rect">
                <a:avLst/>
              </a:prstGeom>
              <a:blipFill>
                <a:blip r:embed="rId2"/>
                <a:stretch>
                  <a:fillRect l="-884" t="-2367" b="-6982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571890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A88540-BB8F-9912-05F1-9549ECCA2D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8CE8B6-A571-C66E-9183-54C9E14F5F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noProof="0" dirty="0"/>
              <a:t>Solution</a:t>
            </a:r>
            <a:endParaRPr lang="en-US" sz="2200" i="1" noProof="0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CD9891-56E7-84B8-F523-99D7C584A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Bretz, Chen, Xi | ISBS | October 2026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39EE02-F110-6866-E94E-D2B3BE7DC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BD9F39-F344-41AE-B531-1D3ECACBC820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71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E742915A-F599-8526-C2C5-39D5C57973C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131590"/>
                <a:ext cx="8229600" cy="3105375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=0.025</m:t>
                    </m:r>
                  </m:oMath>
                </a14:m>
                <a:r>
                  <a:rPr lang="en-US" noProof="0" dirty="0"/>
                  <a:t>, </a:t>
                </a:r>
                <a14:m>
                  <m:oMath xmlns:m="http://schemas.openxmlformats.org/officeDocument/2006/math">
                    <m:r>
                      <a:rPr lang="en-US" b="1" i="1" noProof="0" smtClean="0">
                        <a:latin typeface="Cambria Math" panose="02040503050406030204" pitchFamily="18" charset="0"/>
                      </a:rPr>
                      <m:t>𝒅</m:t>
                    </m:r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=(90%, 75%, 60%)</m:t>
                    </m:r>
                  </m:oMath>
                </a14:m>
                <a:r>
                  <a:rPr lang="en-US" noProof="0" dirty="0"/>
                  <a:t> </a:t>
                </a:r>
              </a:p>
              <a:p>
                <a:endParaRPr lang="en-US" sz="1500" noProof="0" dirty="0"/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E742915A-F599-8526-C2C5-39D5C57973C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131590"/>
                <a:ext cx="8229600" cy="3105375"/>
              </a:xfrm>
              <a:blipFill>
                <a:blip r:embed="rId3"/>
                <a:stretch>
                  <a:fillRect l="-741" t="-23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74975EE-47ED-C233-6C48-7040220892BA}"/>
                  </a:ext>
                </a:extLst>
              </p:cNvPr>
              <p:cNvSpPr txBox="1"/>
              <p:nvPr/>
            </p:nvSpPr>
            <p:spPr>
              <a:xfrm>
                <a:off x="780429" y="1531216"/>
                <a:ext cx="3290777" cy="290848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r>
                  <a:rPr lang="en-US" noProof="0" dirty="0"/>
                  <a:t>Independence</a:t>
                </a:r>
              </a:p>
              <a:p>
                <a:pPr marL="214313" indent="-214313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sz="1500" i="1" noProof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sz="1500" i="1" noProof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sz="1500" noProof="0" dirty="0"/>
              </a:p>
              <a:p>
                <a:pPr marL="214313" indent="-214313">
                  <a:buFont typeface="Wingdings" panose="05000000000000000000" pitchFamily="2" charset="2"/>
                  <a:buChar char="§"/>
                </a:pPr>
                <a:endParaRPr lang="en-US" sz="1500" noProof="0" dirty="0"/>
              </a:p>
              <a:p>
                <a:pPr marL="214313" indent="-214313">
                  <a:buFont typeface="Wingdings" panose="05000000000000000000" pitchFamily="2" charset="2"/>
                  <a:buChar char="§"/>
                </a:pPr>
                <a:endParaRPr lang="en-US" sz="1500" noProof="0" dirty="0"/>
              </a:p>
              <a:p>
                <a:pPr marL="214313" indent="-214313">
                  <a:buFont typeface="Wingdings" panose="05000000000000000000" pitchFamily="2" charset="2"/>
                  <a:buChar char="§"/>
                </a:pPr>
                <a:r>
                  <a:rPr lang="en-US" sz="1500" noProof="0" dirty="0"/>
                  <a:t>Starting point: (1/3, 1/3, 1/3)</a:t>
                </a:r>
              </a:p>
              <a:p>
                <a:pPr marL="214313" indent="-214313">
                  <a:buFont typeface="Wingdings" panose="05000000000000000000" pitchFamily="2" charset="2"/>
                  <a:buChar char="§"/>
                </a:pPr>
                <a:endParaRPr lang="en-US" sz="1500" noProof="0" dirty="0"/>
              </a:p>
              <a:p>
                <a:pPr marL="214313" indent="-214313">
                  <a:buFont typeface="Wingdings" panose="05000000000000000000" pitchFamily="2" charset="2"/>
                  <a:buChar char="§"/>
                </a:pPr>
                <a:r>
                  <a:rPr lang="en-US" sz="1500" noProof="0" dirty="0"/>
                  <a:t>Optimal weights: (0.536, 0.299, 0.164)</a:t>
                </a:r>
              </a:p>
              <a:p>
                <a:pPr marL="214313" indent="-214313">
                  <a:buFont typeface="Wingdings" panose="05000000000000000000" pitchFamily="2" charset="2"/>
                  <a:buChar char="§"/>
                </a:pPr>
                <a:endParaRPr lang="en-US" sz="1500" noProof="0" dirty="0"/>
              </a:p>
              <a:p>
                <a:pPr marL="214313" indent="-214313">
                  <a:buFont typeface="Wingdings" panose="05000000000000000000" pitchFamily="2" charset="2"/>
                  <a:buChar char="§"/>
                </a:pPr>
                <a:r>
                  <a:rPr lang="en-US" sz="1500" noProof="0" dirty="0"/>
                  <a:t>Optimal disjunctive power: 95.7%</a:t>
                </a:r>
              </a:p>
              <a:p>
                <a:endParaRPr lang="en-US" sz="1500" noProof="0" dirty="0"/>
              </a:p>
              <a:p>
                <a:pPr marL="214313" indent="-214313">
                  <a:buFont typeface="Wingdings" panose="05000000000000000000" pitchFamily="2" charset="2"/>
                  <a:buChar char="§"/>
                </a:pPr>
                <a:r>
                  <a:rPr lang="en-US" sz="1500" noProof="0" dirty="0"/>
                  <a:t>Computing time: 0.00425s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74975EE-47ED-C233-6C48-7040220892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0429" y="1531216"/>
                <a:ext cx="3290777" cy="2908489"/>
              </a:xfrm>
              <a:prstGeom prst="rect">
                <a:avLst/>
              </a:prstGeom>
              <a:blipFill>
                <a:blip r:embed="rId4"/>
                <a:stretch>
                  <a:fillRect l="-1292" t="-835" b="-1253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F77264F-0E57-4625-E846-0B65A4D03B65}"/>
                  </a:ext>
                </a:extLst>
              </p:cNvPr>
              <p:cNvSpPr txBox="1"/>
              <p:nvPr/>
            </p:nvSpPr>
            <p:spPr>
              <a:xfrm>
                <a:off x="4480560" y="1531216"/>
                <a:ext cx="4072270" cy="2890471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r>
                  <a:rPr lang="en-US" noProof="0" dirty="0"/>
                  <a:t>Dependence</a:t>
                </a:r>
              </a:p>
              <a:p>
                <a:pPr marL="214313" indent="-214313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sz="1500" i="1" noProof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1500" i="1" noProof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1500" i="1" noProof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sz="1500" i="1" noProof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1500" i="1" noProof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1500" i="1" noProof="0">
                                  <a:latin typeface="Cambria Math" panose="02040503050406030204" pitchFamily="18" charset="0"/>
                                </a:rPr>
                                <m:t>0.8</m:t>
                              </m:r>
                            </m:e>
                            <m:e>
                              <m:r>
                                <a:rPr lang="en-US" sz="1500" i="1" noProof="0">
                                  <a:latin typeface="Cambria Math" panose="02040503050406030204" pitchFamily="18" charset="0"/>
                                </a:rPr>
                                <m:t>0.4</m:t>
                              </m:r>
                            </m:e>
                          </m:mr>
                          <m:mr>
                            <m:e>
                              <m:r>
                                <a:rPr lang="en-US" sz="1500" i="1" noProof="0">
                                  <a:latin typeface="Cambria Math" panose="02040503050406030204" pitchFamily="18" charset="0"/>
                                </a:rPr>
                                <m:t>0.8</m:t>
                              </m:r>
                            </m:e>
                            <m:e>
                              <m:r>
                                <a:rPr lang="en-US" sz="1500" i="1" noProof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1500" i="1" noProof="0">
                                  <a:latin typeface="Cambria Math" panose="02040503050406030204" pitchFamily="18" charset="0"/>
                                </a:rPr>
                                <m:t>0.2</m:t>
                              </m:r>
                            </m:e>
                          </m:mr>
                          <m:mr>
                            <m:e>
                              <m:r>
                                <a:rPr lang="en-US" sz="1500" i="1" noProof="0">
                                  <a:latin typeface="Cambria Math" panose="02040503050406030204" pitchFamily="18" charset="0"/>
                                </a:rPr>
                                <m:t>0.4</m:t>
                              </m:r>
                            </m:e>
                            <m:e>
                              <m:r>
                                <a:rPr lang="en-US" sz="1500" i="1" noProof="0">
                                  <a:latin typeface="Cambria Math" panose="02040503050406030204" pitchFamily="18" charset="0"/>
                                </a:rPr>
                                <m:t>0.2</m:t>
                              </m:r>
                            </m:e>
                            <m:e>
                              <m:r>
                                <a:rPr lang="en-US" sz="1500" i="1" noProof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1500" noProof="0" dirty="0"/>
              </a:p>
              <a:p>
                <a:pPr marL="214313" indent="-214313">
                  <a:spcBef>
                    <a:spcPts val="450"/>
                  </a:spcBef>
                  <a:buFont typeface="Wingdings" panose="05000000000000000000" pitchFamily="2" charset="2"/>
                  <a:buChar char="§"/>
                </a:pPr>
                <a:r>
                  <a:rPr lang="en-US" sz="1500" noProof="0" dirty="0"/>
                  <a:t>Starting points: (1, 0, 0), (0, 1, 0), (0, 0, 1), (1/2, 1/2, 0), (1/2, 0, 1/2), (0, 1/2, 1/2), (1/3, 1/3, 1/3)</a:t>
                </a:r>
              </a:p>
              <a:p>
                <a:pPr marL="214313" indent="-214313">
                  <a:buFont typeface="Wingdings" panose="05000000000000000000" pitchFamily="2" charset="2"/>
                  <a:buChar char="§"/>
                </a:pPr>
                <a:r>
                  <a:rPr lang="en-US" sz="1500" noProof="0" dirty="0"/>
                  <a:t>Optimal weights: (0.953,         0, 0.047)</a:t>
                </a:r>
              </a:p>
              <a:p>
                <a:pPr marL="557213" lvl="1" indent="-214313">
                  <a:buFont typeface="Arial" panose="020B0604020202020204" pitchFamily="34" charset="0"/>
                  <a:buChar char="–"/>
                </a:pPr>
                <a:r>
                  <a:rPr lang="en-US" sz="1500" noProof="0" dirty="0"/>
                  <a:t>Benchmark:  (0.536, 0.299, 0.164)</a:t>
                </a:r>
              </a:p>
              <a:p>
                <a:pPr marL="214313" indent="-214313">
                  <a:buFont typeface="Wingdings" panose="05000000000000000000" pitchFamily="2" charset="2"/>
                  <a:buChar char="§"/>
                </a:pPr>
                <a:r>
                  <a:rPr lang="en-US" sz="1500" noProof="0" dirty="0"/>
                  <a:t>Optimal disjunctive power: 90.2%</a:t>
                </a:r>
              </a:p>
              <a:p>
                <a:pPr marL="557213" lvl="1" indent="-214313">
                  <a:buFont typeface="Arial" panose="020B0604020202020204" pitchFamily="34" charset="0"/>
                  <a:buChar char="–"/>
                </a:pPr>
                <a:r>
                  <a:rPr lang="en-US" sz="1500" noProof="0" dirty="0"/>
                  <a:t>Benchmark: 87.7%</a:t>
                </a:r>
              </a:p>
              <a:p>
                <a:pPr marL="214313" indent="-214313">
                  <a:buFont typeface="Wingdings" panose="05000000000000000000" pitchFamily="2" charset="2"/>
                  <a:buChar char="§"/>
                </a:pPr>
                <a:r>
                  <a:rPr lang="en-US" sz="1500" noProof="0" dirty="0"/>
                  <a:t>Computing time: 0.0685s (&gt; 7*0.00425)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F77264F-0E57-4625-E846-0B65A4D03B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0560" y="1531216"/>
                <a:ext cx="4072270" cy="2890471"/>
              </a:xfrm>
              <a:prstGeom prst="rect">
                <a:avLst/>
              </a:prstGeom>
              <a:blipFill>
                <a:blip r:embed="rId5"/>
                <a:stretch>
                  <a:fillRect l="-1045" t="-840" r="-149" b="-1261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peech Bubble: Rectangle 2">
            <a:extLst>
              <a:ext uri="{FF2B5EF4-FFF2-40B4-BE49-F238E27FC236}">
                <a16:creationId xmlns:a16="http://schemas.microsoft.com/office/drawing/2014/main" id="{78D796EE-BBB5-A0A1-51BC-C0DADD161AC7}"/>
              </a:ext>
            </a:extLst>
          </p:cNvPr>
          <p:cNvSpPr/>
          <p:nvPr/>
        </p:nvSpPr>
        <p:spPr>
          <a:xfrm>
            <a:off x="6392117" y="2358747"/>
            <a:ext cx="2386123" cy="780693"/>
          </a:xfrm>
          <a:prstGeom prst="wedgeRectCallou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500" noProof="0" dirty="0"/>
              <a:t>No longer follows the order of marginal power due to correlation!</a:t>
            </a:r>
          </a:p>
        </p:txBody>
      </p:sp>
    </p:spTree>
    <p:extLst>
      <p:ext uri="{BB962C8B-B14F-4D97-AF65-F5344CB8AC3E}">
        <p14:creationId xmlns:p14="http://schemas.microsoft.com/office/powerpoint/2010/main" val="12912652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3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4000CD-0ADF-27A6-A517-806F07E2FB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A54F59-C5A1-FBE6-CA21-D6322CAA40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6DDBE8-3AE3-4572-4FDC-398A5E27EF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>
                <a:solidFill>
                  <a:srgbClr val="BFBFBF"/>
                </a:solidFill>
              </a:rPr>
              <a:t>Introduction and basic concepts</a:t>
            </a:r>
          </a:p>
          <a:p>
            <a:r>
              <a:rPr lang="en-US" noProof="0" dirty="0">
                <a:solidFill>
                  <a:schemeClr val="bg1">
                    <a:lumMod val="75000"/>
                  </a:schemeClr>
                </a:solidFill>
              </a:rPr>
              <a:t>Graphical approaches to multiple testing</a:t>
            </a:r>
          </a:p>
          <a:p>
            <a:r>
              <a:rPr lang="en-US" noProof="0" dirty="0"/>
              <a:t>Optimizing graphical multiple comparison procedures</a:t>
            </a:r>
          </a:p>
          <a:p>
            <a:pPr lvl="1"/>
            <a:r>
              <a:rPr lang="en-US" noProof="0" dirty="0">
                <a:solidFill>
                  <a:srgbClr val="BFBFBF"/>
                </a:solidFill>
              </a:rPr>
              <a:t>Optimizing weighted Bonferroni test</a:t>
            </a:r>
          </a:p>
          <a:p>
            <a:pPr lvl="1"/>
            <a:r>
              <a:rPr lang="en-US" noProof="0" dirty="0"/>
              <a:t>Optimizing graphical approach</a:t>
            </a:r>
          </a:p>
          <a:p>
            <a:r>
              <a:rPr lang="en-US" noProof="0" dirty="0" err="1">
                <a:solidFill>
                  <a:schemeClr val="bg1">
                    <a:lumMod val="75000"/>
                  </a:schemeClr>
                </a:solidFill>
              </a:rPr>
              <a:t>graphicalMCP</a:t>
            </a:r>
            <a:r>
              <a:rPr lang="en-US" noProof="0" dirty="0">
                <a:solidFill>
                  <a:schemeClr val="bg1">
                    <a:lumMod val="75000"/>
                  </a:schemeClr>
                </a:solidFill>
              </a:rPr>
              <a:t>: implementation of graphical approaches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081718-C7BC-6354-45F9-8AC523789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Bretz, Chen, Xi | ISBS | October 2026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146C66-E358-DADE-0B3C-571CD4D4E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BD9F39-F344-41AE-B531-1D3ECACBC820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72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12524205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BBCBE0-CD8F-56EB-C94B-F9A64E5DB8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48400-F6C0-A92B-4FA3-BE0B696417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noProof="0" dirty="0"/>
              <a:t>Graphical approach</a:t>
            </a:r>
            <a:br>
              <a:rPr lang="en-US" noProof="0" dirty="0"/>
            </a:br>
            <a:endParaRPr lang="en-US" sz="2200" i="1" noProof="0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B8834B-5154-A323-EC84-4C1BB9BBAA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Bretz, Chen, Xi | ISBS | October 2026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C9E742-CD74-3A05-14F1-C5D59E230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BD9F39-F344-41AE-B531-1D3ECACBC820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73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4F1CC7-6955-452C-BF99-33858F6704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5130" y="1119761"/>
            <a:ext cx="5048250" cy="3499248"/>
          </a:xfrm>
        </p:spPr>
        <p:txBody>
          <a:bodyPr>
            <a:normAutofit/>
          </a:bodyPr>
          <a:lstStyle/>
          <a:p>
            <a:r>
              <a:rPr lang="en-US" noProof="0" dirty="0"/>
              <a:t>Graph is defined based on </a:t>
            </a:r>
            <a:r>
              <a:rPr lang="en-US" i="1" noProof="0" dirty="0"/>
              <a:t>hypothesis weights </a:t>
            </a:r>
            <a:r>
              <a:rPr lang="en-US" noProof="0" dirty="0"/>
              <a:t>and </a:t>
            </a:r>
            <a:r>
              <a:rPr lang="en-US" i="1" noProof="0" dirty="0"/>
              <a:t>transition matrix</a:t>
            </a:r>
          </a:p>
          <a:p>
            <a:pPr lvl="1"/>
            <a:r>
              <a:rPr lang="en-US" noProof="0" dirty="0"/>
              <a:t>Hypothesis weights </a:t>
            </a:r>
          </a:p>
          <a:p>
            <a:pPr lvl="2"/>
            <a:r>
              <a:rPr lang="en-US" sz="1600" noProof="0" dirty="0"/>
              <a:t>defines the </a:t>
            </a:r>
            <a:r>
              <a:rPr lang="en-US" sz="1600" b="1" i="1" noProof="0" dirty="0">
                <a:solidFill>
                  <a:srgbClr val="5291DD"/>
                </a:solidFill>
              </a:rPr>
              <a:t>initial state </a:t>
            </a:r>
            <a:r>
              <a:rPr lang="en-US" sz="1600" noProof="0" dirty="0"/>
              <a:t>of the MCP</a:t>
            </a:r>
          </a:p>
          <a:p>
            <a:pPr lvl="2"/>
            <a:r>
              <a:rPr lang="en-US" sz="1600" noProof="0" dirty="0"/>
              <a:t>Maximize the </a:t>
            </a:r>
            <a:r>
              <a:rPr lang="en-US" sz="1600" b="1" i="1" noProof="0" dirty="0">
                <a:solidFill>
                  <a:srgbClr val="5291DD"/>
                </a:solidFill>
              </a:rPr>
              <a:t>disjunctive power </a:t>
            </a:r>
            <a:r>
              <a:rPr lang="en-US" sz="1600" noProof="0" dirty="0"/>
              <a:t>at initial state</a:t>
            </a:r>
          </a:p>
          <a:p>
            <a:pPr lvl="1"/>
            <a:r>
              <a:rPr lang="en-US" noProof="0" dirty="0"/>
              <a:t>Transition matrix </a:t>
            </a:r>
          </a:p>
          <a:p>
            <a:pPr lvl="2"/>
            <a:r>
              <a:rPr lang="en-US" sz="1600" noProof="0" dirty="0"/>
              <a:t>defines </a:t>
            </a:r>
            <a:r>
              <a:rPr lang="en-US" sz="1600" b="1" i="1" noProof="0" dirty="0">
                <a:solidFill>
                  <a:srgbClr val="5291DD"/>
                </a:solidFill>
              </a:rPr>
              <a:t>next state</a:t>
            </a:r>
            <a:r>
              <a:rPr lang="en-US" sz="1600" noProof="0" dirty="0"/>
              <a:t>, i.e., updated graph given one hypothesis is rejected from the initial state</a:t>
            </a:r>
          </a:p>
          <a:p>
            <a:pPr lvl="2"/>
            <a:r>
              <a:rPr lang="en-US" sz="1600" noProof="0" dirty="0"/>
              <a:t>Maximize the </a:t>
            </a:r>
            <a:r>
              <a:rPr lang="en-US" sz="1600" b="1" i="1" noProof="0" dirty="0">
                <a:solidFill>
                  <a:srgbClr val="5291DD"/>
                </a:solidFill>
              </a:rPr>
              <a:t>disjunctive power of remaining hypotheses </a:t>
            </a:r>
            <a:r>
              <a:rPr lang="en-US" sz="1600" noProof="0" dirty="0"/>
              <a:t>at the next state</a:t>
            </a:r>
          </a:p>
          <a:p>
            <a:pPr lvl="2"/>
            <a:r>
              <a:rPr lang="en-US" sz="1600" b="1" i="1" noProof="0" dirty="0">
                <a:solidFill>
                  <a:srgbClr val="5291DD"/>
                </a:solidFill>
              </a:rPr>
              <a:t>Back-calculate</a:t>
            </a:r>
            <a:r>
              <a:rPr lang="en-US" sz="1600" noProof="0" dirty="0"/>
              <a:t> the transition weights that maximize the disjunctive power at next state</a:t>
            </a:r>
          </a:p>
          <a:p>
            <a:pPr lvl="1"/>
            <a:endParaRPr lang="en-US" i="1" noProof="0" dirty="0"/>
          </a:p>
          <a:p>
            <a:endParaRPr lang="en-US" noProof="0" dirty="0"/>
          </a:p>
        </p:txBody>
      </p:sp>
      <p:pic>
        <p:nvPicPr>
          <p:cNvPr id="5" name="Picture 4" descr="A black background with yellow numbers&#10;&#10;AI-generated content may be incorrect.">
            <a:extLst>
              <a:ext uri="{FF2B5EF4-FFF2-40B4-BE49-F238E27FC236}">
                <a16:creationId xmlns:a16="http://schemas.microsoft.com/office/drawing/2014/main" id="{C70117CF-6317-A2C2-FDFF-47E8B75F87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3966" y="211033"/>
            <a:ext cx="3235345" cy="1817457"/>
          </a:xfrm>
          <a:prstGeom prst="rect">
            <a:avLst/>
          </a:prstGeom>
        </p:spPr>
      </p:pic>
      <p:pic>
        <p:nvPicPr>
          <p:cNvPr id="10" name="Picture 9" descr="A black screen with green text&#10;&#10;AI-generated content may be incorrect.">
            <a:extLst>
              <a:ext uri="{FF2B5EF4-FFF2-40B4-BE49-F238E27FC236}">
                <a16:creationId xmlns:a16="http://schemas.microsoft.com/office/drawing/2014/main" id="{D4FAC9D6-D7E4-AF64-2C6F-F68AF893DE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1619" y="2692853"/>
            <a:ext cx="3632974" cy="1941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53152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BECA23-9F01-46D3-284F-4EC7329AB3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579BF1-2E0B-6A5C-FE8F-118C54F553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noProof="0" dirty="0"/>
              <a:t>Demo</a:t>
            </a:r>
            <a:br>
              <a:rPr lang="en-US" noProof="0" dirty="0"/>
            </a:br>
            <a:r>
              <a:rPr lang="en-US" sz="2200" i="1" noProof="0" dirty="0"/>
              <a:t>Set up constraints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B3BF49-EC44-4F3D-B90B-5F6F0BC463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Bretz, Chen, Xi | ISBS | October 2026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3790C1-1EB7-A2CA-5537-6DE053DB39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BD9F39-F344-41AE-B531-1D3ECACBC820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74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0A45DE2-F4AD-EE1E-4BB9-A4EAE0120814}"/>
                  </a:ext>
                </a:extLst>
              </p:cNvPr>
              <p:cNvSpPr txBox="1"/>
              <p:nvPr/>
            </p:nvSpPr>
            <p:spPr>
              <a:xfrm>
                <a:off x="683568" y="2711285"/>
                <a:ext cx="7598452" cy="20621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noProof="0" dirty="0"/>
                  <a:t>Constraints on weights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noProof="0" dirty="0"/>
                  <a:t>Primary endpoints are more important than secondary endpoints</a:t>
                </a:r>
              </a:p>
              <a:p>
                <a:pPr marL="1200150" lvl="2" indent="-285750">
                  <a:buFont typeface="Arial" panose="020B0604020202020204" pitchFamily="34" charset="0"/>
                  <a:buChar char="•"/>
                </a:pPr>
                <a:r>
                  <a:rPr lang="en-US" noProof="0" dirty="0"/>
                  <a:t>We will not test secondary hypotheses until at least one primary endpoint is significant</a:t>
                </a:r>
              </a:p>
              <a:p>
                <a:pPr marL="1200150" lvl="2" indent="-285750">
                  <a:buFont typeface="Arial" panose="020B0604020202020204" pitchFamily="34" charset="0"/>
                  <a:buChar char="•"/>
                </a:pPr>
                <a:r>
                  <a:rPr lang="en-US" noProof="0" dirty="0"/>
                  <a:t>Weights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, 0, 0)</m:t>
                    </m:r>
                  </m:oMath>
                </a14:m>
                <a:endParaRPr lang="en-US" noProof="0" dirty="0"/>
              </a:p>
              <a:p>
                <a:pPr marL="1200150" lvl="2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1−</m:t>
                        </m:r>
                        <m:sSub>
                          <m:sSubPr>
                            <m:ctrlPr>
                              <a:rPr lang="en-US" b="0" i="1" noProof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noProof="0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b="0" i="1" noProof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endParaRPr lang="en-US" noProof="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noProof="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0A45DE2-F4AD-EE1E-4BB9-A4EAE01208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568" y="2711285"/>
                <a:ext cx="7598452" cy="2062103"/>
              </a:xfrm>
              <a:prstGeom prst="rect">
                <a:avLst/>
              </a:prstGeom>
              <a:blipFill>
                <a:blip r:embed="rId2"/>
                <a:stretch>
                  <a:fillRect l="-722" t="-17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3">
            <a:extLst>
              <a:ext uri="{FF2B5EF4-FFF2-40B4-BE49-F238E27FC236}">
                <a16:creationId xmlns:a16="http://schemas.microsoft.com/office/drawing/2014/main" id="{9D059D60-C68B-6ABB-0EF5-4F1B5AA4EA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6478" y="1131590"/>
            <a:ext cx="3271043" cy="15730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04933515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CAEBA9-F64F-A29B-F100-81297331AF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>
            <a:extLst>
              <a:ext uri="{FF2B5EF4-FFF2-40B4-BE49-F238E27FC236}">
                <a16:creationId xmlns:a16="http://schemas.microsoft.com/office/drawing/2014/main" id="{6FBF9966-E650-4879-625C-DDCC1AEBB9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7480" y="234489"/>
            <a:ext cx="2433081" cy="11701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A987A0A-A9DB-9E9A-5916-B523946399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noProof="0" dirty="0"/>
              <a:t>Demo</a:t>
            </a:r>
            <a:br>
              <a:rPr lang="en-US" noProof="0" dirty="0"/>
            </a:br>
            <a:r>
              <a:rPr lang="en-US" sz="2200" i="1" noProof="0" dirty="0"/>
              <a:t>Set up constraints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94B796-6681-9835-18A9-161D673076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Bretz, Chen, Xi | ISBS | October 2026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1EC93E-080B-7A7A-7E64-5F48EF98B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BD9F39-F344-41AE-B531-1D3ECACBC820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75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C5538C5-09FE-1D88-49D0-1515EC21BEBE}"/>
                  </a:ext>
                </a:extLst>
              </p:cNvPr>
              <p:cNvSpPr txBox="1"/>
              <p:nvPr/>
            </p:nvSpPr>
            <p:spPr>
              <a:xfrm>
                <a:off x="719128" y="1268016"/>
                <a:ext cx="7598452" cy="31290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noProof="0" dirty="0"/>
                  <a:t>Constraints on transition matrix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noProof="0" dirty="0"/>
                  <a:t>Secondary endpoint will not be tested unless its corresponding primary endpoint is significant</a:t>
                </a:r>
              </a:p>
              <a:p>
                <a:pPr marL="1200150" lvl="2" indent="-285750">
                  <a:buFont typeface="Arial" panose="020B0604020202020204" pitchFamily="34" charset="0"/>
                  <a:buChar char="•"/>
                </a:pPr>
                <a:r>
                  <a:rPr lang="en-US" noProof="0" dirty="0"/>
                  <a:t>There will be no path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noProof="0" dirty="0"/>
                  <a:t>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noProof="0" dirty="0"/>
                  <a:t> 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noProof="0" dirty="0"/>
                  <a:t>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endParaRPr lang="en-US" noProof="0" dirty="0"/>
              </a:p>
              <a:p>
                <a:pPr marL="1200150" lvl="2" indent="-285750">
                  <a:buFont typeface="Arial" panose="020B0604020202020204" pitchFamily="34" charset="0"/>
                  <a:buChar char="•"/>
                </a:pPr>
                <a:r>
                  <a:rPr lang="en-US" noProof="0" dirty="0"/>
                  <a:t>There will be no path between two secondary endpoints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noProof="0" dirty="0"/>
                  <a:t>Transition matrix </a:t>
                </a:r>
              </a:p>
              <a:p>
                <a:pPr lvl="1"/>
                <a14:m>
                  <m:oMathPara xmlns:m="http://schemas.openxmlformats.org/officeDocument/2006/math">
                    <m:oMath>
                      <m:d>
                        <m:dPr>
                          <m:ctrlPr>
                            <a:rPr lang="en-US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noProof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b="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noProof="0" smtClean="0">
                                        <a:latin typeface="Cambria Math" panose="02040503050406030204" pitchFamily="18" charset="0"/>
                                      </a:rPr>
                                      <m:t>𝛾</m:t>
                                    </m:r>
                                  </m:e>
                                  <m:sub>
                                    <m:r>
                                      <a:rPr lang="en-US" b="0" i="1" noProof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b="0" i="1" noProof="0" smtClean="0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sSub>
                                  <m:sSubPr>
                                    <m:ctrlPr>
                                      <a:rPr lang="en-US" b="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noProof="0" smtClean="0">
                                        <a:latin typeface="Cambria Math" panose="02040503050406030204" pitchFamily="18" charset="0"/>
                                      </a:rPr>
                                      <m:t>𝛾</m:t>
                                    </m:r>
                                  </m:e>
                                  <m:sub>
                                    <m:r>
                                      <a:rPr lang="en-US" b="0" i="1" noProof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b="0" i="1" noProof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b="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noProof="0" smtClean="0">
                                        <a:latin typeface="Cambria Math" panose="02040503050406030204" pitchFamily="18" charset="0"/>
                                      </a:rPr>
                                      <m:t>𝛾</m:t>
                                    </m:r>
                                  </m:e>
                                  <m:sub>
                                    <m:r>
                                      <a:rPr lang="en-US" b="0" i="1" noProof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b="0" i="1" noProof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noProof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noProof="0" smtClean="0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sSub>
                                  <m:sSubPr>
                                    <m:ctrlPr>
                                      <a:rPr lang="en-US" b="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noProof="0" smtClean="0">
                                        <a:latin typeface="Cambria Math" panose="02040503050406030204" pitchFamily="18" charset="0"/>
                                      </a:rPr>
                                      <m:t>𝛾</m:t>
                                    </m:r>
                                  </m:e>
                                  <m:sub>
                                    <m:r>
                                      <a:rPr lang="en-US" b="0" i="1" noProof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b="0" i="1" noProof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noProof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b="0" i="1" noProof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noProof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noProof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b="0" i="1" noProof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noProof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noProof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noProof="0" dirty="0"/>
              </a:p>
              <a:p>
                <a:pPr lvl="1"/>
                <a:r>
                  <a:rPr lang="en-US" noProof="0" dirty="0"/>
                  <a:t>with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b="0" i="1" noProof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noProof="0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sSub>
                          <m:sSubPr>
                            <m:ctrlPr>
                              <a:rPr lang="en-US" b="0" i="1" noProof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noProof="0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b>
                            <m:r>
                              <a:rPr lang="en-US" b="0" i="1" noProof="0" smtClean="0"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=1</m:t>
                        </m:r>
                      </m:e>
                    </m:nary>
                  </m:oMath>
                </a14:m>
                <a:endParaRPr lang="en-US" noProof="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C5538C5-09FE-1D88-49D0-1515EC21BE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9128" y="1268016"/>
                <a:ext cx="7598452" cy="3129062"/>
              </a:xfrm>
              <a:prstGeom prst="rect">
                <a:avLst/>
              </a:prstGeom>
              <a:blipFill>
                <a:blip r:embed="rId4"/>
                <a:stretch>
                  <a:fillRect l="-722" t="-975" r="-562" b="-20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16528127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DD1CB4-2155-A964-0A9F-15DF55FDFA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508ED-1A39-340F-46DE-6FC58D8237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noProof="0" dirty="0"/>
              <a:t>Demo</a:t>
            </a:r>
            <a:br>
              <a:rPr lang="en-US" noProof="0" dirty="0"/>
            </a:br>
            <a:r>
              <a:rPr lang="en-US" sz="2200" i="1" noProof="0" dirty="0"/>
              <a:t>Scenario set up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1F79D4-316C-C92E-B991-D14ACBFB7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Bretz, Chen, Xi | ISBS | October 2026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299658-894A-6E25-F0E4-BD63F978DC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BD9F39-F344-41AE-B531-1D3ECACBC820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76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5">
                <a:extLst>
                  <a:ext uri="{FF2B5EF4-FFF2-40B4-BE49-F238E27FC236}">
                    <a16:creationId xmlns:a16="http://schemas.microsoft.com/office/drawing/2014/main" id="{0DB2A9DE-D7DF-724E-2C1C-87975A71370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371375"/>
                <a:ext cx="8229600" cy="3105375"/>
              </a:xfrm>
            </p:spPr>
            <p:txBody>
              <a:bodyPr/>
              <a:lstStyle/>
              <a:p>
                <a:r>
                  <a:rPr lang="en-US" noProof="0" dirty="0"/>
                  <a:t>Assume the marginal powers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noProof="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noProof="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noProof="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noProof="0" dirty="0"/>
                  <a:t> are 0.9, 0.7, 0.75, 0.625</a:t>
                </a:r>
              </a:p>
              <a:p>
                <a:r>
                  <a:rPr lang="en-US" noProof="0" dirty="0"/>
                  <a:t>There are equal number of patients in placebo arm and both dose arms. So the correlation between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noProof="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noProof="0" dirty="0"/>
                  <a:t> and correlation between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noProof="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noProof="0" dirty="0"/>
                  <a:t> are both 0.5</a:t>
                </a:r>
              </a:p>
              <a:p>
                <a:r>
                  <a:rPr lang="en-US" noProof="0" dirty="0"/>
                  <a:t>The correlations between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noProof="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noProof="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noProof="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noProof="0" dirty="0"/>
                  <a:t> are set to be 0.8</a:t>
                </a:r>
              </a:p>
            </p:txBody>
          </p:sp>
        </mc:Choice>
        <mc:Fallback xmlns="">
          <p:sp>
            <p:nvSpPr>
              <p:cNvPr id="8" name="Content Placeholder 5">
                <a:extLst>
                  <a:ext uri="{FF2B5EF4-FFF2-40B4-BE49-F238E27FC236}">
                    <a16:creationId xmlns:a16="http://schemas.microsoft.com/office/drawing/2014/main" id="{0DB2A9DE-D7DF-724E-2C1C-87975A71370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371375"/>
                <a:ext cx="8229600" cy="3105375"/>
              </a:xfrm>
              <a:blipFill>
                <a:blip r:embed="rId2"/>
                <a:stretch>
                  <a:fillRect l="-741" t="-2161" r="-5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01EC964-0148-9A9B-AB8E-C6F3D8E1F079}"/>
                  </a:ext>
                </a:extLst>
              </p:cNvPr>
              <p:cNvSpPr txBox="1"/>
              <p:nvPr/>
            </p:nvSpPr>
            <p:spPr>
              <a:xfrm>
                <a:off x="2286000" y="3453134"/>
                <a:ext cx="4572000" cy="11269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ctrlPr>
                            <a:rPr lang="en-US" sz="180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800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1800" b="0" i="1" noProof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1800" b="0" i="1" noProof="0" smtClean="0">
                                    <a:latin typeface="Cambria Math" panose="02040503050406030204" pitchFamily="18" charset="0"/>
                                  </a:rPr>
                                  <m:t>0.5</m:t>
                                </m:r>
                              </m:e>
                              <m:e>
                                <m:r>
                                  <a:rPr lang="en-US" sz="1800" b="0" i="1" noProof="0" smtClean="0">
                                    <a:latin typeface="Cambria Math" panose="02040503050406030204" pitchFamily="18" charset="0"/>
                                  </a:rPr>
                                  <m:t>0.8</m:t>
                                </m:r>
                              </m:e>
                              <m:e>
                                <m:r>
                                  <a:rPr lang="en-US" sz="1800" b="0" i="1" noProof="0" smtClean="0">
                                    <a:latin typeface="Cambria Math" panose="02040503050406030204" pitchFamily="18" charset="0"/>
                                  </a:rPr>
                                  <m:t>0.4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800" b="0" i="1" noProof="0" smtClean="0">
                                    <a:latin typeface="Cambria Math" panose="02040503050406030204" pitchFamily="18" charset="0"/>
                                  </a:rPr>
                                  <m:t>0.5</m:t>
                                </m:r>
                              </m:e>
                              <m:e>
                                <m:r>
                                  <a:rPr lang="en-US" sz="1800" b="0" i="1" noProof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1800" b="0" i="1" noProof="0" smtClean="0">
                                    <a:latin typeface="Cambria Math" panose="02040503050406030204" pitchFamily="18" charset="0"/>
                                  </a:rPr>
                                  <m:t>0.4</m:t>
                                </m:r>
                              </m:e>
                              <m:e>
                                <m:r>
                                  <a:rPr lang="en-US" sz="1800" b="0" i="1" noProof="0" smtClean="0">
                                    <a:latin typeface="Cambria Math" panose="02040503050406030204" pitchFamily="18" charset="0"/>
                                  </a:rPr>
                                  <m:t>0.8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800" b="0" i="1" noProof="0" smtClean="0">
                                    <a:latin typeface="Cambria Math" panose="02040503050406030204" pitchFamily="18" charset="0"/>
                                  </a:rPr>
                                  <m:t>0.8</m:t>
                                </m:r>
                              </m:e>
                              <m:e>
                                <m:r>
                                  <a:rPr lang="en-US" sz="1800" b="0" i="1" noProof="0" smtClean="0">
                                    <a:latin typeface="Cambria Math" panose="02040503050406030204" pitchFamily="18" charset="0"/>
                                  </a:rPr>
                                  <m:t>0.4</m:t>
                                </m:r>
                              </m:e>
                              <m:e>
                                <m:r>
                                  <a:rPr lang="en-US" sz="1800" b="0" i="1" noProof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1800" b="0" i="1" noProof="0" smtClean="0">
                                    <a:latin typeface="Cambria Math" panose="02040503050406030204" pitchFamily="18" charset="0"/>
                                  </a:rPr>
                                  <m:t>0.5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800" b="0" i="1" noProof="0" smtClean="0">
                                    <a:latin typeface="Cambria Math" panose="02040503050406030204" pitchFamily="18" charset="0"/>
                                  </a:rPr>
                                  <m:t>0.4</m:t>
                                </m:r>
                              </m:e>
                              <m:e>
                                <m:r>
                                  <a:rPr lang="en-US" sz="1800" b="0" i="1" noProof="0" smtClean="0">
                                    <a:latin typeface="Cambria Math" panose="02040503050406030204" pitchFamily="18" charset="0"/>
                                  </a:rPr>
                                  <m:t>0.8</m:t>
                                </m:r>
                              </m:e>
                              <m:e>
                                <m:r>
                                  <a:rPr lang="en-US" sz="1800" b="0" i="1" noProof="0" smtClean="0">
                                    <a:latin typeface="Cambria Math" panose="02040503050406030204" pitchFamily="18" charset="0"/>
                                  </a:rPr>
                                  <m:t>0.5</m:t>
                                </m:r>
                              </m:e>
                              <m:e>
                                <m:r>
                                  <a:rPr lang="en-US" sz="1800" b="0" i="1" noProof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noProof="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01EC964-0148-9A9B-AB8E-C6F3D8E1F0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0" y="3453134"/>
                <a:ext cx="4572000" cy="11269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38893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2C04BA-77D9-E325-CBAF-5735406BA5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CFA6B-9053-F81D-33DF-D47529979E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noProof="0" dirty="0"/>
              <a:t>Demo</a:t>
            </a:r>
            <a:br>
              <a:rPr lang="en-US" noProof="0" dirty="0"/>
            </a:br>
            <a:r>
              <a:rPr lang="en-US" sz="2200" i="1" noProof="0" dirty="0"/>
              <a:t>Hypothesis weight optimization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0185A9-3EEB-9787-A7B3-6667453F87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Bretz, Chen, Xi | ISBS | October 2026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5866D4-428D-2CA1-3386-D111A64EE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BD9F39-F344-41AE-B531-1D3ECACBC820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77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5">
                <a:extLst>
                  <a:ext uri="{FF2B5EF4-FFF2-40B4-BE49-F238E27FC236}">
                    <a16:creationId xmlns:a16="http://schemas.microsoft.com/office/drawing/2014/main" id="{5E95CE25-284D-A746-C6E3-81FCD13E4C5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42925" y="1268016"/>
                <a:ext cx="8058150" cy="1594926"/>
              </a:xfrm>
            </p:spPr>
            <p:txBody>
              <a:bodyPr>
                <a:normAutofit/>
              </a:bodyPr>
              <a:lstStyle/>
              <a:p>
                <a:r>
                  <a:rPr lang="en-US" noProof="0" dirty="0"/>
                  <a:t>Step 1: optimize the hypotheses weights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noProof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 noProof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1600" i="1" noProof="0">
                            <a:latin typeface="Cambria Math" panose="02040503050406030204" pitchFamily="18" charset="0"/>
                          </a:rPr>
                          <m:t>𝑜𝑝𝑡</m:t>
                        </m:r>
                      </m:sub>
                    </m:sSub>
                    <m:r>
                      <a:rPr lang="en-US" sz="1600" i="1" noProof="0">
                        <a:latin typeface="Cambria Math" panose="02040503050406030204" pitchFamily="18" charset="0"/>
                      </a:rPr>
                      <m:t>=(0.</m:t>
                    </m:r>
                    <m:r>
                      <a:rPr lang="en-US" sz="1600" b="0" i="1" noProof="0" smtClean="0">
                        <a:latin typeface="Cambria Math" panose="02040503050406030204" pitchFamily="18" charset="0"/>
                      </a:rPr>
                      <m:t>93</m:t>
                    </m:r>
                    <m:r>
                      <a:rPr lang="en-US" sz="1600" i="1" noProof="0">
                        <a:latin typeface="Cambria Math" panose="02040503050406030204" pitchFamily="18" charset="0"/>
                      </a:rPr>
                      <m:t>, 0.</m:t>
                    </m:r>
                    <m:r>
                      <a:rPr lang="en-US" sz="1600" b="0" i="1" noProof="0" smtClean="0">
                        <a:latin typeface="Cambria Math" panose="02040503050406030204" pitchFamily="18" charset="0"/>
                      </a:rPr>
                      <m:t>07</m:t>
                    </m:r>
                    <m:r>
                      <a:rPr lang="en-US" sz="1600" i="1" noProof="0">
                        <a:latin typeface="Cambria Math" panose="02040503050406030204" pitchFamily="18" charset="0"/>
                      </a:rPr>
                      <m:t>, 0, 0)</m:t>
                    </m:r>
                  </m:oMath>
                </a14:m>
                <a:r>
                  <a:rPr lang="en-US" sz="1600" noProof="0" dirty="0"/>
                  <a:t> with disjunctive power of 0.9007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1600" i="1" noProof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1600" i="1" noProof="0">
                        <a:latin typeface="Cambria Math" panose="02040503050406030204" pitchFamily="18" charset="0"/>
                      </a:rPr>
                      <m:t>=(0.5, 0.5, 0, 0)</m:t>
                    </m:r>
                  </m:oMath>
                </a14:m>
                <a:r>
                  <a:rPr lang="en-US" sz="1600" noProof="0" dirty="0"/>
                  <a:t> yields disjunctive power of 0.886</a:t>
                </a:r>
              </a:p>
              <a:p>
                <a:pPr lvl="1"/>
                <a:r>
                  <a:rPr lang="en-US" sz="1600" noProof="0" dirty="0"/>
                  <a:t>Due to the existence of correlation, </a:t>
                </a:r>
                <a:r>
                  <a:rPr lang="en-US" sz="1600" b="1" noProof="0" dirty="0">
                    <a:solidFill>
                      <a:srgbClr val="5291DD"/>
                    </a:solidFill>
                  </a:rPr>
                  <a:t>split</a:t>
                </a:r>
                <a:r>
                  <a:rPr lang="en-US" sz="1600" noProof="0" dirty="0"/>
                  <a:t> </a:t>
                </a:r>
                <a14:m>
                  <m:oMath xmlns:m="http://schemas.openxmlformats.org/officeDocument/2006/math">
                    <m:r>
                      <a:rPr lang="en-US" sz="1600" b="0" i="1" noProof="0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sz="1600" noProof="0" dirty="0"/>
                  <a:t> </a:t>
                </a:r>
                <a:r>
                  <a:rPr lang="en-US" sz="1600" b="1" noProof="0" dirty="0">
                    <a:solidFill>
                      <a:srgbClr val="5291DD"/>
                    </a:solidFill>
                  </a:rPr>
                  <a:t>equally</a:t>
                </a:r>
                <a:r>
                  <a:rPr lang="en-US" sz="1600" noProof="0" dirty="0"/>
                  <a:t> between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noProof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600" b="0" i="1" noProof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600" noProof="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noProof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600" b="0" i="1" noProof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1600" noProof="0" dirty="0"/>
                  <a:t> </a:t>
                </a:r>
                <a:r>
                  <a:rPr lang="en-US" sz="1600" b="1" noProof="0" dirty="0">
                    <a:solidFill>
                      <a:srgbClr val="5291DD"/>
                    </a:solidFill>
                  </a:rPr>
                  <a:t>is not reasonable </a:t>
                </a:r>
                <a:r>
                  <a:rPr lang="en-US" sz="1600" noProof="0" dirty="0"/>
                  <a:t>even compare with fixed sequence test.</a:t>
                </a:r>
              </a:p>
            </p:txBody>
          </p:sp>
        </mc:Choice>
        <mc:Fallback xmlns="">
          <p:sp>
            <p:nvSpPr>
              <p:cNvPr id="8" name="Content Placeholder 5">
                <a:extLst>
                  <a:ext uri="{FF2B5EF4-FFF2-40B4-BE49-F238E27FC236}">
                    <a16:creationId xmlns:a16="http://schemas.microsoft.com/office/drawing/2014/main" id="{5E95CE25-284D-A746-C6E3-81FCD13E4C5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42925" y="1268016"/>
                <a:ext cx="8058150" cy="1594926"/>
              </a:xfrm>
              <a:blipFill>
                <a:blip r:embed="rId2"/>
                <a:stretch>
                  <a:fillRect l="-756" t="-4198" r="-4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10">
            <a:extLst>
              <a:ext uri="{FF2B5EF4-FFF2-40B4-BE49-F238E27FC236}">
                <a16:creationId xmlns:a16="http://schemas.microsoft.com/office/drawing/2014/main" id="{07230A8C-86E9-2CCB-01A6-FD3EF0F3150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80583" b="80750"/>
          <a:stretch>
            <a:fillRect/>
          </a:stretch>
        </p:blipFill>
        <p:spPr>
          <a:xfrm>
            <a:off x="1371164" y="2770251"/>
            <a:ext cx="739793" cy="64176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C990941-02D8-ADD0-964C-1B53B6ED981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0583" b="80749"/>
          <a:stretch>
            <a:fillRect/>
          </a:stretch>
        </p:blipFill>
        <p:spPr>
          <a:xfrm>
            <a:off x="2549869" y="2767849"/>
            <a:ext cx="739794" cy="64176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AAC6A6E-145C-BF3F-D60A-95CB574DFAD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0749" r="80583"/>
          <a:stretch>
            <a:fillRect/>
          </a:stretch>
        </p:blipFill>
        <p:spPr>
          <a:xfrm>
            <a:off x="1371163" y="3779737"/>
            <a:ext cx="739794" cy="64176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820D953-871E-7BCE-2026-33D296E3DF3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0583" t="80749"/>
          <a:stretch>
            <a:fillRect/>
          </a:stretch>
        </p:blipFill>
        <p:spPr>
          <a:xfrm>
            <a:off x="2549869" y="3779737"/>
            <a:ext cx="739794" cy="641768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2A861A6F-2526-781D-B478-A06EEF69A14C}"/>
              </a:ext>
            </a:extLst>
          </p:cNvPr>
          <p:cNvSpPr txBox="1"/>
          <p:nvPr/>
        </p:nvSpPr>
        <p:spPr>
          <a:xfrm>
            <a:off x="1656991" y="4421505"/>
            <a:ext cx="1346844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noProof="0" dirty="0"/>
              <a:t>Original design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9B07EE12-95B1-D3A7-3386-4BDFF410EC8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80583" b="80749"/>
          <a:stretch>
            <a:fillRect/>
          </a:stretch>
        </p:blipFill>
        <p:spPr>
          <a:xfrm>
            <a:off x="5211644" y="2767849"/>
            <a:ext cx="739793" cy="64176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5CC98DDA-9B1B-9852-442F-8B8256556BB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80583" b="80749"/>
          <a:stretch>
            <a:fillRect/>
          </a:stretch>
        </p:blipFill>
        <p:spPr>
          <a:xfrm>
            <a:off x="6395572" y="2767848"/>
            <a:ext cx="739795" cy="641767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77861136-EDE2-EC15-34A9-41B67A382E5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80749" r="80583"/>
          <a:stretch>
            <a:fillRect/>
          </a:stretch>
        </p:blipFill>
        <p:spPr>
          <a:xfrm>
            <a:off x="5211644" y="3779737"/>
            <a:ext cx="739794" cy="641769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C8441678-6044-5F38-9716-EB703275E09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80583" t="80749"/>
          <a:stretch>
            <a:fillRect/>
          </a:stretch>
        </p:blipFill>
        <p:spPr>
          <a:xfrm>
            <a:off x="6395571" y="3779737"/>
            <a:ext cx="739795" cy="641770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52899284-F22B-B684-98AE-30EE68DB4D0F}"/>
              </a:ext>
            </a:extLst>
          </p:cNvPr>
          <p:cNvSpPr txBox="1"/>
          <p:nvPr/>
        </p:nvSpPr>
        <p:spPr>
          <a:xfrm>
            <a:off x="5492158" y="4421504"/>
            <a:ext cx="1362040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noProof="0" dirty="0"/>
              <a:t>Optimal design</a:t>
            </a:r>
          </a:p>
        </p:txBody>
      </p:sp>
    </p:spTree>
    <p:extLst>
      <p:ext uri="{BB962C8B-B14F-4D97-AF65-F5344CB8AC3E}">
        <p14:creationId xmlns:p14="http://schemas.microsoft.com/office/powerpoint/2010/main" val="2817796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1E8CC2-D6C4-D27D-9B69-D260EF551B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A39415-3AFC-3FF5-B9AD-1F8598C08C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noProof="0" dirty="0"/>
              <a:t>Demo</a:t>
            </a:r>
            <a:br>
              <a:rPr lang="en-US" noProof="0" dirty="0"/>
            </a:br>
            <a:r>
              <a:rPr lang="en-US" sz="2200" i="1" noProof="0" dirty="0"/>
              <a:t>Transition matrix optimization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3345A0-5F9D-8E4E-CA1C-68DBF6D2EF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Bretz, Chen, Xi | ISBS | October 2026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BC2097-D6AB-954F-49D7-266A6455DD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BD9F39-F344-41AE-B531-1D3ECACBC820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78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5">
                <a:extLst>
                  <a:ext uri="{FF2B5EF4-FFF2-40B4-BE49-F238E27FC236}">
                    <a16:creationId xmlns:a16="http://schemas.microsoft.com/office/drawing/2014/main" id="{D0F0A758-FC52-235A-B3DE-BB965B3D09B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78971" y="1268016"/>
                <a:ext cx="8036379" cy="200747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171450" indent="-171450" algn="l" defTabSz="685800" rtl="0" eaLnBrk="1" latinLnBrk="0" hangingPunct="1">
                  <a:lnSpc>
                    <a:spcPct val="90000"/>
                  </a:lnSpc>
                  <a:spcBef>
                    <a:spcPts val="750"/>
                  </a:spcBef>
                  <a:buFont typeface="Arial" panose="020B0604020202020204" pitchFamily="34" charset="0"/>
                  <a:buChar char="•"/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143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572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2001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430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8859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noProof="0" dirty="0"/>
                  <a:t>Step 2: optimize the transition matrix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 noProof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 noProof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1400" i="1" noProof="0">
                            <a:latin typeface="Cambria Math" panose="02040503050406030204" pitchFamily="18" charset="0"/>
                          </a:rPr>
                          <m:t>𝑜𝑝𝑡</m:t>
                        </m:r>
                      </m:sub>
                    </m:sSub>
                    <m:r>
                      <a:rPr lang="en-US" sz="1400" i="1" noProof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1400" i="1" noProof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lang="en-US" sz="1400" i="1" noProof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1400" i="1" noProof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1400" i="1" noProof="0">
                                  <a:latin typeface="Cambria Math" panose="02040503050406030204" pitchFamily="18" charset="0"/>
                                </a:rPr>
                                <m:t>0.36</m:t>
                              </m:r>
                            </m:e>
                            <m:e>
                              <m:r>
                                <a:rPr lang="en-US" sz="1400" i="1" noProof="0">
                                  <a:latin typeface="Cambria Math" panose="02040503050406030204" pitchFamily="18" charset="0"/>
                                </a:rPr>
                                <m:t>0.64</m:t>
                              </m:r>
                            </m:e>
                            <m:e>
                              <m:r>
                                <a:rPr lang="en-US" sz="1400" i="1" noProof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sz="1400" i="1" noProof="0">
                                  <a:latin typeface="Cambria Math" panose="02040503050406030204" pitchFamily="18" charset="0"/>
                                </a:rPr>
                                <m:t>0.06</m:t>
                              </m:r>
                            </m:e>
                            <m:e>
                              <m:r>
                                <a:rPr lang="en-US" sz="1400" i="1" noProof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1400" i="1" noProof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1400" i="1" noProof="0">
                                  <a:latin typeface="Cambria Math" panose="02040503050406030204" pitchFamily="18" charset="0"/>
                                </a:rPr>
                                <m:t>0.94</m:t>
                              </m:r>
                            </m:e>
                          </m:mr>
                          <m:mr>
                            <m:e>
                              <m:r>
                                <a:rPr lang="en-US" sz="1400" i="1" noProof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1400" i="1" noProof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1400" i="1" noProof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1400" i="1" noProof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sz="1400" i="1" noProof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1400" i="1" noProof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1400" i="1" noProof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1400" i="1" noProof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sz="1400" noProof="0" dirty="0"/>
                  <a:t> </a:t>
                </a:r>
                <a:r>
                  <a:rPr lang="en-US" sz="1400" noProof="0" dirty="0" err="1"/>
                  <a:t>v.s</a:t>
                </a:r>
                <a:r>
                  <a:rPr lang="en-US" sz="1400" noProof="0" dirty="0"/>
                  <a:t>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 noProof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 noProof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1400" i="1" noProof="0">
                            <a:latin typeface="Cambria Math" panose="02040503050406030204" pitchFamily="18" charset="0"/>
                          </a:rPr>
                          <m:t>𝑜𝑟𝑖𝑔</m:t>
                        </m:r>
                      </m:sub>
                    </m:sSub>
                    <m:r>
                      <a:rPr lang="en-US" sz="1400" i="1" noProof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1400" i="1" noProof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lang="en-US" sz="1400" i="1" noProof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1400" i="1" noProof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1400" i="1" noProof="0">
                                  <a:latin typeface="Cambria Math" panose="02040503050406030204" pitchFamily="18" charset="0"/>
                                </a:rPr>
                                <m:t>0.5</m:t>
                              </m:r>
                            </m:e>
                            <m:e>
                              <m:r>
                                <a:rPr lang="en-US" sz="1400" i="1" noProof="0">
                                  <a:latin typeface="Cambria Math" panose="02040503050406030204" pitchFamily="18" charset="0"/>
                                </a:rPr>
                                <m:t>0.5</m:t>
                              </m:r>
                            </m:e>
                            <m:e>
                              <m:r>
                                <a:rPr lang="en-US" sz="1400" i="1" noProof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sz="1400" i="1" noProof="0">
                                  <a:latin typeface="Cambria Math" panose="02040503050406030204" pitchFamily="18" charset="0"/>
                                </a:rPr>
                                <m:t>0.5</m:t>
                              </m:r>
                            </m:e>
                            <m:e>
                              <m:r>
                                <a:rPr lang="en-US" sz="1400" i="1" noProof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1400" i="1" noProof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1400" i="1" noProof="0">
                                  <a:latin typeface="Cambria Math" panose="02040503050406030204" pitchFamily="18" charset="0"/>
                                </a:rPr>
                                <m:t>0.5</m:t>
                              </m:r>
                            </m:e>
                          </m:mr>
                          <m:mr>
                            <m:e>
                              <m:r>
                                <a:rPr lang="en-US" sz="1400" i="1" noProof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1400" i="1" noProof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1400" i="1" noProof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1400" i="1" noProof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sz="1400" i="1" noProof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1400" i="1" noProof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1400" i="1" noProof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1400" i="1" noProof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sz="1400" noProof="0" dirty="0"/>
                  <a:t> </a:t>
                </a:r>
                <a:endParaRPr lang="en-US" sz="1600" noProof="0" dirty="0"/>
              </a:p>
              <a:p>
                <a:pPr lvl="1"/>
                <a:r>
                  <a:rPr lang="en-US" sz="1600" noProof="0" dirty="0"/>
                  <a:t>Due to the already large weight 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noProof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 noProof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600" i="1" noProof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600" noProof="0" dirty="0"/>
                  <a:t>, there is </a:t>
                </a:r>
                <a:r>
                  <a:rPr lang="en-US" sz="1600" b="1" noProof="0" dirty="0">
                    <a:solidFill>
                      <a:srgbClr val="5291DD"/>
                    </a:solidFill>
                  </a:rPr>
                  <a:t>no</a:t>
                </a:r>
                <a:r>
                  <a:rPr lang="en-US" sz="1600" noProof="0" dirty="0"/>
                  <a:t> need for </a:t>
                </a:r>
                <a:r>
                  <a:rPr lang="en-US" sz="1600" b="1" noProof="0" dirty="0">
                    <a:solidFill>
                      <a:srgbClr val="5291DD"/>
                    </a:solidFill>
                  </a:rPr>
                  <a:t>large</a:t>
                </a:r>
                <a:r>
                  <a:rPr lang="en-US" sz="1600" noProof="0" dirty="0"/>
                  <a:t> or any </a:t>
                </a:r>
                <a14:m>
                  <m:oMath xmlns:m="http://schemas.openxmlformats.org/officeDocument/2006/math">
                    <m:r>
                      <a:rPr lang="en-US" sz="1600" b="1" i="1" noProof="0">
                        <a:solidFill>
                          <a:srgbClr val="5291DD"/>
                        </a:solidFill>
                        <a:latin typeface="Cambria Math" panose="02040503050406030204" pitchFamily="18" charset="0"/>
                      </a:rPr>
                      <m:t>𝜶</m:t>
                    </m:r>
                  </m:oMath>
                </a14:m>
                <a:r>
                  <a:rPr lang="en-US" sz="1600" b="1" noProof="0" dirty="0">
                    <a:solidFill>
                      <a:srgbClr val="5291DD"/>
                    </a:solidFill>
                  </a:rPr>
                  <a:t> propagation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1" i="1" noProof="0">
                            <a:solidFill>
                              <a:srgbClr val="5291DD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1" i="1" noProof="0">
                            <a:solidFill>
                              <a:srgbClr val="5291DD"/>
                            </a:solidFill>
                            <a:latin typeface="Cambria Math" panose="02040503050406030204" pitchFamily="18" charset="0"/>
                          </a:rPr>
                          <m:t>𝑯</m:t>
                        </m:r>
                      </m:e>
                      <m:sub>
                        <m:r>
                          <a:rPr lang="en-US" sz="1600" b="1" i="1" noProof="0">
                            <a:solidFill>
                              <a:srgbClr val="5291DD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sz="1600" b="1" noProof="0" dirty="0">
                    <a:solidFill>
                      <a:srgbClr val="5291DD"/>
                    </a:solidFill>
                  </a:rPr>
                  <a:t>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1" i="1" noProof="0">
                            <a:solidFill>
                              <a:srgbClr val="5291DD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1" i="1" noProof="0">
                            <a:solidFill>
                              <a:srgbClr val="5291DD"/>
                            </a:solidFill>
                            <a:latin typeface="Cambria Math" panose="02040503050406030204" pitchFamily="18" charset="0"/>
                          </a:rPr>
                          <m:t>𝑯</m:t>
                        </m:r>
                      </m:e>
                      <m:sub>
                        <m:r>
                          <a:rPr lang="en-US" sz="1600" b="1" i="1" noProof="0">
                            <a:solidFill>
                              <a:srgbClr val="5291DD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endParaRPr lang="en-US" sz="1600" b="1" noProof="0" dirty="0"/>
              </a:p>
            </p:txBody>
          </p:sp>
        </mc:Choice>
        <mc:Fallback xmlns="">
          <p:sp>
            <p:nvSpPr>
              <p:cNvPr id="7" name="Content Placeholder 5">
                <a:extLst>
                  <a:ext uri="{FF2B5EF4-FFF2-40B4-BE49-F238E27FC236}">
                    <a16:creationId xmlns:a16="http://schemas.microsoft.com/office/drawing/2014/main" id="{D0F0A758-FC52-235A-B3DE-BB965B3D09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971" y="1268016"/>
                <a:ext cx="8036379" cy="2007472"/>
              </a:xfrm>
              <a:prstGeom prst="rect">
                <a:avLst/>
              </a:prstGeom>
              <a:blipFill>
                <a:blip r:embed="rId2"/>
                <a:stretch>
                  <a:fillRect l="-759" t="-33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Picture 14">
            <a:extLst>
              <a:ext uri="{FF2B5EF4-FFF2-40B4-BE49-F238E27FC236}">
                <a16:creationId xmlns:a16="http://schemas.microsoft.com/office/drawing/2014/main" id="{DC7EDA9D-489B-24A3-14D5-76867A902D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1231" y="2759791"/>
            <a:ext cx="2031865" cy="177788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95E7AC3-C71A-D5B7-A908-ABCC00BE71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47111" y="2759790"/>
            <a:ext cx="2031866" cy="1777883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11B3664F-DC0D-F24D-F03F-DEFA0B325ECA}"/>
              </a:ext>
            </a:extLst>
          </p:cNvPr>
          <p:cNvSpPr txBox="1"/>
          <p:nvPr/>
        </p:nvSpPr>
        <p:spPr>
          <a:xfrm>
            <a:off x="3189622" y="4490886"/>
            <a:ext cx="1346844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noProof="0" dirty="0"/>
              <a:t>Original design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4B5DF5B-358A-EA27-AD92-421A6925AC8C}"/>
              </a:ext>
            </a:extLst>
          </p:cNvPr>
          <p:cNvSpPr txBox="1"/>
          <p:nvPr/>
        </p:nvSpPr>
        <p:spPr>
          <a:xfrm>
            <a:off x="6016143" y="4537673"/>
            <a:ext cx="1362040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noProof="0" dirty="0"/>
              <a:t>Optimal design</a:t>
            </a:r>
          </a:p>
        </p:txBody>
      </p:sp>
    </p:spTree>
    <p:extLst>
      <p:ext uri="{BB962C8B-B14F-4D97-AF65-F5344CB8AC3E}">
        <p14:creationId xmlns:p14="http://schemas.microsoft.com/office/powerpoint/2010/main" val="33200560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B78562-BD19-ADDB-F40E-DF93A6783E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951E86-280D-7D71-378E-1CDFBF1F6C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noProof="0" dirty="0"/>
              <a:t>Power comparison</a:t>
            </a:r>
            <a:br>
              <a:rPr lang="en-US" noProof="0" dirty="0"/>
            </a:br>
            <a:endParaRPr lang="en-US" sz="2200" i="1" noProof="0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53E6D1-B21E-7095-F747-333D65D79F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Bretz, Chen, Xi | ISBS | October 2026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34F628-886B-3E59-162B-11DAE3D90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BD9F39-F344-41AE-B531-1D3ECACBC820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79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0576C0B0-264E-C5ED-3A20-8574C5215BD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25308717"/>
                  </p:ext>
                </p:extLst>
              </p:nvPr>
            </p:nvGraphicFramePr>
            <p:xfrm>
              <a:off x="1901002" y="3285061"/>
              <a:ext cx="5198990" cy="1509780"/>
            </p:xfrm>
            <a:graphic>
              <a:graphicData uri="http://schemas.openxmlformats.org/drawingml/2006/table">
                <a:tbl>
                  <a:tblPr firstRow="1" bandRow="1">
                    <a:tableStyleId>{1C5780E6-A8F4-46B0-B82D-9E7F56C639EF}</a:tableStyleId>
                  </a:tblPr>
                  <a:tblGrid>
                    <a:gridCol w="707517">
                      <a:extLst>
                        <a:ext uri="{9D8B030D-6E8A-4147-A177-3AD203B41FA5}">
                          <a16:colId xmlns:a16="http://schemas.microsoft.com/office/drawing/2014/main" val="2145028759"/>
                        </a:ext>
                      </a:extLst>
                    </a:gridCol>
                    <a:gridCol w="536695">
                      <a:extLst>
                        <a:ext uri="{9D8B030D-6E8A-4147-A177-3AD203B41FA5}">
                          <a16:colId xmlns:a16="http://schemas.microsoft.com/office/drawing/2014/main" val="3164938917"/>
                        </a:ext>
                      </a:extLst>
                    </a:gridCol>
                    <a:gridCol w="536695">
                      <a:extLst>
                        <a:ext uri="{9D8B030D-6E8A-4147-A177-3AD203B41FA5}">
                          <a16:colId xmlns:a16="http://schemas.microsoft.com/office/drawing/2014/main" val="130894867"/>
                        </a:ext>
                      </a:extLst>
                    </a:gridCol>
                    <a:gridCol w="536695">
                      <a:extLst>
                        <a:ext uri="{9D8B030D-6E8A-4147-A177-3AD203B41FA5}">
                          <a16:colId xmlns:a16="http://schemas.microsoft.com/office/drawing/2014/main" val="560855384"/>
                        </a:ext>
                      </a:extLst>
                    </a:gridCol>
                    <a:gridCol w="536695">
                      <a:extLst>
                        <a:ext uri="{9D8B030D-6E8A-4147-A177-3AD203B41FA5}">
                          <a16:colId xmlns:a16="http://schemas.microsoft.com/office/drawing/2014/main" val="367424655"/>
                        </a:ext>
                      </a:extLst>
                    </a:gridCol>
                    <a:gridCol w="952605">
                      <a:extLst>
                        <a:ext uri="{9D8B030D-6E8A-4147-A177-3AD203B41FA5}">
                          <a16:colId xmlns:a16="http://schemas.microsoft.com/office/drawing/2014/main" val="3684113865"/>
                        </a:ext>
                      </a:extLst>
                    </a:gridCol>
                    <a:gridCol w="1392088">
                      <a:extLst>
                        <a:ext uri="{9D8B030D-6E8A-4147-A177-3AD203B41FA5}">
                          <a16:colId xmlns:a16="http://schemas.microsoft.com/office/drawing/2014/main" val="2656662041"/>
                        </a:ext>
                      </a:extLst>
                    </a:gridCol>
                  </a:tblGrid>
                  <a:tr h="455578">
                    <a:tc>
                      <a:txBody>
                        <a:bodyPr/>
                        <a:lstStyle/>
                        <a:p>
                          <a:r>
                            <a:rPr lang="en-US" sz="1200" noProof="0" dirty="0"/>
                            <a:t>Method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200" b="1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 noProof="0" smtClean="0">
                                        <a:latin typeface="Cambria Math" panose="02040503050406030204" pitchFamily="18" charset="0"/>
                                      </a:rPr>
                                      <m:t>𝑯</m:t>
                                    </m:r>
                                  </m:e>
                                  <m:sub>
                                    <m:r>
                                      <a:rPr lang="en-US" sz="1200" b="1" i="1" noProof="0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200" noProof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200" b="1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 noProof="0" smtClean="0">
                                        <a:latin typeface="Cambria Math" panose="02040503050406030204" pitchFamily="18" charset="0"/>
                                      </a:rPr>
                                      <m:t>𝑯</m:t>
                                    </m:r>
                                  </m:e>
                                  <m:sub>
                                    <m:r>
                                      <a:rPr lang="en-US" sz="1200" b="1" i="1" noProof="0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200" noProof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200" b="1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 noProof="0" smtClean="0">
                                        <a:latin typeface="Cambria Math" panose="02040503050406030204" pitchFamily="18" charset="0"/>
                                      </a:rPr>
                                      <m:t>𝑯</m:t>
                                    </m:r>
                                  </m:e>
                                  <m:sub>
                                    <m:r>
                                      <a:rPr lang="en-US" sz="1200" b="1" i="1" noProof="0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200" noProof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200" b="1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 noProof="0" smtClean="0">
                                        <a:latin typeface="Cambria Math" panose="02040503050406030204" pitchFamily="18" charset="0"/>
                                      </a:rPr>
                                      <m:t>𝑯</m:t>
                                    </m:r>
                                  </m:e>
                                  <m:sub>
                                    <m:r>
                                      <a:rPr lang="en-US" sz="1200" b="1" i="1" noProof="0" smtClean="0">
                                        <a:latin typeface="Cambria Math" panose="02040503050406030204" pitchFamily="18" charset="0"/>
                                      </a:rPr>
                                      <m:t>𝟒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200" noProof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200" noProof="0" dirty="0"/>
                            <a:t>Disjunctive power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200" noProof="0" dirty="0"/>
                            <a:t>Expected number of rejection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3966453215"/>
                      </a:ext>
                    </a:extLst>
                  </a:tr>
                  <a:tr h="350860">
                    <a:tc>
                      <a:txBody>
                        <a:bodyPr/>
                        <a:lstStyle/>
                        <a:p>
                          <a:r>
                            <a:rPr lang="en-US" sz="1200" noProof="0" dirty="0"/>
                            <a:t>Original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200" noProof="0" dirty="0"/>
                            <a:t>0.858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200" noProof="0" dirty="0"/>
                            <a:t>0.667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200" noProof="0" dirty="0"/>
                            <a:t>0.640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200" noProof="0" dirty="0"/>
                            <a:t>0.523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200" noProof="0" dirty="0"/>
                            <a:t>0.8862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200" noProof="0" dirty="0"/>
                            <a:t>2.688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1270650947"/>
                      </a:ext>
                    </a:extLst>
                  </a:tr>
                  <a:tr h="350860">
                    <a:tc>
                      <a:txBody>
                        <a:bodyPr/>
                        <a:lstStyle/>
                        <a:p>
                          <a:r>
                            <a:rPr lang="en-US" sz="1200" noProof="0" dirty="0"/>
                            <a:t>Optimal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200" noProof="0" dirty="0"/>
                            <a:t>0.894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200" noProof="0" dirty="0"/>
                            <a:t>0.635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200" noProof="0" dirty="0"/>
                            <a:t>0.691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200" noProof="0" dirty="0"/>
                            <a:t>0.510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200" noProof="0" dirty="0"/>
                            <a:t>0.9025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200" noProof="0" dirty="0"/>
                            <a:t>2.73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3688616770"/>
                      </a:ext>
                    </a:extLst>
                  </a:tr>
                  <a:tr h="350860">
                    <a:tc>
                      <a:txBody>
                        <a:bodyPr/>
                        <a:lstStyle/>
                        <a:p>
                          <a:r>
                            <a:rPr lang="en-US" sz="1200" noProof="0" dirty="0"/>
                            <a:t>Gain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200" noProof="0" dirty="0">
                              <a:solidFill>
                                <a:srgbClr val="00B050"/>
                              </a:solidFill>
                            </a:rPr>
                            <a:t>3.6%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200" noProof="0" dirty="0">
                              <a:solidFill>
                                <a:srgbClr val="FF0000"/>
                              </a:solidFill>
                            </a:rPr>
                            <a:t>-3.2%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200" noProof="0" dirty="0">
                              <a:solidFill>
                                <a:srgbClr val="00B050"/>
                              </a:solidFill>
                            </a:rPr>
                            <a:t>5.1%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200" noProof="0" dirty="0">
                              <a:solidFill>
                                <a:srgbClr val="FF0000"/>
                              </a:solidFill>
                            </a:rPr>
                            <a:t>-1.3%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200" noProof="0" dirty="0">
                              <a:solidFill>
                                <a:srgbClr val="00B050"/>
                              </a:solidFill>
                            </a:rPr>
                            <a:t>1.63%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200" noProof="0" dirty="0">
                              <a:solidFill>
                                <a:srgbClr val="00B050"/>
                              </a:solidFill>
                            </a:rPr>
                            <a:t>0.042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182894895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0576C0B0-264E-C5ED-3A20-8574C5215BD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25308717"/>
                  </p:ext>
                </p:extLst>
              </p:nvPr>
            </p:nvGraphicFramePr>
            <p:xfrm>
              <a:off x="1901002" y="3285061"/>
              <a:ext cx="5198990" cy="1509780"/>
            </p:xfrm>
            <a:graphic>
              <a:graphicData uri="http://schemas.openxmlformats.org/drawingml/2006/table">
                <a:tbl>
                  <a:tblPr firstRow="1" bandRow="1">
                    <a:tableStyleId>{1C5780E6-A8F4-46B0-B82D-9E7F56C639EF}</a:tableStyleId>
                  </a:tblPr>
                  <a:tblGrid>
                    <a:gridCol w="707517">
                      <a:extLst>
                        <a:ext uri="{9D8B030D-6E8A-4147-A177-3AD203B41FA5}">
                          <a16:colId xmlns:a16="http://schemas.microsoft.com/office/drawing/2014/main" val="2145028759"/>
                        </a:ext>
                      </a:extLst>
                    </a:gridCol>
                    <a:gridCol w="536695">
                      <a:extLst>
                        <a:ext uri="{9D8B030D-6E8A-4147-A177-3AD203B41FA5}">
                          <a16:colId xmlns:a16="http://schemas.microsoft.com/office/drawing/2014/main" val="3164938917"/>
                        </a:ext>
                      </a:extLst>
                    </a:gridCol>
                    <a:gridCol w="536695">
                      <a:extLst>
                        <a:ext uri="{9D8B030D-6E8A-4147-A177-3AD203B41FA5}">
                          <a16:colId xmlns:a16="http://schemas.microsoft.com/office/drawing/2014/main" val="130894867"/>
                        </a:ext>
                      </a:extLst>
                    </a:gridCol>
                    <a:gridCol w="536695">
                      <a:extLst>
                        <a:ext uri="{9D8B030D-6E8A-4147-A177-3AD203B41FA5}">
                          <a16:colId xmlns:a16="http://schemas.microsoft.com/office/drawing/2014/main" val="560855384"/>
                        </a:ext>
                      </a:extLst>
                    </a:gridCol>
                    <a:gridCol w="536695">
                      <a:extLst>
                        <a:ext uri="{9D8B030D-6E8A-4147-A177-3AD203B41FA5}">
                          <a16:colId xmlns:a16="http://schemas.microsoft.com/office/drawing/2014/main" val="367424655"/>
                        </a:ext>
                      </a:extLst>
                    </a:gridCol>
                    <a:gridCol w="952605">
                      <a:extLst>
                        <a:ext uri="{9D8B030D-6E8A-4147-A177-3AD203B41FA5}">
                          <a16:colId xmlns:a16="http://schemas.microsoft.com/office/drawing/2014/main" val="3684113865"/>
                        </a:ext>
                      </a:extLst>
                    </a:gridCol>
                    <a:gridCol w="1392088">
                      <a:extLst>
                        <a:ext uri="{9D8B030D-6E8A-4147-A177-3AD203B41FA5}">
                          <a16:colId xmlns:a16="http://schemas.microsoft.com/office/drawing/2014/main" val="2656662041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r>
                            <a:rPr lang="en-US" sz="1200" noProof="0" dirty="0"/>
                            <a:t>Method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2"/>
                          <a:stretch>
                            <a:fillRect l="-131818" r="-740909" b="-234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2"/>
                          <a:stretch>
                            <a:fillRect l="-229213" r="-632584" b="-234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2"/>
                          <a:stretch>
                            <a:fillRect l="-332955" r="-539773" b="-234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2"/>
                          <a:stretch>
                            <a:fillRect l="-432955" r="-439773" b="-234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200" noProof="0" dirty="0"/>
                            <a:t>Disjunctive power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200" noProof="0" dirty="0"/>
                            <a:t>Expected number of rejection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3966453215"/>
                      </a:ext>
                    </a:extLst>
                  </a:tr>
                  <a:tr h="350860">
                    <a:tc>
                      <a:txBody>
                        <a:bodyPr/>
                        <a:lstStyle/>
                        <a:p>
                          <a:r>
                            <a:rPr lang="en-US" sz="1200" noProof="0" dirty="0"/>
                            <a:t>Original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200" noProof="0" dirty="0"/>
                            <a:t>0.858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200" noProof="0" dirty="0"/>
                            <a:t>0.667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200" noProof="0" dirty="0"/>
                            <a:t>0.640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200" noProof="0" dirty="0"/>
                            <a:t>0.523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200" noProof="0" dirty="0"/>
                            <a:t>0.8862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200" noProof="0" dirty="0"/>
                            <a:t>2.688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1270650947"/>
                      </a:ext>
                    </a:extLst>
                  </a:tr>
                  <a:tr h="350860">
                    <a:tc>
                      <a:txBody>
                        <a:bodyPr/>
                        <a:lstStyle/>
                        <a:p>
                          <a:r>
                            <a:rPr lang="en-US" sz="1200" noProof="0" dirty="0"/>
                            <a:t>Optimal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200" noProof="0" dirty="0"/>
                            <a:t>0.894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200" noProof="0" dirty="0"/>
                            <a:t>0.635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200" noProof="0" dirty="0"/>
                            <a:t>0.691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200" noProof="0" dirty="0"/>
                            <a:t>0.510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200" noProof="0" dirty="0"/>
                            <a:t>0.9025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200" noProof="0" dirty="0"/>
                            <a:t>2.73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3688616770"/>
                      </a:ext>
                    </a:extLst>
                  </a:tr>
                  <a:tr h="350860">
                    <a:tc>
                      <a:txBody>
                        <a:bodyPr/>
                        <a:lstStyle/>
                        <a:p>
                          <a:r>
                            <a:rPr lang="en-US" sz="1200" noProof="0" dirty="0"/>
                            <a:t>Gain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200" noProof="0" dirty="0">
                              <a:solidFill>
                                <a:srgbClr val="00B050"/>
                              </a:solidFill>
                            </a:rPr>
                            <a:t>3.6%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200" noProof="0" dirty="0">
                              <a:solidFill>
                                <a:srgbClr val="FF0000"/>
                              </a:solidFill>
                            </a:rPr>
                            <a:t>-3.2%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200" noProof="0" dirty="0">
                              <a:solidFill>
                                <a:srgbClr val="00B050"/>
                              </a:solidFill>
                            </a:rPr>
                            <a:t>5.1%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200" noProof="0" dirty="0">
                              <a:solidFill>
                                <a:srgbClr val="FF0000"/>
                              </a:solidFill>
                            </a:rPr>
                            <a:t>-1.3%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200" noProof="0" dirty="0">
                              <a:solidFill>
                                <a:srgbClr val="00B050"/>
                              </a:solidFill>
                            </a:rPr>
                            <a:t>1.63%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200" noProof="0" dirty="0">
                              <a:solidFill>
                                <a:srgbClr val="00B050"/>
                              </a:solidFill>
                            </a:rPr>
                            <a:t>0.042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182894895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87B88630-52AE-8AF3-20AA-5C23666D116E}"/>
              </a:ext>
            </a:extLst>
          </p:cNvPr>
          <p:cNvSpPr txBox="1"/>
          <p:nvPr/>
        </p:nvSpPr>
        <p:spPr>
          <a:xfrm>
            <a:off x="2053512" y="2854129"/>
            <a:ext cx="15808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noProof="0" dirty="0"/>
              <a:t>Original design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E772BC2-3CD1-DC54-BCFF-6B61ABABF3B4}"/>
              </a:ext>
            </a:extLst>
          </p:cNvPr>
          <p:cNvSpPr txBox="1"/>
          <p:nvPr/>
        </p:nvSpPr>
        <p:spPr>
          <a:xfrm>
            <a:off x="5509608" y="2858378"/>
            <a:ext cx="15990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noProof="0" dirty="0"/>
              <a:t>Optimal design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ED01187-731E-71F9-4012-4D9C156C71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6080" y="1051163"/>
            <a:ext cx="2375747" cy="178181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7056ADB-6434-5452-2676-0DE2D4561A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076" y="1045768"/>
            <a:ext cx="2375747" cy="1781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694265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F2D6E6-D957-F9FC-D9B6-0D573071B1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DD1E9-E17D-BA3B-39E9-2A37CB3BF1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noProof="0" dirty="0"/>
              <a:t>Summary and conclusion</a:t>
            </a:r>
            <a:br>
              <a:rPr lang="en-US" noProof="0" dirty="0"/>
            </a:br>
            <a:endParaRPr lang="en-US" sz="2200" i="1" noProof="0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9F3F52-4B69-250E-1A3E-FB421ADD1C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Bretz, Chen, Xi | ISBS | October 2026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73EBF6-6D2C-88BE-BEED-1A6D03599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BD9F39-F344-41AE-B531-1D3ECACBC820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80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1FF3BFBB-5D4E-2ADE-88B0-1B4B4DB53A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80639"/>
            <a:ext cx="8229600" cy="3499247"/>
          </a:xfrm>
        </p:spPr>
        <p:txBody>
          <a:bodyPr>
            <a:normAutofit fontScale="92500" lnSpcReduction="10000"/>
          </a:bodyPr>
          <a:lstStyle/>
          <a:p>
            <a:r>
              <a:rPr lang="en-US" noProof="0" dirty="0"/>
              <a:t>Optimal weighted Bonferroni test for disjunctive power</a:t>
            </a:r>
          </a:p>
          <a:p>
            <a:pPr lvl="1"/>
            <a:r>
              <a:rPr lang="en-US" noProof="0" dirty="0"/>
              <a:t>Hypotheses with larger power are usually assigned with larger weights</a:t>
            </a:r>
          </a:p>
          <a:p>
            <a:pPr lvl="1"/>
            <a:r>
              <a:rPr lang="en-US" noProof="0" dirty="0"/>
              <a:t>Correlation has an impact on optimal weights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noProof="0" dirty="0"/>
              <a:t>Higher correlation could lead to </a:t>
            </a:r>
            <a:r>
              <a:rPr lang="en-US" b="1" i="1" noProof="0" dirty="0"/>
              <a:t>non-unique solutions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noProof="0" dirty="0"/>
              <a:t>Higher correlation could lead to </a:t>
            </a:r>
            <a:r>
              <a:rPr lang="en-US" b="1" i="1" noProof="0" dirty="0"/>
              <a:t>more extreme weights </a:t>
            </a:r>
            <a:r>
              <a:rPr lang="en-US" noProof="0" dirty="0"/>
              <a:t>on the boundary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noProof="0" dirty="0"/>
              <a:t>Optimal graphical approach with 2-step approach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noProof="0" dirty="0"/>
              <a:t>Step 1: Maximize the disjunctive power at initial state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noProof="0" dirty="0"/>
              <a:t>Step 2: Back-calculate the transition weight for the optimal disjunctive power at next state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noProof="0" dirty="0"/>
              <a:t>Suggested workflow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noProof="0" dirty="0"/>
              <a:t>Include all clinical consideration, i.e. constraints, for graph design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noProof="0" dirty="0"/>
              <a:t>Run optimization with constraints and get the optimal graph design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noProof="0" dirty="0"/>
              <a:t>Simulate power and compare with original design (if there is any)</a:t>
            </a:r>
          </a:p>
        </p:txBody>
      </p:sp>
    </p:spTree>
    <p:extLst>
      <p:ext uri="{BB962C8B-B14F-4D97-AF65-F5344CB8AC3E}">
        <p14:creationId xmlns:p14="http://schemas.microsoft.com/office/powerpoint/2010/main" val="35827104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A3582A-5391-D9B8-C544-F9E40FA489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153710-26AC-2C08-2794-72AE54EC5E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1A466D-0BE5-8880-8FA5-8149483973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noProof="0" dirty="0">
                <a:solidFill>
                  <a:schemeClr val="bg1">
                    <a:lumMod val="75000"/>
                  </a:schemeClr>
                </a:solidFill>
              </a:rPr>
              <a:t>Introduction and basic concepts</a:t>
            </a:r>
          </a:p>
          <a:p>
            <a:r>
              <a:rPr lang="en-US" noProof="0" dirty="0">
                <a:solidFill>
                  <a:schemeClr val="bg1">
                    <a:lumMod val="75000"/>
                  </a:schemeClr>
                </a:solidFill>
              </a:rPr>
              <a:t>Graphical approaches to multiple testing</a:t>
            </a:r>
          </a:p>
          <a:p>
            <a:r>
              <a:rPr lang="en-US" noProof="0" dirty="0">
                <a:solidFill>
                  <a:schemeClr val="bg1">
                    <a:lumMod val="75000"/>
                  </a:schemeClr>
                </a:solidFill>
              </a:rPr>
              <a:t>Optimizing graphical multiple comparison procedures</a:t>
            </a:r>
          </a:p>
          <a:p>
            <a:r>
              <a:rPr lang="en-US" noProof="0" dirty="0" err="1"/>
              <a:t>graphicalMCP</a:t>
            </a:r>
            <a:r>
              <a:rPr lang="en-US" noProof="0" dirty="0"/>
              <a:t>: implementation of graphical approaches</a:t>
            </a:r>
          </a:p>
          <a:p>
            <a:pPr lvl="1"/>
            <a:r>
              <a:rPr lang="en-US" noProof="0" dirty="0"/>
              <a:t>Bonferroni-based approaches</a:t>
            </a:r>
          </a:p>
          <a:p>
            <a:pPr lvl="1"/>
            <a:r>
              <a:rPr lang="en-US" noProof="0" dirty="0"/>
              <a:t>Beyond Bonferroni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BA2C27-9AC6-7F3A-A7EB-B02E68F2CD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 noProof="0"/>
              <a:t>Bretz, Chen, Xi | ISBS | October 2026</a:t>
            </a:r>
            <a:endParaRPr lang="en-US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859268-826B-56D4-CE55-ED5686315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D9F39-F344-41AE-B531-1D3ECACBC820}" type="slidenum">
              <a:rPr lang="en-US" noProof="0" smtClean="0"/>
              <a:t>81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734195498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CCA334-CBB6-DE39-2923-69012E2581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1FD10E-DC99-E6E0-BF3D-BB826AD665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F9ECBF-9F45-3BCA-C846-517DB0077E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noProof="0" dirty="0">
                <a:solidFill>
                  <a:schemeClr val="bg1">
                    <a:lumMod val="75000"/>
                  </a:schemeClr>
                </a:solidFill>
              </a:rPr>
              <a:t>Introduction and basic concepts</a:t>
            </a:r>
          </a:p>
          <a:p>
            <a:r>
              <a:rPr lang="en-US" noProof="0" dirty="0">
                <a:solidFill>
                  <a:schemeClr val="bg1">
                    <a:lumMod val="75000"/>
                  </a:schemeClr>
                </a:solidFill>
              </a:rPr>
              <a:t>Graphical approaches to multiple testing</a:t>
            </a:r>
          </a:p>
          <a:p>
            <a:r>
              <a:rPr lang="en-US" noProof="0" dirty="0">
                <a:solidFill>
                  <a:schemeClr val="bg1">
                    <a:lumMod val="75000"/>
                  </a:schemeClr>
                </a:solidFill>
              </a:rPr>
              <a:t>Optimizing graphical multiple comparison procedures</a:t>
            </a:r>
          </a:p>
          <a:p>
            <a:r>
              <a:rPr lang="en-US" noProof="0" dirty="0" err="1"/>
              <a:t>graphicalMCP</a:t>
            </a:r>
            <a:r>
              <a:rPr lang="en-US" noProof="0" dirty="0"/>
              <a:t>: implementation of graphical approaches</a:t>
            </a:r>
          </a:p>
          <a:p>
            <a:pPr lvl="1"/>
            <a:r>
              <a:rPr lang="en-US" noProof="0" dirty="0"/>
              <a:t>Bonferroni-based approaches</a:t>
            </a:r>
          </a:p>
          <a:p>
            <a:pPr lvl="1"/>
            <a:r>
              <a:rPr lang="en-US" noProof="0" dirty="0">
                <a:solidFill>
                  <a:schemeClr val="bg1">
                    <a:lumMod val="75000"/>
                  </a:schemeClr>
                </a:solidFill>
              </a:rPr>
              <a:t>Beyond Bonferroni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C518BA-197C-B21C-9265-24F0ED31F5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 noProof="0"/>
              <a:t>Bretz, Chen, Xi | ISBS | October 2026</a:t>
            </a:r>
            <a:endParaRPr lang="en-US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45335B-A3DF-60D4-606E-982DA1CCE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D9F39-F344-41AE-B531-1D3ECACBC820}" type="slidenum">
              <a:rPr lang="en-US" noProof="0" smtClean="0"/>
              <a:t>82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71227770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847827-0720-02A3-351E-1FA05007C1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E0369C-8D81-0802-347F-57041D4444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noProof="0" dirty="0"/>
              <a:t>Graphical approaches using 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E8A941-1255-8874-9470-C576DD9D2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47CF9-5B10-D24F-A8D7-45A9778164F7}" type="slidenum">
              <a:rPr lang="en-US" noProof="0" smtClean="0"/>
              <a:pPr/>
              <a:t>83</a:t>
            </a:fld>
            <a:endParaRPr lang="en-US" noProof="0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AEC7753-1B44-382C-0437-F9CBCE51CD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003" y="1788954"/>
            <a:ext cx="3816424" cy="2915595"/>
          </a:xfrm>
        </p:spPr>
        <p:txBody>
          <a:bodyPr>
            <a:normAutofit/>
          </a:bodyPr>
          <a:lstStyle/>
          <a:p>
            <a:r>
              <a:rPr lang="en-US" sz="1800" noProof="0" dirty="0"/>
              <a:t>       Pioneer R package for graphical MCPs</a:t>
            </a:r>
          </a:p>
          <a:p>
            <a:r>
              <a:rPr lang="en-US" sz="1800" noProof="0" dirty="0"/>
              <a:t>       Allows efficient power simulation for Bonferroni graphs</a:t>
            </a:r>
          </a:p>
          <a:p>
            <a:r>
              <a:rPr lang="en-US" sz="1800" noProof="0" dirty="0"/>
              <a:t>       Flexible GUI for visualization</a:t>
            </a:r>
          </a:p>
          <a:p>
            <a:r>
              <a:rPr lang="en-US" sz="1800" noProof="0" dirty="0"/>
              <a:t>       Incomplete beyond Bonferroni</a:t>
            </a:r>
          </a:p>
          <a:p>
            <a:r>
              <a:rPr lang="en-US" sz="1800" noProof="0" dirty="0"/>
              <a:t>       GUI depends on JAVA which is difficult to install and maintain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B9E8AC7-1C8D-71CD-0852-A9834B679F97}"/>
              </a:ext>
            </a:extLst>
          </p:cNvPr>
          <p:cNvSpPr txBox="1"/>
          <p:nvPr/>
        </p:nvSpPr>
        <p:spPr>
          <a:xfrm>
            <a:off x="2016299" y="1419622"/>
            <a:ext cx="7738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noProof="0" dirty="0" err="1">
                <a:solidFill>
                  <a:srgbClr val="5291DD"/>
                </a:solidFill>
              </a:rPr>
              <a:t>gMCP</a:t>
            </a:r>
            <a:endParaRPr lang="en-US" b="1" noProof="0" dirty="0">
              <a:solidFill>
                <a:srgbClr val="5291DD"/>
              </a:solidFill>
            </a:endParaRPr>
          </a:p>
        </p:txBody>
      </p:sp>
      <p:pic>
        <p:nvPicPr>
          <p:cNvPr id="10" name="Graphic 9" descr="Climbing with solid fill">
            <a:extLst>
              <a:ext uri="{FF2B5EF4-FFF2-40B4-BE49-F238E27FC236}">
                <a16:creationId xmlns:a16="http://schemas.microsoft.com/office/drawing/2014/main" id="{17ADAC54-0D18-8DB5-7A31-3FFABB6CC67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5400000">
            <a:off x="760110" y="1779662"/>
            <a:ext cx="274320" cy="274320"/>
          </a:xfrm>
          <a:prstGeom prst="rect">
            <a:avLst/>
          </a:prstGeom>
        </p:spPr>
      </p:pic>
      <p:pic>
        <p:nvPicPr>
          <p:cNvPr id="11" name="Graphic 10" descr="Rocket with solid fill">
            <a:extLst>
              <a:ext uri="{FF2B5EF4-FFF2-40B4-BE49-F238E27FC236}">
                <a16:creationId xmlns:a16="http://schemas.microsoft.com/office/drawing/2014/main" id="{32A86F45-0914-039D-D7E7-0C6003BCDAA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0803" y="2413389"/>
            <a:ext cx="274320" cy="274320"/>
          </a:xfrm>
          <a:prstGeom prst="rect">
            <a:avLst/>
          </a:prstGeom>
        </p:spPr>
      </p:pic>
      <p:pic>
        <p:nvPicPr>
          <p:cNvPr id="12" name="Graphic 11" descr="Image with solid fill">
            <a:extLst>
              <a:ext uri="{FF2B5EF4-FFF2-40B4-BE49-F238E27FC236}">
                <a16:creationId xmlns:a16="http://schemas.microsoft.com/office/drawing/2014/main" id="{F98DBBA3-A752-E41C-5B9B-2CB53B207CF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5576" y="3000380"/>
            <a:ext cx="274320" cy="274320"/>
          </a:xfrm>
          <a:prstGeom prst="rect">
            <a:avLst/>
          </a:prstGeom>
        </p:spPr>
      </p:pic>
      <p:pic>
        <p:nvPicPr>
          <p:cNvPr id="13" name="Graphic 12" descr="Chocolate with solid fill">
            <a:extLst>
              <a:ext uri="{FF2B5EF4-FFF2-40B4-BE49-F238E27FC236}">
                <a16:creationId xmlns:a16="http://schemas.microsoft.com/office/drawing/2014/main" id="{F00DD236-0694-6E99-1246-DE9F041BAC1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5576" y="3372089"/>
            <a:ext cx="274320" cy="274320"/>
          </a:xfrm>
          <a:prstGeom prst="rect">
            <a:avLst/>
          </a:prstGeom>
        </p:spPr>
      </p:pic>
      <p:pic>
        <p:nvPicPr>
          <p:cNvPr id="14" name="Graphic 13" descr="Broken Heart with solid fill">
            <a:extLst>
              <a:ext uri="{FF2B5EF4-FFF2-40B4-BE49-F238E27FC236}">
                <a16:creationId xmlns:a16="http://schemas.microsoft.com/office/drawing/2014/main" id="{FC4648B4-6466-BFFF-33BB-7E6FAFC104D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59597" y="3723878"/>
            <a:ext cx="274320" cy="274320"/>
          </a:xfrm>
          <a:prstGeom prst="rect">
            <a:avLst/>
          </a:prstGeom>
        </p:spPr>
      </p:pic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861C71EB-7E0B-193B-C8FE-8F6A603D9470}"/>
              </a:ext>
            </a:extLst>
          </p:cNvPr>
          <p:cNvSpPr txBox="1">
            <a:spLocks/>
          </p:cNvSpPr>
          <p:nvPr/>
        </p:nvSpPr>
        <p:spPr>
          <a:xfrm>
            <a:off x="4572000" y="1788954"/>
            <a:ext cx="3943350" cy="29155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noProof="0" dirty="0"/>
              <a:t>       Similar performance for Bonferroni graphs</a:t>
            </a:r>
          </a:p>
          <a:p>
            <a:r>
              <a:rPr lang="en-US" sz="1800" noProof="0" dirty="0"/>
              <a:t>       Flexible to extend to other types, e.g., Hochberg, Simes, parametric etc.</a:t>
            </a:r>
          </a:p>
          <a:p>
            <a:r>
              <a:rPr lang="en-US" sz="1800" noProof="0" dirty="0"/>
              <a:t>      Low dependency and only R-based</a:t>
            </a:r>
          </a:p>
          <a:p>
            <a:r>
              <a:rPr lang="en-US" sz="1800" noProof="0" dirty="0"/>
              <a:t>      Efficient power simulation</a:t>
            </a:r>
          </a:p>
          <a:p>
            <a:r>
              <a:rPr lang="en-US" sz="1800" noProof="0" dirty="0"/>
              <a:t>      Actively maintained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AAF1182-7D1F-FDB9-9C88-A287AC5DE999}"/>
              </a:ext>
            </a:extLst>
          </p:cNvPr>
          <p:cNvSpPr txBox="1"/>
          <p:nvPr/>
        </p:nvSpPr>
        <p:spPr>
          <a:xfrm>
            <a:off x="5868144" y="1419622"/>
            <a:ext cx="15030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noProof="0" dirty="0" err="1">
                <a:solidFill>
                  <a:srgbClr val="5291DD"/>
                </a:solidFill>
              </a:rPr>
              <a:t>graphicalMCP</a:t>
            </a:r>
            <a:endParaRPr lang="en-US" b="1" noProof="0" dirty="0">
              <a:solidFill>
                <a:srgbClr val="5291DD"/>
              </a:solidFill>
            </a:endParaRPr>
          </a:p>
        </p:txBody>
      </p:sp>
      <p:pic>
        <p:nvPicPr>
          <p:cNvPr id="17" name="Graphic 16" descr="Muscular arm with solid fill">
            <a:extLst>
              <a:ext uri="{FF2B5EF4-FFF2-40B4-BE49-F238E27FC236}">
                <a16:creationId xmlns:a16="http://schemas.microsoft.com/office/drawing/2014/main" id="{19CB138F-0809-5DD3-557F-0B24D8B81CA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829614" y="2384719"/>
            <a:ext cx="274320" cy="274320"/>
          </a:xfrm>
          <a:prstGeom prst="rect">
            <a:avLst/>
          </a:prstGeom>
        </p:spPr>
      </p:pic>
      <p:pic>
        <p:nvPicPr>
          <p:cNvPr id="18" name="Graphic 17" descr="Mittens with solid fill">
            <a:extLst>
              <a:ext uri="{FF2B5EF4-FFF2-40B4-BE49-F238E27FC236}">
                <a16:creationId xmlns:a16="http://schemas.microsoft.com/office/drawing/2014/main" id="{5CF744D2-73A2-6288-6198-AE7CD5D4D39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855341" y="1812517"/>
            <a:ext cx="274320" cy="274320"/>
          </a:xfrm>
          <a:prstGeom prst="rect">
            <a:avLst/>
          </a:prstGeom>
        </p:spPr>
      </p:pic>
      <p:pic>
        <p:nvPicPr>
          <p:cNvPr id="19" name="Graphic 18" descr="Chopsticks with solid fill">
            <a:extLst>
              <a:ext uri="{FF2B5EF4-FFF2-40B4-BE49-F238E27FC236}">
                <a16:creationId xmlns:a16="http://schemas.microsoft.com/office/drawing/2014/main" id="{771C5E0F-4050-E7AF-54F9-F010CC58770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829614" y="2994983"/>
            <a:ext cx="274320" cy="274320"/>
          </a:xfrm>
          <a:prstGeom prst="rect">
            <a:avLst/>
          </a:prstGeom>
        </p:spPr>
      </p:pic>
      <p:pic>
        <p:nvPicPr>
          <p:cNvPr id="20" name="Graphic 19" descr="Rocket with solid fill">
            <a:extLst>
              <a:ext uri="{FF2B5EF4-FFF2-40B4-BE49-F238E27FC236}">
                <a16:creationId xmlns:a16="http://schemas.microsoft.com/office/drawing/2014/main" id="{F5349D61-ECC7-C844-988F-3D7473226D4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29614" y="3363838"/>
            <a:ext cx="274320" cy="274320"/>
          </a:xfrm>
          <a:prstGeom prst="rect">
            <a:avLst/>
          </a:prstGeom>
        </p:spPr>
      </p:pic>
      <p:pic>
        <p:nvPicPr>
          <p:cNvPr id="21" name="Graphic 20" descr="Body builder with solid fill">
            <a:extLst>
              <a:ext uri="{FF2B5EF4-FFF2-40B4-BE49-F238E27FC236}">
                <a16:creationId xmlns:a16="http://schemas.microsoft.com/office/drawing/2014/main" id="{5A20C519-47CF-1CCA-448C-A536C281146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829614" y="3709178"/>
            <a:ext cx="274320" cy="27432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9AFEA2BA-733B-BAFB-8E87-79C20C87DE42}"/>
              </a:ext>
            </a:extLst>
          </p:cNvPr>
          <p:cNvSpPr txBox="1"/>
          <p:nvPr/>
        </p:nvSpPr>
        <p:spPr>
          <a:xfrm>
            <a:off x="628650" y="4299356"/>
            <a:ext cx="7807427" cy="65554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800" noProof="0" dirty="0">
                <a:ea typeface="Calibri"/>
              </a:rPr>
              <a:t>Other useful R packages</a:t>
            </a:r>
            <a:r>
              <a:rPr lang="en-US" noProof="0" dirty="0">
                <a:ea typeface="Calibri"/>
              </a:rPr>
              <a:t>/shiny apps</a:t>
            </a:r>
            <a:r>
              <a:rPr lang="en-US" sz="1800" noProof="0" dirty="0">
                <a:ea typeface="Calibri"/>
              </a:rPr>
              <a:t>: </a:t>
            </a:r>
            <a:r>
              <a:rPr lang="en-US" sz="1800" noProof="0" dirty="0" err="1">
                <a:ea typeface="Calibri"/>
              </a:rPr>
              <a:t>gMCPLite</a:t>
            </a:r>
            <a:r>
              <a:rPr lang="en-US" sz="1800" noProof="0" dirty="0">
                <a:ea typeface="Calibri"/>
              </a:rPr>
              <a:t>, </a:t>
            </a:r>
            <a:r>
              <a:rPr lang="en-US" sz="1800" noProof="0" dirty="0" err="1">
                <a:ea typeface="Calibri"/>
              </a:rPr>
              <a:t>lrstat</a:t>
            </a:r>
            <a:r>
              <a:rPr lang="en-US" sz="1800" noProof="0" dirty="0">
                <a:ea typeface="Calibri"/>
              </a:rPr>
              <a:t>, etc.</a:t>
            </a:r>
            <a:endParaRPr lang="en-US" noProof="0" dirty="0">
              <a:ea typeface="Calibri"/>
            </a:endParaRPr>
          </a:p>
          <a:p>
            <a:r>
              <a:rPr lang="en-US" noProof="0" dirty="0">
                <a:ea typeface="Calibri"/>
              </a:rPr>
              <a:t>Shiny app based on </a:t>
            </a:r>
            <a:r>
              <a:rPr lang="en-US" noProof="0" dirty="0" err="1">
                <a:ea typeface="Calibri"/>
              </a:rPr>
              <a:t>gMCP</a:t>
            </a:r>
            <a:r>
              <a:rPr lang="en-US" noProof="0" dirty="0">
                <a:ea typeface="Calibri"/>
              </a:rPr>
              <a:t>: </a:t>
            </a:r>
            <a:r>
              <a:rPr lang="en-US" noProof="0" dirty="0">
                <a:ea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https://mrc-bsu.shinyapps.io/20MRC_BSU_GraphApp/</a:t>
            </a:r>
            <a:endParaRPr lang="en-US" noProof="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9D25621-35D1-4684-C0AF-F74E8E5C68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 noProof="0"/>
              <a:t>Bretz, Chen, Xi | ISBS | October 2026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5945703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5" grpId="0"/>
      <p:bldP spid="16" grpId="0"/>
      <p:bldP spid="23" grpId="0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0AF352-2209-23FE-DD43-EDD7915EA7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Graphical approaches using R</a:t>
            </a:r>
            <a:br>
              <a:rPr lang="en-US" noProof="0" dirty="0"/>
            </a:br>
            <a:r>
              <a:rPr lang="en-US" sz="2200" i="1" noProof="0" dirty="0" err="1"/>
              <a:t>graphicalMCP</a:t>
            </a:r>
            <a:r>
              <a:rPr lang="en-US" sz="2200" i="1" noProof="0" dirty="0"/>
              <a:t> package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C5345B-CA64-E007-9C18-3F1E37CEF3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69219"/>
            <a:ext cx="6031582" cy="3263504"/>
          </a:xfrm>
        </p:spPr>
        <p:txBody>
          <a:bodyPr>
            <a:normAutofit lnSpcReduction="10000"/>
          </a:bodyPr>
          <a:lstStyle/>
          <a:p>
            <a:pPr marL="285750" lvl="1" indent="-285750">
              <a:lnSpc>
                <a:spcPct val="100000"/>
              </a:lnSpc>
              <a:spcBef>
                <a:spcPct val="20000"/>
              </a:spcBef>
              <a:buSzPct val="110000"/>
            </a:pPr>
            <a:r>
              <a:rPr lang="en-US" noProof="0" dirty="0"/>
              <a:t>Open-source package on CRAN at </a:t>
            </a:r>
            <a:r>
              <a:rPr lang="en-US" noProof="0" dirty="0">
                <a:hlinkClick r:id="rId3"/>
              </a:rPr>
              <a:t>https://cran.r-project.org/web/packages/graphicalMCP/index.html</a:t>
            </a:r>
            <a:r>
              <a:rPr lang="en-US" noProof="0" dirty="0"/>
              <a:t> </a:t>
            </a:r>
          </a:p>
          <a:p>
            <a:pPr marL="285750" lvl="1" indent="-285750">
              <a:lnSpc>
                <a:spcPct val="100000"/>
              </a:lnSpc>
              <a:spcBef>
                <a:spcPct val="20000"/>
              </a:spcBef>
              <a:buSzPct val="110000"/>
            </a:pPr>
            <a:r>
              <a:rPr lang="en-US" noProof="0" dirty="0" err="1"/>
              <a:t>Github</a:t>
            </a:r>
            <a:r>
              <a:rPr lang="en-US" noProof="0" dirty="0"/>
              <a:t> repository on </a:t>
            </a:r>
            <a:r>
              <a:rPr lang="en-US" noProof="0" dirty="0" err="1"/>
              <a:t>OpenPharma</a:t>
            </a:r>
            <a:r>
              <a:rPr lang="en-US" noProof="0" dirty="0"/>
              <a:t> </a:t>
            </a:r>
            <a:r>
              <a:rPr lang="en-US" noProof="0" dirty="0">
                <a:hlinkClick r:id="rId4"/>
              </a:rPr>
              <a:t>https://openpharma.github.io/graphicalMCP/</a:t>
            </a:r>
            <a:endParaRPr lang="en-US" noProof="0" dirty="0"/>
          </a:p>
          <a:p>
            <a:pPr marL="285750" lvl="1" indent="-285750">
              <a:lnSpc>
                <a:spcPct val="100000"/>
              </a:lnSpc>
              <a:spcBef>
                <a:spcPct val="20000"/>
              </a:spcBef>
              <a:buSzPct val="110000"/>
            </a:pPr>
            <a:r>
              <a:rPr lang="en-US" noProof="0" dirty="0"/>
              <a:t>Following good practice for open-source package development</a:t>
            </a:r>
          </a:p>
          <a:p>
            <a:pPr marL="628650" lvl="2" indent="-285750">
              <a:lnSpc>
                <a:spcPct val="100000"/>
              </a:lnSpc>
              <a:spcBef>
                <a:spcPct val="20000"/>
              </a:spcBef>
              <a:buSzPct val="110000"/>
            </a:pPr>
            <a:r>
              <a:rPr lang="en-US" noProof="0" dirty="0"/>
              <a:t>&gt;95% unit test coverage</a:t>
            </a:r>
          </a:p>
          <a:p>
            <a:pPr marL="285750" lvl="1" indent="-285750">
              <a:lnSpc>
                <a:spcPct val="100000"/>
              </a:lnSpc>
              <a:spcBef>
                <a:spcPct val="20000"/>
              </a:spcBef>
              <a:buSzPct val="110000"/>
            </a:pPr>
            <a:r>
              <a:rPr lang="en-US" noProof="0" dirty="0"/>
              <a:t>Validation documentation</a:t>
            </a:r>
          </a:p>
          <a:p>
            <a:pPr marL="628650" lvl="2" indent="-285750">
              <a:lnSpc>
                <a:spcPct val="100000"/>
              </a:lnSpc>
              <a:spcBef>
                <a:spcPct val="20000"/>
              </a:spcBef>
              <a:buSzPct val="110000"/>
            </a:pPr>
            <a:r>
              <a:rPr lang="en-US" noProof="0" dirty="0"/>
              <a:t>Internal consistency</a:t>
            </a:r>
          </a:p>
          <a:p>
            <a:pPr marL="628650" lvl="2" indent="-285750">
              <a:lnSpc>
                <a:spcPct val="100000"/>
              </a:lnSpc>
              <a:spcBef>
                <a:spcPct val="20000"/>
              </a:spcBef>
              <a:buSzPct val="110000"/>
            </a:pPr>
            <a:r>
              <a:rPr lang="en-US" noProof="0" dirty="0"/>
              <a:t>Comparisons with other packages</a:t>
            </a:r>
          </a:p>
          <a:p>
            <a:pPr marL="285750" lvl="1" indent="-285750">
              <a:lnSpc>
                <a:spcPct val="100000"/>
              </a:lnSpc>
              <a:spcBef>
                <a:spcPct val="20000"/>
              </a:spcBef>
              <a:buSzPct val="110000"/>
            </a:pPr>
            <a:r>
              <a:rPr lang="en-US" noProof="0" dirty="0"/>
              <a:t>Detailed documentation and vignettes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8EF11C-AA5F-EA6B-116F-F6F8233A9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47CF9-5B10-D24F-A8D7-45A9778164F7}" type="slidenum">
              <a:rPr lang="en-US" noProof="0" smtClean="0"/>
              <a:pPr/>
              <a:t>84</a:t>
            </a:fld>
            <a:endParaRPr lang="en-US" noProof="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D5D05B9-9515-F344-ACF8-CD74C78973C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660232" y="1273271"/>
            <a:ext cx="1919967" cy="2224724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A8F369-5190-E2B6-FBAA-DDB3DFD22B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 noProof="0"/>
              <a:t>Bretz, Chen, Xi | ISBS | October 2026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195364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0AF352-2209-23FE-DD43-EDD7915EA7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noProof="0" dirty="0"/>
              <a:t>GraphicalMCP package</a:t>
            </a:r>
            <a:br>
              <a:rPr lang="en-US" noProof="0" dirty="0"/>
            </a:br>
            <a:r>
              <a:rPr lang="en-US" sz="2200" i="1" noProof="0" dirty="0"/>
              <a:t>Structure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8EF11C-AA5F-EA6B-116F-F6F8233A9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47CF9-5B10-D24F-A8D7-45A9778164F7}" type="slidenum">
              <a:rPr lang="en-US" noProof="0" smtClean="0"/>
              <a:pPr/>
              <a:t>85</a:t>
            </a:fld>
            <a:endParaRPr lang="en-US" noProof="0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0B07D16-98B4-3DB0-3A2B-EB5180E0CB01}"/>
              </a:ext>
            </a:extLst>
          </p:cNvPr>
          <p:cNvSpPr/>
          <p:nvPr/>
        </p:nvSpPr>
        <p:spPr>
          <a:xfrm>
            <a:off x="2354187" y="1203598"/>
            <a:ext cx="1080120" cy="36004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noProof="0" dirty="0"/>
              <a:t> Graph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1488A50-F064-E595-BB17-6AA72AE25C2B}"/>
              </a:ext>
            </a:extLst>
          </p:cNvPr>
          <p:cNvSpPr/>
          <p:nvPr/>
        </p:nvSpPr>
        <p:spPr>
          <a:xfrm>
            <a:off x="2245338" y="1761566"/>
            <a:ext cx="1297818" cy="72008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noProof="0" dirty="0"/>
              <a:t>Shortcut algorithm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33208A0-F2FE-97A4-1FC1-BB6C6494B751}"/>
              </a:ext>
            </a:extLst>
          </p:cNvPr>
          <p:cNvSpPr/>
          <p:nvPr/>
        </p:nvSpPr>
        <p:spPr>
          <a:xfrm>
            <a:off x="684447" y="1855465"/>
            <a:ext cx="1080120" cy="53228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noProof="0" dirty="0"/>
              <a:t>Test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4B3F179-E2DB-1F92-9DF4-67809097A70F}"/>
              </a:ext>
            </a:extLst>
          </p:cNvPr>
          <p:cNvSpPr/>
          <p:nvPr/>
        </p:nvSpPr>
        <p:spPr>
          <a:xfrm>
            <a:off x="3923928" y="1855465"/>
            <a:ext cx="1080120" cy="53228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noProof="0" dirty="0"/>
              <a:t>Power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A8A81CF1-A817-F997-2854-8E0AC3BEEFA8}"/>
              </a:ext>
            </a:extLst>
          </p:cNvPr>
          <p:cNvSpPr/>
          <p:nvPr/>
        </p:nvSpPr>
        <p:spPr>
          <a:xfrm>
            <a:off x="288402" y="4230321"/>
            <a:ext cx="1872208" cy="57367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noProof="0" dirty="0"/>
              <a:t>Test results</a:t>
            </a:r>
          </a:p>
          <a:p>
            <a:pPr algn="ctr"/>
            <a:r>
              <a:rPr lang="en-US" sz="1600" noProof="0" dirty="0"/>
              <a:t>Step-wise decisions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C10F8D1A-2117-AB7D-B08A-A3E3B3362FCB}"/>
              </a:ext>
            </a:extLst>
          </p:cNvPr>
          <p:cNvSpPr/>
          <p:nvPr/>
        </p:nvSpPr>
        <p:spPr>
          <a:xfrm>
            <a:off x="3733542" y="4156055"/>
            <a:ext cx="1439652" cy="36004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noProof="0" dirty="0"/>
              <a:t>Power results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0FE61B4-3128-80ED-1F43-A317C6CC1699}"/>
              </a:ext>
            </a:extLst>
          </p:cNvPr>
          <p:cNvCxnSpPr>
            <a:stCxn id="10" idx="2"/>
            <a:endCxn id="11" idx="0"/>
          </p:cNvCxnSpPr>
          <p:nvPr/>
        </p:nvCxnSpPr>
        <p:spPr>
          <a:xfrm>
            <a:off x="2894247" y="1563638"/>
            <a:ext cx="0" cy="19792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861A19F7-F666-F471-4C89-1453920F9CDC}"/>
              </a:ext>
            </a:extLst>
          </p:cNvPr>
          <p:cNvCxnSpPr>
            <a:stCxn id="10" idx="1"/>
            <a:endCxn id="13" idx="0"/>
          </p:cNvCxnSpPr>
          <p:nvPr/>
        </p:nvCxnSpPr>
        <p:spPr>
          <a:xfrm rot="10800000" flipV="1">
            <a:off x="1224507" y="1383617"/>
            <a:ext cx="1129680" cy="471847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6905F187-7C29-4A2A-78E1-55018BCAE2C1}"/>
              </a:ext>
            </a:extLst>
          </p:cNvPr>
          <p:cNvCxnSpPr>
            <a:stCxn id="10" idx="3"/>
            <a:endCxn id="14" idx="0"/>
          </p:cNvCxnSpPr>
          <p:nvPr/>
        </p:nvCxnSpPr>
        <p:spPr>
          <a:xfrm>
            <a:off x="3434307" y="1383618"/>
            <a:ext cx="1029681" cy="471847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32CA6BA7-A121-7819-EF02-39F931A85936}"/>
              </a:ext>
            </a:extLst>
          </p:cNvPr>
          <p:cNvCxnSpPr>
            <a:cxnSpLocks/>
            <a:stCxn id="13" idx="2"/>
            <a:endCxn id="15" idx="0"/>
          </p:cNvCxnSpPr>
          <p:nvPr/>
        </p:nvCxnSpPr>
        <p:spPr>
          <a:xfrm flipH="1">
            <a:off x="1224506" y="2387747"/>
            <a:ext cx="1" cy="184257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9ABAC73C-D97A-223B-0DE2-FF2FA92B9671}"/>
              </a:ext>
            </a:extLst>
          </p:cNvPr>
          <p:cNvCxnSpPr>
            <a:cxnSpLocks/>
            <a:stCxn id="14" idx="2"/>
            <a:endCxn id="16" idx="0"/>
          </p:cNvCxnSpPr>
          <p:nvPr/>
        </p:nvCxnSpPr>
        <p:spPr>
          <a:xfrm flipH="1">
            <a:off x="4453368" y="2387747"/>
            <a:ext cx="10620" cy="176830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A04A193D-78D1-BD2E-6E8E-204A0B6A28FB}"/>
              </a:ext>
            </a:extLst>
          </p:cNvPr>
          <p:cNvCxnSpPr>
            <a:cxnSpLocks/>
            <a:stCxn id="11" idx="1"/>
            <a:endCxn id="13" idx="3"/>
          </p:cNvCxnSpPr>
          <p:nvPr/>
        </p:nvCxnSpPr>
        <p:spPr>
          <a:xfrm flipH="1">
            <a:off x="1764567" y="2121606"/>
            <a:ext cx="480771" cy="0"/>
          </a:xfrm>
          <a:prstGeom prst="straightConnector1">
            <a:avLst/>
          </a:prstGeom>
          <a:ln w="3810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CC066647-55AA-41AF-599D-6CA62DB3678D}"/>
              </a:ext>
            </a:extLst>
          </p:cNvPr>
          <p:cNvCxnSpPr>
            <a:stCxn id="11" idx="3"/>
            <a:endCxn id="14" idx="1"/>
          </p:cNvCxnSpPr>
          <p:nvPr/>
        </p:nvCxnSpPr>
        <p:spPr>
          <a:xfrm>
            <a:off x="3543156" y="2121606"/>
            <a:ext cx="380772" cy="0"/>
          </a:xfrm>
          <a:prstGeom prst="straightConnector1">
            <a:avLst/>
          </a:prstGeom>
          <a:ln w="3810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13DF56FC-F5AB-0999-AF56-F3339A1C2B3B}"/>
              </a:ext>
            </a:extLst>
          </p:cNvPr>
          <p:cNvSpPr/>
          <p:nvPr/>
        </p:nvSpPr>
        <p:spPr>
          <a:xfrm>
            <a:off x="5684902" y="1203598"/>
            <a:ext cx="1080120" cy="36004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noProof="0" dirty="0"/>
              <a:t> Graph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9161B5B9-D418-940C-FF24-68DDBA4C502E}"/>
              </a:ext>
            </a:extLst>
          </p:cNvPr>
          <p:cNvSpPr/>
          <p:nvPr/>
        </p:nvSpPr>
        <p:spPr>
          <a:xfrm>
            <a:off x="5578438" y="1763442"/>
            <a:ext cx="1297818" cy="72008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noProof="0" dirty="0"/>
              <a:t>Weighting strategy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A7BFD1A9-5D35-8809-7E97-7675A70588CD}"/>
              </a:ext>
            </a:extLst>
          </p:cNvPr>
          <p:cNvSpPr/>
          <p:nvPr/>
        </p:nvSpPr>
        <p:spPr>
          <a:xfrm>
            <a:off x="7385494" y="1854435"/>
            <a:ext cx="1080120" cy="53228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noProof="0" dirty="0"/>
              <a:t>Test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D23D9F20-6E4B-9B24-DCD5-80715A4FCE4F}"/>
              </a:ext>
            </a:extLst>
          </p:cNvPr>
          <p:cNvSpPr/>
          <p:nvPr/>
        </p:nvSpPr>
        <p:spPr>
          <a:xfrm>
            <a:off x="6989450" y="4228193"/>
            <a:ext cx="1872208" cy="57580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noProof="0" dirty="0"/>
              <a:t>Test results</a:t>
            </a:r>
          </a:p>
          <a:p>
            <a:pPr algn="ctr"/>
            <a:r>
              <a:rPr lang="en-US" sz="1600" noProof="0" dirty="0"/>
              <a:t>Closed tests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DD0DD9A5-CCC4-3489-636F-F6ED8049260E}"/>
              </a:ext>
            </a:extLst>
          </p:cNvPr>
          <p:cNvCxnSpPr>
            <a:stCxn id="45" idx="2"/>
            <a:endCxn id="46" idx="0"/>
          </p:cNvCxnSpPr>
          <p:nvPr/>
        </p:nvCxnSpPr>
        <p:spPr>
          <a:xfrm>
            <a:off x="6224962" y="1563638"/>
            <a:ext cx="2385" cy="19980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nector: Elbow 49">
            <a:extLst>
              <a:ext uri="{FF2B5EF4-FFF2-40B4-BE49-F238E27FC236}">
                <a16:creationId xmlns:a16="http://schemas.microsoft.com/office/drawing/2014/main" id="{7B84A769-CEE0-4185-F4AE-90D3B9F3E2E7}"/>
              </a:ext>
            </a:extLst>
          </p:cNvPr>
          <p:cNvCxnSpPr>
            <a:cxnSpLocks/>
            <a:stCxn id="45" idx="3"/>
            <a:endCxn id="47" idx="0"/>
          </p:cNvCxnSpPr>
          <p:nvPr/>
        </p:nvCxnSpPr>
        <p:spPr>
          <a:xfrm>
            <a:off x="6765022" y="1383618"/>
            <a:ext cx="1160532" cy="470817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EE5A32A0-703F-3D14-EB3B-3F2D665D2CE4}"/>
              </a:ext>
            </a:extLst>
          </p:cNvPr>
          <p:cNvCxnSpPr>
            <a:cxnSpLocks/>
            <a:stCxn id="47" idx="2"/>
            <a:endCxn id="48" idx="0"/>
          </p:cNvCxnSpPr>
          <p:nvPr/>
        </p:nvCxnSpPr>
        <p:spPr>
          <a:xfrm>
            <a:off x="7925554" y="2386717"/>
            <a:ext cx="0" cy="184147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nector: Elbow 57">
            <a:extLst>
              <a:ext uri="{FF2B5EF4-FFF2-40B4-BE49-F238E27FC236}">
                <a16:creationId xmlns:a16="http://schemas.microsoft.com/office/drawing/2014/main" id="{0687E5C1-ACC3-B3CA-7689-C46D5B5F1C9B}"/>
              </a:ext>
            </a:extLst>
          </p:cNvPr>
          <p:cNvCxnSpPr>
            <a:stCxn id="45" idx="1"/>
            <a:endCxn id="14" idx="0"/>
          </p:cNvCxnSpPr>
          <p:nvPr/>
        </p:nvCxnSpPr>
        <p:spPr>
          <a:xfrm rot="10800000" flipV="1">
            <a:off x="4463988" y="1383617"/>
            <a:ext cx="1220914" cy="471847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F6B9AA0F-8F93-32FC-8097-669DD94370D3}"/>
              </a:ext>
            </a:extLst>
          </p:cNvPr>
          <p:cNvCxnSpPr>
            <a:cxnSpLocks/>
            <a:stCxn id="46" idx="1"/>
            <a:endCxn id="14" idx="3"/>
          </p:cNvCxnSpPr>
          <p:nvPr/>
        </p:nvCxnSpPr>
        <p:spPr>
          <a:xfrm flipH="1" flipV="1">
            <a:off x="5004048" y="2121606"/>
            <a:ext cx="574390" cy="1876"/>
          </a:xfrm>
          <a:prstGeom prst="straightConnector1">
            <a:avLst/>
          </a:prstGeom>
          <a:ln w="3810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C22E9A68-910A-EBAC-ED4F-870CBF528496}"/>
              </a:ext>
            </a:extLst>
          </p:cNvPr>
          <p:cNvCxnSpPr>
            <a:cxnSpLocks/>
            <a:stCxn id="46" idx="3"/>
            <a:endCxn id="47" idx="1"/>
          </p:cNvCxnSpPr>
          <p:nvPr/>
        </p:nvCxnSpPr>
        <p:spPr>
          <a:xfrm flipV="1">
            <a:off x="6876256" y="2120576"/>
            <a:ext cx="509238" cy="2906"/>
          </a:xfrm>
          <a:prstGeom prst="straightConnector1">
            <a:avLst/>
          </a:prstGeom>
          <a:ln w="3810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Rectangle 79">
            <a:extLst>
              <a:ext uri="{FF2B5EF4-FFF2-40B4-BE49-F238E27FC236}">
                <a16:creationId xmlns:a16="http://schemas.microsoft.com/office/drawing/2014/main" id="{3FF654EC-56E9-C7DF-096C-E1E1016F190C}"/>
              </a:ext>
            </a:extLst>
          </p:cNvPr>
          <p:cNvSpPr/>
          <p:nvPr/>
        </p:nvSpPr>
        <p:spPr>
          <a:xfrm>
            <a:off x="5578438" y="2752299"/>
            <a:ext cx="1297818" cy="123909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noProof="0" dirty="0"/>
              <a:t>Bonferroni</a:t>
            </a:r>
          </a:p>
          <a:p>
            <a:pPr algn="ctr"/>
            <a:r>
              <a:rPr lang="en-US" sz="1600" noProof="0" dirty="0"/>
              <a:t>Hochberg</a:t>
            </a:r>
          </a:p>
          <a:p>
            <a:pPr algn="ctr"/>
            <a:r>
              <a:rPr lang="en-US" sz="1600" noProof="0" dirty="0"/>
              <a:t>Parametric</a:t>
            </a:r>
          </a:p>
          <a:p>
            <a:pPr algn="ctr"/>
            <a:r>
              <a:rPr lang="en-US" sz="1600" noProof="0" dirty="0"/>
              <a:t>Simes</a:t>
            </a:r>
          </a:p>
          <a:p>
            <a:pPr algn="ctr"/>
            <a:r>
              <a:rPr lang="en-US" sz="1600" noProof="0" dirty="0"/>
              <a:t>Etc.</a:t>
            </a:r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70A5F9E2-78CA-5162-45CF-A0B1960B4EC0}"/>
              </a:ext>
            </a:extLst>
          </p:cNvPr>
          <p:cNvSpPr/>
          <p:nvPr/>
        </p:nvSpPr>
        <p:spPr>
          <a:xfrm>
            <a:off x="7144968" y="3021471"/>
            <a:ext cx="1872205" cy="69666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/>
              <a:t>Mixed types of tests</a:t>
            </a:r>
          </a:p>
        </p:txBody>
      </p: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2A487753-E0A3-45BB-D834-73228B314F07}"/>
              </a:ext>
            </a:extLst>
          </p:cNvPr>
          <p:cNvCxnSpPr>
            <a:cxnSpLocks/>
            <a:stCxn id="80" idx="1"/>
          </p:cNvCxnSpPr>
          <p:nvPr/>
        </p:nvCxnSpPr>
        <p:spPr>
          <a:xfrm flipH="1">
            <a:off x="4463988" y="3371847"/>
            <a:ext cx="1114450" cy="0"/>
          </a:xfrm>
          <a:prstGeom prst="straightConnector1">
            <a:avLst/>
          </a:prstGeom>
          <a:ln w="3810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B763897C-FFDF-9C5F-7312-99A5C6E01FF6}"/>
              </a:ext>
            </a:extLst>
          </p:cNvPr>
          <p:cNvCxnSpPr>
            <a:cxnSpLocks/>
            <a:stCxn id="80" idx="3"/>
            <a:endCxn id="83" idx="2"/>
          </p:cNvCxnSpPr>
          <p:nvPr/>
        </p:nvCxnSpPr>
        <p:spPr>
          <a:xfrm flipV="1">
            <a:off x="6876256" y="3369805"/>
            <a:ext cx="268712" cy="2042"/>
          </a:xfrm>
          <a:prstGeom prst="straightConnector1">
            <a:avLst/>
          </a:prstGeom>
          <a:ln w="3810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Oval 91">
            <a:extLst>
              <a:ext uri="{FF2B5EF4-FFF2-40B4-BE49-F238E27FC236}">
                <a16:creationId xmlns:a16="http://schemas.microsoft.com/office/drawing/2014/main" id="{25ADF32E-D616-EBE9-60F4-F887FC832F76}"/>
              </a:ext>
            </a:extLst>
          </p:cNvPr>
          <p:cNvSpPr/>
          <p:nvPr/>
        </p:nvSpPr>
        <p:spPr>
          <a:xfrm>
            <a:off x="380187" y="3082967"/>
            <a:ext cx="1691305" cy="57367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/>
              <a:t>Bonferroni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6B01C9B8-83CC-AEEC-7B69-6DE90C5EB015}"/>
              </a:ext>
            </a:extLst>
          </p:cNvPr>
          <p:cNvCxnSpPr>
            <a:cxnSpLocks/>
            <a:stCxn id="92" idx="6"/>
          </p:cNvCxnSpPr>
          <p:nvPr/>
        </p:nvCxnSpPr>
        <p:spPr>
          <a:xfrm flipV="1">
            <a:off x="2071492" y="3369805"/>
            <a:ext cx="2381876" cy="1"/>
          </a:xfrm>
          <a:prstGeom prst="straightConnector1">
            <a:avLst/>
          </a:prstGeom>
          <a:ln w="3810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5BAA93B-49F5-DA3F-78ED-95D31837AC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 noProof="0"/>
              <a:t>Bretz, Chen, Xi | ISBS | October 2026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8782512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0" grpId="1" animBg="1"/>
      <p:bldP spid="11" grpId="0" animBg="1"/>
      <p:bldP spid="11" grpId="1" animBg="1"/>
      <p:bldP spid="13" grpId="0" animBg="1"/>
      <p:bldP spid="13" grpId="1" animBg="1"/>
      <p:bldP spid="14" grpId="0" animBg="1"/>
      <p:bldP spid="14" grpId="1" animBg="1"/>
      <p:bldP spid="14" grpId="2" animBg="1"/>
      <p:bldP spid="15" grpId="0" animBg="1"/>
      <p:bldP spid="15" grpId="1" animBg="1"/>
      <p:bldP spid="16" grpId="0" animBg="1"/>
      <p:bldP spid="16" grpId="1" animBg="1"/>
      <p:bldP spid="16" grpId="2" animBg="1"/>
      <p:bldP spid="45" grpId="0" animBg="1"/>
      <p:bldP spid="46" grpId="0" animBg="1"/>
      <p:bldP spid="47" grpId="0" animBg="1"/>
      <p:bldP spid="48" grpId="0" animBg="1"/>
      <p:bldP spid="80" grpId="0" animBg="1"/>
      <p:bldP spid="83" grpId="0" animBg="1"/>
      <p:bldP spid="92" grpId="0" animBg="1"/>
      <p:bldP spid="92" grpId="1" animBg="1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0AF352-2209-23FE-DD43-EDD7915EA7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noProof="0" dirty="0"/>
              <a:t>GraphicalMCP package</a:t>
            </a:r>
            <a:br>
              <a:rPr lang="en-US" noProof="0" dirty="0"/>
            </a:br>
            <a:r>
              <a:rPr lang="en-US" sz="2200" i="1" noProof="0" dirty="0"/>
              <a:t>Function reference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8EF11C-AA5F-EA6B-116F-F6F8233A9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47CF9-5B10-D24F-A8D7-45A9778164F7}" type="slidenum">
              <a:rPr lang="en-US" noProof="0" smtClean="0"/>
              <a:pPr/>
              <a:t>86</a:t>
            </a:fld>
            <a:endParaRPr lang="en-US" noProof="0" dirty="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1B5D6EC3-A226-CF52-F192-E853D0C885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0504798"/>
              </p:ext>
            </p:extLst>
          </p:nvPr>
        </p:nvGraphicFramePr>
        <p:xfrm>
          <a:off x="228600" y="1196023"/>
          <a:ext cx="8686800" cy="357124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2759224">
                  <a:extLst>
                    <a:ext uri="{9D8B030D-6E8A-4147-A177-3AD203B41FA5}">
                      <a16:colId xmlns:a16="http://schemas.microsoft.com/office/drawing/2014/main" val="704366715"/>
                    </a:ext>
                  </a:extLst>
                </a:gridCol>
                <a:gridCol w="3458696">
                  <a:extLst>
                    <a:ext uri="{9D8B030D-6E8A-4147-A177-3AD203B41FA5}">
                      <a16:colId xmlns:a16="http://schemas.microsoft.com/office/drawing/2014/main" val="4029918686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3421188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noProof="0" dirty="0">
                          <a:latin typeface="+mn-lt"/>
                        </a:rPr>
                        <a:t>Graph operations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noProof="0" dirty="0">
                          <a:latin typeface="+mn-lt"/>
                        </a:rPr>
                        <a:t>Testing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noProof="0" dirty="0">
                          <a:latin typeface="+mn-lt"/>
                        </a:rPr>
                        <a:t>Power simulation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504184851"/>
                  </a:ext>
                </a:extLst>
              </a:tr>
              <a:tr h="259588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noProof="0" dirty="0" err="1">
                          <a:latin typeface="+mn-lt"/>
                        </a:rPr>
                        <a:t>graph_create</a:t>
                      </a:r>
                      <a:r>
                        <a:rPr lang="en-US" sz="1600" noProof="0" dirty="0">
                          <a:latin typeface="+mn-lt"/>
                        </a:rPr>
                        <a:t>()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noProof="0" dirty="0">
                          <a:latin typeface="+mn-lt"/>
                        </a:rPr>
                        <a:t>Create an initial graph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noProof="0" dirty="0" err="1">
                          <a:latin typeface="+mn-lt"/>
                        </a:rPr>
                        <a:t>graph_update</a:t>
                      </a:r>
                      <a:r>
                        <a:rPr lang="en-US" sz="1600" noProof="0" dirty="0">
                          <a:latin typeface="+mn-lt"/>
                        </a:rPr>
                        <a:t>()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noProof="0" dirty="0">
                          <a:latin typeface="+mn-lt"/>
                        </a:rPr>
                        <a:t>Update an initial graphical after deleting hypotheses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noProof="0" dirty="0" err="1">
                          <a:latin typeface="+mn-lt"/>
                        </a:rPr>
                        <a:t>as_initial_graph</a:t>
                      </a:r>
                      <a:r>
                        <a:rPr lang="en-US" sz="1600" noProof="0" dirty="0">
                          <a:latin typeface="+mn-lt"/>
                        </a:rPr>
                        <a:t>()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b="0" i="0" kern="120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Convert other graph classes (e.g., </a:t>
                      </a:r>
                      <a:r>
                        <a:rPr lang="en-US" sz="1400" b="0" i="0" kern="1200" noProof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gMCP</a:t>
                      </a:r>
                      <a:r>
                        <a:rPr lang="en-US" sz="1400" b="0" i="0" kern="120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to  </a:t>
                      </a:r>
                      <a:r>
                        <a:rPr lang="en-US" sz="1400" b="0" i="0" kern="1200" noProof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graphicalMCP</a:t>
                      </a:r>
                      <a:endParaRPr lang="en-US" sz="1400" b="0" i="0" kern="1200" noProof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600" noProof="0" dirty="0" err="1">
                          <a:latin typeface="+mn-lt"/>
                        </a:rPr>
                        <a:t>graph_generate_weights</a:t>
                      </a:r>
                      <a:r>
                        <a:rPr lang="en-US" sz="1600" noProof="0" dirty="0">
                          <a:latin typeface="+mn-lt"/>
                        </a:rPr>
                        <a:t>()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noProof="0" dirty="0">
                          <a:latin typeface="+mn-lt"/>
                        </a:rPr>
                        <a:t>Generate the weighting strategy based on a graph</a:t>
                      </a:r>
                    </a:p>
                  </a:txBody>
                  <a:tcPr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noProof="0" dirty="0" err="1">
                          <a:latin typeface="+mn-lt"/>
                        </a:rPr>
                        <a:t>graph_test_shortcut</a:t>
                      </a:r>
                      <a:r>
                        <a:rPr lang="en-US" sz="1600" noProof="0" dirty="0">
                          <a:latin typeface="+mn-lt"/>
                        </a:rPr>
                        <a:t>()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noProof="0" dirty="0">
                          <a:latin typeface="+mn-lt"/>
                        </a:rPr>
                        <a:t>Shortcut (sequentially rejective) test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noProof="0" dirty="0" err="1">
                          <a:latin typeface="+mn-lt"/>
                        </a:rPr>
                        <a:t>graph_test_closure</a:t>
                      </a:r>
                      <a:r>
                        <a:rPr lang="en-US" sz="1600" noProof="0" dirty="0">
                          <a:latin typeface="+mn-lt"/>
                        </a:rPr>
                        <a:t>()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noProof="0" dirty="0">
                          <a:latin typeface="+mn-lt"/>
                        </a:rPr>
                        <a:t>Closed test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600" noProof="0" dirty="0" err="1">
                          <a:latin typeface="+mn-lt"/>
                        </a:rPr>
                        <a:t>adjust_p</a:t>
                      </a:r>
                      <a:r>
                        <a:rPr lang="en-US" sz="1600" noProof="0" dirty="0">
                          <a:latin typeface="+mn-lt"/>
                        </a:rPr>
                        <a:t>_*()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noProof="0" dirty="0">
                          <a:latin typeface="+mn-lt"/>
                        </a:rPr>
                        <a:t>Calculate adjusted p-values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600" noProof="0" dirty="0" err="1">
                          <a:latin typeface="+mn-lt"/>
                        </a:rPr>
                        <a:t>adjust_weights</a:t>
                      </a:r>
                      <a:r>
                        <a:rPr lang="en-US" sz="1600" noProof="0" dirty="0">
                          <a:latin typeface="+mn-lt"/>
                        </a:rPr>
                        <a:t>_*()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noProof="0" dirty="0">
                          <a:latin typeface="+mn-lt"/>
                        </a:rPr>
                        <a:t>Calculate adjusted hypothesis weights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600" noProof="0" dirty="0" err="1">
                          <a:latin typeface="+mn-lt"/>
                        </a:rPr>
                        <a:t>graph_rejection_orderings</a:t>
                      </a:r>
                      <a:r>
                        <a:rPr lang="en-US" sz="1600" noProof="0" dirty="0">
                          <a:latin typeface="+mn-lt"/>
                        </a:rPr>
                        <a:t>()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b="0" i="0" kern="120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Find alternative rejection sequences for shortcut tests</a:t>
                      </a:r>
                      <a:endParaRPr lang="en-US" sz="1400" noProof="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noProof="0" dirty="0" err="1">
                          <a:latin typeface="+mn-lt"/>
                        </a:rPr>
                        <a:t>graph_calculate_power</a:t>
                      </a:r>
                      <a:r>
                        <a:rPr lang="en-US" sz="1600" noProof="0" dirty="0">
                          <a:latin typeface="+mn-lt"/>
                        </a:rPr>
                        <a:t>()</a:t>
                      </a:r>
                    </a:p>
                  </a:txBody>
                  <a:tcPr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863158637"/>
                  </a:ext>
                </a:extLst>
              </a:tr>
            </a:tbl>
          </a:graphicData>
        </a:graphic>
      </p:graphicFrame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F2D385E-57F5-9074-5048-1EAF1FE15E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 noProof="0"/>
              <a:t>Bretz, Chen, Xi | ISBS | October 2026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980323344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ADC35-2954-4E52-BE3F-E02DED7407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975798" cy="994172"/>
          </a:xfrm>
        </p:spPr>
        <p:txBody>
          <a:bodyPr>
            <a:normAutofit/>
          </a:bodyPr>
          <a:lstStyle/>
          <a:p>
            <a:r>
              <a:rPr lang="en-US" noProof="0" dirty="0"/>
              <a:t>Example 3 Revisited</a:t>
            </a:r>
            <a:br>
              <a:rPr lang="en-US" sz="2800" noProof="0" dirty="0"/>
            </a:br>
            <a:r>
              <a:rPr lang="en-US" sz="2200" i="1" noProof="0" dirty="0"/>
              <a:t>Background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1AECF94-E3B2-2027-9E29-D84B307B143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369219"/>
                <a:ext cx="7975798" cy="3263504"/>
              </a:xfrm>
            </p:spPr>
            <p:txBody>
              <a:bodyPr>
                <a:normAutofit/>
              </a:bodyPr>
              <a:lstStyle/>
              <a:p>
                <a:pPr marL="228600" lvl="0" indent="-228600" defTabSz="914400">
                  <a:lnSpc>
                    <a:spcPct val="100000"/>
                  </a:lnSpc>
                  <a:spcBef>
                    <a:spcPct val="20000"/>
                  </a:spcBef>
                  <a:buSzPct val="100000"/>
                  <a:buFont typeface="Wingdings" charset="2"/>
                  <a:buChar char="§"/>
                  <a:tabLst>
                    <a:tab pos="3998913" algn="r"/>
                    <a:tab pos="8229600" algn="r"/>
                  </a:tabLst>
                </a:pPr>
                <a:r>
                  <a:rPr lang="en-US" sz="1800" noProof="0" dirty="0">
                    <a:solidFill>
                      <a:srgbClr val="000000"/>
                    </a:solidFill>
                  </a:rPr>
                  <a:t>Objective: To demonstrate that dose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noProof="0" smtClean="0">
                            <a:solidFill>
                              <a:srgbClr val="5191DD">
                                <a:lumMod val="75000"/>
                              </a:srgb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noProof="0" smtClean="0">
                            <a:solidFill>
                              <a:srgbClr val="5191DD">
                                <a:lumMod val="75000"/>
                              </a:srgbClr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1800" i="1" noProof="0" smtClean="0">
                            <a:solidFill>
                              <a:srgbClr val="5191DD">
                                <a:lumMod val="75000"/>
                              </a:srgb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800" noProof="0" dirty="0">
                    <a:solidFill>
                      <a:srgbClr val="5191DD">
                        <a:lumMod val="75000"/>
                      </a:srgbClr>
                    </a:solidFill>
                  </a:rPr>
                  <a:t> 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noProof="0" smtClean="0">
                            <a:solidFill>
                              <a:srgbClr val="5191DD">
                                <a:lumMod val="75000"/>
                              </a:srgb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noProof="0" smtClean="0">
                            <a:solidFill>
                              <a:srgbClr val="5191DD">
                                <a:lumMod val="75000"/>
                              </a:srgbClr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1800" i="1" noProof="0" smtClean="0">
                            <a:solidFill>
                              <a:srgbClr val="5191DD">
                                <a:lumMod val="75000"/>
                              </a:srgb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800" i="1" noProof="0" smtClean="0">
                        <a:solidFill>
                          <a:srgbClr val="5191DD">
                            <a:lumMod val="75000"/>
                          </a:srgbClr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800" noProof="0" dirty="0">
                    <a:solidFill>
                      <a:srgbClr val="000000"/>
                    </a:solidFill>
                  </a:rPr>
                  <a:t>of a new drug is better than control </a:t>
                </a:r>
                <a14:m>
                  <m:oMath xmlns:m="http://schemas.openxmlformats.org/officeDocument/2006/math">
                    <m:r>
                      <a:rPr lang="en-US" sz="1800" i="1" noProof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sz="1800" noProof="0" dirty="0">
                    <a:solidFill>
                      <a:srgbClr val="000000"/>
                    </a:solidFill>
                  </a:rPr>
                  <a:t> in COPD patients for two endpoints</a:t>
                </a:r>
              </a:p>
              <a:p>
                <a:pPr marL="457200" lvl="1" indent="-228600" defTabSz="914400">
                  <a:lnSpc>
                    <a:spcPct val="100000"/>
                  </a:lnSpc>
                  <a:spcBef>
                    <a:spcPct val="20000"/>
                  </a:spcBef>
                  <a:buSzPct val="100000"/>
                  <a:buFont typeface="Arial" pitchFamily="34" charset="0"/>
                  <a:buChar char="–"/>
                  <a:tabLst>
                    <a:tab pos="2419350" algn="l"/>
                  </a:tabLst>
                </a:pPr>
                <a:r>
                  <a:rPr lang="en-US" sz="1600" noProof="0" dirty="0">
                    <a:solidFill>
                      <a:srgbClr val="5191DD">
                        <a:lumMod val="75000"/>
                      </a:srgbClr>
                    </a:solidFill>
                  </a:rPr>
                  <a:t>Primary</a:t>
                </a:r>
                <a:r>
                  <a:rPr lang="en-US" sz="1600" noProof="0" dirty="0">
                    <a:solidFill>
                      <a:srgbClr val="000000"/>
                    </a:solidFill>
                  </a:rPr>
                  <a:t> endpoint: 	FEV1</a:t>
                </a:r>
              </a:p>
              <a:p>
                <a:pPr marL="457200" lvl="1" indent="-228600" defTabSz="914400">
                  <a:lnSpc>
                    <a:spcPct val="100000"/>
                  </a:lnSpc>
                  <a:spcBef>
                    <a:spcPct val="20000"/>
                  </a:spcBef>
                  <a:buSzPct val="100000"/>
                  <a:buFont typeface="Arial" pitchFamily="34" charset="0"/>
                  <a:buChar char="–"/>
                  <a:tabLst>
                    <a:tab pos="2419350" algn="l"/>
                  </a:tabLst>
                </a:pPr>
                <a:r>
                  <a:rPr lang="en-US" sz="1600" noProof="0" dirty="0">
                    <a:solidFill>
                      <a:srgbClr val="5191DD">
                        <a:lumMod val="75000"/>
                      </a:srgbClr>
                    </a:solidFill>
                  </a:rPr>
                  <a:t>Secondary</a:t>
                </a:r>
                <a:r>
                  <a:rPr lang="en-US" sz="1600" noProof="0" dirty="0">
                    <a:solidFill>
                      <a:srgbClr val="000000"/>
                    </a:solidFill>
                  </a:rPr>
                  <a:t> endpoint:	Time to exacerbation</a:t>
                </a:r>
              </a:p>
              <a:p>
                <a:pPr marL="228600" lvl="0" indent="-228600" defTabSz="914400">
                  <a:lnSpc>
                    <a:spcPct val="100000"/>
                  </a:lnSpc>
                  <a:spcBef>
                    <a:spcPts val="900"/>
                  </a:spcBef>
                  <a:buSzPct val="100000"/>
                  <a:buFont typeface="Wingdings" charset="2"/>
                  <a:buChar char="§"/>
                  <a:tabLst>
                    <a:tab pos="3998913" algn="r"/>
                    <a:tab pos="8229600" algn="r"/>
                  </a:tabLst>
                </a:pPr>
                <a:r>
                  <a:rPr lang="en-US" sz="1800" noProof="0" dirty="0">
                    <a:solidFill>
                      <a:srgbClr val="000000"/>
                    </a:solidFill>
                  </a:rPr>
                  <a:t>There is a </a:t>
                </a:r>
                <a:r>
                  <a:rPr lang="en-US" sz="1800" noProof="0" dirty="0">
                    <a:solidFill>
                      <a:srgbClr val="5191DD">
                        <a:lumMod val="75000"/>
                      </a:srgbClr>
                    </a:solidFill>
                  </a:rPr>
                  <a:t>natural order </a:t>
                </a:r>
                <a:r>
                  <a:rPr lang="en-US" sz="1800" noProof="0" dirty="0">
                    <a:solidFill>
                      <a:srgbClr val="000000"/>
                    </a:solidFill>
                  </a:rPr>
                  <a:t>in that the primary endpoint is more important than the secondary endpoint </a:t>
                </a:r>
              </a:p>
              <a:p>
                <a:pPr marL="457200" lvl="1" indent="-228600" defTabSz="914400">
                  <a:lnSpc>
                    <a:spcPct val="100000"/>
                  </a:lnSpc>
                  <a:spcBef>
                    <a:spcPts val="300"/>
                  </a:spcBef>
                  <a:buSzPct val="100000"/>
                  <a:buFont typeface="Arial" pitchFamily="34" charset="0"/>
                  <a:buChar char="–"/>
                </a:pPr>
                <a:r>
                  <a:rPr lang="en-US" sz="1600" noProof="0" dirty="0">
                    <a:solidFill>
                      <a:srgbClr val="000000"/>
                    </a:solidFill>
                  </a:rPr>
                  <a:t>Thus, we would like to test the primary null hypothesis first; only if that is rejected, we test the secondary hypothesis</a:t>
                </a:r>
              </a:p>
              <a:p>
                <a:pPr marL="228600" lvl="0" indent="-228600" defTabSz="914400">
                  <a:lnSpc>
                    <a:spcPct val="100000"/>
                  </a:lnSpc>
                  <a:spcBef>
                    <a:spcPts val="900"/>
                  </a:spcBef>
                  <a:buSzPct val="100000"/>
                  <a:buFont typeface="Wingdings" charset="2"/>
                  <a:buChar char="§"/>
                  <a:tabLst>
                    <a:tab pos="3998913" algn="r"/>
                    <a:tab pos="8229600" algn="r"/>
                  </a:tabLst>
                </a:pPr>
                <a:r>
                  <a:rPr lang="en-US" sz="1800" noProof="0" dirty="0">
                    <a:solidFill>
                      <a:srgbClr val="000000"/>
                    </a:solidFill>
                  </a:rPr>
                  <a:t>Both </a:t>
                </a:r>
                <a:r>
                  <a:rPr lang="en-US" sz="1800" noProof="0" dirty="0">
                    <a:solidFill>
                      <a:srgbClr val="5191DD">
                        <a:lumMod val="75000"/>
                      </a:srgbClr>
                    </a:solidFill>
                  </a:rPr>
                  <a:t>doses are equally important</a:t>
                </a:r>
              </a:p>
              <a:p>
                <a:pPr marL="457200" lvl="1" indent="-228600" defTabSz="914400">
                  <a:lnSpc>
                    <a:spcPct val="100000"/>
                  </a:lnSpc>
                  <a:spcBef>
                    <a:spcPts val="300"/>
                  </a:spcBef>
                  <a:buSzPct val="100000"/>
                  <a:buFont typeface="Arial" pitchFamily="34" charset="0"/>
                  <a:buChar char="–"/>
                </a:pPr>
                <a:r>
                  <a:rPr lang="en-US" sz="1600" noProof="0" dirty="0">
                    <a:solidFill>
                      <a:srgbClr val="000000"/>
                    </a:solidFill>
                  </a:rPr>
                  <a:t>Thus, both doses are simultaneously tested against the control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1AECF94-E3B2-2027-9E29-D84B307B143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369219"/>
                <a:ext cx="7975798" cy="3263504"/>
              </a:xfrm>
              <a:blipFill>
                <a:blip r:embed="rId2"/>
                <a:stretch>
                  <a:fillRect l="-459" t="-11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C66AEC-4B4B-11CF-8433-A8F84D81E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47CF9-5B10-D24F-A8D7-45A9778164F7}" type="slidenum">
              <a:rPr lang="en-US" noProof="0" smtClean="0"/>
              <a:pPr/>
              <a:t>87</a:t>
            </a:fld>
            <a:endParaRPr lang="en-US" noProof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270D6B-EF81-32FB-120E-41014C4B75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 noProof="0"/>
              <a:t>Bretz, Chen, Xi | ISBS | October 2026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2997576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ADC35-2954-4E52-BE3F-E02DED7407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975798" cy="994172"/>
          </a:xfrm>
        </p:spPr>
        <p:txBody>
          <a:bodyPr>
            <a:normAutofit/>
          </a:bodyPr>
          <a:lstStyle/>
          <a:p>
            <a:r>
              <a:rPr lang="en-US" noProof="0" dirty="0"/>
              <a:t>Example 3 Revisited</a:t>
            </a:r>
            <a:br>
              <a:rPr lang="en-US" sz="2800" noProof="0" dirty="0"/>
            </a:br>
            <a:r>
              <a:rPr lang="en-US" sz="2200" i="1" noProof="0" dirty="0"/>
              <a:t>Create an initial graph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C66AEC-4B4B-11CF-8433-A8F84D81E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47CF9-5B10-D24F-A8D7-45A9778164F7}" type="slidenum">
              <a:rPr lang="en-US" noProof="0" smtClean="0"/>
              <a:pPr/>
              <a:t>88</a:t>
            </a:fld>
            <a:endParaRPr lang="en-US" noProof="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1A498DC-1F05-087D-3844-0DFBE213463A}"/>
              </a:ext>
            </a:extLst>
          </p:cNvPr>
          <p:cNvSpPr txBox="1"/>
          <p:nvPr/>
        </p:nvSpPr>
        <p:spPr>
          <a:xfrm>
            <a:off x="369637" y="1294477"/>
            <a:ext cx="5354491" cy="324704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ts val="600"/>
              </a:spcBef>
              <a:spcAft>
                <a:spcPct val="0"/>
              </a:spcAft>
            </a:pPr>
            <a:r>
              <a:rPr lang="en-US" sz="16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hypotheses</a:t>
            </a:r>
            <a:r>
              <a:rPr lang="en-US" sz="1600" noProof="0" dirty="0">
                <a:solidFill>
                  <a:srgbClr val="003B4F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 </a:t>
            </a:r>
            <a:r>
              <a:rPr lang="en-US" sz="1600" noProof="0" dirty="0">
                <a:solidFill>
                  <a:srgbClr val="5E5E5E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&lt;-</a:t>
            </a:r>
            <a:r>
              <a:rPr lang="en-US" sz="1600" noProof="0" dirty="0">
                <a:solidFill>
                  <a:srgbClr val="003B4F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 </a:t>
            </a:r>
            <a:r>
              <a:rPr lang="en-US" sz="1600" noProof="0" dirty="0">
                <a:solidFill>
                  <a:srgbClr val="4758AB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</a:t>
            </a:r>
            <a:r>
              <a:rPr lang="en-US" sz="1600" noProof="0" dirty="0">
                <a:solidFill>
                  <a:srgbClr val="5E5E5E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(</a:t>
            </a:r>
            <a:r>
              <a:rPr lang="en-US" sz="1600" noProof="0" dirty="0">
                <a:solidFill>
                  <a:srgbClr val="AD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0.5</a:t>
            </a:r>
            <a:r>
              <a:rPr lang="en-US" sz="1600" noProof="0" dirty="0">
                <a:solidFill>
                  <a:srgbClr val="003B4F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</a:t>
            </a:r>
            <a:r>
              <a:rPr lang="en-US" sz="1600" noProof="0" dirty="0">
                <a:solidFill>
                  <a:srgbClr val="AD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0.5</a:t>
            </a:r>
            <a:r>
              <a:rPr lang="en-US" sz="1600" noProof="0" dirty="0">
                <a:solidFill>
                  <a:srgbClr val="003B4F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</a:t>
            </a:r>
            <a:r>
              <a:rPr lang="en-US" sz="1600" noProof="0" dirty="0">
                <a:solidFill>
                  <a:srgbClr val="AD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0</a:t>
            </a:r>
            <a:r>
              <a:rPr lang="en-US" sz="1600" noProof="0" dirty="0">
                <a:solidFill>
                  <a:srgbClr val="003B4F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</a:t>
            </a:r>
            <a:r>
              <a:rPr lang="en-US" sz="1600" noProof="0" dirty="0">
                <a:solidFill>
                  <a:srgbClr val="AD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0</a:t>
            </a:r>
            <a:r>
              <a:rPr lang="en-US" sz="1600" noProof="0" dirty="0">
                <a:solidFill>
                  <a:srgbClr val="5E5E5E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)</a:t>
            </a:r>
          </a:p>
          <a:p>
            <a:pPr lvl="0" eaLnBrk="0" fontAlgn="base" hangingPunct="0">
              <a:spcBef>
                <a:spcPts val="600"/>
              </a:spcBef>
              <a:spcAft>
                <a:spcPct val="0"/>
              </a:spcAft>
            </a:pPr>
            <a:r>
              <a:rPr lang="en-US" sz="16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transitions</a:t>
            </a:r>
            <a:r>
              <a:rPr lang="en-US" sz="1600" noProof="0" dirty="0">
                <a:solidFill>
                  <a:srgbClr val="003B4F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 </a:t>
            </a:r>
            <a:r>
              <a:rPr lang="en-US" sz="1600" noProof="0" dirty="0">
                <a:solidFill>
                  <a:srgbClr val="5E5E5E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&lt;-</a:t>
            </a:r>
            <a:r>
              <a:rPr lang="en-US" sz="1600" noProof="0" dirty="0">
                <a:solidFill>
                  <a:srgbClr val="003B4F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 </a:t>
            </a:r>
            <a:r>
              <a:rPr lang="en-US" sz="1600" noProof="0" dirty="0" err="1">
                <a:solidFill>
                  <a:srgbClr val="4758AB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rbind</a:t>
            </a:r>
            <a:r>
              <a:rPr lang="en-US" sz="1600" noProof="0" dirty="0">
                <a:solidFill>
                  <a:srgbClr val="5E5E5E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(</a:t>
            </a:r>
            <a:r>
              <a:rPr lang="en-US" sz="1600" noProof="0" dirty="0">
                <a:solidFill>
                  <a:srgbClr val="4758AB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</a:t>
            </a:r>
            <a:r>
              <a:rPr lang="en-US" sz="1600" noProof="0" dirty="0">
                <a:solidFill>
                  <a:srgbClr val="5E5E5E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(</a:t>
            </a:r>
            <a:r>
              <a:rPr lang="en-US" sz="1600" noProof="0" dirty="0">
                <a:solidFill>
                  <a:srgbClr val="AD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0</a:t>
            </a:r>
            <a:r>
              <a:rPr lang="en-US" sz="1600" noProof="0" dirty="0">
                <a:solidFill>
                  <a:srgbClr val="003B4F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</a:t>
            </a:r>
            <a:r>
              <a:rPr lang="en-US" sz="1600" noProof="0" dirty="0">
                <a:solidFill>
                  <a:srgbClr val="AD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0.5</a:t>
            </a:r>
            <a:r>
              <a:rPr lang="en-US" sz="1600" noProof="0" dirty="0">
                <a:solidFill>
                  <a:srgbClr val="003B4F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</a:t>
            </a:r>
            <a:r>
              <a:rPr lang="en-US" sz="1600" noProof="0" dirty="0">
                <a:solidFill>
                  <a:srgbClr val="AD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0.5</a:t>
            </a:r>
            <a:r>
              <a:rPr lang="en-US" sz="1600" noProof="0" dirty="0">
                <a:solidFill>
                  <a:srgbClr val="003B4F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</a:t>
            </a:r>
            <a:r>
              <a:rPr lang="en-US" sz="1600" noProof="0" dirty="0">
                <a:solidFill>
                  <a:srgbClr val="AD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0</a:t>
            </a:r>
            <a:r>
              <a:rPr lang="en-US" sz="1600" noProof="0" dirty="0">
                <a:solidFill>
                  <a:srgbClr val="5E5E5E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)</a:t>
            </a:r>
            <a:r>
              <a:rPr lang="en-US" sz="1600" noProof="0" dirty="0">
                <a:solidFill>
                  <a:srgbClr val="003B4F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</a:t>
            </a:r>
          </a:p>
          <a:p>
            <a:pPr lvl="0" eaLnBrk="0" fontAlgn="base" hangingPunct="0">
              <a:spcBef>
                <a:spcPts val="600"/>
              </a:spcBef>
              <a:spcAft>
                <a:spcPct val="0"/>
              </a:spcAft>
            </a:pPr>
            <a:r>
              <a:rPr lang="en-US" sz="1600" noProof="0" dirty="0">
                <a:solidFill>
                  <a:srgbClr val="003B4F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                     </a:t>
            </a:r>
            <a:r>
              <a:rPr lang="en-US" sz="1600" noProof="0" dirty="0">
                <a:solidFill>
                  <a:srgbClr val="4758AB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</a:t>
            </a:r>
            <a:r>
              <a:rPr lang="en-US" sz="1600" noProof="0" dirty="0">
                <a:solidFill>
                  <a:srgbClr val="5E5E5E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(</a:t>
            </a:r>
            <a:r>
              <a:rPr lang="en-US" sz="1600" noProof="0" dirty="0">
                <a:solidFill>
                  <a:srgbClr val="AD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0.5</a:t>
            </a:r>
            <a:r>
              <a:rPr lang="en-US" sz="1600" noProof="0" dirty="0">
                <a:solidFill>
                  <a:srgbClr val="003B4F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</a:t>
            </a:r>
            <a:r>
              <a:rPr lang="en-US" sz="1600" noProof="0" dirty="0">
                <a:solidFill>
                  <a:srgbClr val="AD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0</a:t>
            </a:r>
            <a:r>
              <a:rPr lang="en-US" sz="1600" noProof="0" dirty="0">
                <a:solidFill>
                  <a:srgbClr val="003B4F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</a:t>
            </a:r>
            <a:r>
              <a:rPr lang="en-US" sz="1600" noProof="0" dirty="0">
                <a:solidFill>
                  <a:srgbClr val="AD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0</a:t>
            </a:r>
            <a:r>
              <a:rPr lang="en-US" sz="1600" noProof="0" dirty="0">
                <a:solidFill>
                  <a:srgbClr val="003B4F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</a:t>
            </a:r>
            <a:r>
              <a:rPr lang="en-US" sz="1600" noProof="0" dirty="0">
                <a:solidFill>
                  <a:srgbClr val="AD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0.5</a:t>
            </a:r>
            <a:r>
              <a:rPr lang="en-US" sz="1600" noProof="0" dirty="0">
                <a:solidFill>
                  <a:srgbClr val="5E5E5E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)</a:t>
            </a:r>
            <a:r>
              <a:rPr lang="en-US" sz="1600" noProof="0" dirty="0">
                <a:solidFill>
                  <a:srgbClr val="003B4F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</a:t>
            </a:r>
          </a:p>
          <a:p>
            <a:pPr lvl="0" eaLnBrk="0" fontAlgn="base" hangingPunct="0">
              <a:spcBef>
                <a:spcPts val="600"/>
              </a:spcBef>
              <a:spcAft>
                <a:spcPct val="0"/>
              </a:spcAft>
            </a:pPr>
            <a:r>
              <a:rPr lang="en-US" sz="1600" noProof="0" dirty="0">
                <a:solidFill>
                  <a:srgbClr val="003B4F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                     </a:t>
            </a:r>
            <a:r>
              <a:rPr lang="en-US" sz="1600" noProof="0" dirty="0">
                <a:solidFill>
                  <a:srgbClr val="4758AB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</a:t>
            </a:r>
            <a:r>
              <a:rPr lang="en-US" sz="1600" noProof="0" dirty="0">
                <a:solidFill>
                  <a:srgbClr val="5E5E5E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(</a:t>
            </a:r>
            <a:r>
              <a:rPr lang="en-US" sz="1600" noProof="0" dirty="0">
                <a:solidFill>
                  <a:srgbClr val="AD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0</a:t>
            </a:r>
            <a:r>
              <a:rPr lang="en-US" sz="1600" noProof="0" dirty="0">
                <a:solidFill>
                  <a:srgbClr val="003B4F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</a:t>
            </a:r>
            <a:r>
              <a:rPr lang="en-US" sz="1600" noProof="0" dirty="0">
                <a:solidFill>
                  <a:srgbClr val="AD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1</a:t>
            </a:r>
            <a:r>
              <a:rPr lang="en-US" sz="1600" noProof="0" dirty="0">
                <a:solidFill>
                  <a:srgbClr val="003B4F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</a:t>
            </a:r>
            <a:r>
              <a:rPr lang="en-US" sz="1600" noProof="0" dirty="0">
                <a:solidFill>
                  <a:srgbClr val="AD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0</a:t>
            </a:r>
            <a:r>
              <a:rPr lang="en-US" sz="1600" noProof="0" dirty="0">
                <a:solidFill>
                  <a:srgbClr val="003B4F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</a:t>
            </a:r>
            <a:r>
              <a:rPr lang="en-US" sz="1600" noProof="0" dirty="0">
                <a:solidFill>
                  <a:srgbClr val="AD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0</a:t>
            </a:r>
            <a:r>
              <a:rPr lang="en-US" sz="1600" noProof="0" dirty="0">
                <a:solidFill>
                  <a:srgbClr val="5E5E5E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)</a:t>
            </a:r>
            <a:r>
              <a:rPr lang="en-US" sz="1600" noProof="0" dirty="0">
                <a:solidFill>
                  <a:srgbClr val="003B4F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</a:t>
            </a:r>
          </a:p>
          <a:p>
            <a:pPr lvl="0" eaLnBrk="0" fontAlgn="base" hangingPunct="0">
              <a:spcBef>
                <a:spcPts val="600"/>
              </a:spcBef>
              <a:spcAft>
                <a:spcPct val="0"/>
              </a:spcAft>
            </a:pPr>
            <a:r>
              <a:rPr lang="en-US" sz="1600" noProof="0" dirty="0">
                <a:solidFill>
                  <a:srgbClr val="003B4F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                     </a:t>
            </a:r>
            <a:r>
              <a:rPr lang="en-US" sz="1600" noProof="0" dirty="0">
                <a:solidFill>
                  <a:srgbClr val="4758AB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</a:t>
            </a:r>
            <a:r>
              <a:rPr lang="en-US" sz="1600" noProof="0" dirty="0">
                <a:solidFill>
                  <a:srgbClr val="5E5E5E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(</a:t>
            </a:r>
            <a:r>
              <a:rPr lang="en-US" sz="1600" noProof="0" dirty="0">
                <a:solidFill>
                  <a:srgbClr val="AD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1</a:t>
            </a:r>
            <a:r>
              <a:rPr lang="en-US" sz="1600" noProof="0" dirty="0">
                <a:solidFill>
                  <a:srgbClr val="003B4F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</a:t>
            </a:r>
            <a:r>
              <a:rPr lang="en-US" sz="1600" noProof="0" dirty="0">
                <a:solidFill>
                  <a:srgbClr val="AD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0</a:t>
            </a:r>
            <a:r>
              <a:rPr lang="en-US" sz="1600" noProof="0" dirty="0">
                <a:solidFill>
                  <a:srgbClr val="003B4F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</a:t>
            </a:r>
            <a:r>
              <a:rPr lang="en-US" sz="1600" noProof="0" dirty="0">
                <a:solidFill>
                  <a:srgbClr val="AD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0</a:t>
            </a:r>
            <a:r>
              <a:rPr lang="en-US" sz="1600" noProof="0" dirty="0">
                <a:solidFill>
                  <a:srgbClr val="003B4F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</a:t>
            </a:r>
            <a:r>
              <a:rPr lang="en-US" sz="1600" noProof="0" dirty="0">
                <a:solidFill>
                  <a:srgbClr val="AD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0</a:t>
            </a:r>
            <a:r>
              <a:rPr lang="en-US" sz="1600" noProof="0" dirty="0">
                <a:solidFill>
                  <a:srgbClr val="5E5E5E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))</a:t>
            </a:r>
            <a:endParaRPr lang="en-US" sz="1600" noProof="0" dirty="0">
              <a:solidFill>
                <a:srgbClr val="003B4F"/>
              </a:solidFill>
              <a:latin typeface="Courier New" panose="02070309020205020404" pitchFamily="49" charset="0"/>
              <a:ea typeface="var(--bs-font-monospace)"/>
              <a:cs typeface="Courier New" panose="02070309020205020404" pitchFamily="49" charset="0"/>
            </a:endParaRPr>
          </a:p>
          <a:p>
            <a:pPr lvl="0" eaLnBrk="0" fontAlgn="base" hangingPunct="0">
              <a:spcBef>
                <a:spcPts val="600"/>
              </a:spcBef>
              <a:spcAft>
                <a:spcPct val="0"/>
              </a:spcAft>
            </a:pPr>
            <a:r>
              <a:rPr lang="en-US" sz="1600" noProof="0" dirty="0" err="1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hyp_names</a:t>
            </a:r>
            <a:r>
              <a:rPr lang="en-US" sz="1600" noProof="0" dirty="0">
                <a:solidFill>
                  <a:srgbClr val="003B4F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 </a:t>
            </a:r>
            <a:r>
              <a:rPr lang="en-US" sz="1600" noProof="0" dirty="0">
                <a:solidFill>
                  <a:srgbClr val="5E5E5E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&lt;-</a:t>
            </a:r>
            <a:r>
              <a:rPr lang="en-US" sz="1600" noProof="0" dirty="0">
                <a:solidFill>
                  <a:srgbClr val="003B4F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 </a:t>
            </a:r>
            <a:r>
              <a:rPr lang="en-US" sz="1600" noProof="0" dirty="0">
                <a:solidFill>
                  <a:srgbClr val="4758AB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</a:t>
            </a:r>
            <a:r>
              <a:rPr lang="en-US" sz="1600" noProof="0" dirty="0">
                <a:solidFill>
                  <a:srgbClr val="5E5E5E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(</a:t>
            </a:r>
            <a:r>
              <a:rPr lang="en-US" sz="1600" noProof="0" dirty="0">
                <a:solidFill>
                  <a:srgbClr val="20794D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"H1"</a:t>
            </a:r>
            <a:r>
              <a:rPr lang="en-US" sz="1600" noProof="0" dirty="0">
                <a:solidFill>
                  <a:srgbClr val="003B4F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</a:t>
            </a:r>
            <a:r>
              <a:rPr lang="en-US" sz="1600" noProof="0" dirty="0">
                <a:solidFill>
                  <a:srgbClr val="20794D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"H2"</a:t>
            </a:r>
            <a:r>
              <a:rPr lang="en-US" sz="1600" noProof="0" dirty="0">
                <a:solidFill>
                  <a:srgbClr val="003B4F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</a:t>
            </a:r>
            <a:r>
              <a:rPr lang="en-US" sz="1600" noProof="0" dirty="0">
                <a:solidFill>
                  <a:srgbClr val="20794D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"H3"</a:t>
            </a:r>
            <a:r>
              <a:rPr lang="en-US" sz="1600" noProof="0" dirty="0">
                <a:solidFill>
                  <a:srgbClr val="003B4F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</a:t>
            </a:r>
            <a:r>
              <a:rPr lang="en-US" sz="1600" noProof="0" dirty="0">
                <a:solidFill>
                  <a:srgbClr val="20794D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"H4"</a:t>
            </a:r>
            <a:r>
              <a:rPr lang="en-US" sz="1600" noProof="0" dirty="0">
                <a:solidFill>
                  <a:srgbClr val="5E5E5E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)</a:t>
            </a:r>
          </a:p>
          <a:p>
            <a:pPr lvl="0" eaLnBrk="0" fontAlgn="base" hangingPunct="0">
              <a:spcBef>
                <a:spcPts val="600"/>
              </a:spcBef>
              <a:spcAft>
                <a:spcPct val="0"/>
              </a:spcAft>
            </a:pPr>
            <a:r>
              <a:rPr lang="en-US" sz="16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g </a:t>
            </a:r>
            <a:r>
              <a:rPr lang="en-US" sz="1600" noProof="0" dirty="0">
                <a:solidFill>
                  <a:srgbClr val="5E5E5E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&lt;-</a:t>
            </a:r>
            <a:r>
              <a:rPr lang="en-US" sz="1600" noProof="0" dirty="0">
                <a:solidFill>
                  <a:srgbClr val="003B4F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 </a:t>
            </a:r>
            <a:r>
              <a:rPr lang="en-US" sz="1600" noProof="0" dirty="0" err="1">
                <a:solidFill>
                  <a:srgbClr val="4758AB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graph_create</a:t>
            </a:r>
            <a:r>
              <a:rPr lang="en-US" sz="1600" noProof="0" dirty="0">
                <a:solidFill>
                  <a:srgbClr val="5E5E5E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(</a:t>
            </a:r>
            <a:r>
              <a:rPr lang="en-US" sz="16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hypotheses</a:t>
            </a:r>
            <a:r>
              <a:rPr lang="en-US" sz="1600" noProof="0" dirty="0">
                <a:solidFill>
                  <a:srgbClr val="003B4F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</a:t>
            </a:r>
          </a:p>
          <a:p>
            <a:pPr lvl="0" eaLnBrk="0" fontAlgn="base" hangingPunct="0">
              <a:spcBef>
                <a:spcPts val="600"/>
              </a:spcBef>
              <a:spcAft>
                <a:spcPct val="0"/>
              </a:spcAft>
            </a:pPr>
            <a:r>
              <a:rPr lang="en-US" sz="1600" noProof="0" dirty="0">
                <a:solidFill>
                  <a:srgbClr val="003B4F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                  </a:t>
            </a:r>
            <a:r>
              <a:rPr lang="en-US" sz="16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transitions</a:t>
            </a:r>
            <a:r>
              <a:rPr lang="en-US" sz="1600" noProof="0" dirty="0">
                <a:solidFill>
                  <a:srgbClr val="003B4F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</a:t>
            </a:r>
          </a:p>
          <a:p>
            <a:pPr lvl="0" eaLnBrk="0" fontAlgn="base" hangingPunct="0">
              <a:spcBef>
                <a:spcPts val="600"/>
              </a:spcBef>
              <a:spcAft>
                <a:spcPct val="0"/>
              </a:spcAft>
            </a:pPr>
            <a:r>
              <a:rPr lang="en-US" sz="16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                  </a:t>
            </a:r>
            <a:r>
              <a:rPr lang="en-US" sz="1600" noProof="0" dirty="0" err="1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hyp_names</a:t>
            </a:r>
            <a:r>
              <a:rPr lang="en-US" sz="1600" noProof="0" dirty="0">
                <a:solidFill>
                  <a:srgbClr val="5E5E5E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)</a:t>
            </a:r>
            <a:endParaRPr lang="en-US" sz="1600" noProof="0" dirty="0">
              <a:solidFill>
                <a:srgbClr val="5E5E5E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0" eaLnBrk="0" fontAlgn="base" hangingPunct="0">
              <a:spcBef>
                <a:spcPts val="600"/>
              </a:spcBef>
              <a:spcAft>
                <a:spcPct val="0"/>
              </a:spcAft>
            </a:pPr>
            <a:r>
              <a:rPr lang="en-US" sz="1600" noProof="0" dirty="0">
                <a:solidFill>
                  <a:srgbClr val="4758AB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plot</a:t>
            </a:r>
            <a:r>
              <a:rPr lang="en-US" sz="1600" noProof="0" dirty="0">
                <a:solidFill>
                  <a:srgbClr val="5E5E5E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(</a:t>
            </a:r>
            <a:r>
              <a:rPr lang="en-US" sz="16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g</a:t>
            </a:r>
            <a:r>
              <a:rPr lang="en-US" sz="1600" noProof="0" dirty="0">
                <a:solidFill>
                  <a:srgbClr val="003B4F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</a:t>
            </a:r>
            <a:r>
              <a:rPr lang="en-US" sz="1600" noProof="0" dirty="0" err="1">
                <a:solidFill>
                  <a:srgbClr val="003B4F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vertex.size</a:t>
            </a:r>
            <a:r>
              <a:rPr lang="en-US" sz="1600" noProof="0" dirty="0">
                <a:solidFill>
                  <a:srgbClr val="003B4F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 </a:t>
            </a:r>
            <a:r>
              <a:rPr lang="en-US" sz="1600" noProof="0" dirty="0">
                <a:solidFill>
                  <a:srgbClr val="5E5E5E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=</a:t>
            </a:r>
            <a:r>
              <a:rPr lang="en-US" sz="1600" noProof="0" dirty="0">
                <a:solidFill>
                  <a:srgbClr val="003B4F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 </a:t>
            </a:r>
            <a:r>
              <a:rPr lang="en-US" sz="1600" noProof="0" dirty="0">
                <a:solidFill>
                  <a:srgbClr val="AD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30</a:t>
            </a:r>
            <a:r>
              <a:rPr lang="en-US" sz="1600" noProof="0" dirty="0">
                <a:solidFill>
                  <a:srgbClr val="5E5E5E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)</a:t>
            </a:r>
            <a:r>
              <a:rPr lang="en-US" sz="1600" noProof="0" dirty="0">
                <a:solidFill>
                  <a:srgbClr val="54565B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3C1D356-7124-2471-DA86-5624A31E1F6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22108" y="1296556"/>
            <a:ext cx="2834640" cy="2595093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FC50903-794D-05CA-A892-407E9CD451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 noProof="0"/>
              <a:t>Bretz, Chen, Xi | ISBS | October 2026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8353975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ADC35-2954-4E52-BE3F-E02DED7407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975798" cy="994172"/>
          </a:xfrm>
        </p:spPr>
        <p:txBody>
          <a:bodyPr>
            <a:normAutofit/>
          </a:bodyPr>
          <a:lstStyle/>
          <a:p>
            <a:r>
              <a:rPr lang="en-US" noProof="0" dirty="0"/>
              <a:t>Example 3 Revisited</a:t>
            </a:r>
            <a:br>
              <a:rPr lang="en-US" sz="2800" noProof="0" dirty="0"/>
            </a:br>
            <a:r>
              <a:rPr lang="en-US" sz="2200" i="1" noProof="0" dirty="0"/>
              <a:t>Update the initial graph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C66AEC-4B4B-11CF-8433-A8F84D81E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47CF9-5B10-D24F-A8D7-45A9778164F7}" type="slidenum">
              <a:rPr lang="en-US" noProof="0" smtClean="0"/>
              <a:pPr/>
              <a:t>89</a:t>
            </a:fld>
            <a:endParaRPr lang="en-US" noProof="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F6496E-F4A7-2447-C566-FA9B6D18D8E5}"/>
              </a:ext>
            </a:extLst>
          </p:cNvPr>
          <p:cNvSpPr txBox="1"/>
          <p:nvPr/>
        </p:nvSpPr>
        <p:spPr>
          <a:xfrm>
            <a:off x="447615" y="2541562"/>
            <a:ext cx="5420529" cy="98488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ts val="600"/>
              </a:spcBef>
              <a:spcAft>
                <a:spcPct val="0"/>
              </a:spcAft>
            </a:pPr>
            <a:r>
              <a:rPr lang="en-US" sz="1600" noProof="0" dirty="0" err="1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updated_g</a:t>
            </a:r>
            <a:r>
              <a:rPr lang="en-US" sz="1600" noProof="0" dirty="0">
                <a:solidFill>
                  <a:srgbClr val="003B4F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 </a:t>
            </a:r>
            <a:r>
              <a:rPr lang="en-US" sz="1600" noProof="0" dirty="0">
                <a:solidFill>
                  <a:srgbClr val="5E5E5E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&lt;-</a:t>
            </a:r>
          </a:p>
          <a:p>
            <a:pPr lvl="0" eaLnBrk="0" fontAlgn="base" hangingPunct="0">
              <a:spcBef>
                <a:spcPts val="600"/>
              </a:spcBef>
              <a:spcAft>
                <a:spcPct val="0"/>
              </a:spcAft>
            </a:pPr>
            <a:r>
              <a:rPr lang="en-US" sz="1600" noProof="0" dirty="0">
                <a:solidFill>
                  <a:srgbClr val="003B4F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  </a:t>
            </a:r>
            <a:r>
              <a:rPr lang="en-US" sz="1600" noProof="0" dirty="0" err="1">
                <a:solidFill>
                  <a:srgbClr val="4758AB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  <a:hlinkClick r:id="rId2"/>
              </a:rPr>
              <a:t>graph_update</a:t>
            </a:r>
            <a:r>
              <a:rPr lang="en-US" sz="1600" noProof="0" dirty="0">
                <a:solidFill>
                  <a:srgbClr val="5E5E5E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(</a:t>
            </a:r>
            <a:r>
              <a:rPr lang="en-US" sz="16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g</a:t>
            </a:r>
            <a:r>
              <a:rPr lang="en-US" sz="1600" noProof="0" dirty="0">
                <a:solidFill>
                  <a:srgbClr val="003B4F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delete </a:t>
            </a:r>
            <a:r>
              <a:rPr lang="en-US" sz="1600" noProof="0" dirty="0">
                <a:solidFill>
                  <a:srgbClr val="5E5E5E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=</a:t>
            </a:r>
            <a:r>
              <a:rPr lang="en-US" sz="1600" noProof="0" dirty="0">
                <a:solidFill>
                  <a:srgbClr val="003B4F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 </a:t>
            </a:r>
            <a:r>
              <a:rPr lang="en-US" sz="1600" noProof="0" dirty="0">
                <a:solidFill>
                  <a:srgbClr val="4758AB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  <a:hlinkClick r:id="rId3"/>
              </a:rPr>
              <a:t>c</a:t>
            </a:r>
            <a:r>
              <a:rPr lang="en-US" sz="1600" noProof="0" dirty="0">
                <a:solidFill>
                  <a:srgbClr val="5E5E5E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(</a:t>
            </a:r>
            <a:r>
              <a:rPr lang="en-US" sz="1600" noProof="0" dirty="0">
                <a:solidFill>
                  <a:srgbClr val="8F5902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F</a:t>
            </a:r>
            <a:r>
              <a:rPr lang="en-US" sz="1600" noProof="0" dirty="0">
                <a:solidFill>
                  <a:srgbClr val="003B4F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</a:t>
            </a:r>
            <a:r>
              <a:rPr lang="en-US" sz="1600" noProof="0" dirty="0">
                <a:solidFill>
                  <a:srgbClr val="8F5902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T</a:t>
            </a:r>
            <a:r>
              <a:rPr lang="en-US" sz="1600" noProof="0" dirty="0">
                <a:solidFill>
                  <a:srgbClr val="003B4F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</a:t>
            </a:r>
            <a:r>
              <a:rPr lang="en-US" sz="1600" noProof="0" dirty="0">
                <a:solidFill>
                  <a:srgbClr val="8F5902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F</a:t>
            </a:r>
            <a:r>
              <a:rPr lang="en-US" sz="1600" noProof="0" dirty="0">
                <a:solidFill>
                  <a:srgbClr val="003B4F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</a:t>
            </a:r>
            <a:r>
              <a:rPr lang="en-US" sz="1600" noProof="0" dirty="0">
                <a:solidFill>
                  <a:srgbClr val="8F5902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F</a:t>
            </a:r>
            <a:r>
              <a:rPr lang="en-US" sz="1600" noProof="0" dirty="0">
                <a:solidFill>
                  <a:srgbClr val="5E5E5E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))</a:t>
            </a:r>
          </a:p>
          <a:p>
            <a:pPr lvl="0" eaLnBrk="0" fontAlgn="base" hangingPunct="0">
              <a:spcBef>
                <a:spcPts val="600"/>
              </a:spcBef>
              <a:spcAft>
                <a:spcPct val="0"/>
              </a:spcAft>
            </a:pPr>
            <a:r>
              <a:rPr lang="en-US" sz="1600" noProof="0" dirty="0">
                <a:solidFill>
                  <a:srgbClr val="4758AB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plot</a:t>
            </a:r>
            <a:r>
              <a:rPr lang="en-US" sz="1600" noProof="0" dirty="0">
                <a:solidFill>
                  <a:srgbClr val="5E5E5E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(</a:t>
            </a:r>
            <a:r>
              <a:rPr lang="en-US" sz="1600" noProof="0" dirty="0" err="1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updated_g</a:t>
            </a:r>
            <a:r>
              <a:rPr lang="en-US" sz="1600" noProof="0" dirty="0">
                <a:solidFill>
                  <a:srgbClr val="003B4F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</a:t>
            </a:r>
            <a:r>
              <a:rPr lang="en-US" sz="1600" noProof="0" dirty="0" err="1">
                <a:solidFill>
                  <a:srgbClr val="003B4F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vertex.size</a:t>
            </a:r>
            <a:r>
              <a:rPr lang="en-US" sz="1600" noProof="0" dirty="0">
                <a:solidFill>
                  <a:srgbClr val="003B4F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 </a:t>
            </a:r>
            <a:r>
              <a:rPr lang="en-US" sz="1600" noProof="0" dirty="0">
                <a:solidFill>
                  <a:srgbClr val="5E5E5E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=</a:t>
            </a:r>
            <a:r>
              <a:rPr lang="en-US" sz="1600" noProof="0" dirty="0">
                <a:solidFill>
                  <a:srgbClr val="003B4F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 </a:t>
            </a:r>
            <a:r>
              <a:rPr lang="en-US" sz="1600" noProof="0" dirty="0">
                <a:solidFill>
                  <a:srgbClr val="AD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30</a:t>
            </a:r>
            <a:r>
              <a:rPr lang="en-US" sz="1600" noProof="0" dirty="0">
                <a:solidFill>
                  <a:srgbClr val="5E5E5E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)</a:t>
            </a:r>
            <a:r>
              <a:rPr lang="en-US" sz="1600" noProof="0" dirty="0">
                <a:solidFill>
                  <a:srgbClr val="54565B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8522B80-54FC-F84E-A3A6-8CA2864C55D3}"/>
                  </a:ext>
                </a:extLst>
              </p:cNvPr>
              <p:cNvSpPr txBox="1"/>
              <p:nvPr/>
            </p:nvSpPr>
            <p:spPr>
              <a:xfrm>
                <a:off x="447615" y="1290807"/>
                <a:ext cx="7257519" cy="69762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spcBef>
                    <a:spcPts val="432"/>
                  </a:spcBef>
                  <a:buFont typeface="Arial" panose="020B0604020202020204" pitchFamily="34" charset="0"/>
                  <a:buChar char="•"/>
                </a:pPr>
                <a:r>
                  <a:rPr lang="en-US" noProof="0" dirty="0">
                    <a:ea typeface="黑体"/>
                  </a:rPr>
                  <a:t>Assume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noProof="0" smtClean="0">
                            <a:latin typeface="Cambria Math" panose="02040503050406030204" pitchFamily="18" charset="0"/>
                            <a:ea typeface="黑体"/>
                          </a:rPr>
                        </m:ctrlPr>
                      </m:sSubPr>
                      <m:e>
                        <m:r>
                          <a:rPr lang="en-US" i="1" noProof="0" smtClean="0">
                            <a:latin typeface="Cambria Math" panose="02040503050406030204" pitchFamily="18" charset="0"/>
                            <a:ea typeface="黑体"/>
                          </a:rPr>
                          <m:t>𝐻</m:t>
                        </m:r>
                      </m:e>
                      <m:sub>
                        <m:r>
                          <a:rPr lang="en-US" b="0" i="1" noProof="0" smtClean="0">
                            <a:latin typeface="Cambria Math" panose="02040503050406030204" pitchFamily="18" charset="0"/>
                            <a:ea typeface="黑体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noProof="0" dirty="0">
                    <a:ea typeface="黑体"/>
                  </a:rPr>
                  <a:t> is rejected</a:t>
                </a:r>
              </a:p>
              <a:p>
                <a:pPr marL="285750" indent="-285750">
                  <a:spcBef>
                    <a:spcPts val="432"/>
                  </a:spcBef>
                  <a:buFont typeface="Arial" panose="020B0604020202020204" pitchFamily="34" charset="0"/>
                  <a:buChar char="•"/>
                </a:pPr>
                <a:r>
                  <a:rPr lang="en-US" noProof="0" dirty="0">
                    <a:ea typeface="黑体"/>
                  </a:rPr>
                  <a:t>Obtain an updated graph after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noProof="0">
                            <a:latin typeface="Cambria Math" panose="02040503050406030204" pitchFamily="18" charset="0"/>
                            <a:ea typeface="黑体"/>
                          </a:rPr>
                        </m:ctrlPr>
                      </m:sSubPr>
                      <m:e>
                        <m:r>
                          <a:rPr lang="en-US" i="1" noProof="0">
                            <a:latin typeface="Cambria Math" panose="02040503050406030204" pitchFamily="18" charset="0"/>
                            <a:ea typeface="黑体"/>
                          </a:rPr>
                          <m:t>𝐻</m:t>
                        </m:r>
                      </m:e>
                      <m:sub>
                        <m:r>
                          <a:rPr lang="en-US" i="1" noProof="0">
                            <a:latin typeface="Cambria Math" panose="02040503050406030204" pitchFamily="18" charset="0"/>
                            <a:ea typeface="黑体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noProof="0" dirty="0">
                    <a:ea typeface="黑体"/>
                  </a:rPr>
                  <a:t> removed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8522B80-54FC-F84E-A3A6-8CA2864C55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615" y="1290807"/>
                <a:ext cx="7257519" cy="697627"/>
              </a:xfrm>
              <a:prstGeom prst="rect">
                <a:avLst/>
              </a:prstGeom>
              <a:blipFill>
                <a:blip r:embed="rId5"/>
                <a:stretch>
                  <a:fillRect l="-504" t="-5263" b="-140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3EDA7154-85C6-D84C-2FA3-C9F00AD7126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53421" y="1290807"/>
            <a:ext cx="2834640" cy="2600327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49FA5F-FF5F-A15A-3D8E-3DCBFB7FC5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 noProof="0"/>
              <a:t>Bretz, Chen, Xi | ISBS | October 2026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7042116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ADC35-2954-4E52-BE3F-E02DED7407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975798" cy="994172"/>
          </a:xfrm>
        </p:spPr>
        <p:txBody>
          <a:bodyPr>
            <a:normAutofit/>
          </a:bodyPr>
          <a:lstStyle/>
          <a:p>
            <a:r>
              <a:rPr lang="en-US" noProof="0" dirty="0"/>
              <a:t>Example 3 Revisited</a:t>
            </a:r>
            <a:br>
              <a:rPr lang="en-US" sz="2800" noProof="0" dirty="0"/>
            </a:br>
            <a:r>
              <a:rPr lang="en-US" sz="2200" i="1" noProof="0" dirty="0"/>
              <a:t>Perform testing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C66AEC-4B4B-11CF-8433-A8F84D81E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47CF9-5B10-D24F-A8D7-45A9778164F7}" type="slidenum">
              <a:rPr lang="en-US" noProof="0" smtClean="0"/>
              <a:pPr/>
              <a:t>90</a:t>
            </a:fld>
            <a:endParaRPr lang="en-US" noProof="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3E92B4E-A0D6-BF73-ED5A-5C3896852F50}"/>
              </a:ext>
            </a:extLst>
          </p:cNvPr>
          <p:cNvSpPr txBox="1"/>
          <p:nvPr/>
        </p:nvSpPr>
        <p:spPr>
          <a:xfrm>
            <a:off x="406877" y="2269717"/>
            <a:ext cx="8269579" cy="260071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ts val="600"/>
              </a:spcBef>
              <a:spcAft>
                <a:spcPct val="0"/>
              </a:spcAft>
            </a:pPr>
            <a:r>
              <a:rPr lang="en-US" sz="1600" noProof="0" dirty="0" err="1">
                <a:solidFill>
                  <a:srgbClr val="003B4F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p_value</a:t>
            </a:r>
            <a:r>
              <a:rPr lang="en-US" sz="1600" noProof="0" dirty="0">
                <a:solidFill>
                  <a:srgbClr val="003B4F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 </a:t>
            </a:r>
            <a:r>
              <a:rPr lang="en-US" sz="1600" noProof="0" dirty="0">
                <a:solidFill>
                  <a:srgbClr val="5E5E5E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&lt;-</a:t>
            </a:r>
            <a:r>
              <a:rPr lang="en-US" sz="1600" noProof="0" dirty="0">
                <a:solidFill>
                  <a:srgbClr val="003B4F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 </a:t>
            </a:r>
            <a:r>
              <a:rPr lang="en-US" sz="1600" noProof="0" dirty="0">
                <a:solidFill>
                  <a:srgbClr val="4758AB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  <a:hlinkClick r:id="rId2"/>
              </a:rPr>
              <a:t>c</a:t>
            </a:r>
            <a:r>
              <a:rPr lang="en-US" sz="1600" noProof="0" dirty="0">
                <a:solidFill>
                  <a:srgbClr val="5E5E5E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(</a:t>
            </a:r>
            <a:r>
              <a:rPr lang="en-US" sz="1600" noProof="0" dirty="0">
                <a:solidFill>
                  <a:srgbClr val="AD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0.018</a:t>
            </a:r>
            <a:r>
              <a:rPr lang="en-US" sz="1600" noProof="0" dirty="0">
                <a:solidFill>
                  <a:srgbClr val="003B4F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</a:t>
            </a:r>
            <a:r>
              <a:rPr lang="en-US" sz="1600" noProof="0" dirty="0">
                <a:solidFill>
                  <a:srgbClr val="AD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0.01</a:t>
            </a:r>
            <a:r>
              <a:rPr lang="en-US" sz="1600" noProof="0" dirty="0">
                <a:solidFill>
                  <a:srgbClr val="003B4F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</a:t>
            </a:r>
            <a:r>
              <a:rPr lang="en-US" sz="1600" noProof="0" dirty="0">
                <a:solidFill>
                  <a:srgbClr val="AD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0.105</a:t>
            </a:r>
            <a:r>
              <a:rPr lang="en-US" sz="1600" noProof="0" dirty="0">
                <a:solidFill>
                  <a:srgbClr val="003B4F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</a:t>
            </a:r>
            <a:r>
              <a:rPr lang="en-US" sz="1600" noProof="0" dirty="0">
                <a:solidFill>
                  <a:srgbClr val="AD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0.006</a:t>
            </a:r>
            <a:r>
              <a:rPr lang="en-US" sz="1600" noProof="0" dirty="0">
                <a:solidFill>
                  <a:srgbClr val="5E5E5E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)</a:t>
            </a:r>
          </a:p>
          <a:p>
            <a:pPr lvl="0" eaLnBrk="0" fontAlgn="base" hangingPunct="0">
              <a:spcBef>
                <a:spcPts val="600"/>
              </a:spcBef>
              <a:spcAft>
                <a:spcPct val="0"/>
              </a:spcAft>
            </a:pPr>
            <a:r>
              <a:rPr lang="en-US" sz="1600" noProof="0" dirty="0" err="1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test_results</a:t>
            </a:r>
            <a:r>
              <a:rPr lang="en-US" sz="1600" noProof="0" dirty="0">
                <a:solidFill>
                  <a:srgbClr val="003B4F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 </a:t>
            </a:r>
            <a:r>
              <a:rPr lang="en-US" sz="1600" noProof="0" dirty="0">
                <a:solidFill>
                  <a:srgbClr val="5E5E5E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&lt;- </a:t>
            </a:r>
            <a:r>
              <a:rPr lang="en-US" sz="1600" noProof="0" dirty="0" err="1">
                <a:solidFill>
                  <a:srgbClr val="4758AB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  <a:hlinkClick r:id="rId3"/>
              </a:rPr>
              <a:t>graph_test_shortcut</a:t>
            </a:r>
            <a:r>
              <a:rPr lang="en-US" sz="1600" noProof="0" dirty="0">
                <a:solidFill>
                  <a:srgbClr val="5E5E5E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(</a:t>
            </a:r>
            <a:r>
              <a:rPr lang="en-US" sz="16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g</a:t>
            </a:r>
            <a:r>
              <a:rPr lang="en-US" sz="1600" noProof="0" dirty="0">
                <a:solidFill>
                  <a:srgbClr val="003B4F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p = </a:t>
            </a:r>
            <a:r>
              <a:rPr lang="en-US" sz="1600" noProof="0" dirty="0" err="1">
                <a:solidFill>
                  <a:srgbClr val="003B4F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p_value</a:t>
            </a:r>
            <a:r>
              <a:rPr lang="en-US" sz="1600" noProof="0" dirty="0">
                <a:solidFill>
                  <a:srgbClr val="003B4F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alpha </a:t>
            </a:r>
            <a:r>
              <a:rPr lang="en-US" sz="1600" noProof="0" dirty="0">
                <a:solidFill>
                  <a:srgbClr val="5E5E5E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=</a:t>
            </a:r>
            <a:r>
              <a:rPr lang="en-US" sz="1600" noProof="0" dirty="0">
                <a:solidFill>
                  <a:srgbClr val="003B4F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 </a:t>
            </a:r>
            <a:r>
              <a:rPr lang="en-US" sz="1600" noProof="0" dirty="0">
                <a:solidFill>
                  <a:srgbClr val="AD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0.025</a:t>
            </a:r>
            <a:r>
              <a:rPr lang="en-US" sz="1600" noProof="0" dirty="0">
                <a:solidFill>
                  <a:srgbClr val="5E5E5E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)</a:t>
            </a:r>
          </a:p>
          <a:p>
            <a:pPr lvl="0" eaLnBrk="0" fontAlgn="base" hangingPunct="0">
              <a:spcBef>
                <a:spcPts val="600"/>
              </a:spcBef>
              <a:spcAft>
                <a:spcPct val="0"/>
              </a:spcAft>
            </a:pPr>
            <a:r>
              <a:rPr lang="en-US" sz="1600" noProof="0" dirty="0" err="1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test_results</a:t>
            </a:r>
            <a:r>
              <a:rPr lang="en-US" sz="1600" noProof="0" dirty="0" err="1">
                <a:solidFill>
                  <a:srgbClr val="5E5E5E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$</a:t>
            </a:r>
            <a:r>
              <a:rPr lang="en-US" sz="1600" noProof="0" dirty="0" err="1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outputs</a:t>
            </a:r>
            <a:r>
              <a:rPr lang="en-US" sz="1600" noProof="0" dirty="0" err="1">
                <a:solidFill>
                  <a:srgbClr val="5E5E5E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$</a:t>
            </a:r>
            <a:r>
              <a:rPr lang="en-US" sz="1600" noProof="0" dirty="0" err="1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rejected</a:t>
            </a:r>
            <a:endParaRPr lang="en-US" sz="1600" noProof="0" dirty="0">
              <a:solidFill>
                <a:srgbClr val="111111"/>
              </a:solidFill>
              <a:latin typeface="Courier New" panose="02070309020205020404" pitchFamily="49" charset="0"/>
              <a:ea typeface="var(--bs-font-monospace)"/>
              <a:cs typeface="Courier New" panose="02070309020205020404" pitchFamily="49" charset="0"/>
            </a:endParaRPr>
          </a:p>
          <a:p>
            <a:pPr eaLnBrk="0" fontAlgn="base" hangingPunct="0">
              <a:spcBef>
                <a:spcPts val="600"/>
              </a:spcBef>
              <a:spcAft>
                <a:spcPct val="0"/>
              </a:spcAft>
            </a:pPr>
            <a:r>
              <a:rPr lang="en-US" sz="1600" noProof="0" dirty="0">
                <a:solidFill>
                  <a:srgbClr val="5E5E5E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&gt; H1      H2      H3        H4</a:t>
            </a:r>
          </a:p>
          <a:p>
            <a:pPr eaLnBrk="0" fontAlgn="base" hangingPunct="0">
              <a:spcBef>
                <a:spcPts val="600"/>
              </a:spcBef>
              <a:spcAft>
                <a:spcPct val="0"/>
              </a:spcAft>
            </a:pPr>
            <a:r>
              <a:rPr lang="en-US" sz="1600" noProof="0" dirty="0">
                <a:solidFill>
                  <a:srgbClr val="5E5E5E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&gt; TRUE   </a:t>
            </a:r>
            <a:r>
              <a:rPr lang="en-US" sz="1600" noProof="0" dirty="0" err="1">
                <a:solidFill>
                  <a:srgbClr val="5E5E5E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TRUE</a:t>
            </a:r>
            <a:r>
              <a:rPr lang="en-US" sz="1600" noProof="0" dirty="0">
                <a:solidFill>
                  <a:srgbClr val="5E5E5E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    FALSE     TRUE</a:t>
            </a:r>
            <a:endParaRPr lang="en-US" sz="1600" noProof="0" dirty="0">
              <a:solidFill>
                <a:srgbClr val="111111"/>
              </a:solidFill>
              <a:latin typeface="Courier New" panose="02070309020205020404" pitchFamily="49" charset="0"/>
              <a:ea typeface="var(--bs-font-monospace)"/>
              <a:cs typeface="Courier New" panose="02070309020205020404" pitchFamily="49" charset="0"/>
            </a:endParaRPr>
          </a:p>
          <a:p>
            <a:pPr eaLnBrk="0" fontAlgn="base" hangingPunct="0">
              <a:spcBef>
                <a:spcPts val="600"/>
              </a:spcBef>
              <a:spcAft>
                <a:spcPct val="0"/>
              </a:spcAft>
            </a:pPr>
            <a:r>
              <a:rPr lang="en-US" sz="1600" noProof="0" dirty="0" err="1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test_results</a:t>
            </a:r>
            <a:r>
              <a:rPr lang="en-US" sz="1600" noProof="0" dirty="0" err="1">
                <a:solidFill>
                  <a:srgbClr val="5E5E5E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$</a:t>
            </a:r>
            <a:r>
              <a:rPr lang="en-US" sz="1600" noProof="0" dirty="0" err="1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outputs</a:t>
            </a:r>
            <a:r>
              <a:rPr lang="en-US" sz="1600" noProof="0" dirty="0" err="1">
                <a:solidFill>
                  <a:srgbClr val="5E5E5E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$</a:t>
            </a:r>
            <a:r>
              <a:rPr lang="en-US" sz="1600" noProof="0" dirty="0" err="1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adjusted_p</a:t>
            </a:r>
            <a:endParaRPr lang="en-US" sz="1600" noProof="0" dirty="0">
              <a:solidFill>
                <a:srgbClr val="111111"/>
              </a:solidFill>
              <a:latin typeface="Courier New" panose="02070309020205020404" pitchFamily="49" charset="0"/>
              <a:ea typeface="var(--bs-font-monospace)"/>
              <a:cs typeface="Courier New" panose="02070309020205020404" pitchFamily="49" charset="0"/>
            </a:endParaRPr>
          </a:p>
          <a:p>
            <a:pPr eaLnBrk="0" fontAlgn="base" hangingPunct="0">
              <a:spcBef>
                <a:spcPts val="600"/>
              </a:spcBef>
              <a:spcAft>
                <a:spcPct val="0"/>
              </a:spcAft>
            </a:pPr>
            <a:r>
              <a:rPr lang="en-US" sz="1600" noProof="0" dirty="0">
                <a:solidFill>
                  <a:srgbClr val="5E5E5E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&gt; H1      H2     H3      H4</a:t>
            </a:r>
          </a:p>
          <a:p>
            <a:pPr eaLnBrk="0" fontAlgn="base" hangingPunct="0">
              <a:spcBef>
                <a:spcPts val="600"/>
              </a:spcBef>
              <a:spcAft>
                <a:spcPct val="0"/>
              </a:spcAft>
            </a:pPr>
            <a:r>
              <a:rPr lang="en-US" sz="1600" noProof="0" dirty="0">
                <a:solidFill>
                  <a:srgbClr val="5E5E5E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&gt; 0.024 0.020 0.105 0.024</a:t>
            </a:r>
            <a:endParaRPr lang="en-US" sz="1600" noProof="0" dirty="0">
              <a:solidFill>
                <a:srgbClr val="111111"/>
              </a:solidFill>
              <a:latin typeface="Courier New" panose="02070309020205020404" pitchFamily="49" charset="0"/>
              <a:ea typeface="var(--bs-font-monospace)"/>
              <a:cs typeface="Courier New" panose="02070309020205020404" pitchFamily="49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549AC4D-4B3B-817D-E7B5-9D163203FF08}"/>
                  </a:ext>
                </a:extLst>
              </p:cNvPr>
              <p:cNvSpPr txBox="1"/>
              <p:nvPr/>
            </p:nvSpPr>
            <p:spPr>
              <a:xfrm>
                <a:off x="395536" y="1275606"/>
                <a:ext cx="7257519" cy="102592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spcBef>
                    <a:spcPts val="432"/>
                  </a:spcBef>
                  <a:buFont typeface="Arial" panose="020B0604020202020204" pitchFamily="34" charset="0"/>
                  <a:buChar char="•"/>
                </a:pPr>
                <a:r>
                  <a:rPr lang="en-US" noProof="0" dirty="0">
                    <a:ea typeface="黑体"/>
                  </a:rPr>
                  <a:t>Assume p-values obtained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noProof="0" smtClean="0">
                            <a:latin typeface="Cambria Math" panose="02040503050406030204" pitchFamily="18" charset="0"/>
                            <a:ea typeface="黑体"/>
                          </a:rPr>
                        </m:ctrlPr>
                      </m:sSubPr>
                      <m:e>
                        <m:r>
                          <a:rPr lang="en-US" b="0" i="1" noProof="0" smtClean="0">
                            <a:latin typeface="Cambria Math" panose="02040503050406030204" pitchFamily="18" charset="0"/>
                            <a:ea typeface="黑体"/>
                          </a:rPr>
                          <m:t>𝐻</m:t>
                        </m:r>
                      </m:e>
                      <m:sub>
                        <m:r>
                          <a:rPr lang="en-US" b="0" i="1" noProof="0" smtClean="0">
                            <a:latin typeface="Cambria Math" panose="02040503050406030204" pitchFamily="18" charset="0"/>
                            <a:ea typeface="黑体"/>
                          </a:rPr>
                          <m:t>1</m:t>
                        </m:r>
                      </m:sub>
                    </m:sSub>
                    <m:r>
                      <a:rPr lang="en-US" b="0" i="1" noProof="0" smtClean="0">
                        <a:latin typeface="Cambria Math" panose="02040503050406030204" pitchFamily="18" charset="0"/>
                        <a:ea typeface="黑体"/>
                      </a:rPr>
                      <m:t>−</m:t>
                    </m:r>
                    <m:sSub>
                      <m:sSubPr>
                        <m:ctrlPr>
                          <a:rPr lang="en-US" b="0" i="1" noProof="0" smtClean="0">
                            <a:latin typeface="Cambria Math" panose="02040503050406030204" pitchFamily="18" charset="0"/>
                            <a:ea typeface="黑体"/>
                          </a:rPr>
                        </m:ctrlPr>
                      </m:sSubPr>
                      <m:e>
                        <m:r>
                          <a:rPr lang="en-US" b="0" i="1" noProof="0" smtClean="0">
                            <a:latin typeface="Cambria Math" panose="02040503050406030204" pitchFamily="18" charset="0"/>
                            <a:ea typeface="黑体"/>
                          </a:rPr>
                          <m:t>𝐻</m:t>
                        </m:r>
                      </m:e>
                      <m:sub>
                        <m:r>
                          <a:rPr lang="en-US" b="0" i="1" noProof="0" smtClean="0">
                            <a:latin typeface="Cambria Math" panose="02040503050406030204" pitchFamily="18" charset="0"/>
                            <a:ea typeface="黑体"/>
                          </a:rPr>
                          <m:t>4</m:t>
                        </m:r>
                      </m:sub>
                    </m:sSub>
                  </m:oMath>
                </a14:m>
                <a:endParaRPr lang="en-US" noProof="0" dirty="0">
                  <a:ea typeface="黑体"/>
                </a:endParaRPr>
              </a:p>
              <a:p>
                <a:pPr marL="285750" indent="-285750">
                  <a:spcBef>
                    <a:spcPts val="432"/>
                  </a:spcBef>
                  <a:buFont typeface="Arial" panose="020B0604020202020204" pitchFamily="34" charset="0"/>
                  <a:buChar char="•"/>
                </a:pPr>
                <a:r>
                  <a:rPr lang="en-US" noProof="0" dirty="0">
                    <a:ea typeface="黑体"/>
                  </a:rPr>
                  <a:t>Perform the shortcut procedure at one-sided significance level 0.025</a:t>
                </a:r>
              </a:p>
              <a:p>
                <a:pPr marL="285750" indent="-285750">
                  <a:spcBef>
                    <a:spcPts val="432"/>
                  </a:spcBef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noProof="0">
                            <a:latin typeface="Cambria Math" panose="02040503050406030204" pitchFamily="18" charset="0"/>
                            <a:ea typeface="黑体"/>
                          </a:rPr>
                        </m:ctrlPr>
                      </m:sSubPr>
                      <m:e>
                        <m:r>
                          <a:rPr lang="en-US" i="1" noProof="0">
                            <a:latin typeface="Cambria Math" panose="02040503050406030204" pitchFamily="18" charset="0"/>
                            <a:ea typeface="黑体"/>
                          </a:rPr>
                          <m:t>𝐻</m:t>
                        </m:r>
                      </m:e>
                      <m:sub>
                        <m:r>
                          <a:rPr lang="en-US" i="1" noProof="0">
                            <a:latin typeface="Cambria Math" panose="02040503050406030204" pitchFamily="18" charset="0"/>
                            <a:ea typeface="黑体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600" noProof="0" dirty="0">
                    <a:ea typeface="黑体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noProof="0">
                            <a:latin typeface="Cambria Math" panose="02040503050406030204" pitchFamily="18" charset="0"/>
                            <a:ea typeface="黑体"/>
                          </a:rPr>
                        </m:ctrlPr>
                      </m:sSubPr>
                      <m:e>
                        <m:r>
                          <a:rPr lang="en-US" sz="1600" i="1" noProof="0">
                            <a:latin typeface="Cambria Math" panose="02040503050406030204" pitchFamily="18" charset="0"/>
                            <a:ea typeface="黑体"/>
                          </a:rPr>
                          <m:t>𝐻</m:t>
                        </m:r>
                      </m:e>
                      <m:sub>
                        <m:r>
                          <a:rPr lang="en-US" sz="1600" b="0" i="1" noProof="0" smtClean="0">
                            <a:latin typeface="Cambria Math" panose="02040503050406030204" pitchFamily="18" charset="0"/>
                            <a:ea typeface="黑体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1600" noProof="0" dirty="0">
                    <a:ea typeface="黑体"/>
                  </a:rPr>
                  <a:t>,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noProof="0">
                            <a:latin typeface="Cambria Math" panose="02040503050406030204" pitchFamily="18" charset="0"/>
                            <a:ea typeface="黑体"/>
                          </a:rPr>
                        </m:ctrlPr>
                      </m:sSubPr>
                      <m:e>
                        <m:r>
                          <a:rPr lang="en-US" sz="1600" i="1" noProof="0">
                            <a:latin typeface="Cambria Math" panose="02040503050406030204" pitchFamily="18" charset="0"/>
                            <a:ea typeface="黑体"/>
                          </a:rPr>
                          <m:t>𝐻</m:t>
                        </m:r>
                      </m:e>
                      <m:sub>
                        <m:r>
                          <a:rPr lang="en-US" sz="1600" i="1" noProof="0">
                            <a:latin typeface="Cambria Math" panose="02040503050406030204" pitchFamily="18" charset="0"/>
                            <a:ea typeface="黑体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sz="1600" noProof="0" dirty="0">
                    <a:ea typeface="黑体"/>
                  </a:rPr>
                  <a:t> are rejected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549AC4D-4B3B-817D-E7B5-9D163203FF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1275606"/>
                <a:ext cx="7257519" cy="1025922"/>
              </a:xfrm>
              <a:prstGeom prst="rect">
                <a:avLst/>
              </a:prstGeom>
              <a:blipFill>
                <a:blip r:embed="rId5"/>
                <a:stretch>
                  <a:fillRect l="-588" t="-2959" b="-59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13DF5E9A-A0F0-3C66-8FD9-4B6E176E0F71}"/>
              </a:ext>
            </a:extLst>
          </p:cNvPr>
          <p:cNvSpPr txBox="1"/>
          <p:nvPr/>
        </p:nvSpPr>
        <p:spPr>
          <a:xfrm>
            <a:off x="4818856" y="3498562"/>
            <a:ext cx="2057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noProof="0" dirty="0">
                <a:ea typeface="黑体"/>
              </a:rPr>
              <a:t>Rejection decisions</a:t>
            </a:r>
            <a:endParaRPr lang="en-US" noProof="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B662932-D333-B175-6B3D-B9177F5E51C8}"/>
              </a:ext>
            </a:extLst>
          </p:cNvPr>
          <p:cNvSpPr txBox="1"/>
          <p:nvPr/>
        </p:nvSpPr>
        <p:spPr>
          <a:xfrm>
            <a:off x="4355976" y="4492673"/>
            <a:ext cx="18722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noProof="0" dirty="0">
                <a:ea typeface="黑体"/>
              </a:rPr>
              <a:t>Adjusted p-values</a:t>
            </a:r>
            <a:endParaRPr lang="en-US" noProof="0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5BBDCE4-7196-9644-7166-4701ED72B5A7}"/>
              </a:ext>
            </a:extLst>
          </p:cNvPr>
          <p:cNvCxnSpPr>
            <a:cxnSpLocks/>
            <a:stCxn id="4" idx="1"/>
          </p:cNvCxnSpPr>
          <p:nvPr/>
        </p:nvCxnSpPr>
        <p:spPr>
          <a:xfrm flipH="1">
            <a:off x="4427984" y="3683228"/>
            <a:ext cx="39087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0375F5A-2C05-DE64-AC9A-77757939F07D}"/>
              </a:ext>
            </a:extLst>
          </p:cNvPr>
          <p:cNvCxnSpPr>
            <a:cxnSpLocks/>
            <a:stCxn id="6" idx="1"/>
          </p:cNvCxnSpPr>
          <p:nvPr/>
        </p:nvCxnSpPr>
        <p:spPr>
          <a:xfrm flipH="1">
            <a:off x="3707904" y="4677339"/>
            <a:ext cx="64807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29F3441-BF4E-3163-0F7F-883A1332EF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 noProof="0"/>
              <a:t>Bretz, Chen, Xi | ISBS | October 2026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0328614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4" grpId="0"/>
      <p:bldP spid="6" grpId="0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ADC35-2954-4E52-BE3F-E02DED7407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975798" cy="994172"/>
          </a:xfrm>
        </p:spPr>
        <p:txBody>
          <a:bodyPr>
            <a:normAutofit/>
          </a:bodyPr>
          <a:lstStyle/>
          <a:p>
            <a:r>
              <a:rPr lang="en-US" noProof="0" dirty="0"/>
              <a:t>Example 3 Revisited</a:t>
            </a:r>
            <a:br>
              <a:rPr lang="en-US" sz="2800" noProof="0" dirty="0"/>
            </a:br>
            <a:r>
              <a:rPr lang="en-US" sz="2200" i="1" noProof="0" dirty="0"/>
              <a:t>Stepwise decisions using </a:t>
            </a:r>
            <a:r>
              <a:rPr lang="en-US" sz="2200" i="1" noProof="0" dirty="0" err="1"/>
              <a:t>test_values</a:t>
            </a:r>
            <a:endParaRPr lang="en-US" sz="2200" i="1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C66AEC-4B4B-11CF-8433-A8F84D81E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47CF9-5B10-D24F-A8D7-45A9778164F7}" type="slidenum">
              <a:rPr lang="en-US" noProof="0" smtClean="0"/>
              <a:pPr/>
              <a:t>91</a:t>
            </a:fld>
            <a:endParaRPr lang="en-US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549AC4D-4B3B-817D-E7B5-9D163203FF08}"/>
                  </a:ext>
                </a:extLst>
              </p:cNvPr>
              <p:cNvSpPr txBox="1"/>
              <p:nvPr/>
            </p:nvSpPr>
            <p:spPr>
              <a:xfrm>
                <a:off x="395536" y="1131590"/>
                <a:ext cx="725751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spcBef>
                    <a:spcPts val="432"/>
                  </a:spcBef>
                  <a:buFont typeface="Arial" panose="020B0604020202020204" pitchFamily="34" charset="0"/>
                  <a:buChar char="•"/>
                </a:pPr>
                <a:r>
                  <a:rPr lang="en-US" noProof="0" dirty="0">
                    <a:ea typeface="黑体"/>
                  </a:rPr>
                  <a:t>How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noProof="0">
                            <a:latin typeface="Cambria Math" panose="02040503050406030204" pitchFamily="18" charset="0"/>
                            <a:ea typeface="黑体"/>
                          </a:rPr>
                        </m:ctrlPr>
                      </m:sSubPr>
                      <m:e>
                        <m:r>
                          <a:rPr lang="en-US" i="1" noProof="0">
                            <a:latin typeface="Cambria Math" panose="02040503050406030204" pitchFamily="18" charset="0"/>
                            <a:ea typeface="黑体"/>
                          </a:rPr>
                          <m:t>𝐻</m:t>
                        </m:r>
                      </m:e>
                      <m:sub>
                        <m:r>
                          <a:rPr lang="en-US" i="1" noProof="0">
                            <a:latin typeface="Cambria Math" panose="02040503050406030204" pitchFamily="18" charset="0"/>
                            <a:ea typeface="黑体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noProof="0" dirty="0">
                    <a:ea typeface="黑体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noProof="0">
                            <a:latin typeface="Cambria Math" panose="02040503050406030204" pitchFamily="18" charset="0"/>
                            <a:ea typeface="黑体"/>
                          </a:rPr>
                        </m:ctrlPr>
                      </m:sSubPr>
                      <m:e>
                        <m:r>
                          <a:rPr lang="en-US" i="1" noProof="0">
                            <a:latin typeface="Cambria Math" panose="02040503050406030204" pitchFamily="18" charset="0"/>
                            <a:ea typeface="黑体"/>
                          </a:rPr>
                          <m:t>𝐻</m:t>
                        </m:r>
                      </m:e>
                      <m:sub>
                        <m:r>
                          <a:rPr lang="en-US" i="1" noProof="0">
                            <a:latin typeface="Cambria Math" panose="02040503050406030204" pitchFamily="18" charset="0"/>
                            <a:ea typeface="黑体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noProof="0" dirty="0">
                    <a:ea typeface="黑体"/>
                  </a:rPr>
                  <a:t>,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noProof="0">
                            <a:latin typeface="Cambria Math" panose="02040503050406030204" pitchFamily="18" charset="0"/>
                            <a:ea typeface="黑体"/>
                          </a:rPr>
                        </m:ctrlPr>
                      </m:sSubPr>
                      <m:e>
                        <m:r>
                          <a:rPr lang="en-US" i="1" noProof="0">
                            <a:latin typeface="Cambria Math" panose="02040503050406030204" pitchFamily="18" charset="0"/>
                            <a:ea typeface="黑体"/>
                          </a:rPr>
                          <m:t>𝐻</m:t>
                        </m:r>
                      </m:e>
                      <m:sub>
                        <m:r>
                          <a:rPr lang="en-US" i="1" noProof="0">
                            <a:latin typeface="Cambria Math" panose="02040503050406030204" pitchFamily="18" charset="0"/>
                            <a:ea typeface="黑体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noProof="0" dirty="0">
                    <a:ea typeface="黑体"/>
                  </a:rPr>
                  <a:t> are rejected?</a:t>
                </a:r>
                <a:endParaRPr lang="en-US" sz="1600" noProof="0" dirty="0">
                  <a:ea typeface="黑体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549AC4D-4B3B-817D-E7B5-9D163203FF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1131590"/>
                <a:ext cx="7257519" cy="369332"/>
              </a:xfrm>
              <a:prstGeom prst="rect">
                <a:avLst/>
              </a:prstGeom>
              <a:blipFill>
                <a:blip r:embed="rId2"/>
                <a:stretch>
                  <a:fillRect l="-588"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3CD5FC2A-F33E-7D5A-E5C5-432367C6242F}"/>
              </a:ext>
            </a:extLst>
          </p:cNvPr>
          <p:cNvSpPr txBox="1"/>
          <p:nvPr/>
        </p:nvSpPr>
        <p:spPr>
          <a:xfrm>
            <a:off x="395536" y="1624860"/>
            <a:ext cx="8568952" cy="252376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ts val="600"/>
              </a:spcBef>
              <a:spcAft>
                <a:spcPct val="0"/>
              </a:spcAft>
            </a:pPr>
            <a:r>
              <a:rPr lang="en-US" sz="1600" noProof="0" dirty="0" err="1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test_results</a:t>
            </a:r>
            <a:r>
              <a:rPr lang="en-US" sz="1600" noProof="0" dirty="0">
                <a:solidFill>
                  <a:srgbClr val="003B4F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 </a:t>
            </a:r>
            <a:r>
              <a:rPr lang="en-US" sz="1600" noProof="0" dirty="0">
                <a:solidFill>
                  <a:srgbClr val="5E5E5E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&lt;-</a:t>
            </a:r>
            <a:r>
              <a:rPr lang="en-US" sz="1600" noProof="0" dirty="0">
                <a:solidFill>
                  <a:srgbClr val="003B4F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 </a:t>
            </a:r>
            <a:r>
              <a:rPr lang="en-US" sz="1600" noProof="0" dirty="0" err="1">
                <a:solidFill>
                  <a:srgbClr val="4758AB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  <a:hlinkClick r:id="rId3"/>
              </a:rPr>
              <a:t>graph_test_shortcut</a:t>
            </a:r>
            <a:r>
              <a:rPr lang="en-US" sz="1600" noProof="0" dirty="0">
                <a:solidFill>
                  <a:srgbClr val="5E5E5E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(</a:t>
            </a:r>
            <a:r>
              <a:rPr lang="en-US" sz="16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g</a:t>
            </a:r>
            <a:r>
              <a:rPr lang="en-US" sz="1600" noProof="0" dirty="0">
                <a:solidFill>
                  <a:srgbClr val="003B4F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p = </a:t>
            </a:r>
            <a:r>
              <a:rPr lang="en-US" sz="1600" noProof="0" dirty="0" err="1">
                <a:solidFill>
                  <a:srgbClr val="003B4F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p_value</a:t>
            </a:r>
            <a:r>
              <a:rPr lang="en-US" sz="1600" noProof="0" dirty="0">
                <a:solidFill>
                  <a:srgbClr val="003B4F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alpha </a:t>
            </a:r>
            <a:r>
              <a:rPr lang="en-US" sz="1600" noProof="0" dirty="0">
                <a:solidFill>
                  <a:srgbClr val="5E5E5E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=</a:t>
            </a:r>
            <a:r>
              <a:rPr lang="en-US" sz="1600" noProof="0" dirty="0">
                <a:solidFill>
                  <a:srgbClr val="003B4F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 </a:t>
            </a:r>
            <a:r>
              <a:rPr lang="en-US" sz="1600" noProof="0" dirty="0">
                <a:solidFill>
                  <a:srgbClr val="AD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0.025</a:t>
            </a:r>
            <a:r>
              <a:rPr lang="en-US" sz="1600" noProof="0" dirty="0"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</a:t>
            </a:r>
            <a:r>
              <a:rPr lang="en-US" sz="1600" noProof="0" dirty="0">
                <a:solidFill>
                  <a:srgbClr val="003B4F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 </a:t>
            </a:r>
            <a:r>
              <a:rPr lang="en-US" sz="1600" noProof="0" dirty="0" err="1">
                <a:solidFill>
                  <a:srgbClr val="003B4F"/>
                </a:solidFill>
                <a:highlight>
                  <a:srgbClr val="FFFF00"/>
                </a:highlight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test_values</a:t>
            </a:r>
            <a:r>
              <a:rPr lang="en-US" sz="1600" noProof="0" dirty="0">
                <a:solidFill>
                  <a:srgbClr val="003B4F"/>
                </a:solidFill>
                <a:highlight>
                  <a:srgbClr val="FFFF00"/>
                </a:highlight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 </a:t>
            </a:r>
            <a:r>
              <a:rPr lang="en-US" sz="1600" noProof="0" dirty="0">
                <a:solidFill>
                  <a:srgbClr val="5E5E5E"/>
                </a:solidFill>
                <a:highlight>
                  <a:srgbClr val="FFFF00"/>
                </a:highlight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=</a:t>
            </a:r>
            <a:r>
              <a:rPr lang="en-US" sz="1600" noProof="0" dirty="0">
                <a:solidFill>
                  <a:srgbClr val="003B4F"/>
                </a:solidFill>
                <a:highlight>
                  <a:srgbClr val="FFFF00"/>
                </a:highlight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 </a:t>
            </a:r>
            <a:r>
              <a:rPr lang="en-US" sz="1600" noProof="0" dirty="0">
                <a:solidFill>
                  <a:srgbClr val="8F5902"/>
                </a:solidFill>
                <a:highlight>
                  <a:srgbClr val="FFFF00"/>
                </a:highlight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T</a:t>
            </a:r>
            <a:r>
              <a:rPr lang="en-US" sz="1600" noProof="0" dirty="0">
                <a:solidFill>
                  <a:srgbClr val="5E5E5E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)</a:t>
            </a:r>
          </a:p>
          <a:p>
            <a:pPr eaLnBrk="0" fontAlgn="base" hangingPunct="0">
              <a:spcBef>
                <a:spcPts val="600"/>
              </a:spcBef>
              <a:spcAft>
                <a:spcPct val="0"/>
              </a:spcAft>
            </a:pPr>
            <a:r>
              <a:rPr lang="en-US" sz="1600" noProof="0" dirty="0" err="1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test_results</a:t>
            </a:r>
            <a:r>
              <a:rPr lang="en-US" sz="1600" noProof="0" dirty="0" err="1">
                <a:solidFill>
                  <a:srgbClr val="5E5E5E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$</a:t>
            </a:r>
            <a:r>
              <a:rPr lang="en-US" sz="1600" noProof="0" dirty="0" err="1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test_values</a:t>
            </a:r>
            <a:r>
              <a:rPr lang="en-US" sz="1600" noProof="0" dirty="0" err="1">
                <a:solidFill>
                  <a:srgbClr val="5E5E5E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$</a:t>
            </a:r>
            <a:r>
              <a:rPr lang="en-US" sz="1600" noProof="0" dirty="0" err="1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results</a:t>
            </a:r>
            <a:r>
              <a:rPr lang="en-US" sz="16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en-US" sz="1600" noProof="0" dirty="0">
              <a:solidFill>
                <a:srgbClr val="111111"/>
              </a:solidFill>
              <a:latin typeface="Courier New" panose="02070309020205020404" pitchFamily="49" charset="0"/>
              <a:ea typeface="var(--bs-font-monospace)"/>
              <a:cs typeface="Courier New" panose="02070309020205020404" pitchFamily="49" charset="0"/>
            </a:endParaRPr>
          </a:p>
          <a:p>
            <a:pPr lvl="0" eaLnBrk="0" fontAlgn="base" hangingPunct="0">
              <a:spcBef>
                <a:spcPts val="600"/>
              </a:spcBef>
              <a:spcAft>
                <a:spcPct val="0"/>
              </a:spcAft>
            </a:pPr>
            <a:r>
              <a:rPr lang="en-US" sz="1600" noProof="0" dirty="0">
                <a:solidFill>
                  <a:srgbClr val="5E5E5E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&gt; Step Hypothesis p   &lt;=  Weight * Alpha </a:t>
            </a:r>
            <a:r>
              <a:rPr lang="en-US" sz="1600" noProof="0" dirty="0" err="1">
                <a:solidFill>
                  <a:srgbClr val="5E5E5E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Inequality_holds</a:t>
            </a:r>
            <a:endParaRPr lang="en-US" sz="1600" noProof="0" dirty="0">
              <a:solidFill>
                <a:srgbClr val="003B4F"/>
              </a:solidFill>
              <a:latin typeface="Courier New" panose="02070309020205020404" pitchFamily="49" charset="0"/>
              <a:ea typeface="var(--bs-font-monospace)"/>
              <a:cs typeface="Courier New" panose="02070309020205020404" pitchFamily="49" charset="0"/>
            </a:endParaRPr>
          </a:p>
          <a:p>
            <a:pPr lvl="0" eaLnBrk="0" fontAlgn="base" hangingPunct="0">
              <a:spcBef>
                <a:spcPts val="600"/>
              </a:spcBef>
              <a:spcAft>
                <a:spcPct val="0"/>
              </a:spcAft>
            </a:pPr>
            <a:r>
              <a:rPr lang="en-US" sz="1600" noProof="0" dirty="0">
                <a:solidFill>
                  <a:srgbClr val="5E5E5E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&gt; 1      H2     0.010      0.50    0.025 TRUE</a:t>
            </a:r>
            <a:r>
              <a:rPr lang="en-US" sz="1600" noProof="0" dirty="0">
                <a:solidFill>
                  <a:srgbClr val="003B4F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 </a:t>
            </a:r>
            <a:endParaRPr lang="en-US" sz="1600" noProof="0" dirty="0">
              <a:solidFill>
                <a:srgbClr val="5E5E5E"/>
              </a:solidFill>
              <a:latin typeface="Courier New" panose="02070309020205020404" pitchFamily="49" charset="0"/>
              <a:ea typeface="var(--bs-font-monospace)"/>
              <a:cs typeface="Courier New" panose="02070309020205020404" pitchFamily="49" charset="0"/>
            </a:endParaRPr>
          </a:p>
          <a:p>
            <a:pPr lvl="0" eaLnBrk="0" fontAlgn="base" hangingPunct="0">
              <a:spcBef>
                <a:spcPts val="600"/>
              </a:spcBef>
              <a:spcAft>
                <a:spcPct val="0"/>
              </a:spcAft>
            </a:pPr>
            <a:r>
              <a:rPr lang="en-US" sz="1600" noProof="0" dirty="0">
                <a:solidFill>
                  <a:srgbClr val="5E5E5E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&gt; 2      H1     0.018      0.75    0.025 TRUE</a:t>
            </a:r>
            <a:r>
              <a:rPr lang="en-US" sz="1600" noProof="0" dirty="0">
                <a:solidFill>
                  <a:srgbClr val="003B4F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 </a:t>
            </a:r>
            <a:endParaRPr lang="en-US" sz="1600" noProof="0" dirty="0">
              <a:solidFill>
                <a:srgbClr val="5E5E5E"/>
              </a:solidFill>
              <a:latin typeface="Courier New" panose="02070309020205020404" pitchFamily="49" charset="0"/>
              <a:ea typeface="var(--bs-font-monospace)"/>
              <a:cs typeface="Courier New" panose="02070309020205020404" pitchFamily="49" charset="0"/>
            </a:endParaRPr>
          </a:p>
          <a:p>
            <a:pPr lvl="0" eaLnBrk="0" fontAlgn="base" hangingPunct="0">
              <a:spcBef>
                <a:spcPts val="600"/>
              </a:spcBef>
              <a:spcAft>
                <a:spcPct val="0"/>
              </a:spcAft>
            </a:pPr>
            <a:r>
              <a:rPr lang="en-US" sz="1600" noProof="0" dirty="0">
                <a:solidFill>
                  <a:srgbClr val="5E5E5E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&gt; 3      H4     0.006      0.50    0.025 TRUE</a:t>
            </a:r>
            <a:r>
              <a:rPr lang="en-US" sz="1600" noProof="0" dirty="0">
                <a:solidFill>
                  <a:srgbClr val="003B4F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 </a:t>
            </a:r>
            <a:endParaRPr lang="en-US" sz="1600" noProof="0" dirty="0">
              <a:solidFill>
                <a:srgbClr val="5E5E5E"/>
              </a:solidFill>
              <a:latin typeface="Courier New" panose="02070309020205020404" pitchFamily="49" charset="0"/>
              <a:ea typeface="var(--bs-font-monospace)"/>
              <a:cs typeface="Courier New" panose="02070309020205020404" pitchFamily="49" charset="0"/>
            </a:endParaRPr>
          </a:p>
          <a:p>
            <a:pPr lvl="0" eaLnBrk="0" fontAlgn="base" hangingPunct="0">
              <a:spcBef>
                <a:spcPts val="600"/>
              </a:spcBef>
              <a:spcAft>
                <a:spcPct val="0"/>
              </a:spcAft>
            </a:pPr>
            <a:r>
              <a:rPr lang="en-US" sz="1600" noProof="0" dirty="0">
                <a:solidFill>
                  <a:srgbClr val="5E5E5E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&gt; 4      H3     0.105      1.00    0.025 FALSE</a:t>
            </a:r>
            <a:r>
              <a:rPr lang="en-US" sz="16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24B742B-281B-1355-CAA8-A8CBB8EF1A63}"/>
                  </a:ext>
                </a:extLst>
              </p:cNvPr>
              <p:cNvSpPr txBox="1"/>
              <p:nvPr/>
            </p:nvSpPr>
            <p:spPr>
              <a:xfrm>
                <a:off x="6372200" y="2787774"/>
                <a:ext cx="228378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noProof="0" smtClean="0">
                            <a:latin typeface="Cambria Math" panose="02040503050406030204" pitchFamily="18" charset="0"/>
                            <a:ea typeface="黑体"/>
                          </a:rPr>
                        </m:ctrlPr>
                      </m:sSubPr>
                      <m:e>
                        <m:r>
                          <a:rPr lang="en-US" b="0" i="1" noProof="0" smtClean="0">
                            <a:latin typeface="Cambria Math" panose="02040503050406030204" pitchFamily="18" charset="0"/>
                            <a:ea typeface="黑体"/>
                          </a:rPr>
                          <m:t>𝐻</m:t>
                        </m:r>
                      </m:e>
                      <m:sub>
                        <m:r>
                          <a:rPr lang="en-US" b="0" i="1" noProof="0" smtClean="0">
                            <a:latin typeface="Cambria Math" panose="02040503050406030204" pitchFamily="18" charset="0"/>
                            <a:ea typeface="黑体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noProof="0" dirty="0"/>
                  <a:t> rejected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24B742B-281B-1355-CAA8-A8CBB8EF1A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2200" y="2787774"/>
                <a:ext cx="2283786" cy="369332"/>
              </a:xfrm>
              <a:prstGeom prst="rect">
                <a:avLst/>
              </a:prstGeom>
              <a:blipFill>
                <a:blip r:embed="rId4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1A3E0A4-EC47-1C0C-44B9-8088AD8B1768}"/>
                  </a:ext>
                </a:extLst>
              </p:cNvPr>
              <p:cNvSpPr txBox="1"/>
              <p:nvPr/>
            </p:nvSpPr>
            <p:spPr>
              <a:xfrm>
                <a:off x="6372200" y="3087659"/>
                <a:ext cx="228378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noProof="0" smtClean="0">
                            <a:latin typeface="Cambria Math" panose="02040503050406030204" pitchFamily="18" charset="0"/>
                            <a:ea typeface="黑体"/>
                          </a:rPr>
                        </m:ctrlPr>
                      </m:sSubPr>
                      <m:e>
                        <m:r>
                          <a:rPr lang="en-US" b="0" i="1" noProof="0" smtClean="0">
                            <a:latin typeface="Cambria Math" panose="02040503050406030204" pitchFamily="18" charset="0"/>
                            <a:ea typeface="黑体"/>
                          </a:rPr>
                          <m:t>𝐻</m:t>
                        </m:r>
                      </m:e>
                      <m:sub>
                        <m:r>
                          <a:rPr lang="en-US" b="0" i="1" noProof="0" smtClean="0">
                            <a:latin typeface="Cambria Math" panose="02040503050406030204" pitchFamily="18" charset="0"/>
                            <a:ea typeface="黑体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noProof="0" dirty="0"/>
                  <a:t> rejected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1A3E0A4-EC47-1C0C-44B9-8088AD8B17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2200" y="3087659"/>
                <a:ext cx="2283786" cy="369332"/>
              </a:xfrm>
              <a:prstGeom prst="rect">
                <a:avLst/>
              </a:prstGeom>
              <a:blipFill>
                <a:blip r:embed="rId5"/>
                <a:stretch>
                  <a:fillRect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2FF5921-B1D2-19C0-807A-284D98CA135A}"/>
                  </a:ext>
                </a:extLst>
              </p:cNvPr>
              <p:cNvSpPr txBox="1"/>
              <p:nvPr/>
            </p:nvSpPr>
            <p:spPr>
              <a:xfrm>
                <a:off x="6372200" y="3406409"/>
                <a:ext cx="228378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noProof="0" smtClean="0">
                            <a:latin typeface="Cambria Math" panose="02040503050406030204" pitchFamily="18" charset="0"/>
                            <a:ea typeface="黑体"/>
                          </a:rPr>
                        </m:ctrlPr>
                      </m:sSubPr>
                      <m:e>
                        <m:r>
                          <a:rPr lang="en-US" b="0" i="1" noProof="0" smtClean="0">
                            <a:latin typeface="Cambria Math" panose="02040503050406030204" pitchFamily="18" charset="0"/>
                            <a:ea typeface="黑体"/>
                          </a:rPr>
                          <m:t>𝐻</m:t>
                        </m:r>
                      </m:e>
                      <m:sub>
                        <m:r>
                          <a:rPr lang="en-US" b="0" i="1" noProof="0" smtClean="0">
                            <a:latin typeface="Cambria Math" panose="02040503050406030204" pitchFamily="18" charset="0"/>
                            <a:ea typeface="黑体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noProof="0" dirty="0"/>
                  <a:t> rejected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2FF5921-B1D2-19C0-807A-284D98CA13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2200" y="3406409"/>
                <a:ext cx="2283786" cy="369332"/>
              </a:xfrm>
              <a:prstGeom prst="rect">
                <a:avLst/>
              </a:prstGeom>
              <a:blipFill>
                <a:blip r:embed="rId6"/>
                <a:stretch>
                  <a:fillRect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C1134BC-3225-3928-CEEF-131DC291371F}"/>
                  </a:ext>
                </a:extLst>
              </p:cNvPr>
              <p:cNvSpPr txBox="1"/>
              <p:nvPr/>
            </p:nvSpPr>
            <p:spPr>
              <a:xfrm>
                <a:off x="6372200" y="3719282"/>
                <a:ext cx="228378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noProof="0" smtClean="0">
                            <a:latin typeface="Cambria Math" panose="02040503050406030204" pitchFamily="18" charset="0"/>
                            <a:ea typeface="黑体"/>
                          </a:rPr>
                        </m:ctrlPr>
                      </m:sSubPr>
                      <m:e>
                        <m:r>
                          <a:rPr lang="en-US" b="0" i="1" noProof="0" smtClean="0">
                            <a:latin typeface="Cambria Math" panose="02040503050406030204" pitchFamily="18" charset="0"/>
                            <a:ea typeface="黑体"/>
                          </a:rPr>
                          <m:t>𝐻</m:t>
                        </m:r>
                      </m:e>
                      <m:sub>
                        <m:r>
                          <a:rPr lang="en-US" b="0" i="1" noProof="0" smtClean="0">
                            <a:latin typeface="Cambria Math" panose="02040503050406030204" pitchFamily="18" charset="0"/>
                            <a:ea typeface="黑体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noProof="0" dirty="0"/>
                  <a:t> not rejected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C1134BC-3225-3928-CEEF-131DC29137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2200" y="3719282"/>
                <a:ext cx="2283786" cy="369332"/>
              </a:xfrm>
              <a:prstGeom prst="rect">
                <a:avLst/>
              </a:prstGeom>
              <a:blipFill>
                <a:blip r:embed="rId7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5F8819F-A2C1-33DA-84C8-F8F7C2F388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 noProof="0"/>
              <a:t>Bretz, Chen, Xi | ISBS | October 2026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1832087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4" grpId="0"/>
      <p:bldP spid="6" grpId="0"/>
      <p:bldP spid="7" grpId="0"/>
      <p:bldP spid="8" grpId="0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ADC35-2954-4E52-BE3F-E02DED7407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975798" cy="994172"/>
          </a:xfrm>
        </p:spPr>
        <p:txBody>
          <a:bodyPr>
            <a:normAutofit/>
          </a:bodyPr>
          <a:lstStyle/>
          <a:p>
            <a:r>
              <a:rPr lang="en-US" noProof="0" dirty="0"/>
              <a:t>Example 3 Revisited</a:t>
            </a:r>
            <a:br>
              <a:rPr lang="en-US" sz="2800" noProof="0" dirty="0"/>
            </a:br>
            <a:r>
              <a:rPr lang="en-US" sz="2200" i="1" noProof="0" dirty="0"/>
              <a:t>Alternative rejection sequences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C66AEC-4B4B-11CF-8433-A8F84D81E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47CF9-5B10-D24F-A8D7-45A9778164F7}" type="slidenum">
              <a:rPr lang="en-US" noProof="0" smtClean="0"/>
              <a:pPr/>
              <a:t>92</a:t>
            </a:fld>
            <a:endParaRPr lang="en-US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549AC4D-4B3B-817D-E7B5-9D163203FF08}"/>
                  </a:ext>
                </a:extLst>
              </p:cNvPr>
              <p:cNvSpPr txBox="1"/>
              <p:nvPr/>
            </p:nvSpPr>
            <p:spPr>
              <a:xfrm>
                <a:off x="395536" y="1131590"/>
                <a:ext cx="8451264" cy="9951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spcBef>
                    <a:spcPts val="432"/>
                  </a:spcBef>
                  <a:buFont typeface="Arial" panose="020B0604020202020204" pitchFamily="34" charset="0"/>
                  <a:buChar char="•"/>
                </a:pPr>
                <a:r>
                  <a:rPr lang="en-US" noProof="0" dirty="0">
                    <a:ea typeface="黑体"/>
                  </a:rPr>
                  <a:t>The default sequence of rejections is </a:t>
                </a:r>
                <a:r>
                  <a:rPr lang="en-US" noProof="0" dirty="0">
                    <a:solidFill>
                      <a:schemeClr val="accent1"/>
                    </a:solidFill>
                    <a:ea typeface="黑体"/>
                  </a:rPr>
                  <a:t>from the smallest adjusted p-value to the largest</a:t>
                </a:r>
              </a:p>
              <a:p>
                <a:pPr marL="285750" indent="-285750">
                  <a:spcBef>
                    <a:spcPts val="432"/>
                  </a:spcBef>
                  <a:buFont typeface="Arial" panose="020B0604020202020204" pitchFamily="34" charset="0"/>
                  <a:buChar char="•"/>
                </a:pPr>
                <a:r>
                  <a:rPr lang="en-US" noProof="0" dirty="0">
                    <a:ea typeface="黑体"/>
                  </a:rPr>
                  <a:t>There may be other possible rejection sequences after rejecting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noProof="0" smtClean="0">
                            <a:latin typeface="Cambria Math" panose="02040503050406030204" pitchFamily="18" charset="0"/>
                            <a:ea typeface="黑体"/>
                          </a:rPr>
                        </m:ctrlPr>
                      </m:sSubPr>
                      <m:e>
                        <m:r>
                          <a:rPr lang="en-US" i="1" noProof="0" smtClean="0">
                            <a:latin typeface="Cambria Math" panose="02040503050406030204" pitchFamily="18" charset="0"/>
                            <a:ea typeface="黑体"/>
                          </a:rPr>
                          <m:t>𝐻</m:t>
                        </m:r>
                      </m:e>
                      <m:sub>
                        <m:r>
                          <a:rPr lang="en-US" b="0" i="1" noProof="0" smtClean="0">
                            <a:latin typeface="Cambria Math" panose="02040503050406030204" pitchFamily="18" charset="0"/>
                            <a:ea typeface="黑体"/>
                          </a:rPr>
                          <m:t>2</m:t>
                        </m:r>
                      </m:sub>
                    </m:sSub>
                  </m:oMath>
                </a14:m>
                <a:endParaRPr lang="en-US" noProof="0" dirty="0">
                  <a:ea typeface="黑体"/>
                </a:endParaRPr>
              </a:p>
              <a:p>
                <a:pPr marL="742950" lvl="1" indent="-285750">
                  <a:spcBef>
                    <a:spcPts val="432"/>
                  </a:spcBef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noProof="0" smtClean="0">
                            <a:latin typeface="Cambria Math" panose="02040503050406030204" pitchFamily="18" charset="0"/>
                            <a:ea typeface="黑体"/>
                          </a:rPr>
                        </m:ctrlPr>
                      </m:sSubPr>
                      <m:e>
                        <m:r>
                          <a:rPr lang="en-US" sz="1600" i="1" noProof="0" smtClean="0">
                            <a:latin typeface="Cambria Math" panose="02040503050406030204" pitchFamily="18" charset="0"/>
                            <a:ea typeface="黑体"/>
                          </a:rPr>
                          <m:t>𝑝</m:t>
                        </m:r>
                      </m:e>
                      <m:sub>
                        <m:r>
                          <a:rPr lang="en-US" sz="1600" i="1" noProof="0" smtClean="0">
                            <a:latin typeface="Cambria Math" panose="02040503050406030204" pitchFamily="18" charset="0"/>
                            <a:ea typeface="黑体"/>
                          </a:rPr>
                          <m:t>1</m:t>
                        </m:r>
                      </m:sub>
                    </m:sSub>
                    <m:r>
                      <a:rPr lang="en-US" sz="1600" i="1" noProof="0" smtClean="0">
                        <a:latin typeface="Cambria Math" panose="02040503050406030204" pitchFamily="18" charset="0"/>
                        <a:ea typeface="黑体"/>
                      </a:rPr>
                      <m:t>&lt;0.75</m:t>
                    </m:r>
                    <m:r>
                      <a:rPr lang="en-US" sz="1600" i="1" noProof="0" smtClean="0">
                        <a:latin typeface="Cambria Math" panose="02040503050406030204" pitchFamily="18" charset="0"/>
                        <a:ea typeface="黑体"/>
                      </a:rPr>
                      <m:t>𝛼</m:t>
                    </m:r>
                  </m:oMath>
                </a14:m>
                <a:r>
                  <a:rPr lang="en-US" sz="1600" noProof="0" dirty="0">
                    <a:ea typeface="黑体"/>
                  </a:rPr>
                  <a:t> 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noProof="0" smtClean="0">
                            <a:latin typeface="Cambria Math" panose="02040503050406030204" pitchFamily="18" charset="0"/>
                            <a:ea typeface="黑体"/>
                          </a:rPr>
                        </m:ctrlPr>
                      </m:sSubPr>
                      <m:e>
                        <m:r>
                          <a:rPr lang="en-US" sz="1600" i="1" noProof="0" smtClean="0">
                            <a:latin typeface="Cambria Math" panose="02040503050406030204" pitchFamily="18" charset="0"/>
                            <a:ea typeface="黑体"/>
                          </a:rPr>
                          <m:t>𝑝</m:t>
                        </m:r>
                      </m:e>
                      <m:sub>
                        <m:r>
                          <a:rPr lang="en-US" sz="1600" i="1" noProof="0">
                            <a:latin typeface="Cambria Math" panose="02040503050406030204" pitchFamily="18" charset="0"/>
                            <a:ea typeface="黑体"/>
                          </a:rPr>
                          <m:t>4</m:t>
                        </m:r>
                      </m:sub>
                    </m:sSub>
                    <m:r>
                      <a:rPr lang="en-US" sz="1600" i="1" noProof="0">
                        <a:latin typeface="Cambria Math" panose="02040503050406030204" pitchFamily="18" charset="0"/>
                        <a:ea typeface="黑体"/>
                      </a:rPr>
                      <m:t>&lt;0.25</m:t>
                    </m:r>
                    <m:r>
                      <a:rPr lang="en-US" sz="1600" i="1" noProof="0" smtClean="0">
                        <a:latin typeface="Cambria Math" panose="02040503050406030204" pitchFamily="18" charset="0"/>
                        <a:ea typeface="黑体"/>
                      </a:rPr>
                      <m:t>𝛼</m:t>
                    </m:r>
                  </m:oMath>
                </a14:m>
                <a:endParaRPr lang="en-US" sz="1600" noProof="0" dirty="0">
                  <a:ea typeface="黑体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549AC4D-4B3B-817D-E7B5-9D163203FF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1131590"/>
                <a:ext cx="8451264" cy="995144"/>
              </a:xfrm>
              <a:prstGeom prst="rect">
                <a:avLst/>
              </a:prstGeom>
              <a:blipFill>
                <a:blip r:embed="rId3"/>
                <a:stretch>
                  <a:fillRect l="-505" t="-3681" r="-505" b="-73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C6FDF763-F8EE-3A61-00FE-256009C2EE77}"/>
              </a:ext>
            </a:extLst>
          </p:cNvPr>
          <p:cNvSpPr txBox="1"/>
          <p:nvPr/>
        </p:nvSpPr>
        <p:spPr>
          <a:xfrm>
            <a:off x="467545" y="2173089"/>
            <a:ext cx="5112567" cy="284693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ts val="600"/>
              </a:spcBef>
              <a:spcAft>
                <a:spcPct val="0"/>
              </a:spcAft>
            </a:pPr>
            <a:r>
              <a:rPr lang="en-US" sz="1600" noProof="0" dirty="0" err="1">
                <a:solidFill>
                  <a:srgbClr val="4758AB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graph_rejection_orderings</a:t>
            </a:r>
            <a:r>
              <a:rPr lang="en-US" sz="1600" noProof="0" dirty="0">
                <a:solidFill>
                  <a:srgbClr val="5E5E5E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(</a:t>
            </a:r>
            <a:r>
              <a:rPr lang="en-US" sz="1600" noProof="0" dirty="0" err="1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test_results</a:t>
            </a:r>
            <a:r>
              <a:rPr lang="en-US" sz="1600" noProof="0" dirty="0">
                <a:solidFill>
                  <a:srgbClr val="5E5E5E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)$</a:t>
            </a:r>
            <a:r>
              <a:rPr lang="en-US" sz="1600" noProof="0" dirty="0" err="1">
                <a:solidFill>
                  <a:srgbClr val="111111"/>
                </a:solidFill>
                <a:highlight>
                  <a:srgbClr val="FFFF00"/>
                </a:highlight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valid_orderings</a:t>
            </a:r>
            <a:endParaRPr lang="en-US" sz="1600" noProof="0" dirty="0">
              <a:solidFill>
                <a:srgbClr val="003B4F"/>
              </a:solidFill>
              <a:highlight>
                <a:srgbClr val="FFFF00"/>
              </a:highlight>
              <a:latin typeface="Courier New" panose="02070309020205020404" pitchFamily="49" charset="0"/>
              <a:ea typeface="var(--bs-font-monospace)"/>
              <a:cs typeface="Courier New" panose="02070309020205020404" pitchFamily="49" charset="0"/>
            </a:endParaRPr>
          </a:p>
          <a:p>
            <a:pPr lvl="0" eaLnBrk="0" fontAlgn="base" hangingPunct="0">
              <a:spcBef>
                <a:spcPts val="600"/>
              </a:spcBef>
              <a:spcAft>
                <a:spcPct val="0"/>
              </a:spcAft>
            </a:pPr>
            <a:r>
              <a:rPr lang="en-US" sz="1600" noProof="0" dirty="0">
                <a:solidFill>
                  <a:srgbClr val="5E5E5E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&gt; [[1]]</a:t>
            </a:r>
            <a:endParaRPr lang="en-US" sz="1600" noProof="0" dirty="0">
              <a:solidFill>
                <a:srgbClr val="003B4F"/>
              </a:solidFill>
              <a:latin typeface="Courier New" panose="02070309020205020404" pitchFamily="49" charset="0"/>
              <a:ea typeface="var(--bs-font-monospace)"/>
              <a:cs typeface="Courier New" panose="02070309020205020404" pitchFamily="49" charset="0"/>
            </a:endParaRPr>
          </a:p>
          <a:p>
            <a:pPr lvl="0" eaLnBrk="0" fontAlgn="base" hangingPunct="0">
              <a:spcBef>
                <a:spcPts val="600"/>
              </a:spcBef>
              <a:spcAft>
                <a:spcPct val="0"/>
              </a:spcAft>
            </a:pPr>
            <a:r>
              <a:rPr lang="en-US" sz="1600" noProof="0" dirty="0">
                <a:solidFill>
                  <a:srgbClr val="5E5E5E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&gt; H2 H1 H4</a:t>
            </a:r>
          </a:p>
          <a:p>
            <a:pPr lvl="0" eaLnBrk="0" fontAlgn="base" hangingPunct="0">
              <a:spcBef>
                <a:spcPts val="600"/>
              </a:spcBef>
              <a:spcAft>
                <a:spcPct val="0"/>
              </a:spcAft>
            </a:pPr>
            <a:r>
              <a:rPr lang="en-US" sz="1600" noProof="0" dirty="0">
                <a:solidFill>
                  <a:srgbClr val="5E5E5E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&gt; 2   1    4 </a:t>
            </a:r>
          </a:p>
          <a:p>
            <a:pPr lvl="0" eaLnBrk="0" fontAlgn="base" hangingPunct="0">
              <a:spcBef>
                <a:spcPts val="600"/>
              </a:spcBef>
              <a:spcAft>
                <a:spcPct val="0"/>
              </a:spcAft>
            </a:pPr>
            <a:r>
              <a:rPr lang="en-US" sz="1600" noProof="0" dirty="0">
                <a:solidFill>
                  <a:srgbClr val="5E5E5E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&gt; </a:t>
            </a:r>
          </a:p>
          <a:p>
            <a:pPr lvl="0" eaLnBrk="0" fontAlgn="base" hangingPunct="0">
              <a:spcBef>
                <a:spcPts val="600"/>
              </a:spcBef>
              <a:spcAft>
                <a:spcPct val="0"/>
              </a:spcAft>
            </a:pPr>
            <a:r>
              <a:rPr lang="en-US" sz="1600" noProof="0" dirty="0">
                <a:solidFill>
                  <a:srgbClr val="5E5E5E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&gt; [[2]]</a:t>
            </a:r>
            <a:endParaRPr lang="en-US" sz="1600" noProof="0" dirty="0">
              <a:solidFill>
                <a:srgbClr val="003B4F"/>
              </a:solidFill>
              <a:latin typeface="Courier New" panose="02070309020205020404" pitchFamily="49" charset="0"/>
              <a:ea typeface="var(--bs-font-monospace)"/>
              <a:cs typeface="Courier New" panose="02070309020205020404" pitchFamily="49" charset="0"/>
            </a:endParaRPr>
          </a:p>
          <a:p>
            <a:pPr lvl="0" eaLnBrk="0" fontAlgn="base" hangingPunct="0">
              <a:spcBef>
                <a:spcPts val="600"/>
              </a:spcBef>
              <a:spcAft>
                <a:spcPct val="0"/>
              </a:spcAft>
            </a:pPr>
            <a:r>
              <a:rPr lang="en-US" sz="1600" noProof="0" dirty="0">
                <a:solidFill>
                  <a:srgbClr val="5E5E5E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&gt; H2 H4 H1 </a:t>
            </a:r>
          </a:p>
          <a:p>
            <a:pPr lvl="0" eaLnBrk="0" fontAlgn="base" hangingPunct="0">
              <a:spcBef>
                <a:spcPts val="600"/>
              </a:spcBef>
              <a:spcAft>
                <a:spcPct val="0"/>
              </a:spcAft>
            </a:pPr>
            <a:r>
              <a:rPr lang="en-US" sz="1600" noProof="0" dirty="0">
                <a:solidFill>
                  <a:srgbClr val="5E5E5E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&gt; 2   4    1</a:t>
            </a:r>
            <a:r>
              <a:rPr lang="en-US" sz="1600" noProof="0" dirty="0">
                <a:solidFill>
                  <a:srgbClr val="54565B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6EB98D7-CF42-6927-FDE8-DF68A63111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12160" y="2129311"/>
            <a:ext cx="2834640" cy="260032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AAC7701-1876-9096-5A17-1C10AF7BFBF5}"/>
                  </a:ext>
                </a:extLst>
              </p:cNvPr>
              <p:cNvSpPr txBox="1"/>
              <p:nvPr/>
            </p:nvSpPr>
            <p:spPr>
              <a:xfrm>
                <a:off x="2771800" y="3291830"/>
                <a:ext cx="172819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noProof="0">
                            <a:latin typeface="Cambria Math" panose="02040503050406030204" pitchFamily="18" charset="0"/>
                            <a:ea typeface="黑体"/>
                          </a:rPr>
                        </m:ctrlPr>
                      </m:sSubPr>
                      <m:e>
                        <m:r>
                          <a:rPr lang="en-US" i="1" noProof="0">
                            <a:latin typeface="Cambria Math" panose="02040503050406030204" pitchFamily="18" charset="0"/>
                            <a:ea typeface="黑体"/>
                          </a:rPr>
                          <m:t>𝐻</m:t>
                        </m:r>
                      </m:e>
                      <m:sub>
                        <m:r>
                          <a:rPr lang="en-US" b="0" i="1" noProof="0" smtClean="0">
                            <a:latin typeface="Cambria Math" panose="02040503050406030204" pitchFamily="18" charset="0"/>
                            <a:ea typeface="黑体"/>
                          </a:rPr>
                          <m:t>2</m:t>
                        </m:r>
                      </m:sub>
                    </m:sSub>
                    <m:r>
                      <a:rPr lang="en-US" b="0" i="0" noProof="0" smtClean="0">
                        <a:latin typeface="Cambria Math" panose="02040503050406030204" pitchFamily="18" charset="0"/>
                        <a:ea typeface="黑体"/>
                      </a:rPr>
                      <m:t>→</m:t>
                    </m:r>
                    <m:sSub>
                      <m:sSubPr>
                        <m:ctrlPr>
                          <a:rPr lang="en-US" sz="1800" i="1" noProof="0">
                            <a:latin typeface="Cambria Math" panose="02040503050406030204" pitchFamily="18" charset="0"/>
                            <a:ea typeface="黑体"/>
                          </a:rPr>
                        </m:ctrlPr>
                      </m:sSubPr>
                      <m:e>
                        <m:r>
                          <a:rPr lang="en-US" sz="1800" i="1" noProof="0">
                            <a:latin typeface="Cambria Math" panose="02040503050406030204" pitchFamily="18" charset="0"/>
                            <a:ea typeface="黑体"/>
                          </a:rPr>
                          <m:t>𝐻</m:t>
                        </m:r>
                      </m:e>
                      <m:sub>
                        <m:r>
                          <a:rPr lang="en-US" sz="1800" b="0" i="1" noProof="0" smtClean="0">
                            <a:latin typeface="Cambria Math" panose="02040503050406030204" pitchFamily="18" charset="0"/>
                            <a:ea typeface="黑体"/>
                          </a:rPr>
                          <m:t>1</m:t>
                        </m:r>
                      </m:sub>
                    </m:sSub>
                    <m:r>
                      <a:rPr lang="en-US" sz="1800" b="0" i="1" noProof="0" smtClean="0">
                        <a:latin typeface="Cambria Math" panose="02040503050406030204" pitchFamily="18" charset="0"/>
                        <a:ea typeface="黑体"/>
                      </a:rPr>
                      <m:t>→</m:t>
                    </m:r>
                    <m:sSub>
                      <m:sSubPr>
                        <m:ctrlPr>
                          <a:rPr lang="en-US" sz="1800" i="1" noProof="0">
                            <a:latin typeface="Cambria Math" panose="02040503050406030204" pitchFamily="18" charset="0"/>
                            <a:ea typeface="黑体"/>
                          </a:rPr>
                        </m:ctrlPr>
                      </m:sSubPr>
                      <m:e>
                        <m:r>
                          <a:rPr lang="en-US" sz="1800" i="1" noProof="0">
                            <a:latin typeface="Cambria Math" panose="02040503050406030204" pitchFamily="18" charset="0"/>
                            <a:ea typeface="黑体"/>
                          </a:rPr>
                          <m:t>𝐻</m:t>
                        </m:r>
                      </m:e>
                      <m:sub>
                        <m:r>
                          <a:rPr lang="en-US" sz="1800" i="1" noProof="0">
                            <a:latin typeface="Cambria Math" panose="02040503050406030204" pitchFamily="18" charset="0"/>
                            <a:ea typeface="黑体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sz="1800" noProof="0" dirty="0">
                    <a:ea typeface="黑体"/>
                  </a:rPr>
                  <a:t> </a:t>
                </a:r>
                <a:endParaRPr lang="en-US" noProof="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AAC7701-1876-9096-5A17-1C10AF7BFB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1800" y="3291830"/>
                <a:ext cx="1728192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9B67B42-00F3-321C-B45C-147ACDAC42EE}"/>
                  </a:ext>
                </a:extLst>
              </p:cNvPr>
              <p:cNvSpPr txBox="1"/>
              <p:nvPr/>
            </p:nvSpPr>
            <p:spPr>
              <a:xfrm>
                <a:off x="2771800" y="4582597"/>
                <a:ext cx="172819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noProof="0">
                            <a:latin typeface="Cambria Math" panose="02040503050406030204" pitchFamily="18" charset="0"/>
                            <a:ea typeface="黑体"/>
                          </a:rPr>
                        </m:ctrlPr>
                      </m:sSubPr>
                      <m:e>
                        <m:r>
                          <a:rPr lang="en-US" i="1" noProof="0">
                            <a:latin typeface="Cambria Math" panose="02040503050406030204" pitchFamily="18" charset="0"/>
                            <a:ea typeface="黑体"/>
                          </a:rPr>
                          <m:t>𝐻</m:t>
                        </m:r>
                      </m:e>
                      <m:sub>
                        <m:r>
                          <a:rPr lang="en-US" b="0" i="1" noProof="0" smtClean="0">
                            <a:latin typeface="Cambria Math" panose="02040503050406030204" pitchFamily="18" charset="0"/>
                            <a:ea typeface="黑体"/>
                          </a:rPr>
                          <m:t>2</m:t>
                        </m:r>
                      </m:sub>
                    </m:sSub>
                    <m:r>
                      <a:rPr lang="en-US" b="0" i="0" noProof="0" smtClean="0">
                        <a:latin typeface="Cambria Math" panose="02040503050406030204" pitchFamily="18" charset="0"/>
                        <a:ea typeface="黑体"/>
                      </a:rPr>
                      <m:t>→</m:t>
                    </m:r>
                    <m:sSub>
                      <m:sSubPr>
                        <m:ctrlPr>
                          <a:rPr lang="en-US" sz="1800" i="1" noProof="0">
                            <a:latin typeface="Cambria Math" panose="02040503050406030204" pitchFamily="18" charset="0"/>
                            <a:ea typeface="黑体"/>
                          </a:rPr>
                        </m:ctrlPr>
                      </m:sSubPr>
                      <m:e>
                        <m:r>
                          <a:rPr lang="en-US" sz="1800" i="1" noProof="0">
                            <a:latin typeface="Cambria Math" panose="02040503050406030204" pitchFamily="18" charset="0"/>
                            <a:ea typeface="黑体"/>
                          </a:rPr>
                          <m:t>𝐻</m:t>
                        </m:r>
                      </m:e>
                      <m:sub>
                        <m:r>
                          <a:rPr lang="en-US" sz="1800" b="0" i="1" noProof="0" smtClean="0">
                            <a:latin typeface="Cambria Math" panose="02040503050406030204" pitchFamily="18" charset="0"/>
                            <a:ea typeface="黑体"/>
                          </a:rPr>
                          <m:t>4</m:t>
                        </m:r>
                      </m:sub>
                    </m:sSub>
                    <m:r>
                      <a:rPr lang="en-US" sz="1800" b="0" i="1" noProof="0" smtClean="0">
                        <a:latin typeface="Cambria Math" panose="02040503050406030204" pitchFamily="18" charset="0"/>
                        <a:ea typeface="黑体"/>
                      </a:rPr>
                      <m:t>→</m:t>
                    </m:r>
                    <m:sSub>
                      <m:sSubPr>
                        <m:ctrlPr>
                          <a:rPr lang="en-US" sz="1800" i="1" noProof="0">
                            <a:latin typeface="Cambria Math" panose="02040503050406030204" pitchFamily="18" charset="0"/>
                            <a:ea typeface="黑体"/>
                          </a:rPr>
                        </m:ctrlPr>
                      </m:sSubPr>
                      <m:e>
                        <m:r>
                          <a:rPr lang="en-US" sz="1800" i="1" noProof="0">
                            <a:latin typeface="Cambria Math" panose="02040503050406030204" pitchFamily="18" charset="0"/>
                            <a:ea typeface="黑体"/>
                          </a:rPr>
                          <m:t>𝐻</m:t>
                        </m:r>
                      </m:e>
                      <m:sub>
                        <m:r>
                          <a:rPr lang="en-US" sz="1800" b="0" i="1" noProof="0" smtClean="0">
                            <a:latin typeface="Cambria Math" panose="02040503050406030204" pitchFamily="18" charset="0"/>
                            <a:ea typeface="黑体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800" noProof="0" dirty="0">
                    <a:ea typeface="黑体"/>
                  </a:rPr>
                  <a:t> </a:t>
                </a:r>
                <a:endParaRPr lang="en-US" noProof="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9B67B42-00F3-321C-B45C-147ACDAC42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1800" y="4582597"/>
                <a:ext cx="1728192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04784F-645A-8CC5-B214-685392ECBF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 noProof="0"/>
              <a:t>Bretz, Chen, Xi | ISBS | October 2026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9367951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8" grpId="0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ADC35-2954-4E52-BE3F-E02DED7407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975798" cy="994172"/>
          </a:xfrm>
        </p:spPr>
        <p:txBody>
          <a:bodyPr>
            <a:normAutofit/>
          </a:bodyPr>
          <a:lstStyle/>
          <a:p>
            <a:r>
              <a:rPr lang="en-US" noProof="0" dirty="0"/>
              <a:t>Example 3 Revisited</a:t>
            </a:r>
            <a:br>
              <a:rPr lang="en-US" sz="2800" noProof="0" dirty="0"/>
            </a:br>
            <a:r>
              <a:rPr lang="en-US" sz="2200" i="1" noProof="0" dirty="0"/>
              <a:t>Perform power simulation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C66AEC-4B4B-11CF-8433-A8F84D81E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47CF9-5B10-D24F-A8D7-45A9778164F7}" type="slidenum">
              <a:rPr lang="en-US" noProof="0" smtClean="0"/>
              <a:pPr/>
              <a:t>93</a:t>
            </a:fld>
            <a:endParaRPr lang="en-US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549AC4D-4B3B-817D-E7B5-9D163203FF08}"/>
                  </a:ext>
                </a:extLst>
              </p:cNvPr>
              <p:cNvSpPr txBox="1"/>
              <p:nvPr/>
            </p:nvSpPr>
            <p:spPr>
              <a:xfrm>
                <a:off x="395536" y="1131590"/>
                <a:ext cx="8352928" cy="191212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spcBef>
                    <a:spcPts val="432"/>
                  </a:spcBef>
                  <a:buFont typeface="Arial" panose="020B0604020202020204" pitchFamily="34" charset="0"/>
                  <a:buChar char="•"/>
                </a:pPr>
                <a:r>
                  <a:rPr lang="en-US" noProof="0" dirty="0">
                    <a:ea typeface="黑体"/>
                  </a:rPr>
                  <a:t>Assume the marginal power to reject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noProof="0" smtClean="0">
                            <a:latin typeface="Cambria Math" panose="02040503050406030204" pitchFamily="18" charset="0"/>
                            <a:ea typeface="黑体"/>
                          </a:rPr>
                        </m:ctrlPr>
                      </m:sSubPr>
                      <m:e>
                        <m:r>
                          <a:rPr lang="en-US" i="1" noProof="0" smtClean="0">
                            <a:latin typeface="Cambria Math" panose="02040503050406030204" pitchFamily="18" charset="0"/>
                            <a:ea typeface="黑体"/>
                          </a:rPr>
                          <m:t>𝐻</m:t>
                        </m:r>
                      </m:e>
                      <m:sub>
                        <m:r>
                          <a:rPr lang="en-US" b="0" i="1" noProof="0" smtClean="0">
                            <a:latin typeface="Cambria Math" panose="02040503050406030204" pitchFamily="18" charset="0"/>
                            <a:ea typeface="黑体"/>
                          </a:rPr>
                          <m:t>1</m:t>
                        </m:r>
                      </m:sub>
                    </m:sSub>
                    <m:r>
                      <a:rPr lang="en-US" i="1" noProof="0" smtClean="0">
                        <a:latin typeface="Cambria Math" panose="02040503050406030204" pitchFamily="18" charset="0"/>
                        <a:ea typeface="黑体"/>
                      </a:rPr>
                      <m:t>−</m:t>
                    </m:r>
                    <m:sSub>
                      <m:sSubPr>
                        <m:ctrlPr>
                          <a:rPr lang="en-US" i="1" noProof="0" smtClean="0">
                            <a:latin typeface="Cambria Math" panose="02040503050406030204" pitchFamily="18" charset="0"/>
                            <a:ea typeface="黑体"/>
                          </a:rPr>
                        </m:ctrlPr>
                      </m:sSubPr>
                      <m:e>
                        <m:r>
                          <a:rPr lang="en-US" i="1" noProof="0" smtClean="0">
                            <a:latin typeface="Cambria Math" panose="02040503050406030204" pitchFamily="18" charset="0"/>
                            <a:ea typeface="黑体"/>
                          </a:rPr>
                          <m:t>𝐻</m:t>
                        </m:r>
                      </m:e>
                      <m:sub>
                        <m:r>
                          <a:rPr lang="en-US" b="0" i="1" noProof="0" smtClean="0">
                            <a:latin typeface="Cambria Math" panose="02040503050406030204" pitchFamily="18" charset="0"/>
                            <a:ea typeface="黑体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noProof="0" dirty="0">
                    <a:ea typeface="黑体"/>
                  </a:rPr>
                  <a:t> is 90%, 90%, 80%, and 80% </a:t>
                </a:r>
              </a:p>
              <a:p>
                <a:pPr marL="742950" lvl="1" indent="-285750">
                  <a:spcBef>
                    <a:spcPts val="432"/>
                  </a:spcBef>
                  <a:buFont typeface="Arial" panose="020B0604020202020204" pitchFamily="34" charset="0"/>
                  <a:buChar char="•"/>
                </a:pPr>
                <a:r>
                  <a:rPr lang="en-US" sz="1600" noProof="0" dirty="0">
                    <a:solidFill>
                      <a:schemeClr val="accent1"/>
                    </a:solidFill>
                    <a:ea typeface="黑体"/>
                  </a:rPr>
                  <a:t>Marginal power</a:t>
                </a:r>
                <a:r>
                  <a:rPr lang="en-US" sz="1600" noProof="0" dirty="0">
                    <a:ea typeface="黑体"/>
                  </a:rPr>
                  <a:t>: power to reject a single hypothesis </a:t>
                </a:r>
                <a:r>
                  <a:rPr lang="en-US" sz="1600" noProof="0" dirty="0">
                    <a:solidFill>
                      <a:schemeClr val="accent1"/>
                    </a:solidFill>
                    <a:ea typeface="黑体"/>
                  </a:rPr>
                  <a:t>without multiplicity adjustment</a:t>
                </a:r>
              </a:p>
              <a:p>
                <a:pPr marL="742950" lvl="1" indent="-285750">
                  <a:spcBef>
                    <a:spcPts val="432"/>
                  </a:spcBef>
                  <a:buFont typeface="Arial" panose="020B0604020202020204" pitchFamily="34" charset="0"/>
                  <a:buChar char="•"/>
                </a:pPr>
                <a:r>
                  <a:rPr lang="en-US" sz="1600" noProof="0" dirty="0">
                    <a:ea typeface="黑体"/>
                  </a:rPr>
                  <a:t>Often readily available from statistical software</a:t>
                </a:r>
              </a:p>
              <a:p>
                <a:pPr marL="285750" indent="-285750">
                  <a:spcBef>
                    <a:spcPts val="432"/>
                  </a:spcBef>
                  <a:buFont typeface="Arial" panose="020B0604020202020204" pitchFamily="34" charset="0"/>
                  <a:buChar char="•"/>
                </a:pPr>
                <a:r>
                  <a:rPr lang="en-US" noProof="0" dirty="0">
                    <a:ea typeface="黑体"/>
                  </a:rPr>
                  <a:t>Assume all test statistics are independent of each other (for illustration)</a:t>
                </a:r>
              </a:p>
              <a:p>
                <a:pPr marL="742950" lvl="1" indent="-285750">
                  <a:spcBef>
                    <a:spcPts val="432"/>
                  </a:spcBef>
                  <a:buFont typeface="Arial" panose="020B0604020202020204" pitchFamily="34" charset="0"/>
                  <a:buChar char="•"/>
                </a:pPr>
                <a:r>
                  <a:rPr lang="en-US" sz="1600" noProof="0" dirty="0">
                    <a:ea typeface="黑体"/>
                  </a:rPr>
                  <a:t>Local power to reject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noProof="0">
                            <a:latin typeface="Cambria Math" panose="02040503050406030204" pitchFamily="18" charset="0"/>
                            <a:ea typeface="黑体"/>
                          </a:rPr>
                        </m:ctrlPr>
                      </m:sSubPr>
                      <m:e>
                        <m:r>
                          <a:rPr lang="en-US" sz="1600" i="1" noProof="0">
                            <a:latin typeface="Cambria Math" panose="02040503050406030204" pitchFamily="18" charset="0"/>
                            <a:ea typeface="黑体"/>
                          </a:rPr>
                          <m:t>𝐻</m:t>
                        </m:r>
                      </m:e>
                      <m:sub>
                        <m:r>
                          <a:rPr lang="en-US" sz="1600" i="1" noProof="0">
                            <a:latin typeface="Cambria Math" panose="02040503050406030204" pitchFamily="18" charset="0"/>
                            <a:ea typeface="黑体"/>
                          </a:rPr>
                          <m:t>1</m:t>
                        </m:r>
                      </m:sub>
                    </m:sSub>
                    <m:r>
                      <a:rPr lang="en-US" sz="1600" i="1" noProof="0">
                        <a:latin typeface="Cambria Math" panose="02040503050406030204" pitchFamily="18" charset="0"/>
                        <a:ea typeface="黑体"/>
                      </a:rPr>
                      <m:t>−</m:t>
                    </m:r>
                    <m:sSub>
                      <m:sSubPr>
                        <m:ctrlPr>
                          <a:rPr lang="en-US" sz="1600" i="1" noProof="0">
                            <a:latin typeface="Cambria Math" panose="02040503050406030204" pitchFamily="18" charset="0"/>
                            <a:ea typeface="黑体"/>
                          </a:rPr>
                        </m:ctrlPr>
                      </m:sSubPr>
                      <m:e>
                        <m:r>
                          <a:rPr lang="en-US" sz="1600" i="1" noProof="0">
                            <a:latin typeface="Cambria Math" panose="02040503050406030204" pitchFamily="18" charset="0"/>
                            <a:ea typeface="黑体"/>
                          </a:rPr>
                          <m:t>𝐻</m:t>
                        </m:r>
                      </m:e>
                      <m:sub>
                        <m:r>
                          <a:rPr lang="en-US" sz="1600" i="1" noProof="0">
                            <a:latin typeface="Cambria Math" panose="02040503050406030204" pitchFamily="18" charset="0"/>
                            <a:ea typeface="黑体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sz="1600" noProof="0" dirty="0">
                    <a:ea typeface="黑体"/>
                  </a:rPr>
                  <a:t> is 88%, 88%, 67%, 67%</a:t>
                </a:r>
              </a:p>
              <a:p>
                <a:pPr marL="742950" lvl="1" indent="-285750">
                  <a:spcBef>
                    <a:spcPts val="432"/>
                  </a:spcBef>
                  <a:buFont typeface="Arial" panose="020B0604020202020204" pitchFamily="34" charset="0"/>
                  <a:buChar char="•"/>
                </a:pPr>
                <a:r>
                  <a:rPr lang="en-US" sz="1600" noProof="0" dirty="0">
                    <a:solidFill>
                      <a:schemeClr val="accent1"/>
                    </a:solidFill>
                    <a:ea typeface="黑体"/>
                  </a:rPr>
                  <a:t>Local power</a:t>
                </a:r>
                <a:r>
                  <a:rPr lang="en-US" sz="1600" noProof="0" dirty="0">
                    <a:ea typeface="黑体"/>
                  </a:rPr>
                  <a:t>: power to reject a single hypothesis </a:t>
                </a:r>
                <a:r>
                  <a:rPr lang="en-US" sz="1600" noProof="0" dirty="0">
                    <a:solidFill>
                      <a:schemeClr val="accent1"/>
                    </a:solidFill>
                    <a:ea typeface="黑体"/>
                  </a:rPr>
                  <a:t>with multiplicity adjustment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549AC4D-4B3B-817D-E7B5-9D163203FF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1131590"/>
                <a:ext cx="8352928" cy="1912127"/>
              </a:xfrm>
              <a:prstGeom prst="rect">
                <a:avLst/>
              </a:prstGeom>
              <a:blipFill>
                <a:blip r:embed="rId2"/>
                <a:stretch>
                  <a:fillRect l="-511" t="-1917" b="-22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C6FDF763-F8EE-3A61-00FE-256009C2EE77}"/>
              </a:ext>
            </a:extLst>
          </p:cNvPr>
          <p:cNvSpPr txBox="1"/>
          <p:nvPr/>
        </p:nvSpPr>
        <p:spPr>
          <a:xfrm>
            <a:off x="112643" y="2998569"/>
            <a:ext cx="7699717" cy="187743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ts val="600"/>
              </a:spcBef>
              <a:spcAft>
                <a:spcPct val="0"/>
              </a:spcAft>
            </a:pPr>
            <a:r>
              <a:rPr lang="en-US" sz="1600" noProof="0" dirty="0" err="1">
                <a:solidFill>
                  <a:srgbClr val="4758AB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  <a:hlinkClick r:id="rId3"/>
              </a:rPr>
              <a:t>set.seed</a:t>
            </a:r>
            <a:r>
              <a:rPr lang="en-US" sz="1600" noProof="0" dirty="0">
                <a:solidFill>
                  <a:srgbClr val="5E5E5E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(</a:t>
            </a:r>
            <a:r>
              <a:rPr lang="en-US" sz="1600" noProof="0" dirty="0">
                <a:solidFill>
                  <a:srgbClr val="AD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1234</a:t>
            </a:r>
            <a:r>
              <a:rPr lang="en-US" sz="1600" noProof="0" dirty="0">
                <a:solidFill>
                  <a:srgbClr val="5E5E5E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)</a:t>
            </a:r>
            <a:endParaRPr lang="en-US" sz="1600" noProof="0" dirty="0">
              <a:solidFill>
                <a:srgbClr val="003B4F"/>
              </a:solidFill>
              <a:latin typeface="Courier New" panose="02070309020205020404" pitchFamily="49" charset="0"/>
              <a:ea typeface="var(--bs-font-monospace)"/>
              <a:cs typeface="Courier New" panose="02070309020205020404" pitchFamily="49" charset="0"/>
            </a:endParaRPr>
          </a:p>
          <a:p>
            <a:pPr lvl="0" eaLnBrk="0" fontAlgn="base" hangingPunct="0">
              <a:spcBef>
                <a:spcPts val="600"/>
              </a:spcBef>
              <a:spcAft>
                <a:spcPct val="0"/>
              </a:spcAft>
            </a:pPr>
            <a:r>
              <a:rPr lang="en-US" sz="1600" noProof="0" dirty="0" err="1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power_results</a:t>
            </a:r>
            <a:r>
              <a:rPr lang="en-US" sz="1600" noProof="0" dirty="0">
                <a:solidFill>
                  <a:srgbClr val="003B4F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 </a:t>
            </a:r>
            <a:r>
              <a:rPr lang="en-US" sz="1600" noProof="0" dirty="0">
                <a:solidFill>
                  <a:srgbClr val="5E5E5E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&lt;-</a:t>
            </a:r>
            <a:r>
              <a:rPr lang="en-US" sz="1600" noProof="0" dirty="0">
                <a:solidFill>
                  <a:srgbClr val="003B4F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 </a:t>
            </a:r>
            <a:r>
              <a:rPr lang="en-US" sz="1600" noProof="0" dirty="0" err="1">
                <a:solidFill>
                  <a:srgbClr val="4758AB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  <a:hlinkClick r:id="rId4"/>
              </a:rPr>
              <a:t>graph_calculate_power</a:t>
            </a:r>
            <a:r>
              <a:rPr lang="en-US" sz="1600" noProof="0" dirty="0">
                <a:solidFill>
                  <a:srgbClr val="5E5E5E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(</a:t>
            </a:r>
            <a:r>
              <a:rPr lang="en-US" sz="16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g</a:t>
            </a:r>
            <a:r>
              <a:rPr lang="en-US" sz="1600" noProof="0" dirty="0">
                <a:solidFill>
                  <a:srgbClr val="003B4F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</a:t>
            </a:r>
            <a:r>
              <a:rPr lang="en-US" sz="1600" noProof="0" dirty="0" err="1">
                <a:solidFill>
                  <a:srgbClr val="003B4F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sim_n</a:t>
            </a:r>
            <a:r>
              <a:rPr lang="en-US" sz="1600" noProof="0" dirty="0">
                <a:solidFill>
                  <a:srgbClr val="003B4F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 </a:t>
            </a:r>
            <a:r>
              <a:rPr lang="en-US" sz="1600" noProof="0" dirty="0">
                <a:solidFill>
                  <a:srgbClr val="5E5E5E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=</a:t>
            </a:r>
            <a:r>
              <a:rPr lang="en-US" sz="1600" noProof="0" dirty="0">
                <a:solidFill>
                  <a:srgbClr val="003B4F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 </a:t>
            </a:r>
            <a:r>
              <a:rPr lang="en-US" sz="1600" noProof="0" dirty="0">
                <a:solidFill>
                  <a:srgbClr val="AD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1e6</a:t>
            </a:r>
            <a:r>
              <a:rPr lang="en-US" sz="1600" noProof="0" dirty="0">
                <a:solidFill>
                  <a:srgbClr val="003B4F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</a:t>
            </a:r>
            <a:r>
              <a:rPr lang="en-US" sz="1600" noProof="0" dirty="0" err="1">
                <a:solidFill>
                  <a:srgbClr val="003B4F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sim_corr</a:t>
            </a:r>
            <a:r>
              <a:rPr lang="en-US" sz="1600" noProof="0" dirty="0">
                <a:solidFill>
                  <a:srgbClr val="003B4F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 = </a:t>
            </a:r>
            <a:r>
              <a:rPr lang="en-US" sz="1600" noProof="0" dirty="0" err="1">
                <a:solidFill>
                  <a:srgbClr val="003B4F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diag</a:t>
            </a:r>
            <a:r>
              <a:rPr lang="en-US" sz="1600" noProof="0" dirty="0">
                <a:solidFill>
                  <a:srgbClr val="003B4F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(</a:t>
            </a:r>
            <a:r>
              <a:rPr lang="en-US" sz="1600" noProof="0" dirty="0">
                <a:solidFill>
                  <a:srgbClr val="C0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4</a:t>
            </a:r>
            <a:r>
              <a:rPr lang="en-US" sz="1600" noProof="0" dirty="0">
                <a:solidFill>
                  <a:srgbClr val="003B4F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), </a:t>
            </a:r>
            <a:r>
              <a:rPr lang="en-US" sz="1600" noProof="0" dirty="0" err="1">
                <a:solidFill>
                  <a:srgbClr val="003B4F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power_marginal</a:t>
            </a:r>
            <a:r>
              <a:rPr lang="en-US" sz="1600" noProof="0" dirty="0">
                <a:solidFill>
                  <a:srgbClr val="003B4F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 </a:t>
            </a:r>
            <a:r>
              <a:rPr lang="en-US" sz="1600" noProof="0" dirty="0">
                <a:solidFill>
                  <a:srgbClr val="5E5E5E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=</a:t>
            </a:r>
            <a:r>
              <a:rPr lang="en-US" sz="1600" noProof="0" dirty="0">
                <a:solidFill>
                  <a:srgbClr val="003B4F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 </a:t>
            </a:r>
            <a:r>
              <a:rPr lang="en-US" sz="1600" noProof="0" dirty="0">
                <a:solidFill>
                  <a:srgbClr val="4758AB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  <a:hlinkClick r:id="rId5"/>
              </a:rPr>
              <a:t>c</a:t>
            </a:r>
            <a:r>
              <a:rPr lang="en-US" sz="1600" noProof="0" dirty="0">
                <a:solidFill>
                  <a:srgbClr val="5E5E5E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(</a:t>
            </a:r>
            <a:r>
              <a:rPr lang="en-US" sz="1600" noProof="0" dirty="0">
                <a:solidFill>
                  <a:srgbClr val="AD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0.9</a:t>
            </a:r>
            <a:r>
              <a:rPr lang="en-US" sz="1600" noProof="0" dirty="0">
                <a:solidFill>
                  <a:srgbClr val="003B4F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</a:t>
            </a:r>
            <a:r>
              <a:rPr lang="en-US" sz="1600" noProof="0" dirty="0">
                <a:solidFill>
                  <a:srgbClr val="AD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0.9</a:t>
            </a:r>
            <a:r>
              <a:rPr lang="en-US" sz="1600" noProof="0" dirty="0">
                <a:solidFill>
                  <a:srgbClr val="003B4F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</a:t>
            </a:r>
            <a:r>
              <a:rPr lang="en-US" sz="1600" noProof="0" dirty="0">
                <a:solidFill>
                  <a:srgbClr val="AD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0.8</a:t>
            </a:r>
            <a:r>
              <a:rPr lang="en-US" sz="1600" noProof="0" dirty="0">
                <a:solidFill>
                  <a:srgbClr val="003B4F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</a:t>
            </a:r>
            <a:r>
              <a:rPr lang="en-US" sz="1600" noProof="0" dirty="0">
                <a:solidFill>
                  <a:srgbClr val="AD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0.8</a:t>
            </a:r>
            <a:r>
              <a:rPr lang="en-US" sz="1600" noProof="0" dirty="0">
                <a:solidFill>
                  <a:srgbClr val="5E5E5E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))</a:t>
            </a:r>
          </a:p>
          <a:p>
            <a:pPr lvl="0" eaLnBrk="0" fontAlgn="base" hangingPunct="0">
              <a:spcBef>
                <a:spcPts val="600"/>
              </a:spcBef>
              <a:spcAft>
                <a:spcPct val="0"/>
              </a:spcAft>
            </a:pPr>
            <a:r>
              <a:rPr lang="en-US" sz="1600" noProof="0" dirty="0" err="1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power_results</a:t>
            </a:r>
            <a:r>
              <a:rPr lang="en-US" sz="1600" noProof="0" dirty="0" err="1">
                <a:solidFill>
                  <a:srgbClr val="5E5E5E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$</a:t>
            </a:r>
            <a:r>
              <a:rPr lang="en-US" sz="1600" noProof="0" dirty="0" err="1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power</a:t>
            </a:r>
            <a:r>
              <a:rPr lang="en-US" sz="1600" noProof="0" dirty="0" err="1">
                <a:solidFill>
                  <a:srgbClr val="5E5E5E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$</a:t>
            </a:r>
            <a:r>
              <a:rPr lang="en-US" sz="1600" noProof="0" dirty="0" err="1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power_local</a:t>
            </a:r>
            <a:r>
              <a:rPr lang="en-US" sz="1600" noProof="0" dirty="0">
                <a:solidFill>
                  <a:srgbClr val="003B4F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 </a:t>
            </a:r>
          </a:p>
          <a:p>
            <a:pPr lvl="0" eaLnBrk="0" fontAlgn="base" hangingPunct="0">
              <a:spcBef>
                <a:spcPts val="600"/>
              </a:spcBef>
              <a:spcAft>
                <a:spcPct val="0"/>
              </a:spcAft>
            </a:pPr>
            <a:r>
              <a:rPr lang="en-US" sz="1600" noProof="0" dirty="0">
                <a:solidFill>
                  <a:srgbClr val="5E5E5E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&gt; H1    H2     H3    H4 </a:t>
            </a:r>
          </a:p>
          <a:p>
            <a:pPr lvl="0" eaLnBrk="0" fontAlgn="base" hangingPunct="0">
              <a:spcBef>
                <a:spcPts val="600"/>
              </a:spcBef>
              <a:spcAft>
                <a:spcPct val="0"/>
              </a:spcAft>
            </a:pPr>
            <a:r>
              <a:rPr lang="en-US" sz="1600" noProof="0" dirty="0">
                <a:solidFill>
                  <a:srgbClr val="5E5E5E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&gt; 0.88  0.88  0.67  0.67</a:t>
            </a:r>
            <a:r>
              <a:rPr lang="en-US" sz="16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DA1B46-2A6C-3B15-708C-84050E68EF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 noProof="0"/>
              <a:t>Bretz, Chen, Xi | ISBS | October 2026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9963587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CA2159-F367-53C6-25E4-B2EFCC5549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78EAB-3595-A84D-B99B-BFFB29B9C6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975798" cy="994172"/>
          </a:xfrm>
        </p:spPr>
        <p:txBody>
          <a:bodyPr>
            <a:normAutofit/>
          </a:bodyPr>
          <a:lstStyle/>
          <a:p>
            <a:r>
              <a:rPr lang="en-US" noProof="0" dirty="0"/>
              <a:t>Example 3 Revisited</a:t>
            </a:r>
            <a:br>
              <a:rPr lang="en-US" sz="2800" noProof="0" dirty="0"/>
            </a:br>
            <a:r>
              <a:rPr lang="en-US" sz="2200" i="1" noProof="0" dirty="0"/>
              <a:t>Customizable success objectives</a:t>
            </a:r>
            <a:endParaRPr lang="en-US" sz="2200" i="1" noProof="0" dirty="0">
              <a:ea typeface="Calibri Light"/>
              <a:cs typeface="Calibri Light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1F2CB3-989A-45AB-F2BB-07F5E6FAE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47CF9-5B10-D24F-A8D7-45A9778164F7}" type="slidenum">
              <a:rPr lang="en-US" noProof="0" smtClean="0"/>
              <a:pPr/>
              <a:t>94</a:t>
            </a:fld>
            <a:endParaRPr lang="en-US" noProof="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E723930-B601-ABAA-FEAD-CB2E0560357A}"/>
              </a:ext>
            </a:extLst>
          </p:cNvPr>
          <p:cNvSpPr txBox="1"/>
          <p:nvPr/>
        </p:nvSpPr>
        <p:spPr>
          <a:xfrm>
            <a:off x="395536" y="1131590"/>
            <a:ext cx="8352928" cy="168251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85750" indent="-285750">
              <a:spcBef>
                <a:spcPts val="432"/>
              </a:spcBef>
              <a:buFont typeface="Arial" panose="020B0604020202020204" pitchFamily="34" charset="0"/>
              <a:buChar char="•"/>
            </a:pPr>
            <a:r>
              <a:rPr lang="en-US" noProof="0" dirty="0">
                <a:ea typeface="黑体"/>
              </a:rPr>
              <a:t>Default objectives for outputs</a:t>
            </a:r>
            <a:endParaRPr lang="en-US" noProof="0" dirty="0">
              <a:ea typeface="黑体"/>
              <a:cs typeface="Calibri"/>
            </a:endParaRPr>
          </a:p>
          <a:p>
            <a:pPr marL="742950" lvl="1" indent="-285750">
              <a:spcBef>
                <a:spcPts val="432"/>
              </a:spcBef>
              <a:buFont typeface="Arial" panose="020B0604020202020204" pitchFamily="34" charset="0"/>
              <a:buChar char="•"/>
            </a:pPr>
            <a:r>
              <a:rPr lang="en-US" noProof="0" dirty="0">
                <a:solidFill>
                  <a:srgbClr val="000000"/>
                </a:solidFill>
                <a:ea typeface="黑体"/>
                <a:cs typeface="Calibri" panose="020F0502020204030204"/>
              </a:rPr>
              <a:t>Local power</a:t>
            </a:r>
          </a:p>
          <a:p>
            <a:pPr marL="742950" lvl="1" indent="-285750">
              <a:spcBef>
                <a:spcPts val="432"/>
              </a:spcBef>
              <a:buFont typeface="Arial" panose="020B0604020202020204" pitchFamily="34" charset="0"/>
              <a:buChar char="•"/>
            </a:pPr>
            <a:r>
              <a:rPr lang="en-US" noProof="0" dirty="0">
                <a:solidFill>
                  <a:srgbClr val="000000"/>
                </a:solidFill>
                <a:ea typeface="黑体"/>
                <a:cs typeface="Calibri" panose="020F0502020204030204"/>
              </a:rPr>
              <a:t>Expected number of rejections</a:t>
            </a:r>
            <a:endParaRPr lang="en-US" noProof="0" dirty="0">
              <a:solidFill>
                <a:srgbClr val="000000"/>
              </a:solidFill>
              <a:ea typeface="黑体"/>
            </a:endParaRPr>
          </a:p>
          <a:p>
            <a:pPr marL="742950" lvl="1" indent="-285750">
              <a:spcBef>
                <a:spcPts val="432"/>
              </a:spcBef>
              <a:buFont typeface="Arial" panose="020B0604020202020204" pitchFamily="34" charset="0"/>
              <a:buChar char="•"/>
            </a:pPr>
            <a:r>
              <a:rPr lang="en-US" noProof="0" dirty="0">
                <a:solidFill>
                  <a:srgbClr val="000000"/>
                </a:solidFill>
                <a:ea typeface="黑体"/>
                <a:cs typeface="Calibri"/>
              </a:rPr>
              <a:t>Disjunctive and conjunctive power</a:t>
            </a:r>
            <a:endParaRPr lang="en-US" noProof="0" dirty="0">
              <a:solidFill>
                <a:srgbClr val="000000"/>
              </a:solidFill>
              <a:ea typeface="黑体"/>
            </a:endParaRPr>
          </a:p>
          <a:p>
            <a:pPr marL="285750" indent="-285750">
              <a:spcBef>
                <a:spcPts val="432"/>
              </a:spcBef>
              <a:buFont typeface="Arial" panose="020B0604020202020204" pitchFamily="34" charset="0"/>
              <a:buChar char="•"/>
            </a:pPr>
            <a:r>
              <a:rPr lang="en-US" noProof="0" dirty="0">
                <a:solidFill>
                  <a:schemeClr val="accent1"/>
                </a:solidFill>
                <a:ea typeface="黑体"/>
              </a:rPr>
              <a:t>User-defined success objectives</a:t>
            </a:r>
            <a:endParaRPr lang="en-US" noProof="0" dirty="0">
              <a:solidFill>
                <a:schemeClr val="accent1"/>
              </a:solidFill>
              <a:ea typeface="黑体"/>
              <a:cs typeface="Calibri" panose="020F0502020204030204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D0F0A0-F8F1-0896-5A86-5FBCADED1526}"/>
              </a:ext>
            </a:extLst>
          </p:cNvPr>
          <p:cNvSpPr txBox="1"/>
          <p:nvPr/>
        </p:nvSpPr>
        <p:spPr>
          <a:xfrm>
            <a:off x="112643" y="2793058"/>
            <a:ext cx="8918671" cy="204671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91440" tIns="45720" rIns="91440" bIns="45720" anchor="t">
            <a:spAutoFit/>
          </a:bodyPr>
          <a:lstStyle/>
          <a:p>
            <a:pPr>
              <a:spcBef>
                <a:spcPts val="600"/>
              </a:spcBef>
            </a:pPr>
            <a:r>
              <a:rPr lang="en-US" sz="1600" noProof="0" dirty="0" err="1">
                <a:latin typeface="Courier New"/>
                <a:ea typeface="+mn-lt"/>
                <a:cs typeface="+mn-lt"/>
              </a:rPr>
              <a:t>success_fns</a:t>
            </a:r>
            <a:r>
              <a:rPr lang="en-US" sz="1600" noProof="0" dirty="0">
                <a:latin typeface="Courier New"/>
                <a:ea typeface="+mn-lt"/>
                <a:cs typeface="+mn-lt"/>
              </a:rPr>
              <a:t> &lt;- </a:t>
            </a:r>
            <a:r>
              <a:rPr lang="en-US" sz="1600" u="sng" noProof="0" dirty="0">
                <a:solidFill>
                  <a:srgbClr val="023760"/>
                </a:solidFill>
                <a:latin typeface="Courier New"/>
                <a:ea typeface="+mn-lt"/>
                <a:cs typeface="+mn-lt"/>
              </a:rPr>
              <a:t>list</a:t>
            </a:r>
            <a:r>
              <a:rPr lang="en-US" sz="1600" noProof="0" dirty="0">
                <a:latin typeface="Courier New"/>
                <a:ea typeface="+mn-lt"/>
                <a:cs typeface="+mn-lt"/>
              </a:rPr>
              <a:t>(# Prob to reject both hypotheses for either dose `(H1andH3)or(H2andH4)` = </a:t>
            </a:r>
            <a:r>
              <a:rPr lang="en-US" sz="1600" u="sng" noProof="0" dirty="0">
                <a:solidFill>
                  <a:srgbClr val="023760"/>
                </a:solidFill>
                <a:latin typeface="Courier New"/>
                <a:ea typeface="+mn-lt"/>
                <a:cs typeface="+mn-lt"/>
              </a:rPr>
              <a:t>function</a:t>
            </a:r>
            <a:r>
              <a:rPr lang="en-US" sz="1600" noProof="0" dirty="0">
                <a:latin typeface="Courier New"/>
                <a:ea typeface="+mn-lt"/>
                <a:cs typeface="+mn-lt"/>
              </a:rPr>
              <a:t>(x) (x[1] &amp; x[3]) | (x[2] &amp; x[4])) </a:t>
            </a:r>
            <a:endParaRPr lang="en-US" noProof="0" dirty="0">
              <a:latin typeface="Courier New"/>
              <a:ea typeface="+mn-lt"/>
              <a:cs typeface="Courier New"/>
            </a:endParaRPr>
          </a:p>
          <a:p>
            <a:pPr>
              <a:spcBef>
                <a:spcPts val="600"/>
              </a:spcBef>
            </a:pPr>
            <a:r>
              <a:rPr lang="en-US" sz="1600" noProof="0" dirty="0" err="1">
                <a:latin typeface="Courier New"/>
                <a:ea typeface="+mn-lt"/>
                <a:cs typeface="+mn-lt"/>
              </a:rPr>
              <a:t>power_results</a:t>
            </a:r>
            <a:r>
              <a:rPr lang="en-US" sz="1600" noProof="0" dirty="0">
                <a:latin typeface="Courier New"/>
                <a:ea typeface="+mn-lt"/>
                <a:cs typeface="+mn-lt"/>
              </a:rPr>
              <a:t> &lt;- </a:t>
            </a:r>
            <a:r>
              <a:rPr lang="en-US" sz="1600" u="sng" noProof="0" dirty="0" err="1">
                <a:solidFill>
                  <a:srgbClr val="023760"/>
                </a:solidFill>
                <a:latin typeface="Courier New"/>
                <a:ea typeface="+mn-lt"/>
                <a:cs typeface="+mn-lt"/>
              </a:rPr>
              <a:t>graph_calculate_power</a:t>
            </a:r>
            <a:r>
              <a:rPr lang="en-US" sz="1600" noProof="0" dirty="0">
                <a:latin typeface="Courier New"/>
                <a:ea typeface="+mn-lt"/>
                <a:cs typeface="+mn-lt"/>
              </a:rPr>
              <a:t>(g, </a:t>
            </a:r>
            <a:r>
              <a:rPr lang="en-US" sz="1600" noProof="0" dirty="0" err="1">
                <a:latin typeface="Courier New"/>
                <a:ea typeface="+mn-lt"/>
                <a:cs typeface="+mn-lt"/>
              </a:rPr>
              <a:t>sim_n</a:t>
            </a:r>
            <a:r>
              <a:rPr lang="en-US" sz="1600" noProof="0" dirty="0">
                <a:latin typeface="Courier New"/>
                <a:ea typeface="+mn-lt"/>
                <a:cs typeface="+mn-lt"/>
              </a:rPr>
              <a:t> = 1e6, </a:t>
            </a:r>
            <a:r>
              <a:rPr lang="en-US" sz="1600" noProof="0" dirty="0" err="1">
                <a:latin typeface="Courier New"/>
                <a:ea typeface="+mn-lt"/>
                <a:cs typeface="+mn-lt"/>
              </a:rPr>
              <a:t>sim_corr</a:t>
            </a:r>
            <a:r>
              <a:rPr lang="en-US" sz="1600" noProof="0" dirty="0">
                <a:latin typeface="Courier New"/>
                <a:ea typeface="+mn-lt"/>
                <a:cs typeface="+mn-lt"/>
              </a:rPr>
              <a:t> = </a:t>
            </a:r>
            <a:r>
              <a:rPr lang="en-US" sz="1600" noProof="0" dirty="0" err="1">
                <a:latin typeface="Courier New"/>
                <a:ea typeface="+mn-lt"/>
                <a:cs typeface="+mn-lt"/>
              </a:rPr>
              <a:t>diag</a:t>
            </a:r>
            <a:r>
              <a:rPr lang="en-US" sz="1600" noProof="0" dirty="0">
                <a:latin typeface="Courier New"/>
                <a:ea typeface="+mn-lt"/>
                <a:cs typeface="+mn-lt"/>
              </a:rPr>
              <a:t>(4), </a:t>
            </a:r>
            <a:r>
              <a:rPr lang="en-US" sz="1600" noProof="0" dirty="0" err="1">
                <a:latin typeface="Courier New"/>
                <a:ea typeface="+mn-lt"/>
                <a:cs typeface="+mn-lt"/>
              </a:rPr>
              <a:t>power_marginal</a:t>
            </a:r>
            <a:r>
              <a:rPr lang="en-US" sz="1600" noProof="0" dirty="0">
                <a:latin typeface="Courier New"/>
                <a:ea typeface="+mn-lt"/>
                <a:cs typeface="+mn-lt"/>
              </a:rPr>
              <a:t> = </a:t>
            </a:r>
            <a:r>
              <a:rPr lang="en-US" sz="1600" u="sng" noProof="0" dirty="0">
                <a:solidFill>
                  <a:srgbClr val="023760"/>
                </a:solidFill>
                <a:latin typeface="Courier New"/>
                <a:ea typeface="+mn-lt"/>
                <a:cs typeface="+mn-lt"/>
              </a:rPr>
              <a:t>c</a:t>
            </a:r>
            <a:r>
              <a:rPr lang="en-US" sz="1600" noProof="0" dirty="0">
                <a:latin typeface="Courier New"/>
                <a:ea typeface="+mn-lt"/>
                <a:cs typeface="+mn-lt"/>
              </a:rPr>
              <a:t>(0.9, 0.9, 0.8, 0.8), </a:t>
            </a:r>
            <a:r>
              <a:rPr lang="en-US" sz="1600" noProof="0" dirty="0" err="1">
                <a:highlight>
                  <a:srgbClr val="FFFF00"/>
                </a:highlight>
                <a:latin typeface="Courier New"/>
                <a:ea typeface="+mn-lt"/>
                <a:cs typeface="+mn-lt"/>
              </a:rPr>
              <a:t>sim_success</a:t>
            </a:r>
            <a:r>
              <a:rPr lang="en-US" sz="1600" noProof="0" dirty="0">
                <a:highlight>
                  <a:srgbClr val="FFFF00"/>
                </a:highlight>
                <a:latin typeface="Courier New"/>
                <a:ea typeface="+mn-lt"/>
                <a:cs typeface="+mn-lt"/>
              </a:rPr>
              <a:t> = </a:t>
            </a:r>
            <a:r>
              <a:rPr lang="en-US" sz="1600" noProof="0" dirty="0" err="1">
                <a:highlight>
                  <a:srgbClr val="FFFF00"/>
                </a:highlight>
                <a:latin typeface="Courier New"/>
                <a:ea typeface="+mn-lt"/>
                <a:cs typeface="+mn-lt"/>
              </a:rPr>
              <a:t>success_fns</a:t>
            </a:r>
            <a:r>
              <a:rPr lang="en-US" sz="1600" noProof="0" dirty="0">
                <a:latin typeface="Courier New"/>
                <a:ea typeface="+mn-lt"/>
                <a:cs typeface="+mn-lt"/>
              </a:rPr>
              <a:t>)</a:t>
            </a:r>
            <a:endParaRPr lang="en-US" noProof="0" dirty="0">
              <a:latin typeface="Courier New"/>
              <a:ea typeface="+mn-lt"/>
              <a:cs typeface="Courier New"/>
            </a:endParaRPr>
          </a:p>
          <a:p>
            <a:pPr>
              <a:spcBef>
                <a:spcPts val="600"/>
              </a:spcBef>
            </a:pPr>
            <a:r>
              <a:rPr lang="en-US" sz="1600" noProof="0" dirty="0" err="1">
                <a:latin typeface="Courier New"/>
                <a:ea typeface="+mn-lt"/>
                <a:cs typeface="+mn-lt"/>
              </a:rPr>
              <a:t>power_results$power$power_success</a:t>
            </a:r>
            <a:r>
              <a:rPr lang="en-US" sz="1600" noProof="0" dirty="0">
                <a:latin typeface="Courier New"/>
                <a:ea typeface="+mn-lt"/>
                <a:cs typeface="+mn-lt"/>
              </a:rPr>
              <a:t> </a:t>
            </a:r>
            <a:endParaRPr lang="en-US" noProof="0" dirty="0">
              <a:latin typeface="Courier New"/>
              <a:ea typeface="+mn-lt"/>
              <a:cs typeface="Courier New"/>
            </a:endParaRPr>
          </a:p>
          <a:p>
            <a:pPr>
              <a:spcBef>
                <a:spcPts val="600"/>
              </a:spcBef>
            </a:pPr>
            <a:r>
              <a:rPr lang="en-US" sz="1600" noProof="0" dirty="0">
                <a:solidFill>
                  <a:srgbClr val="5E5E5E"/>
                </a:solidFill>
                <a:latin typeface="Courier New"/>
                <a:ea typeface="+mn-lt"/>
                <a:cs typeface="+mn-lt"/>
              </a:rPr>
              <a:t>&gt; (H1andH3)or(H2andH4) 0.83281</a:t>
            </a:r>
            <a:endParaRPr lang="en-US" noProof="0" dirty="0">
              <a:latin typeface="Courier New"/>
              <a:cs typeface="Courier New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299145-8E3A-E417-654D-25F1E0D20A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 noProof="0"/>
              <a:t>Bretz, Chen, Xi | ISBS | October 2026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8685344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D3BA9B-6BF1-4C7F-C317-FE86EA3E6E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FDF57F-8AE3-B6D1-7DAD-B67A5A3CB7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A259D2-34A5-2F63-8813-9D9B498C5C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noProof="0" dirty="0">
                <a:solidFill>
                  <a:schemeClr val="bg1">
                    <a:lumMod val="75000"/>
                  </a:schemeClr>
                </a:solidFill>
              </a:rPr>
              <a:t>Introduction and basic concepts</a:t>
            </a:r>
          </a:p>
          <a:p>
            <a:r>
              <a:rPr lang="en-US" noProof="0" dirty="0">
                <a:solidFill>
                  <a:schemeClr val="bg1">
                    <a:lumMod val="75000"/>
                  </a:schemeClr>
                </a:solidFill>
              </a:rPr>
              <a:t>Graphical approaches to multiple testing</a:t>
            </a:r>
          </a:p>
          <a:p>
            <a:r>
              <a:rPr lang="en-US" noProof="0" dirty="0">
                <a:solidFill>
                  <a:schemeClr val="bg1">
                    <a:lumMod val="75000"/>
                  </a:schemeClr>
                </a:solidFill>
              </a:rPr>
              <a:t>Optimizing graphical multiple comparison procedures</a:t>
            </a:r>
          </a:p>
          <a:p>
            <a:r>
              <a:rPr lang="en-US" noProof="0" dirty="0" err="1"/>
              <a:t>graphicalMCP</a:t>
            </a:r>
            <a:r>
              <a:rPr lang="en-US" noProof="0" dirty="0"/>
              <a:t>: implementation of graphical approaches</a:t>
            </a:r>
          </a:p>
          <a:p>
            <a:pPr lvl="1"/>
            <a:r>
              <a:rPr lang="en-US" noProof="0" dirty="0">
                <a:solidFill>
                  <a:schemeClr val="bg1">
                    <a:lumMod val="75000"/>
                  </a:schemeClr>
                </a:solidFill>
              </a:rPr>
              <a:t>Bonferroni-based approaches</a:t>
            </a:r>
          </a:p>
          <a:p>
            <a:pPr lvl="1"/>
            <a:r>
              <a:rPr lang="en-US" noProof="0" dirty="0"/>
              <a:t>Beyond Bonferroni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AFA027-BE60-5F73-F5F2-E4E204759D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 noProof="0"/>
              <a:t>Bretz, Chen, Xi | ISBS | October 2026</a:t>
            </a:r>
            <a:endParaRPr lang="en-US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7072DE-FD33-5D13-B509-7C581D1B0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D9F39-F344-41AE-B531-1D3ECACBC820}" type="slidenum">
              <a:rPr lang="en-US" noProof="0" smtClean="0"/>
              <a:t>95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225358860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204D93-BD3A-5A0C-EB89-1BA38E2AB5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92FC2-7628-ACE0-6591-42F70A7308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975798" cy="994172"/>
          </a:xfrm>
        </p:spPr>
        <p:txBody>
          <a:bodyPr>
            <a:normAutofit/>
          </a:bodyPr>
          <a:lstStyle/>
          <a:p>
            <a:r>
              <a:rPr lang="en-US" sz="3200" spc="-100" noProof="0" dirty="0"/>
              <a:t>Graphical approaches beyond Bonferroni</a:t>
            </a:r>
            <a:br>
              <a:rPr lang="en-US" sz="3200" spc="-100" noProof="0" dirty="0"/>
            </a:br>
            <a:r>
              <a:rPr lang="en-US" sz="2200" i="1" noProof="0" dirty="0">
                <a:solidFill>
                  <a:srgbClr val="000000"/>
                </a:solidFill>
              </a:rPr>
              <a:t>Background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EAB2553-946E-669C-82B2-050F35B8DB3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369219"/>
                <a:ext cx="8119814" cy="3263504"/>
              </a:xfrm>
            </p:spPr>
            <p:txBody>
              <a:bodyPr>
                <a:normAutofit lnSpcReduction="10000"/>
              </a:bodyPr>
              <a:lstStyle/>
              <a:p>
                <a:pPr>
                  <a:lnSpc>
                    <a:spcPct val="100000"/>
                  </a:lnSpc>
                  <a:spcBef>
                    <a:spcPts val="432"/>
                  </a:spcBef>
                </a:pPr>
                <a:r>
                  <a:rPr lang="en-US" sz="2000" noProof="0" dirty="0">
                    <a:solidFill>
                      <a:schemeClr val="accent1"/>
                    </a:solidFill>
                  </a:rPr>
                  <a:t>Bonferroni-based graphs </a:t>
                </a:r>
                <a:r>
                  <a:rPr lang="en-US" sz="2000" noProof="0" dirty="0"/>
                  <a:t>are simple using a </a:t>
                </a:r>
                <a:r>
                  <a:rPr lang="en-US" sz="2000" noProof="0" dirty="0">
                    <a:solidFill>
                      <a:schemeClr val="accent1"/>
                    </a:solidFill>
                  </a:rPr>
                  <a:t>shortcut procedure</a:t>
                </a:r>
              </a:p>
              <a:p>
                <a:pPr lvl="1">
                  <a:lnSpc>
                    <a:spcPct val="100000"/>
                  </a:lnSpc>
                  <a:spcBef>
                    <a:spcPts val="432"/>
                  </a:spcBef>
                </a:pPr>
                <a:r>
                  <a:rPr lang="en-US" noProof="0" dirty="0"/>
                  <a:t>At most </a:t>
                </a:r>
                <a14:m>
                  <m:oMath xmlns:m="http://schemas.openxmlformats.org/officeDocument/2006/math"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noProof="0" dirty="0"/>
                  <a:t> tests for </a:t>
                </a:r>
                <a14:m>
                  <m:oMath xmlns:m="http://schemas.openxmlformats.org/officeDocument/2006/math"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noProof="0" dirty="0"/>
                  <a:t> hypotheses</a:t>
                </a:r>
              </a:p>
              <a:p>
                <a:pPr>
                  <a:lnSpc>
                    <a:spcPct val="100000"/>
                  </a:lnSpc>
                  <a:spcBef>
                    <a:spcPts val="432"/>
                  </a:spcBef>
                </a:pPr>
                <a:r>
                  <a:rPr lang="en-US" sz="2000" noProof="0" dirty="0"/>
                  <a:t>But it may be improved for </a:t>
                </a:r>
                <a:r>
                  <a:rPr lang="en-US" sz="2000" noProof="0" dirty="0">
                    <a:solidFill>
                      <a:schemeClr val="accent1"/>
                    </a:solidFill>
                  </a:rPr>
                  <a:t>power gain </a:t>
                </a:r>
                <a:r>
                  <a:rPr lang="en-US" sz="2000" noProof="0" dirty="0"/>
                  <a:t>using </a:t>
                </a:r>
                <a:r>
                  <a:rPr lang="en-US" sz="2000" noProof="0" dirty="0">
                    <a:solidFill>
                      <a:schemeClr val="accent1"/>
                    </a:solidFill>
                  </a:rPr>
                  <a:t>closed test procedures</a:t>
                </a:r>
              </a:p>
              <a:p>
                <a:pPr lvl="1">
                  <a:lnSpc>
                    <a:spcPct val="100000"/>
                  </a:lnSpc>
                  <a:spcBef>
                    <a:spcPts val="432"/>
                  </a:spcBef>
                </a:pPr>
                <a:r>
                  <a:rPr lang="en-US" noProof="0" dirty="0"/>
                  <a:t>Hochberg- or Simes-based tests for non-negatively correlated test statistics</a:t>
                </a:r>
              </a:p>
              <a:p>
                <a:pPr lvl="1">
                  <a:lnSpc>
                    <a:spcPct val="100000"/>
                  </a:lnSpc>
                  <a:spcBef>
                    <a:spcPts val="432"/>
                  </a:spcBef>
                </a:pPr>
                <a:r>
                  <a:rPr lang="en-US" noProof="0" dirty="0"/>
                  <a:t>Parametric-based tests for exact correlations</a:t>
                </a:r>
              </a:p>
              <a:p>
                <a:pPr lvl="1">
                  <a:lnSpc>
                    <a:spcPct val="100000"/>
                  </a:lnSpc>
                  <a:spcBef>
                    <a:spcPts val="432"/>
                  </a:spcBef>
                </a:pPr>
                <a:r>
                  <a:rPr lang="en-US" noProof="0" dirty="0"/>
                  <a:t>More computationally intensive, e.g., </a:t>
                </a:r>
                <a14:m>
                  <m:oMath xmlns:m="http://schemas.openxmlformats.org/officeDocument/2006/math">
                    <m:r>
                      <a:rPr lang="en-US" i="1" noProof="0" smtClean="0">
                        <a:latin typeface="Cambria Math" panose="02040503050406030204" pitchFamily="18" charset="0"/>
                      </a:rPr>
                      <m:t>~</m:t>
                    </m:r>
                    <m:sSup>
                      <m:sSupPr>
                        <m:ctrlPr>
                          <a:rPr lang="en-US" i="1" noProof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noProof="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r>
                  <a:rPr lang="en-US" noProof="0" dirty="0"/>
                  <a:t> tests for </a:t>
                </a:r>
                <a14:m>
                  <m:oMath xmlns:m="http://schemas.openxmlformats.org/officeDocument/2006/math">
                    <m:r>
                      <a:rPr lang="en-US" i="1" noProof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noProof="0" dirty="0"/>
                  <a:t> hypotheses</a:t>
                </a:r>
              </a:p>
              <a:p>
                <a:pPr>
                  <a:lnSpc>
                    <a:spcPct val="100000"/>
                  </a:lnSpc>
                  <a:spcBef>
                    <a:spcPts val="432"/>
                  </a:spcBef>
                </a:pPr>
                <a:r>
                  <a:rPr lang="en-US" sz="2000" noProof="0" dirty="0">
                    <a:solidFill>
                      <a:schemeClr val="accent1"/>
                    </a:solidFill>
                  </a:rPr>
                  <a:t>Mixed types of tests </a:t>
                </a:r>
                <a:r>
                  <a:rPr lang="en-US" sz="2000" noProof="0" dirty="0"/>
                  <a:t>may be needed for interpretability and power</a:t>
                </a:r>
              </a:p>
              <a:p>
                <a:pPr lvl="1">
                  <a:lnSpc>
                    <a:spcPct val="100000"/>
                  </a:lnSpc>
                  <a:spcBef>
                    <a:spcPts val="432"/>
                  </a:spcBef>
                </a:pPr>
                <a:r>
                  <a:rPr lang="en-US" noProof="0" dirty="0"/>
                  <a:t>E.g., parametric-based tests for primary hypotheses</a:t>
                </a:r>
              </a:p>
              <a:p>
                <a:pPr lvl="1">
                  <a:lnSpc>
                    <a:spcPct val="100000"/>
                  </a:lnSpc>
                  <a:spcBef>
                    <a:spcPts val="432"/>
                  </a:spcBef>
                </a:pPr>
                <a:r>
                  <a:rPr lang="en-US" noProof="0" dirty="0"/>
                  <a:t>Hochberg- or Simes-based tests for groups of secondary hypotheses</a:t>
                </a:r>
              </a:p>
              <a:p>
                <a:pPr lvl="1">
                  <a:lnSpc>
                    <a:spcPct val="100000"/>
                  </a:lnSpc>
                  <a:spcBef>
                    <a:spcPts val="432"/>
                  </a:spcBef>
                </a:pPr>
                <a:r>
                  <a:rPr lang="en-US" noProof="0" dirty="0"/>
                  <a:t>Bonferroni-based tests for the rest (and connecting all tests)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EAB2553-946E-669C-82B2-050F35B8DB3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369219"/>
                <a:ext cx="8119814" cy="3263504"/>
              </a:xfrm>
              <a:blipFill>
                <a:blip r:embed="rId3"/>
                <a:stretch>
                  <a:fillRect l="-676" t="-20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911A0C-DE82-0A26-B215-587D6D483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47CF9-5B10-D24F-A8D7-45A9778164F7}" type="slidenum">
              <a:rPr lang="en-US" noProof="0" smtClean="0"/>
              <a:pPr/>
              <a:t>96</a:t>
            </a:fld>
            <a:endParaRPr lang="en-US" noProof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B575C6F-FC5F-EC09-25BF-CC1167688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 noProof="0"/>
              <a:t>Bretz, Chen, Xi | ISBS | October 2026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3598255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204D93-BD3A-5A0C-EB89-1BA38E2AB5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92FC2-7628-ACE0-6591-42F70A7308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975798" cy="994172"/>
          </a:xfrm>
        </p:spPr>
        <p:txBody>
          <a:bodyPr>
            <a:normAutofit/>
          </a:bodyPr>
          <a:lstStyle/>
          <a:p>
            <a:r>
              <a:rPr lang="en-US" sz="3200" spc="-100" noProof="0" dirty="0"/>
              <a:t>Closed test procedures</a:t>
            </a:r>
            <a:br>
              <a:rPr lang="en-US" sz="3200" spc="-100" noProof="0" dirty="0"/>
            </a:br>
            <a:r>
              <a:rPr lang="en-US" sz="2200" i="1" noProof="0" dirty="0">
                <a:solidFill>
                  <a:srgbClr val="000000"/>
                </a:solidFill>
              </a:rPr>
              <a:t>Two hypotheses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EAB2553-946E-669C-82B2-050F35B8DB3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1520" y="1369219"/>
                <a:ext cx="8712968" cy="3500438"/>
              </a:xfrm>
            </p:spPr>
            <p:txBody>
              <a:bodyPr>
                <a:normAutofit fontScale="85000" lnSpcReduction="10000"/>
              </a:bodyPr>
              <a:lstStyle/>
              <a:p>
                <a:pPr>
                  <a:lnSpc>
                    <a:spcPct val="100000"/>
                  </a:lnSpc>
                  <a:spcBef>
                    <a:spcPts val="432"/>
                  </a:spcBef>
                </a:pPr>
                <a:r>
                  <a:rPr lang="en-US" noProof="0" dirty="0"/>
                  <a:t>General principle to construct powerful multiple test procedures</a:t>
                </a:r>
              </a:p>
              <a:p>
                <a:pPr>
                  <a:lnSpc>
                    <a:spcPct val="100000"/>
                  </a:lnSpc>
                  <a:spcBef>
                    <a:spcPts val="432"/>
                  </a:spcBef>
                </a:pPr>
                <a:r>
                  <a:rPr lang="en-US" noProof="0" dirty="0"/>
                  <a:t>Schematic diagram for 2 hypotheses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noProof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i="1" noProof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noProof="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noProof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i="1" noProof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noProof="0" dirty="0"/>
                  <a:t>:</a:t>
                </a:r>
              </a:p>
              <a:p>
                <a:pPr>
                  <a:lnSpc>
                    <a:spcPct val="100000"/>
                  </a:lnSpc>
                  <a:spcBef>
                    <a:spcPts val="432"/>
                  </a:spcBef>
                </a:pPr>
                <a:endParaRPr lang="en-US" sz="2000" noProof="0" dirty="0"/>
              </a:p>
              <a:p>
                <a:pPr>
                  <a:lnSpc>
                    <a:spcPct val="100000"/>
                  </a:lnSpc>
                  <a:spcBef>
                    <a:spcPts val="432"/>
                  </a:spcBef>
                </a:pPr>
                <a:endParaRPr lang="en-US" sz="2000" noProof="0" dirty="0"/>
              </a:p>
              <a:p>
                <a:pPr>
                  <a:lnSpc>
                    <a:spcPct val="100000"/>
                  </a:lnSpc>
                  <a:spcBef>
                    <a:spcPts val="432"/>
                  </a:spcBef>
                </a:pPr>
                <a:endParaRPr lang="en-US" sz="2000" noProof="0" dirty="0"/>
              </a:p>
              <a:p>
                <a:pPr>
                  <a:lnSpc>
                    <a:spcPct val="100000"/>
                  </a:lnSpc>
                  <a:spcBef>
                    <a:spcPts val="432"/>
                  </a:spcBef>
                </a:pPr>
                <a:endParaRPr lang="en-US" sz="2000" noProof="0" dirty="0"/>
              </a:p>
              <a:p>
                <a:pPr>
                  <a:lnSpc>
                    <a:spcPct val="100000"/>
                  </a:lnSpc>
                  <a:spcBef>
                    <a:spcPts val="432"/>
                  </a:spcBef>
                </a:pPr>
                <a:r>
                  <a:rPr lang="en-US" noProof="0" dirty="0">
                    <a:solidFill>
                      <a:srgbClr val="C00000"/>
                    </a:solidFill>
                  </a:rPr>
                  <a:t>Rejection rule</a:t>
                </a:r>
                <a:r>
                  <a:rPr lang="en-US" noProof="0" dirty="0"/>
                  <a:t>: Reject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noProof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i="1" noProof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noProof="0" dirty="0"/>
                  <a:t> (say) at overall </a:t>
                </a:r>
                <a14:m>
                  <m:oMath xmlns:m="http://schemas.openxmlformats.org/officeDocument/2006/math"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noProof="0" dirty="0"/>
                  <a:t>,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noProof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i="1" noProof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noProof="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noProof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i="1" noProof="0" smtClean="0">
                            <a:latin typeface="Cambria Math" panose="02040503050406030204" pitchFamily="18" charset="0"/>
                          </a:rPr>
                          <m:t>12</m:t>
                        </m:r>
                      </m:sub>
                    </m:sSub>
                  </m:oMath>
                </a14:m>
                <a:r>
                  <a:rPr lang="en-US" noProof="0" dirty="0"/>
                  <a:t> are rejected, each at local level </a:t>
                </a:r>
                <a14:m>
                  <m:oMath xmlns:m="http://schemas.openxmlformats.org/officeDocument/2006/math"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endParaRPr lang="en-US" noProof="0" dirty="0"/>
              </a:p>
              <a:p>
                <a:pPr>
                  <a:lnSpc>
                    <a:spcPct val="100000"/>
                  </a:lnSpc>
                  <a:spcBef>
                    <a:spcPts val="432"/>
                  </a:spcBef>
                </a:pPr>
                <a:r>
                  <a:rPr lang="en-US" noProof="0" dirty="0"/>
                  <a:t>Operationally:</a:t>
                </a:r>
              </a:p>
              <a:p>
                <a:pPr lvl="1">
                  <a:lnSpc>
                    <a:spcPct val="100000"/>
                  </a:lnSpc>
                  <a:spcBef>
                    <a:spcPts val="432"/>
                  </a:spcBef>
                </a:pPr>
                <a:r>
                  <a:rPr lang="en-US" sz="1900" noProof="0" dirty="0"/>
                  <a:t>Test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90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900" i="1" noProof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900" i="1" noProof="0" smtClean="0">
                            <a:latin typeface="Cambria Math" panose="02040503050406030204" pitchFamily="18" charset="0"/>
                          </a:rPr>
                          <m:t>12</m:t>
                        </m:r>
                      </m:sub>
                    </m:sSub>
                  </m:oMath>
                </a14:m>
                <a:r>
                  <a:rPr lang="en-US" sz="1900" noProof="0" dirty="0"/>
                  <a:t> at </a:t>
                </a:r>
                <a:r>
                  <a:rPr lang="en-US" sz="1900" noProof="0" dirty="0">
                    <a:solidFill>
                      <a:srgbClr val="C00000"/>
                    </a:solidFill>
                  </a:rPr>
                  <a:t>local level </a:t>
                </a:r>
                <a14:m>
                  <m:oMath xmlns:m="http://schemas.openxmlformats.org/officeDocument/2006/math">
                    <m:r>
                      <a:rPr lang="en-US" sz="1900" b="0" i="1" noProof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sz="1900" noProof="0" dirty="0"/>
                  <a:t>; if rejected, proceed; otherwise stop</a:t>
                </a:r>
              </a:p>
              <a:p>
                <a:pPr lvl="1">
                  <a:lnSpc>
                    <a:spcPct val="100000"/>
                  </a:lnSpc>
                  <a:spcBef>
                    <a:spcPts val="432"/>
                  </a:spcBef>
                </a:pPr>
                <a:r>
                  <a:rPr lang="en-US" sz="1900" noProof="0" dirty="0"/>
                  <a:t>Test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90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900" i="1" noProof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900" i="1" noProof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900" noProof="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90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900" i="1" noProof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900" i="1" noProof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1900" noProof="0" dirty="0"/>
                  <a:t> each at </a:t>
                </a:r>
                <a:r>
                  <a:rPr lang="en-US" sz="1900" noProof="0" dirty="0">
                    <a:solidFill>
                      <a:srgbClr val="C00000"/>
                    </a:solidFill>
                  </a:rPr>
                  <a:t>local level </a:t>
                </a:r>
                <a14:m>
                  <m:oMath xmlns:m="http://schemas.openxmlformats.org/officeDocument/2006/math">
                    <m:r>
                      <a:rPr lang="en-US" sz="1900" b="0" i="1" noProof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sz="1900" noProof="0" dirty="0"/>
                  <a:t>. Reject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90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900" i="1" noProof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900" i="1" noProof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900" noProof="0" dirty="0"/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90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900" i="1" noProof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900" i="1" noProof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1900" noProof="0" dirty="0"/>
                  <a:t>) overall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900" i="1" noProof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900" i="1" noProof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900" i="1" noProof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b>
                    </m:sSub>
                  </m:oMath>
                </a14:m>
                <a:r>
                  <a:rPr lang="en-US" sz="1900" noProof="0" dirty="0">
                    <a:solidFill>
                      <a:srgbClr val="C00000"/>
                    </a:solidFill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900" i="1" noProof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900" i="1" noProof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900" i="1" noProof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900" noProof="0" dirty="0">
                    <a:solidFill>
                      <a:srgbClr val="C00000"/>
                    </a:solidFill>
                  </a:rPr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900" i="1" noProof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900" i="1" noProof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900" i="1" noProof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1900" noProof="0" dirty="0">
                    <a:solidFill>
                      <a:srgbClr val="C00000"/>
                    </a:solidFill>
                  </a:rPr>
                  <a:t>) are rejected locally</a:t>
                </a:r>
                <a:endParaRPr lang="en-US" sz="1900" noProof="0" dirty="0"/>
              </a:p>
              <a:p>
                <a:pPr lvl="1">
                  <a:lnSpc>
                    <a:spcPct val="100000"/>
                  </a:lnSpc>
                  <a:spcBef>
                    <a:spcPts val="432"/>
                  </a:spcBef>
                </a:pPr>
                <a:r>
                  <a:rPr lang="en-US" sz="1900" noProof="0" dirty="0"/>
                  <a:t>Overall Type I error rate control in the strong sense</a:t>
                </a:r>
              </a:p>
              <a:p>
                <a:pPr>
                  <a:lnSpc>
                    <a:spcPct val="100000"/>
                  </a:lnSpc>
                  <a:spcBef>
                    <a:spcPts val="432"/>
                  </a:spcBef>
                </a:pPr>
                <a:r>
                  <a:rPr lang="en-US" sz="2200" dirty="0"/>
                  <a:t>Any </a:t>
                </a:r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sz="2200" noProof="0" dirty="0"/>
                  <a:t>-controlling test is suitable for intersection hypotheses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EAB2553-946E-669C-82B2-050F35B8DB3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1520" y="1369219"/>
                <a:ext cx="8712968" cy="3500438"/>
              </a:xfrm>
              <a:blipFill>
                <a:blip r:embed="rId2"/>
                <a:stretch>
                  <a:fillRect l="-490" t="-1742" b="-29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911A0C-DE82-0A26-B215-587D6D483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47CF9-5B10-D24F-A8D7-45A9778164F7}" type="slidenum">
              <a:rPr lang="en-US" noProof="0" smtClean="0"/>
              <a:pPr/>
              <a:t>97</a:t>
            </a:fld>
            <a:endParaRPr lang="en-US" noProof="0" dirty="0"/>
          </a:p>
        </p:txBody>
      </p:sp>
      <p:pic>
        <p:nvPicPr>
          <p:cNvPr id="4" name="Picture 11">
            <a:extLst>
              <a:ext uri="{FF2B5EF4-FFF2-40B4-BE49-F238E27FC236}">
                <a16:creationId xmlns:a16="http://schemas.microsoft.com/office/drawing/2014/main" id="{DFF334BB-FEEA-F3DC-748F-1AF788F518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0073" y="1995686"/>
            <a:ext cx="2423854" cy="11250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9080B1-6355-85C9-4CFF-67FCE29FB2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 noProof="0" dirty="0"/>
              <a:t>Bretz, Chen, Xi | ISBS | October 2026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1084292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204D93-BD3A-5A0C-EB89-1BA38E2AB5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92FC2-7628-ACE0-6591-42F70A7308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975798" cy="994172"/>
          </a:xfrm>
        </p:spPr>
        <p:txBody>
          <a:bodyPr>
            <a:normAutofit/>
          </a:bodyPr>
          <a:lstStyle/>
          <a:p>
            <a:r>
              <a:rPr lang="en-US" sz="3200" spc="-100" noProof="0" dirty="0"/>
              <a:t>Closed test procedures</a:t>
            </a:r>
            <a:br>
              <a:rPr lang="en-US" sz="3200" spc="-100" noProof="0" dirty="0"/>
            </a:br>
            <a:r>
              <a:rPr lang="en-US" sz="2200" i="1" noProof="0" dirty="0">
                <a:solidFill>
                  <a:srgbClr val="000000"/>
                </a:solidFill>
              </a:rPr>
              <a:t>Three hypotheses and Venn-type diagram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911A0C-DE82-0A26-B215-587D6D483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47CF9-5B10-D24F-A8D7-45A9778164F7}" type="slidenum">
              <a:rPr lang="en-US" noProof="0" smtClean="0"/>
              <a:pPr/>
              <a:t>98</a:t>
            </a:fld>
            <a:endParaRPr lang="en-US" noProof="0" dirty="0"/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0FF776C5-2043-C512-F12C-1A34CABAC8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2374" y="1711840"/>
            <a:ext cx="4495800" cy="3081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Oval 13">
            <a:extLst>
              <a:ext uri="{FF2B5EF4-FFF2-40B4-BE49-F238E27FC236}">
                <a16:creationId xmlns:a16="http://schemas.microsoft.com/office/drawing/2014/main" id="{4FAE668F-CBEF-4682-6873-EF61974837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947" y="1267494"/>
            <a:ext cx="2286000" cy="2286000"/>
          </a:xfrm>
          <a:prstGeom prst="ellipse">
            <a:avLst/>
          </a:prstGeom>
          <a:solidFill>
            <a:srgbClr val="00B0F0">
              <a:alpha val="25098"/>
            </a:srgbClr>
          </a:solidFill>
          <a:ln w="19050" algn="ctr">
            <a:solidFill>
              <a:schemeClr val="tx2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sz="1400" noProof="0" dirty="0">
              <a:solidFill>
                <a:srgbClr val="000000"/>
              </a:solidFill>
              <a:latin typeface="Times New Roman" pitchFamily="18" charset="0"/>
              <a:cs typeface="Arial" charset="0"/>
            </a:endParaRPr>
          </a:p>
        </p:txBody>
      </p:sp>
      <p:sp>
        <p:nvSpPr>
          <p:cNvPr id="10" name="Oval 14">
            <a:extLst>
              <a:ext uri="{FF2B5EF4-FFF2-40B4-BE49-F238E27FC236}">
                <a16:creationId xmlns:a16="http://schemas.microsoft.com/office/drawing/2014/main" id="{D6445723-4C59-6F20-000B-5446C1A438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81944" y="1230982"/>
            <a:ext cx="2286000" cy="2286000"/>
          </a:xfrm>
          <a:prstGeom prst="ellipse">
            <a:avLst/>
          </a:prstGeom>
          <a:solidFill>
            <a:schemeClr val="accent2">
              <a:alpha val="25098"/>
            </a:schemeClr>
          </a:solidFill>
          <a:ln w="19050" algn="ctr">
            <a:solidFill>
              <a:schemeClr val="tx2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sz="1400" noProof="0" dirty="0">
              <a:solidFill>
                <a:srgbClr val="000000"/>
              </a:solidFill>
              <a:latin typeface="Times New Roman" pitchFamily="18" charset="0"/>
              <a:cs typeface="Arial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5">
                <a:extLst>
                  <a:ext uri="{FF2B5EF4-FFF2-40B4-BE49-F238E27FC236}">
                    <a16:creationId xmlns:a16="http://schemas.microsoft.com/office/drawing/2014/main" id="{99A7D927-C51F-858A-BACE-D7EC00239A1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80256" y="2028671"/>
                <a:ext cx="485775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00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noProof="0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2000" i="1" noProof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000" noProof="0" dirty="0">
                  <a:solidFill>
                    <a:srgbClr val="000000"/>
                  </a:solidFill>
                  <a:cs typeface="Arial" charset="0"/>
                </a:endParaRPr>
              </a:p>
            </p:txBody>
          </p:sp>
        </mc:Choice>
        <mc:Fallback xmlns="">
          <p:sp>
            <p:nvSpPr>
              <p:cNvPr id="11" name="TextBox 15">
                <a:extLst>
                  <a:ext uri="{FF2B5EF4-FFF2-40B4-BE49-F238E27FC236}">
                    <a16:creationId xmlns:a16="http://schemas.microsoft.com/office/drawing/2014/main" id="{99A7D927-C51F-858A-BACE-D7EC00239A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80256" y="2028671"/>
                <a:ext cx="485775" cy="400110"/>
              </a:xfrm>
              <a:prstGeom prst="rect">
                <a:avLst/>
              </a:prstGeom>
              <a:blipFill>
                <a:blip r:embed="rId3"/>
                <a:stretch>
                  <a:fillRect b="-3077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6">
                <a:extLst>
                  <a:ext uri="{FF2B5EF4-FFF2-40B4-BE49-F238E27FC236}">
                    <a16:creationId xmlns:a16="http://schemas.microsoft.com/office/drawing/2014/main" id="{C176D182-00F5-4EF8-CA60-58B32E4C9E9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24944" y="1973872"/>
                <a:ext cx="482600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00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noProof="0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000" noProof="0" dirty="0">
                  <a:solidFill>
                    <a:srgbClr val="000000"/>
                  </a:solidFill>
                  <a:cs typeface="Arial" charset="0"/>
                </a:endParaRPr>
              </a:p>
            </p:txBody>
          </p:sp>
        </mc:Choice>
        <mc:Fallback xmlns="">
          <p:sp>
            <p:nvSpPr>
              <p:cNvPr id="12" name="TextBox 16">
                <a:extLst>
                  <a:ext uri="{FF2B5EF4-FFF2-40B4-BE49-F238E27FC236}">
                    <a16:creationId xmlns:a16="http://schemas.microsoft.com/office/drawing/2014/main" id="{C176D182-00F5-4EF8-CA60-58B32E4C9E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924944" y="1973872"/>
                <a:ext cx="482600" cy="400110"/>
              </a:xfrm>
              <a:prstGeom prst="rect">
                <a:avLst/>
              </a:prstGeom>
              <a:blipFill>
                <a:blip r:embed="rId4"/>
                <a:stretch>
                  <a:fillRect b="-3077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20">
                <a:extLst>
                  <a:ext uri="{FF2B5EF4-FFF2-40B4-BE49-F238E27FC236}">
                    <a16:creationId xmlns:a16="http://schemas.microsoft.com/office/drawing/2014/main" id="{C6A45F4C-3535-2051-C88A-AA179D3C776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44228" y="1865421"/>
                <a:ext cx="661988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00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noProof="0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2000" i="1" noProof="0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000" noProof="0" dirty="0">
                  <a:solidFill>
                    <a:srgbClr val="000000"/>
                  </a:solidFill>
                  <a:cs typeface="Arial" charset="0"/>
                </a:endParaRPr>
              </a:p>
            </p:txBody>
          </p:sp>
        </mc:Choice>
        <mc:Fallback xmlns="">
          <p:sp>
            <p:nvSpPr>
              <p:cNvPr id="13" name="TextBox 20">
                <a:extLst>
                  <a:ext uri="{FF2B5EF4-FFF2-40B4-BE49-F238E27FC236}">
                    <a16:creationId xmlns:a16="http://schemas.microsoft.com/office/drawing/2014/main" id="{C6A45F4C-3535-2051-C88A-AA179D3C77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844228" y="1865421"/>
                <a:ext cx="661988" cy="400110"/>
              </a:xfrm>
              <a:prstGeom prst="rect">
                <a:avLst/>
              </a:prstGeom>
              <a:blipFill>
                <a:blip r:embed="rId5"/>
                <a:stretch>
                  <a:fillRect b="-3030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Oval 10">
            <a:extLst>
              <a:ext uri="{FF2B5EF4-FFF2-40B4-BE49-F238E27FC236}">
                <a16:creationId xmlns:a16="http://schemas.microsoft.com/office/drawing/2014/main" id="{40C26A75-F641-8D84-02FD-736BB52C6D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2222" y="2373982"/>
            <a:ext cx="2286000" cy="2286000"/>
          </a:xfrm>
          <a:prstGeom prst="ellipse">
            <a:avLst/>
          </a:prstGeom>
          <a:solidFill>
            <a:srgbClr val="7030A0">
              <a:alpha val="25098"/>
            </a:srgbClr>
          </a:solidFill>
          <a:ln w="19050" algn="ctr">
            <a:solidFill>
              <a:schemeClr val="tx2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sz="1400" noProof="0" dirty="0">
              <a:solidFill>
                <a:srgbClr val="000000"/>
              </a:solidFill>
              <a:latin typeface="Times New Roman" pitchFamily="18" charset="0"/>
              <a:cs typeface="Arial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1">
                <a:extLst>
                  <a:ext uri="{FF2B5EF4-FFF2-40B4-BE49-F238E27FC236}">
                    <a16:creationId xmlns:a16="http://schemas.microsoft.com/office/drawing/2014/main" id="{84053469-F28E-9AD9-7F44-B5A638CB08F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44228" y="2465586"/>
                <a:ext cx="661988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00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noProof="0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2000" i="1" noProof="0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23</m:t>
                          </m:r>
                        </m:sub>
                      </m:sSub>
                    </m:oMath>
                  </m:oMathPara>
                </a14:m>
                <a:endParaRPr lang="en-US" sz="2000" noProof="0" dirty="0">
                  <a:solidFill>
                    <a:srgbClr val="000000"/>
                  </a:solidFill>
                  <a:cs typeface="Arial" charset="0"/>
                </a:endParaRPr>
              </a:p>
            </p:txBody>
          </p:sp>
        </mc:Choice>
        <mc:Fallback xmlns="">
          <p:sp>
            <p:nvSpPr>
              <p:cNvPr id="15" name="TextBox 11">
                <a:extLst>
                  <a:ext uri="{FF2B5EF4-FFF2-40B4-BE49-F238E27FC236}">
                    <a16:creationId xmlns:a16="http://schemas.microsoft.com/office/drawing/2014/main" id="{84053469-F28E-9AD9-7F44-B5A638CB08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844228" y="2465586"/>
                <a:ext cx="661988" cy="400110"/>
              </a:xfrm>
              <a:prstGeom prst="rect">
                <a:avLst/>
              </a:prstGeom>
              <a:blipFill>
                <a:blip r:embed="rId6"/>
                <a:stretch>
                  <a:fillRect b="-3030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2">
                <a:extLst>
                  <a:ext uri="{FF2B5EF4-FFF2-40B4-BE49-F238E27FC236}">
                    <a16:creationId xmlns:a16="http://schemas.microsoft.com/office/drawing/2014/main" id="{81D7B4F5-3E95-DDFE-4CCB-A16912D42A6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80653" y="2871604"/>
                <a:ext cx="663575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00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noProof="0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2000" i="1" noProof="0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000" noProof="0" dirty="0">
                  <a:solidFill>
                    <a:srgbClr val="000000"/>
                  </a:solidFill>
                  <a:cs typeface="Arial" charset="0"/>
                </a:endParaRPr>
              </a:p>
            </p:txBody>
          </p:sp>
        </mc:Choice>
        <mc:Fallback xmlns="">
          <p:sp>
            <p:nvSpPr>
              <p:cNvPr id="16" name="TextBox 12">
                <a:extLst>
                  <a:ext uri="{FF2B5EF4-FFF2-40B4-BE49-F238E27FC236}">
                    <a16:creationId xmlns:a16="http://schemas.microsoft.com/office/drawing/2014/main" id="{81D7B4F5-3E95-DDFE-4CCB-A16912D42A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80653" y="2871604"/>
                <a:ext cx="663575" cy="400110"/>
              </a:xfrm>
              <a:prstGeom prst="rect">
                <a:avLst/>
              </a:prstGeom>
              <a:blipFill>
                <a:blip r:embed="rId7"/>
                <a:stretch>
                  <a:fillRect b="-3030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7">
                <a:extLst>
                  <a:ext uri="{FF2B5EF4-FFF2-40B4-BE49-F238E27FC236}">
                    <a16:creationId xmlns:a16="http://schemas.microsoft.com/office/drawing/2014/main" id="{D515FF0F-3B0F-2CAC-882F-FA1DBFECF39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24460" y="2852399"/>
                <a:ext cx="661988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00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noProof="0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23</m:t>
                          </m:r>
                        </m:sub>
                      </m:sSub>
                    </m:oMath>
                  </m:oMathPara>
                </a14:m>
                <a:endParaRPr lang="en-US" sz="2000" noProof="0" dirty="0">
                  <a:solidFill>
                    <a:srgbClr val="000000"/>
                  </a:solidFill>
                  <a:cs typeface="Arial" charset="0"/>
                </a:endParaRPr>
              </a:p>
            </p:txBody>
          </p:sp>
        </mc:Choice>
        <mc:Fallback xmlns="">
          <p:sp>
            <p:nvSpPr>
              <p:cNvPr id="17" name="TextBox 17">
                <a:extLst>
                  <a:ext uri="{FF2B5EF4-FFF2-40B4-BE49-F238E27FC236}">
                    <a16:creationId xmlns:a16="http://schemas.microsoft.com/office/drawing/2014/main" id="{D515FF0F-3B0F-2CAC-882F-FA1DBFECF3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24460" y="2852399"/>
                <a:ext cx="661988" cy="400110"/>
              </a:xfrm>
              <a:prstGeom prst="rect">
                <a:avLst/>
              </a:prstGeom>
              <a:blipFill>
                <a:blip r:embed="rId8"/>
                <a:stretch>
                  <a:fillRect b="-1515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8">
                <a:extLst>
                  <a:ext uri="{FF2B5EF4-FFF2-40B4-BE49-F238E27FC236}">
                    <a16:creationId xmlns:a16="http://schemas.microsoft.com/office/drawing/2014/main" id="{7028EF18-A38A-669E-7046-964840E8615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41860" y="3740252"/>
                <a:ext cx="482600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00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noProof="0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000" noProof="0" dirty="0">
                  <a:solidFill>
                    <a:srgbClr val="000000"/>
                  </a:solidFill>
                  <a:cs typeface="Arial" charset="0"/>
                </a:endParaRPr>
              </a:p>
            </p:txBody>
          </p:sp>
        </mc:Choice>
        <mc:Fallback xmlns="">
          <p:sp>
            <p:nvSpPr>
              <p:cNvPr id="18" name="TextBox 18">
                <a:extLst>
                  <a:ext uri="{FF2B5EF4-FFF2-40B4-BE49-F238E27FC236}">
                    <a16:creationId xmlns:a16="http://schemas.microsoft.com/office/drawing/2014/main" id="{7028EF18-A38A-669E-7046-964840E861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41860" y="3740252"/>
                <a:ext cx="482600" cy="400110"/>
              </a:xfrm>
              <a:prstGeom prst="rect">
                <a:avLst/>
              </a:prstGeom>
              <a:blipFill>
                <a:blip r:embed="rId9"/>
                <a:stretch>
                  <a:fillRect b="-3077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5A07791-285B-B86F-1379-6DD136E094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 noProof="0"/>
              <a:t>Bretz, Chen, Xi | ISBS | October 2026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6555041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/>
      <p:bldP spid="12" grpId="0"/>
      <p:bldP spid="13" grpId="0"/>
      <p:bldP spid="14" grpId="0" animBg="1"/>
      <p:bldP spid="15" grpId="0"/>
      <p:bldP spid="16" grpId="0"/>
      <p:bldP spid="17" grpId="0"/>
      <p:bldP spid="18" grpId="0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E204D93-BD3A-5A0C-EB89-1BA38E2AB5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92FC2-7628-ACE0-6591-42F70A7308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975798" cy="994172"/>
          </a:xfrm>
        </p:spPr>
        <p:txBody>
          <a:bodyPr>
            <a:normAutofit/>
          </a:bodyPr>
          <a:lstStyle/>
          <a:p>
            <a:r>
              <a:rPr lang="en-US" sz="3200" spc="-100" noProof="0" dirty="0"/>
              <a:t>Holm procedure: Closed test using Bonferroni</a:t>
            </a:r>
            <a:br>
              <a:rPr lang="en-US" sz="3200" spc="-100" noProof="0" dirty="0"/>
            </a:br>
            <a:r>
              <a:rPr lang="en-US" sz="2200" i="1" noProof="0" dirty="0">
                <a:solidFill>
                  <a:srgbClr val="000000"/>
                </a:solidFill>
              </a:rPr>
              <a:t>Two hypotheses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EAB2553-946E-669C-82B2-050F35B8DB3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95536" y="1369218"/>
                <a:ext cx="5976664" cy="3500437"/>
              </a:xfrm>
            </p:spPr>
            <p:txBody>
              <a:bodyPr>
                <a:normAutofit fontScale="92500"/>
              </a:bodyPr>
              <a:lstStyle/>
              <a:p>
                <a:pPr>
                  <a:lnSpc>
                    <a:spcPct val="100000"/>
                  </a:lnSpc>
                  <a:spcBef>
                    <a:spcPts val="432"/>
                  </a:spcBef>
                </a:pPr>
                <a:r>
                  <a:rPr lang="en-US" sz="1800" noProof="0" dirty="0"/>
                  <a:t>Reject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noProof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800" i="1" noProof="0" smtClean="0">
                            <a:latin typeface="Cambria Math" panose="02040503050406030204" pitchFamily="18" charset="0"/>
                          </a:rPr>
                          <m:t>12</m:t>
                        </m:r>
                      </m:sub>
                    </m:sSub>
                  </m:oMath>
                </a14:m>
                <a:r>
                  <a:rPr lang="en-US" sz="1800" noProof="0" dirty="0"/>
                  <a:t> using </a:t>
                </a:r>
                <a:r>
                  <a:rPr lang="en-US" sz="1800" noProof="0" dirty="0">
                    <a:solidFill>
                      <a:schemeClr val="accent1"/>
                    </a:solidFill>
                  </a:rPr>
                  <a:t>Bonferroni</a:t>
                </a:r>
                <a:r>
                  <a:rPr lang="en-US" sz="1800" noProof="0" dirty="0"/>
                  <a:t>,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noProof="0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1800" i="1" noProof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800" i="1" noProof="0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1800" b="0" i="1" noProof="0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1800" b="0" i="1" noProof="0" smtClean="0">
                        <a:latin typeface="Cambria Math" panose="02040503050406030204" pitchFamily="18" charset="0"/>
                      </a:rPr>
                      <m:t>/2</m:t>
                    </m:r>
                  </m:oMath>
                </a14:m>
                <a:r>
                  <a:rPr lang="en-US" sz="1800" noProof="0" dirty="0"/>
                  <a:t> 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noProof="0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1800" i="1" noProof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800" i="1" noProof="0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1800" b="0" i="1" noProof="0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1800" b="0" i="1" noProof="0" smtClean="0">
                        <a:latin typeface="Cambria Math" panose="02040503050406030204" pitchFamily="18" charset="0"/>
                      </a:rPr>
                      <m:t>/2</m:t>
                    </m:r>
                  </m:oMath>
                </a14:m>
                <a:endParaRPr lang="en-US" sz="1800" noProof="0" dirty="0"/>
              </a:p>
              <a:p>
                <a:pPr>
                  <a:lnSpc>
                    <a:spcPct val="100000"/>
                  </a:lnSpc>
                  <a:spcBef>
                    <a:spcPts val="432"/>
                  </a:spcBef>
                </a:pPr>
                <a:r>
                  <a:rPr lang="en-US" sz="1800" noProof="0" dirty="0"/>
                  <a:t>Followed by unadjusted tests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noProof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800" i="1" noProof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800" noProof="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noProof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800" i="1" noProof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sz="1800" noProof="0" dirty="0"/>
              </a:p>
              <a:p>
                <a:pPr>
                  <a:lnSpc>
                    <a:spcPct val="100000"/>
                  </a:lnSpc>
                  <a:spcBef>
                    <a:spcPts val="432"/>
                  </a:spcBef>
                </a:pPr>
                <a:r>
                  <a:rPr lang="en-US" sz="1800" noProof="0" dirty="0"/>
                  <a:t>When the decision rules are combined, we obtain the Holm procedure:</a:t>
                </a:r>
              </a:p>
              <a:p>
                <a:pPr lvl="1">
                  <a:lnSpc>
                    <a:spcPct val="100000"/>
                  </a:lnSpc>
                  <a:spcBef>
                    <a:spcPts val="432"/>
                  </a:spcBef>
                </a:pPr>
                <a:r>
                  <a:rPr lang="en-US" sz="1600" noProof="0" dirty="0"/>
                  <a:t>The procedure begins with the </a:t>
                </a:r>
                <a:r>
                  <a:rPr lang="en-US" sz="1600" noProof="0" dirty="0">
                    <a:solidFill>
                      <a:srgbClr val="C00000"/>
                    </a:solidFill>
                  </a:rPr>
                  <a:t>more significant p-value </a:t>
                </a:r>
                <a:r>
                  <a:rPr lang="en-US" sz="1600" noProof="0" dirty="0"/>
                  <a:t>and rejects the corresponding hypothesis if the p-value is no greater than </a:t>
                </a:r>
                <a14:m>
                  <m:oMath xmlns:m="http://schemas.openxmlformats.org/officeDocument/2006/math">
                    <m:r>
                      <a:rPr lang="en-US" sz="1600" i="1" noProof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1600" i="1" noProof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/2</m:t>
                    </m:r>
                  </m:oMath>
                </a14:m>
                <a:endParaRPr lang="en-US" sz="1600" noProof="0" dirty="0">
                  <a:solidFill>
                    <a:srgbClr val="C00000"/>
                  </a:solidFill>
                </a:endParaRPr>
              </a:p>
              <a:p>
                <a:pPr lvl="1">
                  <a:lnSpc>
                    <a:spcPct val="100000"/>
                  </a:lnSpc>
                  <a:spcBef>
                    <a:spcPts val="432"/>
                  </a:spcBef>
                </a:pPr>
                <a:r>
                  <a:rPr lang="en-US" sz="1600" noProof="0" dirty="0"/>
                  <a:t>If the first hypothesis is rejected, the other hypothesis is tested at </a:t>
                </a:r>
                <a:r>
                  <a:rPr lang="en-US" sz="1600" noProof="0" dirty="0">
                    <a:solidFill>
                      <a:srgbClr val="C00000"/>
                    </a:solidFill>
                  </a:rPr>
                  <a:t>level </a:t>
                </a:r>
                <a14:m>
                  <m:oMath xmlns:m="http://schemas.openxmlformats.org/officeDocument/2006/math">
                    <m:r>
                      <a:rPr lang="en-US" sz="1600" i="1" noProof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sz="1600" noProof="0" dirty="0"/>
                  <a:t>. Otherwise, the other hypothesis is retained without testing</a:t>
                </a:r>
              </a:p>
              <a:p>
                <a:pPr>
                  <a:lnSpc>
                    <a:spcPct val="100000"/>
                  </a:lnSpc>
                  <a:spcBef>
                    <a:spcPts val="432"/>
                  </a:spcBef>
                </a:pPr>
                <a:r>
                  <a:rPr lang="en-US" sz="1900" noProof="0" dirty="0"/>
                  <a:t>Graph for Holm procedure determines hypothesis weights</a:t>
                </a:r>
              </a:p>
              <a:p>
                <a:pPr lvl="1">
                  <a:lnSpc>
                    <a:spcPct val="100000"/>
                  </a:lnSpc>
                  <a:spcBef>
                    <a:spcPts val="432"/>
                  </a:spcBef>
                </a:pPr>
                <a14:m>
                  <m:oMath xmlns:m="http://schemas.openxmlformats.org/officeDocument/2006/math">
                    <m:r>
                      <a:rPr lang="en-US" sz="1600" b="0" i="1" noProof="0" smtClean="0">
                        <a:latin typeface="Cambria Math" panose="02040503050406030204" pitchFamily="18" charset="0"/>
                      </a:rPr>
                      <m:t>1/2</m:t>
                    </m:r>
                  </m:oMath>
                </a14:m>
                <a:r>
                  <a:rPr lang="en-US" sz="1600" noProof="0" dirty="0"/>
                  <a:t>, </a:t>
                </a:r>
                <a14:m>
                  <m:oMath xmlns:m="http://schemas.openxmlformats.org/officeDocument/2006/math">
                    <m:r>
                      <a:rPr lang="en-US" sz="1600" b="0" i="0" noProof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1600" i="1" noProof="0">
                        <a:latin typeface="Cambria Math" panose="02040503050406030204" pitchFamily="18" charset="0"/>
                      </a:rPr>
                      <m:t>/2</m:t>
                    </m:r>
                  </m:oMath>
                </a14:m>
                <a:r>
                  <a:rPr lang="en-US" sz="1600" b="0" i="1" noProof="0" dirty="0"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noProof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1600" i="1" noProof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 noProof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600" i="1" noProof="0">
                            <a:latin typeface="Cambria Math" panose="02040503050406030204" pitchFamily="18" charset="0"/>
                          </a:rPr>
                          <m:t>12</m:t>
                        </m:r>
                      </m:sub>
                    </m:sSub>
                    <m:r>
                      <a:rPr lang="en-US" sz="1600" b="0" i="1" noProof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600" b="0" i="1" noProof="0" dirty="0">
                  <a:latin typeface="Cambria Math" panose="02040503050406030204" pitchFamily="18" charset="0"/>
                </a:endParaRPr>
              </a:p>
              <a:p>
                <a:pPr lvl="1">
                  <a:lnSpc>
                    <a:spcPct val="100000"/>
                  </a:lnSpc>
                  <a:spcBef>
                    <a:spcPts val="432"/>
                  </a:spcBef>
                </a:pPr>
                <a14:m>
                  <m:oMath xmlns:m="http://schemas.openxmlformats.org/officeDocument/2006/math">
                    <m:r>
                      <a:rPr lang="en-US" sz="1600" b="0" i="1" noProof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1600" noProof="0" dirty="0"/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noProof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 noProof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600" i="1" noProof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600" noProof="0" dirty="0"/>
                  <a:t> 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noProof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 noProof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600" i="1" noProof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1600" noProof="0" dirty="0"/>
                  <a:t>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EAB2553-946E-669C-82B2-050F35B8DB3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95536" y="1369218"/>
                <a:ext cx="5976664" cy="3500437"/>
              </a:xfrm>
              <a:blipFill>
                <a:blip r:embed="rId3"/>
                <a:stretch>
                  <a:fillRect l="-714" t="-6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911A0C-DE82-0A26-B215-587D6D483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47CF9-5B10-D24F-A8D7-45A9778164F7}" type="slidenum">
              <a:rPr lang="en-US" noProof="0" smtClean="0"/>
              <a:pPr/>
              <a:t>99</a:t>
            </a:fld>
            <a:endParaRPr lang="en-US" noProof="0" dirty="0"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76AD69EA-97B3-31E7-C165-9A809897D2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7950" y="1369219"/>
            <a:ext cx="2807406" cy="10393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57ABED96-BE4B-B849-1FC9-5B1C633F8B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4578" y="3291830"/>
            <a:ext cx="2651969" cy="9286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C8585DDA-4220-18A3-6953-000D1B9D3FA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373" b="85796"/>
          <a:stretch/>
        </p:blipFill>
        <p:spPr bwMode="auto">
          <a:xfrm>
            <a:off x="6457950" y="4353764"/>
            <a:ext cx="2468880" cy="4773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E66DDD2-E685-0E4A-B76D-E7D1C64A99E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4191" y="4231299"/>
            <a:ext cx="137160" cy="12246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3BDA531-D626-61CB-CC71-795656396EB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04448" y="4231299"/>
            <a:ext cx="137160" cy="12246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DFDEC17-4A3D-E6B3-77D3-DFB25F5490D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27270" y="4205783"/>
            <a:ext cx="171001" cy="15984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D6E4798-AB7B-80DD-E9B3-84B1F9E5E96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93367" y="4223804"/>
            <a:ext cx="171001" cy="15984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CC60B19-E3F7-C2E3-0BF4-1BA362EB501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22935" y="3354164"/>
            <a:ext cx="137160" cy="12821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CC9FAE99-4592-75F1-9A1D-85BAED5E2AE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73766" y="3354164"/>
            <a:ext cx="137160" cy="128216"/>
          </a:xfrm>
          <a:prstGeom prst="rect">
            <a:avLst/>
          </a:prstGeom>
        </p:spPr>
      </p:pic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F6CCE2-7199-0B63-3BD8-878B2246EC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 noProof="0"/>
              <a:t>Bretz, Chen, Xi | ISBS | October 2026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672890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E204D93-BD3A-5A0C-EB89-1BA38E2AB5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92FC2-7628-ACE0-6591-42F70A7308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975798" cy="994172"/>
          </a:xfrm>
        </p:spPr>
        <p:txBody>
          <a:bodyPr>
            <a:normAutofit/>
          </a:bodyPr>
          <a:lstStyle/>
          <a:p>
            <a:r>
              <a:rPr lang="en-US" sz="3200" spc="-100" noProof="0" dirty="0"/>
              <a:t>Hommel procedure: Closed test using Simes</a:t>
            </a:r>
            <a:br>
              <a:rPr lang="en-US" sz="3200" spc="-100" noProof="0" dirty="0"/>
            </a:br>
            <a:r>
              <a:rPr lang="en-US" sz="2200" i="1" noProof="0" dirty="0">
                <a:solidFill>
                  <a:srgbClr val="000000"/>
                </a:solidFill>
              </a:rPr>
              <a:t>Two hypotheses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EAB2553-946E-669C-82B2-050F35B8DB3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95536" y="1369218"/>
                <a:ext cx="6062414" cy="3500437"/>
              </a:xfrm>
            </p:spPr>
            <p:txBody>
              <a:bodyPr>
                <a:normAutofit fontScale="92500"/>
              </a:bodyPr>
              <a:lstStyle/>
              <a:p>
                <a:pPr>
                  <a:lnSpc>
                    <a:spcPct val="100000"/>
                  </a:lnSpc>
                  <a:spcBef>
                    <a:spcPts val="432"/>
                  </a:spcBef>
                </a:pPr>
                <a:r>
                  <a:rPr lang="en-US" sz="1800" noProof="0" dirty="0"/>
                  <a:t>Reject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noProof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800" i="1" noProof="0" smtClean="0">
                            <a:latin typeface="Cambria Math" panose="02040503050406030204" pitchFamily="18" charset="0"/>
                          </a:rPr>
                          <m:t>12</m:t>
                        </m:r>
                      </m:sub>
                    </m:sSub>
                  </m:oMath>
                </a14:m>
                <a:r>
                  <a:rPr lang="en-US" sz="1800" noProof="0" dirty="0"/>
                  <a:t> using </a:t>
                </a:r>
                <a:r>
                  <a:rPr lang="en-US" sz="1800" noProof="0" dirty="0">
                    <a:solidFill>
                      <a:schemeClr val="accent1"/>
                    </a:solidFill>
                  </a:rPr>
                  <a:t>Simes</a:t>
                </a:r>
                <a:r>
                  <a:rPr lang="en-US" sz="1800" noProof="0" dirty="0"/>
                  <a:t>, if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noProof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noProof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1800" i="1" noProof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800" i="1" noProof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1800" i="1" noProof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sz="1800" noProof="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noProof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noProof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1800" i="1" noProof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800" i="1" noProof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1800" i="1" noProof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sz="1800" noProof="0" dirty="0"/>
                  <a:t>) 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noProof="0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1800" i="1" noProof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800" i="1" noProof="0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1800" b="0" i="1" noProof="0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1800" b="0" i="1" noProof="0" smtClean="0">
                        <a:latin typeface="Cambria Math" panose="02040503050406030204" pitchFamily="18" charset="0"/>
                      </a:rPr>
                      <m:t>/2</m:t>
                    </m:r>
                  </m:oMath>
                </a14:m>
                <a:r>
                  <a:rPr lang="en-US" sz="1800" noProof="0" dirty="0"/>
                  <a:t> 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noProof="0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1800" i="1" noProof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800" i="1" noProof="0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1800" b="0" i="1" noProof="0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1800" b="0" i="1" noProof="0" smtClean="0">
                        <a:latin typeface="Cambria Math" panose="02040503050406030204" pitchFamily="18" charset="0"/>
                      </a:rPr>
                      <m:t>/2</m:t>
                    </m:r>
                  </m:oMath>
                </a14:m>
                <a:endParaRPr lang="en-US" sz="1800" noProof="0" dirty="0"/>
              </a:p>
              <a:p>
                <a:pPr>
                  <a:lnSpc>
                    <a:spcPct val="100000"/>
                  </a:lnSpc>
                  <a:spcBef>
                    <a:spcPts val="432"/>
                  </a:spcBef>
                </a:pPr>
                <a:r>
                  <a:rPr lang="en-US" sz="1800" noProof="0" dirty="0"/>
                  <a:t>Followed by unadjusted tests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noProof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800" i="1" noProof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800" noProof="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noProof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800" i="1" noProof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sz="1800" noProof="0" dirty="0"/>
              </a:p>
              <a:p>
                <a:pPr>
                  <a:lnSpc>
                    <a:spcPct val="100000"/>
                  </a:lnSpc>
                  <a:spcBef>
                    <a:spcPts val="432"/>
                  </a:spcBef>
                </a:pPr>
                <a:r>
                  <a:rPr lang="en-US" sz="1800" noProof="0" dirty="0"/>
                  <a:t>When the decision rules are combined, we obtain the Hommel procedure:</a:t>
                </a:r>
              </a:p>
              <a:p>
                <a:pPr lvl="1">
                  <a:lnSpc>
                    <a:spcPct val="100000"/>
                  </a:lnSpc>
                  <a:spcBef>
                    <a:spcPts val="432"/>
                  </a:spcBef>
                </a:pPr>
                <a:r>
                  <a:rPr lang="en-US" sz="1600" noProof="0" dirty="0"/>
                  <a:t>The procedure begins with the </a:t>
                </a:r>
                <a:r>
                  <a:rPr lang="en-US" sz="1600" noProof="0" dirty="0">
                    <a:solidFill>
                      <a:srgbClr val="C00000"/>
                    </a:solidFill>
                  </a:rPr>
                  <a:t>less significant p-value </a:t>
                </a:r>
                <a:r>
                  <a:rPr lang="en-US" sz="1600" noProof="0" dirty="0"/>
                  <a:t>and </a:t>
                </a:r>
                <a:r>
                  <a:rPr lang="en-US" sz="1600" noProof="0" dirty="0">
                    <a:solidFill>
                      <a:srgbClr val="C00000"/>
                    </a:solidFill>
                  </a:rPr>
                  <a:t>rejects</a:t>
                </a:r>
                <a:r>
                  <a:rPr lang="en-US" sz="1600" noProof="0" dirty="0"/>
                  <a:t> </a:t>
                </a:r>
                <a:r>
                  <a:rPr lang="en-US" sz="1600" noProof="0" dirty="0">
                    <a:solidFill>
                      <a:srgbClr val="C00000"/>
                    </a:solidFill>
                  </a:rPr>
                  <a:t>both hypothesis </a:t>
                </a:r>
                <a:r>
                  <a:rPr lang="en-US" sz="1600" noProof="0" dirty="0"/>
                  <a:t>if the p-value is no greater than </a:t>
                </a:r>
                <a14:m>
                  <m:oMath xmlns:m="http://schemas.openxmlformats.org/officeDocument/2006/math">
                    <m:r>
                      <a:rPr lang="en-US" sz="1600" i="1" noProof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endParaRPr lang="en-US" sz="1600" noProof="0" dirty="0"/>
              </a:p>
              <a:p>
                <a:pPr lvl="1">
                  <a:lnSpc>
                    <a:spcPct val="100000"/>
                  </a:lnSpc>
                  <a:spcBef>
                    <a:spcPts val="432"/>
                  </a:spcBef>
                </a:pPr>
                <a:r>
                  <a:rPr lang="en-US" sz="1600" noProof="0" dirty="0"/>
                  <a:t>If both hypotheses are not rejected, the hypothesis with the </a:t>
                </a:r>
                <a:r>
                  <a:rPr lang="en-US" sz="1600" noProof="0" dirty="0">
                    <a:solidFill>
                      <a:srgbClr val="C00000"/>
                    </a:solidFill>
                  </a:rPr>
                  <a:t>more significant p-value </a:t>
                </a:r>
                <a:r>
                  <a:rPr lang="en-US" sz="1600" noProof="0" dirty="0"/>
                  <a:t>is tested at an </a:t>
                </a:r>
                <a14:m>
                  <m:oMath xmlns:m="http://schemas.openxmlformats.org/officeDocument/2006/math">
                    <m:r>
                      <a:rPr lang="en-US" sz="1600" i="1" noProof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1600" b="0" i="1" noProof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/2</m:t>
                    </m:r>
                  </m:oMath>
                </a14:m>
                <a:r>
                  <a:rPr lang="en-US" sz="1600" noProof="0" dirty="0"/>
                  <a:t> level</a:t>
                </a:r>
              </a:p>
              <a:p>
                <a:pPr>
                  <a:lnSpc>
                    <a:spcPct val="100000"/>
                  </a:lnSpc>
                  <a:spcBef>
                    <a:spcPts val="432"/>
                  </a:spcBef>
                </a:pPr>
                <a:r>
                  <a:rPr lang="en-US" sz="1900" noProof="0" dirty="0"/>
                  <a:t>Graph for Hommel procedure determines hypothesis weights</a:t>
                </a:r>
              </a:p>
              <a:p>
                <a:pPr lvl="1">
                  <a:lnSpc>
                    <a:spcPct val="100000"/>
                  </a:lnSpc>
                  <a:spcBef>
                    <a:spcPts val="432"/>
                  </a:spcBef>
                </a:pPr>
                <a14:m>
                  <m:oMath xmlns:m="http://schemas.openxmlformats.org/officeDocument/2006/math">
                    <m:r>
                      <a:rPr lang="en-US" sz="1600" i="1" noProof="0">
                        <a:latin typeface="Cambria Math" panose="02040503050406030204" pitchFamily="18" charset="0"/>
                      </a:rPr>
                      <m:t>1/2</m:t>
                    </m:r>
                  </m:oMath>
                </a14:m>
                <a:r>
                  <a:rPr lang="en-US" sz="1600" noProof="0" dirty="0"/>
                  <a:t>, </a:t>
                </a:r>
                <a14:m>
                  <m:oMath xmlns:m="http://schemas.openxmlformats.org/officeDocument/2006/math">
                    <m:r>
                      <a:rPr lang="en-US" sz="1600" noProof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1600" i="1" noProof="0">
                        <a:latin typeface="Cambria Math" panose="02040503050406030204" pitchFamily="18" charset="0"/>
                      </a:rPr>
                      <m:t>/2</m:t>
                    </m:r>
                  </m:oMath>
                </a14:m>
                <a:r>
                  <a:rPr lang="en-US" sz="1600" i="1" noProof="0" dirty="0"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i="1" noProof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1600" i="1" noProof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 noProof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600" i="1" noProof="0">
                            <a:latin typeface="Cambria Math" panose="02040503050406030204" pitchFamily="18" charset="0"/>
                          </a:rPr>
                          <m:t>12</m:t>
                        </m:r>
                      </m:sub>
                    </m:sSub>
                    <m:r>
                      <a:rPr lang="en-US" sz="1600" i="1" noProof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600" i="1" noProof="0" dirty="0">
                  <a:latin typeface="Cambria Math" panose="02040503050406030204" pitchFamily="18" charset="0"/>
                </a:endParaRPr>
              </a:p>
              <a:p>
                <a:pPr lvl="1">
                  <a:lnSpc>
                    <a:spcPct val="100000"/>
                  </a:lnSpc>
                  <a:spcBef>
                    <a:spcPts val="432"/>
                  </a:spcBef>
                </a:pPr>
                <a14:m>
                  <m:oMath xmlns:m="http://schemas.openxmlformats.org/officeDocument/2006/math">
                    <m:r>
                      <a:rPr lang="en-US" sz="1600" i="1" noProof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1600" noProof="0" dirty="0"/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noProof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 noProof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600" i="1" noProof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600" noProof="0" dirty="0"/>
                  <a:t> 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noProof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 noProof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600" i="1" noProof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1600" noProof="0" dirty="0"/>
                  <a:t>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EAB2553-946E-669C-82B2-050F35B8DB3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95536" y="1369218"/>
                <a:ext cx="6062414" cy="3500437"/>
              </a:xfrm>
              <a:blipFill>
                <a:blip r:embed="rId3"/>
                <a:stretch>
                  <a:fillRect l="-704" t="-697" r="-8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911A0C-DE82-0A26-B215-587D6D483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47CF9-5B10-D24F-A8D7-45A9778164F7}" type="slidenum">
              <a:rPr lang="en-US" noProof="0" smtClean="0"/>
              <a:pPr/>
              <a:t>100</a:t>
            </a:fld>
            <a:endParaRPr lang="en-US" noProof="0" dirty="0"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76AD69EA-97B3-31E7-C165-9A809897D2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7950" y="1369219"/>
            <a:ext cx="2807406" cy="10393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7A5AB26-FDED-31DE-B548-E125ADEA4F24}"/>
              </a:ext>
            </a:extLst>
          </p:cNvPr>
          <p:cNvSpPr txBox="1"/>
          <p:nvPr/>
        </p:nvSpPr>
        <p:spPr>
          <a:xfrm>
            <a:off x="6718453" y="1094779"/>
            <a:ext cx="194421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i="0" noProof="0" dirty="0">
                <a:latin typeface="Arial" panose="020B0604020202020204" pitchFamily="34" charset="0"/>
                <a:cs typeface="Arial" panose="020B0604020202020204" pitchFamily="34" charset="0"/>
              </a:rPr>
              <a:t>(p</a:t>
            </a:r>
            <a:r>
              <a:rPr lang="en-US" sz="1400" b="1" i="0" baseline="-25000" noProof="0" dirty="0">
                <a:latin typeface="Arial" panose="020B0604020202020204" pitchFamily="34" charset="0"/>
                <a:cs typeface="Arial" panose="020B0604020202020204" pitchFamily="34" charset="0"/>
              </a:rPr>
              <a:t>1 </a:t>
            </a:r>
            <a:r>
              <a:rPr lang="en-US" sz="1400" b="1" i="0" noProof="0" dirty="0">
                <a:latin typeface="Arial" panose="020B0604020202020204" pitchFamily="34" charset="0"/>
                <a:cs typeface="Arial" panose="020B0604020202020204" pitchFamily="34" charset="0"/>
              </a:rPr>
              <a:t>≤ α</a:t>
            </a:r>
            <a:r>
              <a:rPr lang="en-US" sz="1400" b="1" noProof="0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sz="1400" b="1" i="0" noProof="0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sz="1400" b="1" i="0" baseline="-25000" noProof="0" dirty="0">
                <a:latin typeface="Arial" panose="020B0604020202020204" pitchFamily="34" charset="0"/>
                <a:cs typeface="Arial" panose="020B0604020202020204" pitchFamily="34" charset="0"/>
              </a:rPr>
              <a:t>2 </a:t>
            </a:r>
            <a:r>
              <a:rPr lang="en-US" sz="1400" b="1" i="0" noProof="0" dirty="0">
                <a:latin typeface="Arial" panose="020B0604020202020204" pitchFamily="34" charset="0"/>
                <a:cs typeface="Arial" panose="020B0604020202020204" pitchFamily="34" charset="0"/>
              </a:rPr>
              <a:t>≤ α) or</a:t>
            </a:r>
            <a:endParaRPr lang="en-US" sz="1400" b="1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FB662EE1-404D-BE6E-E91D-8E487451C0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4578" y="3291830"/>
            <a:ext cx="2651969" cy="9286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2">
            <a:extLst>
              <a:ext uri="{FF2B5EF4-FFF2-40B4-BE49-F238E27FC236}">
                <a16:creationId xmlns:a16="http://schemas.microsoft.com/office/drawing/2014/main" id="{F6CB8D7B-185E-8870-7ACB-2FC32740E69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373" b="85796"/>
          <a:stretch/>
        </p:blipFill>
        <p:spPr bwMode="auto">
          <a:xfrm>
            <a:off x="6457950" y="4353764"/>
            <a:ext cx="2468880" cy="4773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ADDF2EF-BA41-FA1A-C292-0DD7D480B55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4191" y="4231299"/>
            <a:ext cx="137160" cy="12246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21531D9-8856-9A01-337A-1B5B9C94495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04448" y="4231299"/>
            <a:ext cx="137160" cy="12246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E5DBA07-038E-98F9-BE67-BCD6D06E0B6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27270" y="4205783"/>
            <a:ext cx="171001" cy="15984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B19C71A-4AAA-725E-E5DE-89CB1568899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93367" y="4223804"/>
            <a:ext cx="171001" cy="15984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5EE0003-F0FC-8B35-1A65-D4CE63B16B5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22935" y="3354164"/>
            <a:ext cx="137160" cy="12821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45C6F939-F489-0F1A-C0B1-1776C9D8A93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73766" y="3354164"/>
            <a:ext cx="137160" cy="128216"/>
          </a:xfrm>
          <a:prstGeom prst="rect">
            <a:avLst/>
          </a:prstGeom>
        </p:spPr>
      </p:pic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4DFF5FEE-34A8-50B8-455D-0A8D8B90F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 noProof="0"/>
              <a:t>Bretz, Chen, Xi | ISBS | October 2026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9750697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8" grpId="0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E204D93-BD3A-5A0C-EB89-1BA38E2AB5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92FC2-7628-ACE0-6591-42F70A7308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975798" cy="994172"/>
          </a:xfrm>
        </p:spPr>
        <p:txBody>
          <a:bodyPr>
            <a:normAutofit fontScale="90000"/>
          </a:bodyPr>
          <a:lstStyle/>
          <a:p>
            <a:r>
              <a:rPr lang="en-US" sz="3200" spc="-100" noProof="0" dirty="0"/>
              <a:t>Hochberg procedure: Conservative shortcut to Hommel</a:t>
            </a:r>
            <a:br>
              <a:rPr lang="en-US" sz="3200" spc="-100" noProof="0" dirty="0"/>
            </a:br>
            <a:r>
              <a:rPr lang="en-US" sz="2200" i="1" noProof="0" dirty="0">
                <a:solidFill>
                  <a:srgbClr val="000000"/>
                </a:solidFill>
              </a:rPr>
              <a:t>Two hypotheses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EAB2553-946E-669C-82B2-050F35B8DB3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95535" y="1369217"/>
                <a:ext cx="6160455" cy="3671889"/>
              </a:xfrm>
            </p:spPr>
            <p:txBody>
              <a:bodyPr>
                <a:normAutofit fontScale="92500" lnSpcReduction="10000"/>
              </a:bodyPr>
              <a:lstStyle/>
              <a:p>
                <a:pPr>
                  <a:lnSpc>
                    <a:spcPct val="100000"/>
                  </a:lnSpc>
                  <a:spcBef>
                    <a:spcPts val="432"/>
                  </a:spcBef>
                </a:pPr>
                <a:r>
                  <a:rPr lang="en-US" sz="1800" noProof="0" dirty="0"/>
                  <a:t>Reject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noProof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800" i="1" noProof="0" smtClean="0">
                            <a:latin typeface="Cambria Math" panose="02040503050406030204" pitchFamily="18" charset="0"/>
                          </a:rPr>
                          <m:t>12</m:t>
                        </m:r>
                      </m:sub>
                    </m:sSub>
                  </m:oMath>
                </a14:m>
                <a:r>
                  <a:rPr lang="en-US" sz="1800" noProof="0" dirty="0"/>
                  <a:t> using a </a:t>
                </a:r>
                <a:r>
                  <a:rPr lang="en-US" sz="1800" noProof="0" dirty="0">
                    <a:solidFill>
                      <a:schemeClr val="accent1"/>
                    </a:solidFill>
                  </a:rPr>
                  <a:t>conservative Simes</a:t>
                </a:r>
                <a:r>
                  <a:rPr lang="en-US" sz="1800" noProof="0" dirty="0"/>
                  <a:t>, if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noProof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noProof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1800" i="1" noProof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800" i="1" noProof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1800" i="1" noProof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sz="1800" noProof="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noProof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noProof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1800" i="1" noProof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800" i="1" noProof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1800" i="1" noProof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sz="1800" noProof="0" dirty="0"/>
                  <a:t>) 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noProof="0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1800" i="1" noProof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800" i="1" noProof="0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1800" b="0" i="1" noProof="0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1800" b="0" i="1" noProof="0" smtClean="0">
                        <a:latin typeface="Cambria Math" panose="02040503050406030204" pitchFamily="18" charset="0"/>
                      </a:rPr>
                      <m:t>/2</m:t>
                    </m:r>
                  </m:oMath>
                </a14:m>
                <a:r>
                  <a:rPr lang="en-US" sz="1800" noProof="0" dirty="0"/>
                  <a:t> 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noProof="0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1800" i="1" noProof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800" i="1" noProof="0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1800" b="0" i="1" noProof="0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1800" b="0" i="1" noProof="0" smtClean="0">
                        <a:latin typeface="Cambria Math" panose="02040503050406030204" pitchFamily="18" charset="0"/>
                      </a:rPr>
                      <m:t>/2</m:t>
                    </m:r>
                  </m:oMath>
                </a14:m>
                <a:r>
                  <a:rPr lang="en-US" sz="1800" noProof="0" dirty="0"/>
                  <a:t> (same as Simes for two hypotheses)</a:t>
                </a:r>
              </a:p>
              <a:p>
                <a:pPr>
                  <a:lnSpc>
                    <a:spcPct val="100000"/>
                  </a:lnSpc>
                  <a:spcBef>
                    <a:spcPts val="432"/>
                  </a:spcBef>
                </a:pPr>
                <a:r>
                  <a:rPr lang="en-US" sz="1800" noProof="0" dirty="0"/>
                  <a:t>Followed by unadjusted tests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noProof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800" i="1" noProof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800" noProof="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noProof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800" i="1" noProof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sz="1800" noProof="0" dirty="0"/>
              </a:p>
              <a:p>
                <a:pPr>
                  <a:lnSpc>
                    <a:spcPct val="100000"/>
                  </a:lnSpc>
                  <a:spcBef>
                    <a:spcPts val="432"/>
                  </a:spcBef>
                </a:pPr>
                <a:r>
                  <a:rPr lang="en-US" sz="1800" noProof="0" dirty="0"/>
                  <a:t>When the decision rules are combined, we obtain the Hochberg procedure:</a:t>
                </a:r>
              </a:p>
              <a:p>
                <a:pPr lvl="1">
                  <a:lnSpc>
                    <a:spcPct val="100000"/>
                  </a:lnSpc>
                  <a:spcBef>
                    <a:spcPts val="432"/>
                  </a:spcBef>
                </a:pPr>
                <a:r>
                  <a:rPr lang="en-US" sz="1600" noProof="0" dirty="0"/>
                  <a:t>The procedure begins with the </a:t>
                </a:r>
                <a:r>
                  <a:rPr lang="en-US" sz="1600" noProof="0" dirty="0">
                    <a:solidFill>
                      <a:srgbClr val="C00000"/>
                    </a:solidFill>
                  </a:rPr>
                  <a:t>less significant p-value </a:t>
                </a:r>
                <a:r>
                  <a:rPr lang="en-US" sz="1600" noProof="0" dirty="0"/>
                  <a:t>and rejects both hypothesis if the p-value is no greater than </a:t>
                </a:r>
                <a14:m>
                  <m:oMath xmlns:m="http://schemas.openxmlformats.org/officeDocument/2006/math">
                    <m:r>
                      <a:rPr lang="en-US" sz="1600" i="1" noProof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endParaRPr lang="en-US" sz="1600" noProof="0" dirty="0"/>
              </a:p>
              <a:p>
                <a:pPr lvl="1">
                  <a:lnSpc>
                    <a:spcPct val="100000"/>
                  </a:lnSpc>
                  <a:spcBef>
                    <a:spcPts val="432"/>
                  </a:spcBef>
                </a:pPr>
                <a:r>
                  <a:rPr lang="en-US" sz="1600" noProof="0" dirty="0"/>
                  <a:t>If both hypotheses are not rejected, the hypothesis with the </a:t>
                </a:r>
                <a:r>
                  <a:rPr lang="en-US" sz="1600" noProof="0" dirty="0">
                    <a:solidFill>
                      <a:srgbClr val="C00000"/>
                    </a:solidFill>
                  </a:rPr>
                  <a:t>more significant p-value </a:t>
                </a:r>
                <a:r>
                  <a:rPr lang="en-US" sz="1600" noProof="0" dirty="0"/>
                  <a:t>is tested at an </a:t>
                </a:r>
                <a14:m>
                  <m:oMath xmlns:m="http://schemas.openxmlformats.org/officeDocument/2006/math">
                    <m:r>
                      <a:rPr lang="en-US" sz="1600" i="1" noProof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1600" b="0" i="1" noProof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/2</m:t>
                    </m:r>
                  </m:oMath>
                </a14:m>
                <a:r>
                  <a:rPr lang="en-US" sz="1600" noProof="0" dirty="0"/>
                  <a:t> level</a:t>
                </a:r>
              </a:p>
              <a:p>
                <a:pPr>
                  <a:lnSpc>
                    <a:spcPct val="100000"/>
                  </a:lnSpc>
                  <a:spcBef>
                    <a:spcPts val="432"/>
                  </a:spcBef>
                </a:pPr>
                <a:r>
                  <a:rPr lang="en-US" sz="1900" noProof="0" dirty="0"/>
                  <a:t>Graph for Hochberg procedure determines hypothesis weights</a:t>
                </a:r>
              </a:p>
              <a:p>
                <a:pPr lvl="1">
                  <a:lnSpc>
                    <a:spcPct val="100000"/>
                  </a:lnSpc>
                  <a:spcBef>
                    <a:spcPts val="432"/>
                  </a:spcBef>
                </a:pPr>
                <a14:m>
                  <m:oMath xmlns:m="http://schemas.openxmlformats.org/officeDocument/2006/math">
                    <m:r>
                      <a:rPr lang="en-US" sz="1600" i="1" noProof="0">
                        <a:latin typeface="Cambria Math" panose="02040503050406030204" pitchFamily="18" charset="0"/>
                      </a:rPr>
                      <m:t>1/2</m:t>
                    </m:r>
                  </m:oMath>
                </a14:m>
                <a:r>
                  <a:rPr lang="en-US" sz="1600" noProof="0" dirty="0"/>
                  <a:t>, </a:t>
                </a:r>
                <a14:m>
                  <m:oMath xmlns:m="http://schemas.openxmlformats.org/officeDocument/2006/math">
                    <m:r>
                      <a:rPr lang="en-US" sz="1600" noProof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1600" i="1" noProof="0">
                        <a:latin typeface="Cambria Math" panose="02040503050406030204" pitchFamily="18" charset="0"/>
                      </a:rPr>
                      <m:t>/2</m:t>
                    </m:r>
                  </m:oMath>
                </a14:m>
                <a:r>
                  <a:rPr lang="en-US" sz="1600" i="1" noProof="0" dirty="0"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i="1" noProof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1600" i="1" noProof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 noProof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600" i="1" noProof="0">
                            <a:latin typeface="Cambria Math" panose="02040503050406030204" pitchFamily="18" charset="0"/>
                          </a:rPr>
                          <m:t>12</m:t>
                        </m:r>
                      </m:sub>
                    </m:sSub>
                    <m:r>
                      <a:rPr lang="en-US" sz="1600" i="1" noProof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600" i="1" noProof="0" dirty="0">
                  <a:latin typeface="Cambria Math" panose="02040503050406030204" pitchFamily="18" charset="0"/>
                </a:endParaRPr>
              </a:p>
              <a:p>
                <a:pPr lvl="1">
                  <a:lnSpc>
                    <a:spcPct val="100000"/>
                  </a:lnSpc>
                  <a:spcBef>
                    <a:spcPts val="432"/>
                  </a:spcBef>
                </a:pPr>
                <a14:m>
                  <m:oMath xmlns:m="http://schemas.openxmlformats.org/officeDocument/2006/math">
                    <m:r>
                      <a:rPr lang="en-US" sz="1600" i="1" noProof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1600" noProof="0" dirty="0"/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noProof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 noProof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600" i="1" noProof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600" noProof="0" dirty="0"/>
                  <a:t> 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noProof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 noProof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600" i="1" noProof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1600" noProof="0" dirty="0"/>
                  <a:t>)</a:t>
                </a:r>
              </a:p>
              <a:p>
                <a:pPr>
                  <a:lnSpc>
                    <a:spcPct val="100000"/>
                  </a:lnSpc>
                  <a:spcBef>
                    <a:spcPts val="432"/>
                  </a:spcBef>
                </a:pPr>
                <a:r>
                  <a:rPr lang="en-US" sz="1900" noProof="0" dirty="0">
                    <a:solidFill>
                      <a:schemeClr val="accent1"/>
                    </a:solidFill>
                  </a:rPr>
                  <a:t>Hochberg procedure </a:t>
                </a:r>
                <a:r>
                  <a:rPr lang="en-US" sz="1900" noProof="0" dirty="0"/>
                  <a:t>is only applicable to </a:t>
                </a:r>
                <a:r>
                  <a:rPr lang="en-US" sz="1900" noProof="0" dirty="0">
                    <a:solidFill>
                      <a:schemeClr val="accent1"/>
                    </a:solidFill>
                  </a:rPr>
                  <a:t>equally weighted hypotheses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EAB2553-946E-669C-82B2-050F35B8DB3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95535" y="1369217"/>
                <a:ext cx="6160455" cy="3671889"/>
              </a:xfrm>
              <a:blipFill>
                <a:blip r:embed="rId3"/>
                <a:stretch>
                  <a:fillRect l="-693" t="-1329" r="-792" b="-18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911A0C-DE82-0A26-B215-587D6D483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47CF9-5B10-D24F-A8D7-45A9778164F7}" type="slidenum">
              <a:rPr lang="en-US" noProof="0" smtClean="0"/>
              <a:pPr/>
              <a:t>101</a:t>
            </a:fld>
            <a:endParaRPr lang="en-US" noProof="0" dirty="0"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76AD69EA-97B3-31E7-C165-9A809897D2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7950" y="1369219"/>
            <a:ext cx="2807406" cy="10393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7A5AB26-FDED-31DE-B548-E125ADEA4F24}"/>
              </a:ext>
            </a:extLst>
          </p:cNvPr>
          <p:cNvSpPr txBox="1"/>
          <p:nvPr/>
        </p:nvSpPr>
        <p:spPr>
          <a:xfrm>
            <a:off x="6718453" y="1094779"/>
            <a:ext cx="194421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i="0" noProof="0" dirty="0">
                <a:latin typeface="Arial" panose="020B0604020202020204" pitchFamily="34" charset="0"/>
                <a:cs typeface="Arial" panose="020B0604020202020204" pitchFamily="34" charset="0"/>
              </a:rPr>
              <a:t>(p</a:t>
            </a:r>
            <a:r>
              <a:rPr lang="en-US" sz="1400" b="1" i="0" baseline="-25000" noProof="0" dirty="0">
                <a:latin typeface="Arial" panose="020B0604020202020204" pitchFamily="34" charset="0"/>
                <a:cs typeface="Arial" panose="020B0604020202020204" pitchFamily="34" charset="0"/>
              </a:rPr>
              <a:t>1 </a:t>
            </a:r>
            <a:r>
              <a:rPr lang="en-US" sz="1400" b="1" i="0" noProof="0" dirty="0">
                <a:latin typeface="Arial" panose="020B0604020202020204" pitchFamily="34" charset="0"/>
                <a:cs typeface="Arial" panose="020B0604020202020204" pitchFamily="34" charset="0"/>
              </a:rPr>
              <a:t>≤ α</a:t>
            </a:r>
            <a:r>
              <a:rPr lang="en-US" sz="1400" b="1" noProof="0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sz="1400" b="1" i="0" noProof="0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sz="1400" b="1" i="0" baseline="-25000" noProof="0" dirty="0">
                <a:latin typeface="Arial" panose="020B0604020202020204" pitchFamily="34" charset="0"/>
                <a:cs typeface="Arial" panose="020B0604020202020204" pitchFamily="34" charset="0"/>
              </a:rPr>
              <a:t>2 </a:t>
            </a:r>
            <a:r>
              <a:rPr lang="en-US" sz="1400" b="1" i="0" noProof="0" dirty="0">
                <a:latin typeface="Arial" panose="020B0604020202020204" pitchFamily="34" charset="0"/>
                <a:cs typeface="Arial" panose="020B0604020202020204" pitchFamily="34" charset="0"/>
              </a:rPr>
              <a:t>≤ α) or</a:t>
            </a:r>
            <a:endParaRPr lang="en-US" sz="1400" b="1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4D74E679-FC66-DEDE-DEE7-9A65EDF3CC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4578" y="3291830"/>
            <a:ext cx="2651969" cy="9286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2CACFC7C-E1CF-DA74-2E53-0A5B482866D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373" b="85796"/>
          <a:stretch/>
        </p:blipFill>
        <p:spPr bwMode="auto">
          <a:xfrm>
            <a:off x="6457950" y="4353764"/>
            <a:ext cx="2468880" cy="4773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1A5F8FE-2B67-A7A5-4C62-8C9C2D80B4D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4191" y="4231299"/>
            <a:ext cx="137160" cy="12246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6BC97B0-BA7C-5C1C-96C0-CFE785B7643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04448" y="4231299"/>
            <a:ext cx="137160" cy="12246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862B5A2-7DBB-7F67-B320-D71D5E21131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27270" y="4205783"/>
            <a:ext cx="171001" cy="15984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3EAD907-728D-5A75-20E9-5F0E7235F0F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93367" y="4223804"/>
            <a:ext cx="171001" cy="15984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1590F4A-E3AF-0681-AF2D-E81E8AF0E43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22935" y="3354164"/>
            <a:ext cx="137160" cy="12821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EE327874-CA2E-38AB-5956-76E7857E914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73766" y="3354164"/>
            <a:ext cx="137160" cy="128216"/>
          </a:xfrm>
          <a:prstGeom prst="rect">
            <a:avLst/>
          </a:prstGeom>
        </p:spPr>
      </p:pic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3D2A2AB9-5CF5-19D4-EF8A-5EC9B275A0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 noProof="0"/>
              <a:t>Bretz, Chen, Xi | ISBS | October 2026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082210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8" grpId="0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E204D93-BD3A-5A0C-EB89-1BA38E2AB5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92FC2-7628-ACE0-6591-42F70A7308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975798" cy="994172"/>
          </a:xfrm>
        </p:spPr>
        <p:txBody>
          <a:bodyPr>
            <a:normAutofit/>
          </a:bodyPr>
          <a:lstStyle/>
          <a:p>
            <a:r>
              <a:rPr lang="en-US" sz="3200" spc="-100" noProof="0" dirty="0"/>
              <a:t>Dunnett procedure: Closed test using parametric</a:t>
            </a:r>
            <a:br>
              <a:rPr lang="en-US" sz="3200" spc="-100" noProof="0" dirty="0"/>
            </a:br>
            <a:r>
              <a:rPr lang="en-US" sz="2200" i="1" noProof="0" dirty="0">
                <a:solidFill>
                  <a:srgbClr val="000000"/>
                </a:solidFill>
              </a:rPr>
              <a:t>Two hypotheses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EAB2553-946E-669C-82B2-050F35B8DB3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95536" y="1369217"/>
                <a:ext cx="5976664" cy="3671889"/>
              </a:xfrm>
            </p:spPr>
            <p:txBody>
              <a:bodyPr>
                <a:normAutofit fontScale="85000" lnSpcReduction="10000"/>
              </a:bodyPr>
              <a:lstStyle/>
              <a:p>
                <a:pPr>
                  <a:lnSpc>
                    <a:spcPct val="100000"/>
                  </a:lnSpc>
                  <a:spcBef>
                    <a:spcPts val="432"/>
                  </a:spcBef>
                </a:pPr>
                <a:r>
                  <a:rPr lang="en-US" sz="1800" noProof="0" dirty="0"/>
                  <a:t>Reject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noProof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800" i="1" noProof="0" smtClean="0">
                            <a:latin typeface="Cambria Math" panose="02040503050406030204" pitchFamily="18" charset="0"/>
                          </a:rPr>
                          <m:t>12</m:t>
                        </m:r>
                      </m:sub>
                    </m:sSub>
                  </m:oMath>
                </a14:m>
                <a:r>
                  <a:rPr lang="en-US" sz="1800" noProof="0" dirty="0"/>
                  <a:t> using </a:t>
                </a:r>
                <a:r>
                  <a:rPr lang="en-US" sz="1800" noProof="0" dirty="0">
                    <a:solidFill>
                      <a:schemeClr val="accent1"/>
                    </a:solidFill>
                  </a:rPr>
                  <a:t>parametric</a:t>
                </a:r>
                <a:r>
                  <a:rPr lang="en-US" sz="1800" noProof="0" dirty="0"/>
                  <a:t>,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noProof="0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1800" i="1" noProof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800" i="1" noProof="0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1800" b="0" i="1" noProof="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1800" b="0" i="1" noProof="0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1800" b="0" i="1" noProof="0" smtClean="0">
                        <a:latin typeface="Cambria Math" panose="02040503050406030204" pitchFamily="18" charset="0"/>
                      </a:rPr>
                      <m:t>/2</m:t>
                    </m:r>
                  </m:oMath>
                </a14:m>
                <a:r>
                  <a:rPr lang="en-US" sz="1800" noProof="0" dirty="0"/>
                  <a:t> 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noProof="0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1800" i="1" noProof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800" i="1" noProof="0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1800" b="0" i="1" noProof="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1800" b="0" i="1" noProof="0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1800" b="0" i="1" noProof="0" smtClean="0">
                        <a:latin typeface="Cambria Math" panose="02040503050406030204" pitchFamily="18" charset="0"/>
                      </a:rPr>
                      <m:t>/2</m:t>
                    </m:r>
                  </m:oMath>
                </a14:m>
                <a:endParaRPr lang="en-US" sz="1800" noProof="0" dirty="0"/>
              </a:p>
              <a:p>
                <a:pPr>
                  <a:lnSpc>
                    <a:spcPct val="100000"/>
                  </a:lnSpc>
                  <a:spcBef>
                    <a:spcPts val="432"/>
                  </a:spcBef>
                </a:pPr>
                <a:r>
                  <a:rPr lang="en-US" sz="1800" noProof="0" dirty="0"/>
                  <a:t>Followed by unadjusted tests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noProof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800" i="1" noProof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800" noProof="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noProof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800" i="1" noProof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sz="1800" noProof="0" dirty="0"/>
              </a:p>
              <a:p>
                <a:pPr>
                  <a:lnSpc>
                    <a:spcPct val="100000"/>
                  </a:lnSpc>
                  <a:spcBef>
                    <a:spcPts val="432"/>
                  </a:spcBef>
                </a:pPr>
                <a14:m>
                  <m:oMath xmlns:m="http://schemas.openxmlformats.org/officeDocument/2006/math">
                    <m:r>
                      <a:rPr lang="en-US" sz="1800" b="0" i="1" noProof="0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sz="1800" noProof="0" dirty="0"/>
                  <a:t> is determined such that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1800" b="0" i="0" noProof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1800" b="0" i="0" noProof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sz="1800" i="1" noProof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800" i="1" noProof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i="1" noProof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sz="1800" i="1" noProof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1800" i="1" noProof="0">
                                <a:latin typeface="Cambria Math" panose="02040503050406030204" pitchFamily="18" charset="0"/>
                              </a:rPr>
                              <m:t>≤</m:t>
                            </m:r>
                            <m:f>
                              <m:fPr>
                                <m:ctrlPr>
                                  <a:rPr lang="en-US" sz="1800" b="0" i="1" noProof="0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1800" b="0" i="1" noProof="0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  <m:r>
                                  <a:rPr lang="en-US" sz="1800" b="0" i="1" noProof="0" smtClean="0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num>
                              <m:den>
                                <m:r>
                                  <a:rPr lang="en-US" sz="1800" b="0" i="1" noProof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a:rPr lang="en-US" sz="1800" b="0" i="1" noProof="0" smtClean="0">
                                <a:latin typeface="Cambria Math" panose="02040503050406030204" pitchFamily="18" charset="0"/>
                              </a:rPr>
                              <m:t>𝑜𝑟</m:t>
                            </m:r>
                            <m:r>
                              <a:rPr lang="en-US" sz="1800" b="0" i="1" noProof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en-US" sz="1800" b="0" i="1" noProof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b="0" i="1" noProof="0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sz="1800" b="0" i="1" noProof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sz="1800" i="1" noProof="0">
                                <a:latin typeface="Cambria Math" panose="02040503050406030204" pitchFamily="18" charset="0"/>
                              </a:rPr>
                              <m:t>≤</m:t>
                            </m:r>
                            <m:f>
                              <m:fPr>
                                <m:ctrlPr>
                                  <a:rPr lang="en-US" sz="1800" i="1" noProof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1800" i="1" noProof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  <m:r>
                                  <a:rPr lang="en-US" sz="1800" i="1" noProof="0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num>
                              <m:den>
                                <m:r>
                                  <a:rPr lang="en-US" sz="1800" i="1" noProof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</m:func>
                    <m:r>
                      <a:rPr lang="en-US" sz="1800" b="0" i="1" noProof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b="0" i="1" noProof="0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sz="1800" noProof="0" dirty="0"/>
                  <a:t>, where the test statistics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noProof="0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sz="1800" b="0" i="1" noProof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800" noProof="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noProof="0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sz="1800" b="0" i="1" noProof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1800" noProof="0" dirty="0"/>
                  <a:t> follow a bivariate normal distribution with mean 0 and a known correlation matrix</a:t>
                </a:r>
              </a:p>
              <a:p>
                <a:pPr>
                  <a:lnSpc>
                    <a:spcPct val="100000"/>
                  </a:lnSpc>
                  <a:spcBef>
                    <a:spcPts val="432"/>
                  </a:spcBef>
                </a:pPr>
                <a:r>
                  <a:rPr lang="en-US" sz="1800" noProof="0" dirty="0"/>
                  <a:t>When the decision rules are combined, we obtain the Dunnett step-down procedure:</a:t>
                </a:r>
              </a:p>
              <a:p>
                <a:pPr lvl="1">
                  <a:lnSpc>
                    <a:spcPct val="100000"/>
                  </a:lnSpc>
                  <a:spcBef>
                    <a:spcPts val="432"/>
                  </a:spcBef>
                </a:pPr>
                <a:r>
                  <a:rPr lang="en-US" sz="1600" noProof="0" dirty="0"/>
                  <a:t>The procedure begins with the </a:t>
                </a:r>
                <a:r>
                  <a:rPr lang="en-US" sz="1600" noProof="0" dirty="0">
                    <a:solidFill>
                      <a:srgbClr val="C00000"/>
                    </a:solidFill>
                  </a:rPr>
                  <a:t>more significant p-value </a:t>
                </a:r>
                <a:r>
                  <a:rPr lang="en-US" sz="1600" noProof="0" dirty="0"/>
                  <a:t>and rejects the corresponding hypothesis if the p-value is no greater than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b="0" i="0" noProof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c</m:t>
                    </m:r>
                    <m:r>
                      <a:rPr lang="en-US" sz="1600" i="1" noProof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1600" i="1" noProof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/2</m:t>
                    </m:r>
                  </m:oMath>
                </a14:m>
                <a:endParaRPr lang="en-US" sz="1600" noProof="0" dirty="0"/>
              </a:p>
              <a:p>
                <a:pPr lvl="1">
                  <a:lnSpc>
                    <a:spcPct val="100000"/>
                  </a:lnSpc>
                  <a:spcBef>
                    <a:spcPts val="432"/>
                  </a:spcBef>
                </a:pPr>
                <a:r>
                  <a:rPr lang="en-US" sz="1600" noProof="0" dirty="0"/>
                  <a:t>If the first hypothesis is rejected, the other hypothesis is tested at an </a:t>
                </a:r>
                <a14:m>
                  <m:oMath xmlns:m="http://schemas.openxmlformats.org/officeDocument/2006/math">
                    <m:r>
                      <a:rPr lang="en-US" sz="1600" i="1" noProof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sz="1600" noProof="0" dirty="0">
                    <a:solidFill>
                      <a:srgbClr val="C00000"/>
                    </a:solidFill>
                  </a:rPr>
                  <a:t> level</a:t>
                </a:r>
                <a:r>
                  <a:rPr lang="en-US" sz="1600" noProof="0" dirty="0"/>
                  <a:t>. Otherwise, the other hypothesis is retained without testing</a:t>
                </a:r>
              </a:p>
              <a:p>
                <a:pPr>
                  <a:lnSpc>
                    <a:spcPct val="100000"/>
                  </a:lnSpc>
                  <a:spcBef>
                    <a:spcPts val="432"/>
                  </a:spcBef>
                </a:pPr>
                <a:r>
                  <a:rPr lang="en-US" sz="1900" noProof="0" dirty="0"/>
                  <a:t>Graph for the Dunnett procedure determines hypothesis weights</a:t>
                </a:r>
              </a:p>
              <a:p>
                <a:pPr lvl="1">
                  <a:lnSpc>
                    <a:spcPct val="100000"/>
                  </a:lnSpc>
                  <a:spcBef>
                    <a:spcPts val="432"/>
                  </a:spcBef>
                </a:pPr>
                <a14:m>
                  <m:oMath xmlns:m="http://schemas.openxmlformats.org/officeDocument/2006/math">
                    <m:r>
                      <a:rPr lang="en-US" sz="1600" i="1" noProof="0">
                        <a:latin typeface="Cambria Math" panose="02040503050406030204" pitchFamily="18" charset="0"/>
                      </a:rPr>
                      <m:t>1/2</m:t>
                    </m:r>
                  </m:oMath>
                </a14:m>
                <a:r>
                  <a:rPr lang="en-US" sz="1600" noProof="0" dirty="0"/>
                  <a:t>, </a:t>
                </a:r>
                <a14:m>
                  <m:oMath xmlns:m="http://schemas.openxmlformats.org/officeDocument/2006/math">
                    <m:r>
                      <a:rPr lang="en-US" sz="1600" noProof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1600" i="1" noProof="0">
                        <a:latin typeface="Cambria Math" panose="02040503050406030204" pitchFamily="18" charset="0"/>
                      </a:rPr>
                      <m:t>/2</m:t>
                    </m:r>
                  </m:oMath>
                </a14:m>
                <a:r>
                  <a:rPr lang="en-US" sz="1600" i="1" noProof="0" dirty="0"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i="1" noProof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1600" i="1" noProof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 noProof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600" i="1" noProof="0">
                            <a:latin typeface="Cambria Math" panose="02040503050406030204" pitchFamily="18" charset="0"/>
                          </a:rPr>
                          <m:t>12</m:t>
                        </m:r>
                      </m:sub>
                    </m:sSub>
                    <m:r>
                      <a:rPr lang="en-US" sz="1600" i="1" noProof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600" i="1" noProof="0" dirty="0">
                  <a:latin typeface="Cambria Math" panose="02040503050406030204" pitchFamily="18" charset="0"/>
                </a:endParaRPr>
              </a:p>
              <a:p>
                <a:pPr lvl="1">
                  <a:lnSpc>
                    <a:spcPct val="100000"/>
                  </a:lnSpc>
                  <a:spcBef>
                    <a:spcPts val="432"/>
                  </a:spcBef>
                </a:pPr>
                <a14:m>
                  <m:oMath xmlns:m="http://schemas.openxmlformats.org/officeDocument/2006/math">
                    <m:r>
                      <a:rPr lang="en-US" sz="1600" i="1" noProof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1600" noProof="0" dirty="0"/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noProof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 noProof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600" i="1" noProof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600" noProof="0" dirty="0"/>
                  <a:t> 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noProof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 noProof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600" i="1" noProof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1600" noProof="0" dirty="0"/>
                  <a:t>)</a:t>
                </a:r>
              </a:p>
              <a:p>
                <a:pPr lvl="1">
                  <a:lnSpc>
                    <a:spcPct val="100000"/>
                  </a:lnSpc>
                  <a:spcBef>
                    <a:spcPts val="432"/>
                  </a:spcBef>
                </a:pPr>
                <a14:m>
                  <m:oMath xmlns:m="http://schemas.openxmlformats.org/officeDocument/2006/math">
                    <m:r>
                      <a:rPr lang="en-US" sz="1600" b="0" i="1" noProof="0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sz="1600" noProof="0" dirty="0"/>
                  <a:t> is further determined by the correlation between test statistics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EAB2553-946E-669C-82B2-050F35B8DB3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95536" y="1369217"/>
                <a:ext cx="5976664" cy="3671889"/>
              </a:xfrm>
              <a:blipFill>
                <a:blip r:embed="rId3"/>
                <a:stretch>
                  <a:fillRect l="-408" t="-997" b="-13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911A0C-DE82-0A26-B215-587D6D483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47CF9-5B10-D24F-A8D7-45A9778164F7}" type="slidenum">
              <a:rPr lang="en-US" noProof="0" smtClean="0"/>
              <a:pPr/>
              <a:t>102</a:t>
            </a:fld>
            <a:endParaRPr lang="en-US" noProof="0" dirty="0"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76AD69EA-97B3-31E7-C165-9A809897D2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7950" y="1369219"/>
            <a:ext cx="2807406" cy="10393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7A5AB26-FDED-31DE-B548-E125ADEA4F24}"/>
              </a:ext>
            </a:extLst>
          </p:cNvPr>
          <p:cNvSpPr txBox="1"/>
          <p:nvPr/>
        </p:nvSpPr>
        <p:spPr>
          <a:xfrm>
            <a:off x="6725850" y="1303824"/>
            <a:ext cx="1944217" cy="30777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sz="1400" b="1" i="0" noProof="0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sz="1400" b="1" i="0" baseline="-25000" noProof="0" dirty="0">
                <a:latin typeface="Arial" panose="020B0604020202020204" pitchFamily="34" charset="0"/>
                <a:cs typeface="Arial" panose="020B0604020202020204" pitchFamily="34" charset="0"/>
              </a:rPr>
              <a:t>1 </a:t>
            </a:r>
            <a:r>
              <a:rPr lang="en-US" sz="1400" b="1" i="0" noProof="0" dirty="0">
                <a:latin typeface="Arial" panose="020B0604020202020204" pitchFamily="34" charset="0"/>
                <a:cs typeface="Arial" panose="020B0604020202020204" pitchFamily="34" charset="0"/>
              </a:rPr>
              <a:t>≤ cα/2</a:t>
            </a:r>
            <a:r>
              <a:rPr lang="en-US" sz="1400" b="1" noProof="0" dirty="0">
                <a:latin typeface="Arial" panose="020B0604020202020204" pitchFamily="34" charset="0"/>
                <a:cs typeface="Arial" panose="020B0604020202020204" pitchFamily="34" charset="0"/>
              </a:rPr>
              <a:t> or </a:t>
            </a:r>
            <a:r>
              <a:rPr lang="en-US" sz="1400" b="1" i="0" noProof="0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sz="1400" b="1" i="0" baseline="-25000" noProof="0" dirty="0">
                <a:latin typeface="Arial" panose="020B0604020202020204" pitchFamily="34" charset="0"/>
                <a:cs typeface="Arial" panose="020B0604020202020204" pitchFamily="34" charset="0"/>
              </a:rPr>
              <a:t>2 </a:t>
            </a:r>
            <a:r>
              <a:rPr lang="en-US" sz="1400" b="1" i="0" noProof="0" dirty="0">
                <a:latin typeface="Arial" panose="020B0604020202020204" pitchFamily="34" charset="0"/>
                <a:cs typeface="Arial" panose="020B0604020202020204" pitchFamily="34" charset="0"/>
              </a:rPr>
              <a:t>≤ cα/2</a:t>
            </a:r>
            <a:endParaRPr lang="en-US" sz="1400" b="1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FEB09BAC-9F00-70E5-D9CF-E539C1863F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4578" y="3291830"/>
            <a:ext cx="2651969" cy="9286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2">
            <a:extLst>
              <a:ext uri="{FF2B5EF4-FFF2-40B4-BE49-F238E27FC236}">
                <a16:creationId xmlns:a16="http://schemas.microsoft.com/office/drawing/2014/main" id="{0428A5B6-5CB5-C19E-B885-6ECC9051F88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373" b="85796"/>
          <a:stretch/>
        </p:blipFill>
        <p:spPr bwMode="auto">
          <a:xfrm>
            <a:off x="6457950" y="4353764"/>
            <a:ext cx="2468880" cy="4773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B85EA24-E693-A050-09A8-BDF721B1606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4191" y="4231299"/>
            <a:ext cx="137160" cy="12246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757C4C3-CEAB-2538-CBF4-E0CF1325470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04448" y="4231299"/>
            <a:ext cx="137160" cy="12246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1993377-4699-16DE-FAF6-5AA03295C34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27270" y="4205783"/>
            <a:ext cx="171001" cy="15984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64DB328-3DC9-F462-37CA-089F02A0E3F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93367" y="4223804"/>
            <a:ext cx="171001" cy="15984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90C942B-1BB1-46B6-1A94-5BED9D1EC62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22935" y="3354164"/>
            <a:ext cx="137160" cy="12821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A4D5F0C1-B2CA-3371-2842-05199DFFE61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73766" y="3354164"/>
            <a:ext cx="137160" cy="128216"/>
          </a:xfrm>
          <a:prstGeom prst="rect">
            <a:avLst/>
          </a:prstGeom>
        </p:spPr>
      </p:pic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4ACE7D8-2073-0C38-950F-211302915E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 noProof="0"/>
              <a:t>Bretz, Chen, Xi | ISBS | October 2026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23923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8" grpId="0" animBg="1"/>
    </p:bld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204D93-BD3A-5A0C-EB89-1BA38E2AB5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92FC2-7628-ACE0-6591-42F70A7308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975798" cy="994172"/>
          </a:xfrm>
        </p:spPr>
        <p:txBody>
          <a:bodyPr>
            <a:normAutofit/>
          </a:bodyPr>
          <a:lstStyle/>
          <a:p>
            <a:r>
              <a:rPr lang="en-US" sz="3200" spc="-100" noProof="0" dirty="0"/>
              <a:t>CANTOS trial</a:t>
            </a:r>
            <a:br>
              <a:rPr lang="en-US" sz="3200" spc="-100" noProof="0" dirty="0"/>
            </a:br>
            <a:r>
              <a:rPr lang="en-US" sz="2200" i="1" noProof="0" dirty="0">
                <a:solidFill>
                  <a:srgbClr val="000000"/>
                </a:solidFill>
              </a:rPr>
              <a:t>Background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AB2553-946E-669C-82B2-050F35B8DB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69219"/>
            <a:ext cx="8119814" cy="3263504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432"/>
              </a:spcBef>
            </a:pPr>
            <a:r>
              <a:rPr lang="en-US" sz="2000" noProof="0" dirty="0"/>
              <a:t>Randomized, double-blind Phase 3 trial of canakinumab for patients with previous myocardial infarction and an elevated HS-CRP level</a:t>
            </a:r>
          </a:p>
          <a:p>
            <a:pPr lvl="1">
              <a:lnSpc>
                <a:spcPct val="100000"/>
              </a:lnSpc>
              <a:spcBef>
                <a:spcPts val="432"/>
              </a:spcBef>
            </a:pPr>
            <a:r>
              <a:rPr lang="en-US" noProof="0" dirty="0">
                <a:solidFill>
                  <a:schemeClr val="accent1"/>
                </a:solidFill>
              </a:rPr>
              <a:t>Three canakinumab doses </a:t>
            </a:r>
            <a:r>
              <a:rPr lang="en-US" noProof="0" dirty="0"/>
              <a:t>(50mg, 150mg, 300mg) versus placebo</a:t>
            </a:r>
          </a:p>
          <a:p>
            <a:pPr lvl="1">
              <a:lnSpc>
                <a:spcPct val="100000"/>
              </a:lnSpc>
              <a:spcBef>
                <a:spcPts val="432"/>
              </a:spcBef>
            </a:pPr>
            <a:r>
              <a:rPr lang="en-US" noProof="0" dirty="0"/>
              <a:t>Lasted over 6 years with 10,061 patients enrolled</a:t>
            </a:r>
          </a:p>
          <a:p>
            <a:pPr lvl="1">
              <a:lnSpc>
                <a:spcPct val="100000"/>
              </a:lnSpc>
              <a:spcBef>
                <a:spcPts val="432"/>
              </a:spcBef>
            </a:pPr>
            <a:r>
              <a:rPr lang="en-US" noProof="0" dirty="0"/>
              <a:t>Total number of events for the primary endpoint was 955</a:t>
            </a:r>
          </a:p>
          <a:p>
            <a:pPr>
              <a:lnSpc>
                <a:spcPct val="100000"/>
              </a:lnSpc>
              <a:spcBef>
                <a:spcPts val="432"/>
              </a:spcBef>
            </a:pPr>
            <a:r>
              <a:rPr lang="en-US" sz="2000" noProof="0" dirty="0"/>
              <a:t>Primary endpoint (PE): nonfatal myocardial infarction, nonfatal stroke, or cardiovascular death</a:t>
            </a:r>
          </a:p>
          <a:p>
            <a:pPr>
              <a:lnSpc>
                <a:spcPct val="100000"/>
              </a:lnSpc>
              <a:spcBef>
                <a:spcPts val="432"/>
              </a:spcBef>
            </a:pPr>
            <a:r>
              <a:rPr lang="en-US" sz="2000" noProof="0" dirty="0"/>
              <a:t>Secondary endpoint 1 (SE1): PE + hospitalization for unstable angina</a:t>
            </a:r>
          </a:p>
          <a:p>
            <a:pPr>
              <a:lnSpc>
                <a:spcPct val="100000"/>
              </a:lnSpc>
              <a:spcBef>
                <a:spcPts val="432"/>
              </a:spcBef>
            </a:pPr>
            <a:r>
              <a:rPr lang="en-US" sz="2000" noProof="0" dirty="0"/>
              <a:t>Secondary endpoint 2 (SE2): new-onset type 2 diabetes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911A0C-DE82-0A26-B215-587D6D483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47CF9-5B10-D24F-A8D7-45A9778164F7}" type="slidenum">
              <a:rPr lang="en-US" noProof="0" smtClean="0"/>
              <a:pPr/>
              <a:t>103</a:t>
            </a:fld>
            <a:endParaRPr lang="en-US" noProof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5F8BB8-FD73-0159-9FB2-5F75AC3C8E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 noProof="0"/>
              <a:t>Bretz, Chen, Xi | ISBS | October 2026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0519036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204D93-BD3A-5A0C-EB89-1BA38E2AB5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diagram of a network&#10;&#10;Description automatically generated">
            <a:extLst>
              <a:ext uri="{FF2B5EF4-FFF2-40B4-BE49-F238E27FC236}">
                <a16:creationId xmlns:a16="http://schemas.microsoft.com/office/drawing/2014/main" id="{C6584A26-9D6F-0050-34FD-897E9D5305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194" y="1181614"/>
            <a:ext cx="8172400" cy="374568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5092FC2-7628-ACE0-6591-42F70A7308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975798" cy="994172"/>
          </a:xfrm>
        </p:spPr>
        <p:txBody>
          <a:bodyPr>
            <a:normAutofit/>
          </a:bodyPr>
          <a:lstStyle/>
          <a:p>
            <a:r>
              <a:rPr lang="en-US" sz="3200" spc="-100" noProof="0" dirty="0"/>
              <a:t>CANTOS trial</a:t>
            </a:r>
            <a:br>
              <a:rPr lang="en-US" sz="3200" spc="-100" noProof="0" dirty="0"/>
            </a:br>
            <a:r>
              <a:rPr lang="en-US" sz="2200" i="1" noProof="0" dirty="0">
                <a:solidFill>
                  <a:srgbClr val="000000"/>
                </a:solidFill>
              </a:rPr>
              <a:t>Graphical multiple comparison procedure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911A0C-DE82-0A26-B215-587D6D483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47CF9-5B10-D24F-A8D7-45A9778164F7}" type="slidenum">
              <a:rPr lang="en-US" noProof="0" smtClean="0"/>
              <a:pPr/>
              <a:t>104</a:t>
            </a:fld>
            <a:endParaRPr lang="en-US" noProof="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70D48DF-DA5A-FDDC-18DD-BE5B5FF57D29}"/>
              </a:ext>
            </a:extLst>
          </p:cNvPr>
          <p:cNvSpPr txBox="1"/>
          <p:nvPr/>
        </p:nvSpPr>
        <p:spPr>
          <a:xfrm>
            <a:off x="1259632" y="1177986"/>
            <a:ext cx="8458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noProof="0" dirty="0"/>
              <a:t>300mg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1B9D38B-C0B8-B711-6AD8-7C42A8EB3191}"/>
              </a:ext>
            </a:extLst>
          </p:cNvPr>
          <p:cNvSpPr txBox="1"/>
          <p:nvPr/>
        </p:nvSpPr>
        <p:spPr>
          <a:xfrm>
            <a:off x="3838474" y="1156724"/>
            <a:ext cx="8458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noProof="0" dirty="0"/>
              <a:t>150mg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E61ED22-340E-FEDA-A930-034C13358F43}"/>
              </a:ext>
            </a:extLst>
          </p:cNvPr>
          <p:cNvSpPr txBox="1"/>
          <p:nvPr/>
        </p:nvSpPr>
        <p:spPr>
          <a:xfrm>
            <a:off x="7127626" y="1177986"/>
            <a:ext cx="845840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noProof="0" dirty="0"/>
              <a:t>50mg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772F531-1658-17CE-49BD-4CDC5478957D}"/>
              </a:ext>
            </a:extLst>
          </p:cNvPr>
          <p:cNvSpPr txBox="1"/>
          <p:nvPr/>
        </p:nvSpPr>
        <p:spPr>
          <a:xfrm>
            <a:off x="830765" y="1635646"/>
            <a:ext cx="4137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noProof="0" dirty="0"/>
              <a:t>PE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2843256-F0A7-4721-93FE-74C3CE3CBC4D}"/>
              </a:ext>
            </a:extLst>
          </p:cNvPr>
          <p:cNvSpPr txBox="1"/>
          <p:nvPr/>
        </p:nvSpPr>
        <p:spPr>
          <a:xfrm>
            <a:off x="496943" y="4719079"/>
            <a:ext cx="5407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noProof="0" dirty="0"/>
              <a:t>SE1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E1DD43D-9BF1-8C64-C7C5-AC93045AB1F9}"/>
              </a:ext>
            </a:extLst>
          </p:cNvPr>
          <p:cNvSpPr txBox="1"/>
          <p:nvPr/>
        </p:nvSpPr>
        <p:spPr>
          <a:xfrm>
            <a:off x="2267744" y="4739509"/>
            <a:ext cx="5407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noProof="0" dirty="0"/>
              <a:t>SE2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246836C-27A6-BC72-A4F0-B2D7086A70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 noProof="0"/>
              <a:t>Bretz, Chen, Xi | ISBS | October 2026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391309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204D93-BD3A-5A0C-EB89-1BA38E2AB5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92FC2-7628-ACE0-6591-42F70A7308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975798" cy="994172"/>
          </a:xfrm>
        </p:spPr>
        <p:txBody>
          <a:bodyPr>
            <a:normAutofit/>
          </a:bodyPr>
          <a:lstStyle/>
          <a:p>
            <a:r>
              <a:rPr lang="en-US" sz="3200" spc="-100" noProof="0" dirty="0"/>
              <a:t>CANTOS trial</a:t>
            </a:r>
            <a:br>
              <a:rPr lang="en-US" sz="3200" spc="-100" noProof="0" dirty="0"/>
            </a:br>
            <a:r>
              <a:rPr lang="en-US" sz="2200" i="1" noProof="0" dirty="0">
                <a:solidFill>
                  <a:srgbClr val="000000"/>
                </a:solidFill>
              </a:rPr>
              <a:t>Mixed types of tests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AB2553-946E-669C-82B2-050F35B8DB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69219"/>
            <a:ext cx="8119814" cy="3263504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432"/>
              </a:spcBef>
            </a:pPr>
            <a:r>
              <a:rPr lang="en-US" sz="2000" noProof="0" dirty="0"/>
              <a:t>Closed test based on the graph</a:t>
            </a:r>
          </a:p>
          <a:p>
            <a:pPr>
              <a:lnSpc>
                <a:spcPct val="100000"/>
              </a:lnSpc>
              <a:spcBef>
                <a:spcPts val="432"/>
              </a:spcBef>
            </a:pPr>
            <a:r>
              <a:rPr lang="en-US" sz="2000" noProof="0" dirty="0">
                <a:solidFill>
                  <a:schemeClr val="accent1"/>
                </a:solidFill>
              </a:rPr>
              <a:t>Primary hypotheses </a:t>
            </a:r>
            <a:r>
              <a:rPr lang="en-US" sz="2000" noProof="0" dirty="0"/>
              <a:t>are tested using </a:t>
            </a:r>
            <a:r>
              <a:rPr lang="en-US" sz="2000" noProof="0" dirty="0">
                <a:solidFill>
                  <a:schemeClr val="accent1"/>
                </a:solidFill>
              </a:rPr>
              <a:t>weighted Dunnett </a:t>
            </a:r>
            <a:r>
              <a:rPr lang="en-US" sz="2000" dirty="0">
                <a:solidFill>
                  <a:schemeClr val="accent1"/>
                </a:solidFill>
              </a:rPr>
              <a:t>(</a:t>
            </a:r>
            <a:r>
              <a:rPr lang="en-US" altLang="zh-CN" sz="2000" dirty="0">
                <a:solidFill>
                  <a:schemeClr val="accent1"/>
                </a:solidFill>
              </a:rPr>
              <a:t>parametric) </a:t>
            </a:r>
            <a:r>
              <a:rPr lang="en-US" sz="2000" noProof="0" dirty="0">
                <a:solidFill>
                  <a:schemeClr val="accent1"/>
                </a:solidFill>
              </a:rPr>
              <a:t>tests</a:t>
            </a:r>
          </a:p>
          <a:p>
            <a:pPr lvl="1">
              <a:lnSpc>
                <a:spcPct val="100000"/>
              </a:lnSpc>
              <a:spcBef>
                <a:spcPts val="432"/>
              </a:spcBef>
            </a:pPr>
            <a:r>
              <a:rPr lang="en-US" noProof="0" dirty="0"/>
              <a:t>Correlation between test statistics are calculated based on the common control</a:t>
            </a:r>
          </a:p>
          <a:p>
            <a:pPr>
              <a:lnSpc>
                <a:spcPct val="100000"/>
              </a:lnSpc>
              <a:spcBef>
                <a:spcPts val="432"/>
              </a:spcBef>
            </a:pPr>
            <a:r>
              <a:rPr lang="en-US" sz="2000" noProof="0" dirty="0">
                <a:solidFill>
                  <a:schemeClr val="accent1"/>
                </a:solidFill>
              </a:rPr>
              <a:t>Secondary hypotheses for each dose </a:t>
            </a:r>
            <a:r>
              <a:rPr lang="en-US" sz="2000" noProof="0" dirty="0"/>
              <a:t>are tested using </a:t>
            </a:r>
            <a:r>
              <a:rPr lang="en-US" sz="2000" noProof="0" dirty="0">
                <a:solidFill>
                  <a:schemeClr val="accent1"/>
                </a:solidFill>
              </a:rPr>
              <a:t>weighted Bonferroni tests</a:t>
            </a:r>
          </a:p>
          <a:p>
            <a:pPr>
              <a:lnSpc>
                <a:spcPct val="100000"/>
              </a:lnSpc>
              <a:spcBef>
                <a:spcPts val="432"/>
              </a:spcBef>
            </a:pPr>
            <a:r>
              <a:rPr lang="en-US" sz="2000" noProof="0" dirty="0"/>
              <a:t>Bonferroni tests for remaining tests, e.g., to connect mixed types</a:t>
            </a:r>
            <a:endParaRPr lang="en-US" sz="2000" noProof="0" dirty="0">
              <a:solidFill>
                <a:schemeClr val="accent1"/>
              </a:solidFill>
            </a:endParaRPr>
          </a:p>
          <a:p>
            <a:pPr>
              <a:lnSpc>
                <a:spcPct val="100000"/>
              </a:lnSpc>
              <a:spcBef>
                <a:spcPts val="432"/>
              </a:spcBef>
            </a:pPr>
            <a:r>
              <a:rPr lang="en-US" sz="2000" noProof="0" dirty="0"/>
              <a:t>At the final analysis, the total significance level is 0.0245</a:t>
            </a:r>
          </a:p>
          <a:p>
            <a:pPr lvl="1">
              <a:lnSpc>
                <a:spcPct val="100000"/>
              </a:lnSpc>
              <a:spcBef>
                <a:spcPts val="432"/>
              </a:spcBef>
            </a:pPr>
            <a:r>
              <a:rPr lang="en-US" sz="1700" noProof="0" dirty="0"/>
              <a:t>0.0001 and 0.0004 are spent at the 1</a:t>
            </a:r>
            <a:r>
              <a:rPr lang="en-US" sz="1700" baseline="30000" noProof="0" dirty="0"/>
              <a:t>st</a:t>
            </a:r>
            <a:r>
              <a:rPr lang="en-US" sz="1700" noProof="0" dirty="0"/>
              <a:t> and 2</a:t>
            </a:r>
            <a:r>
              <a:rPr lang="en-US" sz="1700" baseline="30000" noProof="0" dirty="0"/>
              <a:t>nd</a:t>
            </a:r>
            <a:r>
              <a:rPr lang="en-US" sz="1700" noProof="0" dirty="0"/>
              <a:t> interim analyses, respectively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911A0C-DE82-0A26-B215-587D6D483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47CF9-5B10-D24F-A8D7-45A9778164F7}" type="slidenum">
              <a:rPr lang="en-US" noProof="0" smtClean="0"/>
              <a:pPr/>
              <a:t>105</a:t>
            </a:fld>
            <a:endParaRPr lang="en-US" noProof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2FBE2B-CC5B-80F4-A315-6C7B9AD7A0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 noProof="0"/>
              <a:t>Bretz, Chen, Xi | ISBS | October 2026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7157853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204D93-BD3A-5A0C-EB89-1BA38E2AB5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92FC2-7628-ACE0-6591-42F70A7308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975798" cy="994172"/>
          </a:xfrm>
        </p:spPr>
        <p:txBody>
          <a:bodyPr>
            <a:normAutofit/>
          </a:bodyPr>
          <a:lstStyle/>
          <a:p>
            <a:r>
              <a:rPr lang="en-US" sz="3200" spc="-100" noProof="0" dirty="0"/>
              <a:t>CANTOS trial</a:t>
            </a:r>
            <a:br>
              <a:rPr lang="en-US" sz="3200" spc="-100" noProof="0" dirty="0"/>
            </a:br>
            <a:r>
              <a:rPr lang="en-US" sz="2200" i="1" noProof="0" dirty="0">
                <a:solidFill>
                  <a:srgbClr val="000000"/>
                </a:solidFill>
              </a:rPr>
              <a:t>Graphical multiple comparison procedure  with mixed types of tests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911A0C-DE82-0A26-B215-587D6D483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47CF9-5B10-D24F-A8D7-45A9778164F7}" type="slidenum">
              <a:rPr lang="en-US" noProof="0" smtClean="0"/>
              <a:pPr/>
              <a:t>106</a:t>
            </a:fld>
            <a:endParaRPr lang="en-US" noProof="0" dirty="0"/>
          </a:p>
        </p:txBody>
      </p:sp>
      <p:pic>
        <p:nvPicPr>
          <p:cNvPr id="7" name="Picture 6" descr="A diagram of a network&#10;&#10;Description automatically generated">
            <a:extLst>
              <a:ext uri="{FF2B5EF4-FFF2-40B4-BE49-F238E27FC236}">
                <a16:creationId xmlns:a16="http://schemas.microsoft.com/office/drawing/2014/main" id="{E522012C-AE0C-208F-1E9E-43E2C513296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578" r="3906"/>
          <a:stretch/>
        </p:blipFill>
        <p:spPr>
          <a:xfrm>
            <a:off x="1322498" y="1288345"/>
            <a:ext cx="6499003" cy="321964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A8091BEE-EFDA-8619-E2FA-9BAFE4F304B9}"/>
              </a:ext>
            </a:extLst>
          </p:cNvPr>
          <p:cNvSpPr txBox="1"/>
          <p:nvPr/>
        </p:nvSpPr>
        <p:spPr>
          <a:xfrm>
            <a:off x="1674590" y="1304779"/>
            <a:ext cx="6840760" cy="92333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r"/>
            <a:endParaRPr lang="en-US" noProof="0" dirty="0"/>
          </a:p>
          <a:p>
            <a:pPr algn="r"/>
            <a:r>
              <a:rPr lang="en-US" noProof="0" dirty="0"/>
              <a:t>Parametric</a:t>
            </a:r>
          </a:p>
          <a:p>
            <a:pPr algn="r"/>
            <a:endParaRPr lang="en-US" noProof="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988560-DCBD-A42D-844D-41F422D9D00F}"/>
              </a:ext>
            </a:extLst>
          </p:cNvPr>
          <p:cNvSpPr txBox="1"/>
          <p:nvPr/>
        </p:nvSpPr>
        <p:spPr>
          <a:xfrm>
            <a:off x="251520" y="3795886"/>
            <a:ext cx="2952328" cy="92333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r"/>
            <a:endParaRPr lang="en-US" noProof="0" dirty="0"/>
          </a:p>
          <a:p>
            <a:r>
              <a:rPr lang="en-US" noProof="0" dirty="0"/>
              <a:t>Bonferroni</a:t>
            </a:r>
          </a:p>
          <a:p>
            <a:pPr algn="r"/>
            <a:endParaRPr lang="en-US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277BF03-79B4-A3AC-D6FF-559B0D126BB2}"/>
              </a:ext>
            </a:extLst>
          </p:cNvPr>
          <p:cNvSpPr txBox="1"/>
          <p:nvPr/>
        </p:nvSpPr>
        <p:spPr>
          <a:xfrm>
            <a:off x="3599892" y="3802931"/>
            <a:ext cx="2016224" cy="92333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r"/>
            <a:endParaRPr lang="en-US" noProof="0" dirty="0"/>
          </a:p>
          <a:p>
            <a:pPr algn="r"/>
            <a:endParaRPr lang="en-US" noProof="0" dirty="0"/>
          </a:p>
          <a:p>
            <a:pPr algn="ctr"/>
            <a:r>
              <a:rPr lang="en-US" noProof="0" dirty="0"/>
              <a:t>Bonferroni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7822E53-2CB4-8C4F-EEFE-4CC5C8D84E8A}"/>
              </a:ext>
            </a:extLst>
          </p:cNvPr>
          <p:cNvSpPr txBox="1"/>
          <p:nvPr/>
        </p:nvSpPr>
        <p:spPr>
          <a:xfrm>
            <a:off x="6012160" y="3789399"/>
            <a:ext cx="2880319" cy="92333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r"/>
            <a:endParaRPr lang="en-US" noProof="0" dirty="0"/>
          </a:p>
          <a:p>
            <a:pPr algn="r"/>
            <a:r>
              <a:rPr lang="en-US" noProof="0" dirty="0"/>
              <a:t>Bonferroni</a:t>
            </a:r>
          </a:p>
          <a:p>
            <a:pPr algn="r"/>
            <a:endParaRPr lang="en-US" noProof="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EA7E236-DC72-6175-D9FD-E13BD1FA73DA}"/>
              </a:ext>
            </a:extLst>
          </p:cNvPr>
          <p:cNvSpPr txBox="1"/>
          <p:nvPr/>
        </p:nvSpPr>
        <p:spPr>
          <a:xfrm>
            <a:off x="11282" y="2453727"/>
            <a:ext cx="1674591" cy="92333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en-US" noProof="0" dirty="0"/>
              <a:t>Bonferroni to connect mixed types of tests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0AA0FEA-1D4A-71BD-A2BF-84AEA9F07310}"/>
              </a:ext>
            </a:extLst>
          </p:cNvPr>
          <p:cNvCxnSpPr>
            <a:cxnSpLocks/>
            <a:stCxn id="9" idx="0"/>
            <a:endCxn id="14" idx="1"/>
          </p:cNvCxnSpPr>
          <p:nvPr/>
        </p:nvCxnSpPr>
        <p:spPr>
          <a:xfrm flipV="1">
            <a:off x="848578" y="1766444"/>
            <a:ext cx="826012" cy="68728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0A68F4C-DDFB-F1FF-B30D-981325614E3F}"/>
              </a:ext>
            </a:extLst>
          </p:cNvPr>
          <p:cNvCxnSpPr>
            <a:cxnSpLocks/>
            <a:stCxn id="9" idx="2"/>
          </p:cNvCxnSpPr>
          <p:nvPr/>
        </p:nvCxnSpPr>
        <p:spPr>
          <a:xfrm>
            <a:off x="848578" y="3377057"/>
            <a:ext cx="543150" cy="41234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F26CDC-81D1-C322-C698-7E07BE5428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 noProof="0"/>
              <a:t>Bretz, Chen, Xi | ISBS | October 2026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0200578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3" grpId="0" animBg="1"/>
      <p:bldP spid="4" grpId="0" animBg="1"/>
      <p:bldP spid="6" grpId="0" animBg="1"/>
      <p:bldP spid="9" grpId="0" animBg="1"/>
    </p:bld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204D93-BD3A-5A0C-EB89-1BA38E2AB5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2">
                <a:extLst>
                  <a:ext uri="{FF2B5EF4-FFF2-40B4-BE49-F238E27FC236}">
                    <a16:creationId xmlns:a16="http://schemas.microsoft.com/office/drawing/2014/main" id="{0E3CD475-84DC-1AC9-D0AA-914B3FF17EB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23528" y="1347614"/>
                <a:ext cx="8515672" cy="3600399"/>
              </a:xfrm>
            </p:spPr>
            <p:txBody>
              <a:bodyPr>
                <a:noAutofit/>
              </a:bodyPr>
              <a:lstStyle/>
              <a:p>
                <a:pPr marL="173736" indent="-173736">
                  <a:lnSpc>
                    <a:spcPct val="100000"/>
                  </a:lnSpc>
                  <a:spcBef>
                    <a:spcPts val="432"/>
                  </a:spcBef>
                  <a:buFont typeface="+mj-lt"/>
                  <a:buAutoNum type="arabicPeriod"/>
                </a:pPr>
                <a:r>
                  <a:rPr lang="en-US" sz="2000" noProof="0" dirty="0"/>
                  <a:t> Generate the whole closure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 noProof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 noProof="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000" i="1" noProof="0" smtClean="0"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  <m:r>
                      <a:rPr lang="en-US" sz="2000" i="1" noProof="0" smtClean="0">
                        <a:latin typeface="Cambria Math" panose="02040503050406030204" pitchFamily="18" charset="0"/>
                      </a:rPr>
                      <m:t>−1=511</m:t>
                    </m:r>
                  </m:oMath>
                </a14:m>
                <a:r>
                  <a:rPr lang="en-US" sz="2000" noProof="0" dirty="0"/>
                  <a:t> intersection hypotheses)</a:t>
                </a:r>
              </a:p>
              <a:p>
                <a:pPr lvl="1">
                  <a:lnSpc>
                    <a:spcPct val="100000"/>
                  </a:lnSpc>
                  <a:spcBef>
                    <a:spcPts val="432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noProof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 noProof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600" i="1" noProof="0"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</m:sSub>
                    <m:r>
                      <a:rPr lang="en-US" sz="1600" b="0" i="1" noProof="0" smtClean="0">
                        <a:latin typeface="Cambria Math" panose="02040503050406030204" pitchFamily="18" charset="0"/>
                      </a:rPr>
                      <m:t>∩</m:t>
                    </m:r>
                    <m:sSub>
                      <m:sSubPr>
                        <m:ctrlPr>
                          <a:rPr lang="en-US" sz="16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noProof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600" b="0" i="1" noProof="0" smtClean="0">
                            <a:latin typeface="Cambria Math" panose="02040503050406030204" pitchFamily="18" charset="0"/>
                          </a:rPr>
                          <m:t>21</m:t>
                        </m:r>
                      </m:sub>
                    </m:sSub>
                    <m:r>
                      <a:rPr lang="en-US" sz="1600" b="0" i="1" noProof="0" smtClean="0">
                        <a:latin typeface="Cambria Math" panose="02040503050406030204" pitchFamily="18" charset="0"/>
                      </a:rPr>
                      <m:t>∩</m:t>
                    </m:r>
                    <m:sSub>
                      <m:sSubPr>
                        <m:ctrlPr>
                          <a:rPr lang="en-US" sz="16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noProof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600" b="0" i="1" noProof="0" smtClean="0">
                            <a:latin typeface="Cambria Math" panose="02040503050406030204" pitchFamily="18" charset="0"/>
                          </a:rPr>
                          <m:t>31</m:t>
                        </m:r>
                      </m:sub>
                    </m:sSub>
                    <m:r>
                      <a:rPr lang="en-US" sz="1600" b="0" i="1" noProof="0" smtClean="0">
                        <a:latin typeface="Cambria Math" panose="02040503050406030204" pitchFamily="18" charset="0"/>
                      </a:rPr>
                      <m:t>∩</m:t>
                    </m:r>
                    <m:sSub>
                      <m:sSubPr>
                        <m:ctrlPr>
                          <a:rPr lang="en-US" sz="16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noProof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600" b="0" i="1" noProof="0" smtClean="0">
                            <a:latin typeface="Cambria Math" panose="02040503050406030204" pitchFamily="18" charset="0"/>
                          </a:rPr>
                          <m:t>12</m:t>
                        </m:r>
                      </m:sub>
                    </m:sSub>
                    <m:r>
                      <a:rPr lang="en-US" sz="1600" b="0" i="1" noProof="0" smtClean="0">
                        <a:latin typeface="Cambria Math" panose="02040503050406030204" pitchFamily="18" charset="0"/>
                      </a:rPr>
                      <m:t>∩</m:t>
                    </m:r>
                    <m:sSub>
                      <m:sSubPr>
                        <m:ctrlPr>
                          <a:rPr lang="en-US" sz="16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noProof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600" b="0" i="1" noProof="0" smtClean="0">
                            <a:latin typeface="Cambria Math" panose="02040503050406030204" pitchFamily="18" charset="0"/>
                          </a:rPr>
                          <m:t>22</m:t>
                        </m:r>
                      </m:sub>
                    </m:sSub>
                    <m:r>
                      <a:rPr lang="en-US" sz="1600" b="0" i="1" noProof="0" smtClean="0">
                        <a:latin typeface="Cambria Math" panose="02040503050406030204" pitchFamily="18" charset="0"/>
                      </a:rPr>
                      <m:t>∩</m:t>
                    </m:r>
                    <m:sSub>
                      <m:sSubPr>
                        <m:ctrlPr>
                          <a:rPr lang="en-US" sz="16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noProof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600" b="0" i="1" noProof="0" smtClean="0">
                            <a:latin typeface="Cambria Math" panose="02040503050406030204" pitchFamily="18" charset="0"/>
                          </a:rPr>
                          <m:t>32</m:t>
                        </m:r>
                      </m:sub>
                    </m:sSub>
                    <m:r>
                      <a:rPr lang="en-US" sz="1600" b="0" i="1" noProof="0" smtClean="0">
                        <a:latin typeface="Cambria Math" panose="02040503050406030204" pitchFamily="18" charset="0"/>
                      </a:rPr>
                      <m:t>∩</m:t>
                    </m:r>
                    <m:sSub>
                      <m:sSubPr>
                        <m:ctrlPr>
                          <a:rPr lang="en-US" sz="16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noProof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600" b="0" i="1" noProof="0" smtClean="0">
                            <a:latin typeface="Cambria Math" panose="02040503050406030204" pitchFamily="18" charset="0"/>
                          </a:rPr>
                          <m:t>13</m:t>
                        </m:r>
                      </m:sub>
                    </m:sSub>
                    <m:r>
                      <a:rPr lang="en-US" sz="1600" b="0" i="1" noProof="0" smtClean="0">
                        <a:latin typeface="Cambria Math" panose="02040503050406030204" pitchFamily="18" charset="0"/>
                      </a:rPr>
                      <m:t>∩</m:t>
                    </m:r>
                    <m:sSub>
                      <m:sSubPr>
                        <m:ctrlPr>
                          <a:rPr lang="en-US" sz="16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noProof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600" b="0" i="1" noProof="0" smtClean="0">
                            <a:latin typeface="Cambria Math" panose="02040503050406030204" pitchFamily="18" charset="0"/>
                          </a:rPr>
                          <m:t>23</m:t>
                        </m:r>
                      </m:sub>
                    </m:sSub>
                    <m:r>
                      <a:rPr lang="en-US" sz="1600" b="0" i="1" noProof="0" smtClean="0">
                        <a:latin typeface="Cambria Math" panose="02040503050406030204" pitchFamily="18" charset="0"/>
                      </a:rPr>
                      <m:t>∩</m:t>
                    </m:r>
                    <m:sSub>
                      <m:sSubPr>
                        <m:ctrlPr>
                          <a:rPr lang="en-US" sz="16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noProof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600" b="0" i="1" noProof="0" smtClean="0">
                            <a:latin typeface="Cambria Math" panose="02040503050406030204" pitchFamily="18" charset="0"/>
                          </a:rPr>
                          <m:t>33</m:t>
                        </m:r>
                      </m:sub>
                    </m:sSub>
                  </m:oMath>
                </a14:m>
                <a:r>
                  <a:rPr lang="en-US" sz="1600" b="0" noProof="0" dirty="0"/>
                  <a:t> (overall intersection hypothesis)</a:t>
                </a:r>
              </a:p>
              <a:p>
                <a:pPr lvl="1">
                  <a:lnSpc>
                    <a:spcPct val="100000"/>
                  </a:lnSpc>
                  <a:spcBef>
                    <a:spcPts val="432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noProof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 noProof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600" i="1" noProof="0">
                            <a:latin typeface="Cambria Math" panose="02040503050406030204" pitchFamily="18" charset="0"/>
                          </a:rPr>
                          <m:t>21</m:t>
                        </m:r>
                      </m:sub>
                    </m:sSub>
                    <m:r>
                      <a:rPr lang="en-US" sz="1600" i="1" noProof="0">
                        <a:latin typeface="Cambria Math" panose="02040503050406030204" pitchFamily="18" charset="0"/>
                      </a:rPr>
                      <m:t>∩</m:t>
                    </m:r>
                    <m:sSub>
                      <m:sSubPr>
                        <m:ctrlPr>
                          <a:rPr lang="en-US" sz="1600" i="1" noProof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 noProof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600" i="1" noProof="0">
                            <a:latin typeface="Cambria Math" panose="02040503050406030204" pitchFamily="18" charset="0"/>
                          </a:rPr>
                          <m:t>31</m:t>
                        </m:r>
                      </m:sub>
                    </m:sSub>
                    <m:r>
                      <a:rPr lang="en-US" sz="1600" i="1" noProof="0">
                        <a:latin typeface="Cambria Math" panose="02040503050406030204" pitchFamily="18" charset="0"/>
                      </a:rPr>
                      <m:t>∩</m:t>
                    </m:r>
                    <m:sSub>
                      <m:sSubPr>
                        <m:ctrlPr>
                          <a:rPr lang="en-US" sz="1600" i="1" noProof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 noProof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600" i="1" noProof="0">
                            <a:latin typeface="Cambria Math" panose="02040503050406030204" pitchFamily="18" charset="0"/>
                          </a:rPr>
                          <m:t>12</m:t>
                        </m:r>
                      </m:sub>
                    </m:sSub>
                    <m:r>
                      <a:rPr lang="en-US" sz="1600" i="1" noProof="0">
                        <a:latin typeface="Cambria Math" panose="02040503050406030204" pitchFamily="18" charset="0"/>
                      </a:rPr>
                      <m:t>∩</m:t>
                    </m:r>
                    <m:sSub>
                      <m:sSubPr>
                        <m:ctrlPr>
                          <a:rPr lang="en-US" sz="1600" i="1" noProof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 noProof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600" i="1" noProof="0">
                            <a:latin typeface="Cambria Math" panose="02040503050406030204" pitchFamily="18" charset="0"/>
                          </a:rPr>
                          <m:t>22</m:t>
                        </m:r>
                      </m:sub>
                    </m:sSub>
                    <m:r>
                      <a:rPr lang="en-US" sz="1600" i="1" noProof="0">
                        <a:latin typeface="Cambria Math" panose="02040503050406030204" pitchFamily="18" charset="0"/>
                      </a:rPr>
                      <m:t>∩</m:t>
                    </m:r>
                    <m:sSub>
                      <m:sSubPr>
                        <m:ctrlPr>
                          <a:rPr lang="en-US" sz="1600" i="1" noProof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 noProof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600" i="1" noProof="0">
                            <a:latin typeface="Cambria Math" panose="02040503050406030204" pitchFamily="18" charset="0"/>
                          </a:rPr>
                          <m:t>32</m:t>
                        </m:r>
                      </m:sub>
                    </m:sSub>
                    <m:r>
                      <a:rPr lang="en-US" sz="1600" i="1" noProof="0">
                        <a:latin typeface="Cambria Math" panose="02040503050406030204" pitchFamily="18" charset="0"/>
                      </a:rPr>
                      <m:t>∩</m:t>
                    </m:r>
                    <m:sSub>
                      <m:sSubPr>
                        <m:ctrlPr>
                          <a:rPr lang="en-US" sz="1600" i="1" noProof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 noProof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600" i="1" noProof="0">
                            <a:latin typeface="Cambria Math" panose="02040503050406030204" pitchFamily="18" charset="0"/>
                          </a:rPr>
                          <m:t>13</m:t>
                        </m:r>
                      </m:sub>
                    </m:sSub>
                    <m:r>
                      <a:rPr lang="en-US" sz="1600" i="1" noProof="0">
                        <a:latin typeface="Cambria Math" panose="02040503050406030204" pitchFamily="18" charset="0"/>
                      </a:rPr>
                      <m:t>∩</m:t>
                    </m:r>
                    <m:sSub>
                      <m:sSubPr>
                        <m:ctrlPr>
                          <a:rPr lang="en-US" sz="1600" i="1" noProof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 noProof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600" i="1" noProof="0">
                            <a:latin typeface="Cambria Math" panose="02040503050406030204" pitchFamily="18" charset="0"/>
                          </a:rPr>
                          <m:t>23</m:t>
                        </m:r>
                      </m:sub>
                    </m:sSub>
                    <m:r>
                      <a:rPr lang="en-US" sz="1600" i="1" noProof="0">
                        <a:latin typeface="Cambria Math" panose="02040503050406030204" pitchFamily="18" charset="0"/>
                      </a:rPr>
                      <m:t>∩</m:t>
                    </m:r>
                    <m:sSub>
                      <m:sSubPr>
                        <m:ctrlPr>
                          <a:rPr lang="en-US" sz="1600" i="1" noProof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 noProof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600" i="1" noProof="0">
                            <a:latin typeface="Cambria Math" panose="02040503050406030204" pitchFamily="18" charset="0"/>
                          </a:rPr>
                          <m:t>33</m:t>
                        </m:r>
                      </m:sub>
                    </m:sSub>
                  </m:oMath>
                </a14:m>
                <a:r>
                  <a:rPr lang="en-US" sz="1600" b="0" noProof="0" dirty="0"/>
                  <a:t> (intersection hypothesis without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noProof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600" b="0" i="1" noProof="0" smtClean="0"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</m:sSub>
                  </m:oMath>
                </a14:m>
                <a:r>
                  <a:rPr lang="en-US" sz="1600" b="0" noProof="0" dirty="0"/>
                  <a:t>)</a:t>
                </a:r>
              </a:p>
              <a:p>
                <a:pPr lvl="1">
                  <a:lnSpc>
                    <a:spcPct val="100000"/>
                  </a:lnSpc>
                  <a:spcBef>
                    <a:spcPts val="432"/>
                  </a:spcBef>
                </a:pPr>
                <a:r>
                  <a:rPr lang="en-US" sz="1600" noProof="0" dirty="0"/>
                  <a:t>…</a:t>
                </a:r>
                <a:endParaRPr lang="en-US" sz="1600" b="0" noProof="0" dirty="0"/>
              </a:p>
              <a:p>
                <a:pPr marL="173736" indent="-173736">
                  <a:lnSpc>
                    <a:spcPct val="100000"/>
                  </a:lnSpc>
                  <a:spcBef>
                    <a:spcPts val="432"/>
                  </a:spcBef>
                  <a:buFont typeface="+mj-lt"/>
                  <a:buAutoNum type="arabicPeriod"/>
                </a:pPr>
                <a:r>
                  <a:rPr lang="en-US" sz="2000" b="0" noProof="0" dirty="0"/>
                  <a:t> Find hypothesis weights from the corresponding (initial and updated) graph</a:t>
                </a:r>
              </a:p>
              <a:p>
                <a:pPr lvl="1">
                  <a:lnSpc>
                    <a:spcPct val="100000"/>
                  </a:lnSpc>
                  <a:spcBef>
                    <a:spcPts val="432"/>
                  </a:spcBef>
                </a:pPr>
                <a:r>
                  <a:rPr lang="en-US" sz="1700" noProof="0" dirty="0"/>
                  <a:t>Algorithm 1 in Bretz et al. (2011)</a:t>
                </a:r>
                <a:endParaRPr lang="en-US" sz="1700" b="0" noProof="0" dirty="0"/>
              </a:p>
              <a:p>
                <a:pPr marL="173736" indent="-173736">
                  <a:lnSpc>
                    <a:spcPct val="100000"/>
                  </a:lnSpc>
                  <a:spcBef>
                    <a:spcPts val="432"/>
                  </a:spcBef>
                  <a:buFont typeface="+mj-lt"/>
                  <a:buAutoNum type="arabicPeriod"/>
                </a:pPr>
                <a:r>
                  <a:rPr lang="en-US" sz="2000" noProof="0" dirty="0"/>
                  <a:t> Calculate the critical values based on the types of tests</a:t>
                </a:r>
              </a:p>
              <a:p>
                <a:pPr marL="173736" indent="-173736">
                  <a:lnSpc>
                    <a:spcPct val="100000"/>
                  </a:lnSpc>
                  <a:spcBef>
                    <a:spcPts val="432"/>
                  </a:spcBef>
                  <a:buFont typeface="+mj-lt"/>
                  <a:buAutoNum type="arabicPeriod"/>
                </a:pPr>
                <a:r>
                  <a:rPr lang="en-US" sz="2000" b="0" noProof="0" dirty="0"/>
                  <a:t> Perform testing for rejections and non-rejections</a:t>
                </a:r>
              </a:p>
            </p:txBody>
          </p:sp>
        </mc:Choice>
        <mc:Fallback xmlns="">
          <p:sp>
            <p:nvSpPr>
              <p:cNvPr id="10" name="Content Placeholder 2">
                <a:extLst>
                  <a:ext uri="{FF2B5EF4-FFF2-40B4-BE49-F238E27FC236}">
                    <a16:creationId xmlns:a16="http://schemas.microsoft.com/office/drawing/2014/main" id="{0E3CD475-84DC-1AC9-D0AA-914B3FF17EB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23528" y="1347614"/>
                <a:ext cx="8515672" cy="3600399"/>
              </a:xfrm>
              <a:blipFill>
                <a:blip r:embed="rId3"/>
                <a:stretch>
                  <a:fillRect l="-787" t="-11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75092FC2-7628-ACE0-6591-42F70A7308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975798" cy="994172"/>
          </a:xfrm>
        </p:spPr>
        <p:txBody>
          <a:bodyPr>
            <a:normAutofit/>
          </a:bodyPr>
          <a:lstStyle/>
          <a:p>
            <a:r>
              <a:rPr lang="en-US" sz="3200" spc="-100" noProof="0" dirty="0"/>
              <a:t>CANTOS trial</a:t>
            </a:r>
            <a:br>
              <a:rPr lang="en-US" sz="3200" spc="-100" noProof="0" dirty="0"/>
            </a:br>
            <a:r>
              <a:rPr lang="en-US" sz="2200" i="1" noProof="0" dirty="0">
                <a:solidFill>
                  <a:srgbClr val="000000"/>
                </a:solidFill>
              </a:rPr>
              <a:t>Closed test procedure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911A0C-DE82-0A26-B215-587D6D483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47CF9-5B10-D24F-A8D7-45A9778164F7}" type="slidenum">
              <a:rPr lang="en-US" noProof="0" smtClean="0"/>
              <a:pPr/>
              <a:t>107</a:t>
            </a:fld>
            <a:endParaRPr lang="en-US" noProof="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CE93789-C360-04DD-19B7-66C428348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 noProof="0"/>
              <a:t>Bretz, Chen, Xi | ISBS | October 2026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483169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uiExpand="1" build="p"/>
    </p:bld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21E295-6447-5719-6202-AC63113CE6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2">
                <a:extLst>
                  <a:ext uri="{FF2B5EF4-FFF2-40B4-BE49-F238E27FC236}">
                    <a16:creationId xmlns:a16="http://schemas.microsoft.com/office/drawing/2014/main" id="{F4351095-4FCA-043B-86D6-543C8E12973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23528" y="1347614"/>
                <a:ext cx="3456384" cy="3600399"/>
              </a:xfrm>
            </p:spPr>
            <p:txBody>
              <a:bodyPr>
                <a:noAutofit/>
              </a:bodyPr>
              <a:lstStyle/>
              <a:p>
                <a:pPr marL="0" indent="0">
                  <a:lnSpc>
                    <a:spcPct val="100000"/>
                  </a:lnSpc>
                  <a:spcBef>
                    <a:spcPts val="432"/>
                  </a:spcBef>
                  <a:buNone/>
                </a:pPr>
                <a:r>
                  <a:rPr lang="en-US" sz="1800" noProof="0" dirty="0"/>
                  <a:t>Consider the overall intersection hypothesis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noProof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noProof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800" i="1" noProof="0"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</m:sSub>
                    <m:r>
                      <a:rPr lang="en-US" sz="1800" i="1" noProof="0">
                        <a:latin typeface="Cambria Math" panose="02040503050406030204" pitchFamily="18" charset="0"/>
                      </a:rPr>
                      <m:t>∩</m:t>
                    </m:r>
                    <m:sSub>
                      <m:sSubPr>
                        <m:ctrlPr>
                          <a:rPr lang="en-US" sz="1800" i="1" noProof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noProof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800" i="1" noProof="0">
                            <a:latin typeface="Cambria Math" panose="02040503050406030204" pitchFamily="18" charset="0"/>
                          </a:rPr>
                          <m:t>21</m:t>
                        </m:r>
                      </m:sub>
                    </m:sSub>
                    <m:r>
                      <a:rPr lang="en-US" sz="1800" i="1" noProof="0">
                        <a:latin typeface="Cambria Math" panose="02040503050406030204" pitchFamily="18" charset="0"/>
                      </a:rPr>
                      <m:t>∩</m:t>
                    </m:r>
                    <m:r>
                      <a:rPr lang="en-US" sz="1800" b="0" i="1" noProof="0" smtClean="0">
                        <a:latin typeface="Cambria Math" panose="02040503050406030204" pitchFamily="18" charset="0"/>
                      </a:rPr>
                      <m:t>…</m:t>
                    </m:r>
                    <m:r>
                      <a:rPr lang="en-US" sz="1800" i="1" noProof="0">
                        <a:latin typeface="Cambria Math" panose="02040503050406030204" pitchFamily="18" charset="0"/>
                      </a:rPr>
                      <m:t>∩</m:t>
                    </m:r>
                    <m:sSub>
                      <m:sSubPr>
                        <m:ctrlPr>
                          <a:rPr lang="en-US" sz="1800" i="1" noProof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noProof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800" i="1" noProof="0">
                            <a:latin typeface="Cambria Math" panose="02040503050406030204" pitchFamily="18" charset="0"/>
                          </a:rPr>
                          <m:t>33</m:t>
                        </m:r>
                      </m:sub>
                    </m:sSub>
                  </m:oMath>
                </a14:m>
                <a:endParaRPr lang="en-US" sz="1800" noProof="0" dirty="0"/>
              </a:p>
              <a:p>
                <a:pPr>
                  <a:lnSpc>
                    <a:spcPct val="100000"/>
                  </a:lnSpc>
                  <a:spcBef>
                    <a:spcPts val="432"/>
                  </a:spcBef>
                </a:pPr>
                <a:r>
                  <a:rPr lang="en-US" sz="1800" noProof="0" dirty="0">
                    <a:solidFill>
                      <a:schemeClr val="accent1"/>
                    </a:solidFill>
                  </a:rPr>
                  <a:t>Weighted parametric test </a:t>
                </a:r>
                <a:r>
                  <a:rPr lang="en-US" sz="1800" noProof="0" dirty="0"/>
                  <a:t>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noProof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noProof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800" b="0" i="1" noProof="0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1800" i="1" noProof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800" noProof="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noProof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noProof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800" i="1" noProof="0">
                            <a:latin typeface="Cambria Math" panose="02040503050406030204" pitchFamily="18" charset="0"/>
                          </a:rPr>
                          <m:t>21</m:t>
                        </m:r>
                      </m:sub>
                    </m:sSub>
                  </m:oMath>
                </a14:m>
                <a:r>
                  <a:rPr lang="en-US" sz="1800" noProof="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noProof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noProof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800" i="1" noProof="0">
                            <a:latin typeface="Cambria Math" panose="02040503050406030204" pitchFamily="18" charset="0"/>
                          </a:rPr>
                          <m:t>31</m:t>
                        </m:r>
                      </m:sub>
                    </m:sSub>
                  </m:oMath>
                </a14:m>
                <a:r>
                  <a:rPr lang="en-US" sz="1800" noProof="0" dirty="0"/>
                  <a:t> based on hypothesis weights: </a:t>
                </a:r>
              </a:p>
              <a:p>
                <a:pPr lvl="1">
                  <a:lnSpc>
                    <a:spcPct val="100000"/>
                  </a:lnSpc>
                  <a:spcBef>
                    <a:spcPts val="432"/>
                  </a:spcBef>
                </a:pPr>
                <a:r>
                  <a:rPr lang="en-US" sz="1600" noProof="0" dirty="0"/>
                  <a:t>0.2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noProof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 noProof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600" b="0" i="1" noProof="0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1600" i="1" noProof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sz="1600" noProof="0" dirty="0"/>
              </a:p>
              <a:p>
                <a:pPr lvl="1">
                  <a:lnSpc>
                    <a:spcPct val="100000"/>
                  </a:lnSpc>
                  <a:spcBef>
                    <a:spcPts val="432"/>
                  </a:spcBef>
                </a:pPr>
                <a:r>
                  <a:rPr lang="en-US" sz="1600" noProof="0" dirty="0"/>
                  <a:t>0.4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noProof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 noProof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600" i="1" noProof="0">
                            <a:latin typeface="Cambria Math" panose="02040503050406030204" pitchFamily="18" charset="0"/>
                          </a:rPr>
                          <m:t>21</m:t>
                        </m:r>
                      </m:sub>
                    </m:sSub>
                  </m:oMath>
                </a14:m>
                <a:r>
                  <a:rPr lang="en-US" sz="1600" noProof="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noProof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 noProof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600" i="1" noProof="0">
                            <a:latin typeface="Cambria Math" panose="02040503050406030204" pitchFamily="18" charset="0"/>
                          </a:rPr>
                          <m:t>31</m:t>
                        </m:r>
                      </m:sub>
                    </m:sSub>
                  </m:oMath>
                </a14:m>
                <a:endParaRPr lang="en-US" sz="1600" noProof="0" dirty="0"/>
              </a:p>
              <a:p>
                <a:pPr>
                  <a:lnSpc>
                    <a:spcPct val="100000"/>
                  </a:lnSpc>
                  <a:spcBef>
                    <a:spcPts val="432"/>
                  </a:spcBef>
                </a:pPr>
                <a:r>
                  <a:rPr lang="en-US" sz="1800" noProof="0" dirty="0"/>
                  <a:t>Note weights 0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noProof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800" i="1" noProof="0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1800" b="0" i="1" noProof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800" i="1" noProof="0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180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noProof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800" i="1" noProof="0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1800" b="0" i="1" noProof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1800" i="1" noProof="0" smtClean="0">
                        <a:latin typeface="Cambria Math" panose="02040503050406030204" pitchFamily="18" charset="0"/>
                      </a:rPr>
                      <m:t>, …,</m:t>
                    </m:r>
                  </m:oMath>
                </a14:m>
                <a:r>
                  <a:rPr lang="en-US" sz="1800" noProof="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noProof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800" i="1" noProof="0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sz="1800" b="0" i="1" noProof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endParaRPr lang="en-US" sz="1800" noProof="0" dirty="0"/>
              </a:p>
            </p:txBody>
          </p:sp>
        </mc:Choice>
        <mc:Fallback xmlns="">
          <p:sp>
            <p:nvSpPr>
              <p:cNvPr id="10" name="Content Placeholder 2">
                <a:extLst>
                  <a:ext uri="{FF2B5EF4-FFF2-40B4-BE49-F238E27FC236}">
                    <a16:creationId xmlns:a16="http://schemas.microsoft.com/office/drawing/2014/main" id="{F4351095-4FCA-043B-86D6-543C8E12973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23528" y="1347614"/>
                <a:ext cx="3456384" cy="3600399"/>
              </a:xfrm>
              <a:blipFill>
                <a:blip r:embed="rId3"/>
                <a:stretch>
                  <a:fillRect l="-1411" t="-8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48E932AD-14C8-4D83-0F55-5FA80F77DA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975798" cy="994172"/>
          </a:xfrm>
        </p:spPr>
        <p:txBody>
          <a:bodyPr>
            <a:normAutofit/>
          </a:bodyPr>
          <a:lstStyle/>
          <a:p>
            <a:r>
              <a:rPr lang="en-US" sz="3200" spc="-100" noProof="0" dirty="0"/>
              <a:t>CANTOS trial</a:t>
            </a:r>
            <a:br>
              <a:rPr lang="en-US" sz="3200" spc="-100" noProof="0" dirty="0"/>
            </a:br>
            <a:r>
              <a:rPr lang="en-US" sz="2200" i="1" noProof="0" dirty="0">
                <a:solidFill>
                  <a:srgbClr val="000000"/>
                </a:solidFill>
              </a:rPr>
              <a:t>An illustration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6CCFA8-5A1F-16AE-D3C2-FA0B84B6C5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47CF9-5B10-D24F-A8D7-45A9778164F7}" type="slidenum">
              <a:rPr lang="en-US" noProof="0" smtClean="0"/>
              <a:pPr/>
              <a:t>108</a:t>
            </a:fld>
            <a:endParaRPr lang="en-US" noProof="0" dirty="0"/>
          </a:p>
        </p:txBody>
      </p:sp>
      <p:pic>
        <p:nvPicPr>
          <p:cNvPr id="6" name="Picture 5" descr="A diagram of a network&#10;&#10;Description automatically generated">
            <a:extLst>
              <a:ext uri="{FF2B5EF4-FFF2-40B4-BE49-F238E27FC236}">
                <a16:creationId xmlns:a16="http://schemas.microsoft.com/office/drawing/2014/main" id="{0E29150D-8014-AF75-B154-6061CA191E4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578" r="3906"/>
          <a:stretch/>
        </p:blipFill>
        <p:spPr>
          <a:xfrm>
            <a:off x="3927287" y="1347614"/>
            <a:ext cx="4965192" cy="245978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421ECAB-4743-F1C6-247F-0F2BD49F4F60}"/>
              </a:ext>
            </a:extLst>
          </p:cNvPr>
          <p:cNvSpPr txBox="1"/>
          <p:nvPr/>
        </p:nvSpPr>
        <p:spPr>
          <a:xfrm>
            <a:off x="4439728" y="930964"/>
            <a:ext cx="4075622" cy="120032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r"/>
            <a:endParaRPr lang="en-US" noProof="0" dirty="0"/>
          </a:p>
          <a:p>
            <a:pPr algn="r"/>
            <a:r>
              <a:rPr lang="en-US" noProof="0" dirty="0"/>
              <a:t>Parametric</a:t>
            </a:r>
          </a:p>
          <a:p>
            <a:pPr algn="r"/>
            <a:endParaRPr lang="en-US" noProof="0" dirty="0"/>
          </a:p>
          <a:p>
            <a:pPr algn="r"/>
            <a:endParaRPr lang="en-US" noProof="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3040230-3D19-7A6D-0D4D-DA5A0A7339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 noProof="0"/>
              <a:t>Bretz, Chen, Xi | ISBS | October 2026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5568324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uiExpand="1" build="p"/>
      <p:bldP spid="8" grpId="0" animBg="1"/>
    </p:bld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9DC6A5-DAC2-869A-A0D4-22B5B9B9FA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2">
                <a:extLst>
                  <a:ext uri="{FF2B5EF4-FFF2-40B4-BE49-F238E27FC236}">
                    <a16:creationId xmlns:a16="http://schemas.microsoft.com/office/drawing/2014/main" id="{DD1293CF-3628-5B17-1ADB-0D25725D00F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23527" y="1347614"/>
                <a:ext cx="3597543" cy="3600399"/>
              </a:xfrm>
            </p:spPr>
            <p:txBody>
              <a:bodyPr>
                <a:noAutofit/>
              </a:bodyPr>
              <a:lstStyle/>
              <a:p>
                <a:pPr marL="0" indent="0">
                  <a:lnSpc>
                    <a:spcPct val="100000"/>
                  </a:lnSpc>
                  <a:spcBef>
                    <a:spcPts val="432"/>
                  </a:spcBef>
                  <a:buNone/>
                </a:pPr>
                <a:r>
                  <a:rPr lang="en-US" sz="1800" noProof="0" dirty="0"/>
                  <a:t>Consider the intersection hypothesis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noProof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noProof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800" i="1" noProof="0">
                            <a:latin typeface="Cambria Math" panose="02040503050406030204" pitchFamily="18" charset="0"/>
                          </a:rPr>
                          <m:t>21</m:t>
                        </m:r>
                      </m:sub>
                    </m:sSub>
                    <m:r>
                      <a:rPr lang="en-US" sz="1800" i="1" noProof="0">
                        <a:latin typeface="Cambria Math" panose="02040503050406030204" pitchFamily="18" charset="0"/>
                      </a:rPr>
                      <m:t>∩</m:t>
                    </m:r>
                    <m:r>
                      <a:rPr lang="en-US" sz="1800" i="1" noProof="0" smtClean="0">
                        <a:latin typeface="Cambria Math" panose="02040503050406030204" pitchFamily="18" charset="0"/>
                      </a:rPr>
                      <m:t>…</m:t>
                    </m:r>
                    <m:r>
                      <a:rPr lang="en-US" sz="1800" i="1" noProof="0">
                        <a:latin typeface="Cambria Math" panose="02040503050406030204" pitchFamily="18" charset="0"/>
                      </a:rPr>
                      <m:t>∩</m:t>
                    </m:r>
                    <m:sSub>
                      <m:sSubPr>
                        <m:ctrlPr>
                          <a:rPr lang="en-US" sz="1800" i="1" noProof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noProof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800" i="1" noProof="0">
                            <a:latin typeface="Cambria Math" panose="02040503050406030204" pitchFamily="18" charset="0"/>
                          </a:rPr>
                          <m:t>33</m:t>
                        </m:r>
                      </m:sub>
                    </m:sSub>
                  </m:oMath>
                </a14:m>
                <a:r>
                  <a:rPr lang="en-US" sz="1800" noProof="0" dirty="0"/>
                  <a:t> (i.e., without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noProof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800" b="0" i="1" noProof="0" smtClean="0"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</m:sSub>
                  </m:oMath>
                </a14:m>
                <a:r>
                  <a:rPr lang="en-US" sz="1800" noProof="0" dirty="0"/>
                  <a:t>)</a:t>
                </a:r>
              </a:p>
              <a:p>
                <a:pPr>
                  <a:lnSpc>
                    <a:spcPct val="100000"/>
                  </a:lnSpc>
                  <a:spcBef>
                    <a:spcPts val="432"/>
                  </a:spcBef>
                </a:pPr>
                <a:r>
                  <a:rPr lang="en-US" sz="1800" noProof="0" dirty="0">
                    <a:solidFill>
                      <a:schemeClr val="accent1"/>
                    </a:solidFill>
                  </a:rPr>
                  <a:t>Weighted parametric test </a:t>
                </a:r>
                <a:r>
                  <a:rPr lang="en-US" sz="1800" noProof="0" dirty="0"/>
                  <a:t>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noProof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noProof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800" i="1" noProof="0">
                            <a:latin typeface="Cambria Math" panose="02040503050406030204" pitchFamily="18" charset="0"/>
                          </a:rPr>
                          <m:t>21</m:t>
                        </m:r>
                      </m:sub>
                    </m:sSub>
                  </m:oMath>
                </a14:m>
                <a:r>
                  <a:rPr lang="en-US" sz="1800" noProof="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noProof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noProof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800" i="1" noProof="0">
                            <a:latin typeface="Cambria Math" panose="02040503050406030204" pitchFamily="18" charset="0"/>
                          </a:rPr>
                          <m:t>31</m:t>
                        </m:r>
                      </m:sub>
                    </m:sSub>
                  </m:oMath>
                </a14:m>
                <a:r>
                  <a:rPr lang="en-US" sz="1800" noProof="0" dirty="0"/>
                  <a:t> based on weights:</a:t>
                </a:r>
              </a:p>
              <a:p>
                <a:pPr lvl="1">
                  <a:lnSpc>
                    <a:spcPct val="100000"/>
                  </a:lnSpc>
                  <a:spcBef>
                    <a:spcPts val="432"/>
                  </a:spcBef>
                </a:pPr>
                <a:r>
                  <a:rPr lang="en-US" sz="1600" noProof="0" dirty="0"/>
                  <a:t>0.49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noProof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 noProof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600" i="1" noProof="0">
                            <a:latin typeface="Cambria Math" panose="02040503050406030204" pitchFamily="18" charset="0"/>
                          </a:rPr>
                          <m:t>21</m:t>
                        </m:r>
                      </m:sub>
                    </m:sSub>
                  </m:oMath>
                </a14:m>
                <a:r>
                  <a:rPr lang="en-US" sz="1600" noProof="0" dirty="0"/>
                  <a:t> </a:t>
                </a:r>
              </a:p>
              <a:p>
                <a:pPr lvl="1">
                  <a:lnSpc>
                    <a:spcPct val="100000"/>
                  </a:lnSpc>
                  <a:spcBef>
                    <a:spcPts val="432"/>
                  </a:spcBef>
                </a:pPr>
                <a:r>
                  <a:rPr lang="en-US" sz="1600" noProof="0" dirty="0"/>
                  <a:t>0.45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noProof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 noProof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600" i="1" noProof="0">
                            <a:latin typeface="Cambria Math" panose="02040503050406030204" pitchFamily="18" charset="0"/>
                          </a:rPr>
                          <m:t>31</m:t>
                        </m:r>
                      </m:sub>
                    </m:sSub>
                  </m:oMath>
                </a14:m>
                <a:endParaRPr lang="en-US" sz="1600" noProof="0" dirty="0"/>
              </a:p>
              <a:p>
                <a:pPr>
                  <a:lnSpc>
                    <a:spcPct val="100000"/>
                  </a:lnSpc>
                  <a:spcBef>
                    <a:spcPts val="432"/>
                  </a:spcBef>
                </a:pPr>
                <a:r>
                  <a:rPr lang="en-US" sz="1800" noProof="0" dirty="0">
                    <a:solidFill>
                      <a:schemeClr val="accent1"/>
                    </a:solidFill>
                  </a:rPr>
                  <a:t>Weighted Bonferroni test </a:t>
                </a:r>
                <a:r>
                  <a:rPr lang="en-US" sz="1800" noProof="0" dirty="0"/>
                  <a:t>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noProof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noProof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800" i="1" noProof="0">
                            <a:latin typeface="Cambria Math" panose="02040503050406030204" pitchFamily="18" charset="0"/>
                          </a:rPr>
                          <m:t>12</m:t>
                        </m:r>
                      </m:sub>
                    </m:sSub>
                  </m:oMath>
                </a14:m>
                <a:r>
                  <a:rPr lang="en-US" sz="1800" noProof="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noProof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noProof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800" i="1" noProof="0">
                            <a:latin typeface="Cambria Math" panose="02040503050406030204" pitchFamily="18" charset="0"/>
                          </a:rPr>
                          <m:t>13</m:t>
                        </m:r>
                      </m:sub>
                    </m:sSub>
                  </m:oMath>
                </a14:m>
                <a:r>
                  <a:rPr lang="en-US" sz="1800" noProof="0" dirty="0"/>
                  <a:t> based on weights:</a:t>
                </a:r>
              </a:p>
              <a:p>
                <a:pPr lvl="1">
                  <a:lnSpc>
                    <a:spcPct val="100000"/>
                  </a:lnSpc>
                  <a:spcBef>
                    <a:spcPts val="432"/>
                  </a:spcBef>
                </a:pPr>
                <a:r>
                  <a:rPr lang="en-US" sz="1700" noProof="0" dirty="0"/>
                  <a:t>0.054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700" i="1" noProof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700" i="1" noProof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700" i="1" noProof="0">
                            <a:latin typeface="Cambria Math" panose="02040503050406030204" pitchFamily="18" charset="0"/>
                          </a:rPr>
                          <m:t>12</m:t>
                        </m:r>
                      </m:sub>
                    </m:sSub>
                  </m:oMath>
                </a14:m>
                <a:endParaRPr lang="en-US" sz="1700" noProof="0" dirty="0"/>
              </a:p>
              <a:p>
                <a:pPr lvl="1">
                  <a:lnSpc>
                    <a:spcPct val="100000"/>
                  </a:lnSpc>
                  <a:spcBef>
                    <a:spcPts val="432"/>
                  </a:spcBef>
                </a:pPr>
                <a:r>
                  <a:rPr lang="en-US" sz="1700" noProof="0" dirty="0"/>
                  <a:t>0.006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700" i="1" noProof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700" i="1" noProof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700" i="1" noProof="0">
                            <a:latin typeface="Cambria Math" panose="02040503050406030204" pitchFamily="18" charset="0"/>
                          </a:rPr>
                          <m:t>13</m:t>
                        </m:r>
                      </m:sub>
                    </m:sSub>
                  </m:oMath>
                </a14:m>
                <a:endParaRPr lang="en-US" sz="1700" noProof="0" dirty="0"/>
              </a:p>
              <a:p>
                <a:pPr>
                  <a:lnSpc>
                    <a:spcPct val="100000"/>
                  </a:lnSpc>
                  <a:spcBef>
                    <a:spcPts val="432"/>
                  </a:spcBef>
                </a:pPr>
                <a:r>
                  <a:rPr lang="en-US" sz="1800" noProof="0" dirty="0"/>
                  <a:t>Note weights 0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noProof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noProof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800" b="0" i="1" noProof="0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1800" i="1" noProof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800" i="1" noProof="0">
                        <a:latin typeface="Cambria Math" panose="02040503050406030204" pitchFamily="18" charset="0"/>
                      </a:rPr>
                      <m:t>, …,</m:t>
                    </m:r>
                    <m:sSub>
                      <m:sSubPr>
                        <m:ctrlPr>
                          <a:rPr lang="en-US" sz="1800" i="1" noProof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noProof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800" i="1" noProof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sz="1800" i="1" noProof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endParaRPr lang="en-US" sz="1800" noProof="0" dirty="0"/>
              </a:p>
            </p:txBody>
          </p:sp>
        </mc:Choice>
        <mc:Fallback xmlns="">
          <p:sp>
            <p:nvSpPr>
              <p:cNvPr id="10" name="Content Placeholder 2">
                <a:extLst>
                  <a:ext uri="{FF2B5EF4-FFF2-40B4-BE49-F238E27FC236}">
                    <a16:creationId xmlns:a16="http://schemas.microsoft.com/office/drawing/2014/main" id="{DD1293CF-3628-5B17-1ADB-0D25725D00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23527" y="1347614"/>
                <a:ext cx="3597543" cy="3600399"/>
              </a:xfrm>
              <a:blipFill>
                <a:blip r:embed="rId3"/>
                <a:stretch>
                  <a:fillRect l="-1356" t="-846" r="-23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850EF08F-F99C-1F0C-8002-AABD95AB4D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975798" cy="994172"/>
          </a:xfrm>
        </p:spPr>
        <p:txBody>
          <a:bodyPr>
            <a:normAutofit/>
          </a:bodyPr>
          <a:lstStyle/>
          <a:p>
            <a:r>
              <a:rPr lang="en-US" sz="3200" spc="-100" noProof="0" dirty="0"/>
              <a:t>CANTOS trial</a:t>
            </a:r>
            <a:br>
              <a:rPr lang="en-US" sz="3200" spc="-100" noProof="0" dirty="0"/>
            </a:br>
            <a:r>
              <a:rPr lang="en-US" sz="2200" i="1" noProof="0" dirty="0">
                <a:solidFill>
                  <a:srgbClr val="000000"/>
                </a:solidFill>
              </a:rPr>
              <a:t>An illustration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245135-4A7C-E76B-788A-0D03B1D5C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47CF9-5B10-D24F-A8D7-45A9778164F7}" type="slidenum">
              <a:rPr lang="en-US" noProof="0" smtClean="0"/>
              <a:pPr/>
              <a:t>109</a:t>
            </a:fld>
            <a:endParaRPr lang="en-US" noProof="0" dirty="0"/>
          </a:p>
        </p:txBody>
      </p:sp>
      <p:pic>
        <p:nvPicPr>
          <p:cNvPr id="7" name="Picture 6" descr="A diagram of a network&#10;&#10;Description automatically generated">
            <a:extLst>
              <a:ext uri="{FF2B5EF4-FFF2-40B4-BE49-F238E27FC236}">
                <a16:creationId xmlns:a16="http://schemas.microsoft.com/office/drawing/2014/main" id="{540C63D3-024B-D60E-D3F3-93F953C5382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4042" t="6395" r="2988"/>
          <a:stretch/>
        </p:blipFill>
        <p:spPr>
          <a:xfrm>
            <a:off x="3851920" y="1262265"/>
            <a:ext cx="4968552" cy="279867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8A76538-7C61-66AD-98CB-3A74F297439E}"/>
              </a:ext>
            </a:extLst>
          </p:cNvPr>
          <p:cNvSpPr txBox="1"/>
          <p:nvPr/>
        </p:nvSpPr>
        <p:spPr>
          <a:xfrm>
            <a:off x="5868144" y="1341255"/>
            <a:ext cx="2647206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Parametric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A20D65F-E4F2-80ED-B37E-6B1333D31352}"/>
              </a:ext>
            </a:extLst>
          </p:cNvPr>
          <p:cNvSpPr txBox="1"/>
          <p:nvPr/>
        </p:nvSpPr>
        <p:spPr>
          <a:xfrm>
            <a:off x="3767765" y="3605021"/>
            <a:ext cx="1596325" cy="6463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r"/>
            <a:endParaRPr lang="en-US" noProof="0" dirty="0"/>
          </a:p>
          <a:p>
            <a:pPr algn="ctr"/>
            <a:r>
              <a:rPr lang="en-US" noProof="0" dirty="0"/>
              <a:t>Bonferroni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C14F75-2FAA-66C3-5D7B-FF644CF091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 noProof="0"/>
              <a:t>Bretz, Chen, Xi | ISBS | October 2026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1367474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uiExpand="1" build="p"/>
      <p:bldP spid="3" grpId="0" animBg="1"/>
      <p:bldP spid="4" grpId="0" animBg="1"/>
    </p:bld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204D93-BD3A-5A0C-EB89-1BA38E2AB5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92FC2-7628-ACE0-6591-42F70A7308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975798" cy="994172"/>
          </a:xfrm>
        </p:spPr>
        <p:txBody>
          <a:bodyPr>
            <a:normAutofit/>
          </a:bodyPr>
          <a:lstStyle/>
          <a:p>
            <a:r>
              <a:rPr lang="en-US" sz="3200" spc="-100" noProof="0" dirty="0"/>
              <a:t>CANTOS trial</a:t>
            </a:r>
            <a:br>
              <a:rPr lang="en-US" sz="3200" spc="-100" noProof="0" dirty="0"/>
            </a:br>
            <a:r>
              <a:rPr lang="en-US" sz="2200" i="1" noProof="0" dirty="0">
                <a:solidFill>
                  <a:srgbClr val="000000"/>
                </a:solidFill>
              </a:rPr>
              <a:t>Results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911A0C-DE82-0A26-B215-587D6D483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47CF9-5B10-D24F-A8D7-45A9778164F7}" type="slidenum">
              <a:rPr lang="en-US" noProof="0" smtClean="0"/>
              <a:pPr/>
              <a:t>110</a:t>
            </a:fld>
            <a:endParaRPr lang="en-US" noProof="0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061C82C-0916-7F8A-FF20-2E339569BD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9820163"/>
              </p:ext>
            </p:extLst>
          </p:nvPr>
        </p:nvGraphicFramePr>
        <p:xfrm>
          <a:off x="971600" y="1200627"/>
          <a:ext cx="7498080" cy="370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>
                  <a:extLst>
                    <a:ext uri="{9D8B030D-6E8A-4147-A177-3AD203B41FA5}">
                      <a16:colId xmlns:a16="http://schemas.microsoft.com/office/drawing/2014/main" val="1423759946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3535927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537137796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31767793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noProof="0" dirty="0"/>
                        <a:t>Endpoint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noProof="0" dirty="0"/>
                        <a:t>Dose vs. Placebo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noProof="0" dirty="0"/>
                        <a:t>P-value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noProof="0" dirty="0"/>
                        <a:t>P-value threshold for statistical significance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44976716"/>
                  </a:ext>
                </a:extLst>
              </a:tr>
              <a:tr h="370840">
                <a:tc rowSpan="3">
                  <a:txBody>
                    <a:bodyPr/>
                    <a:lstStyle/>
                    <a:p>
                      <a:pPr algn="ctr"/>
                      <a:r>
                        <a:rPr lang="en-US" sz="1600" noProof="0" dirty="0"/>
                        <a:t>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noProof="0" dirty="0"/>
                        <a:t>300mg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noProof="0" dirty="0"/>
                        <a:t>0.0157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noProof="0" dirty="0"/>
                        <a:t>&gt; 0.00529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816164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noProof="0" dirty="0">
                          <a:highlight>
                            <a:srgbClr val="FFFF00"/>
                          </a:highlight>
                        </a:rPr>
                        <a:t>150mg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noProof="0" dirty="0">
                          <a:highlight>
                            <a:srgbClr val="FFFF00"/>
                          </a:highlight>
                        </a:rPr>
                        <a:t>0.010375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noProof="0" dirty="0">
                          <a:highlight>
                            <a:srgbClr val="FFFF00"/>
                          </a:highlight>
                        </a:rPr>
                        <a:t>&lt; 0.010575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21952915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noProof="0" dirty="0"/>
                        <a:t>50mg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noProof="0" dirty="0"/>
                        <a:t>0.15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noProof="0" dirty="0"/>
                        <a:t>&gt; 0.010575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50280378"/>
                  </a:ext>
                </a:extLst>
              </a:tr>
              <a:tr h="370840">
                <a:tc rowSpan="3">
                  <a:txBody>
                    <a:bodyPr/>
                    <a:lstStyle/>
                    <a:p>
                      <a:pPr algn="ctr"/>
                      <a:r>
                        <a:rPr lang="en-US" sz="1600" noProof="0" dirty="0"/>
                        <a:t>SE1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noProof="0" dirty="0"/>
                        <a:t>300mg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noProof="0" dirty="0"/>
                        <a:t>0.002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noProof="0" dirty="0"/>
                        <a:t>-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9726052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noProof="0" dirty="0">
                          <a:highlight>
                            <a:srgbClr val="FFFF00"/>
                          </a:highlight>
                        </a:rPr>
                        <a:t>150mg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noProof="0" dirty="0">
                          <a:highlight>
                            <a:srgbClr val="FFFF00"/>
                          </a:highlight>
                        </a:rPr>
                        <a:t>0.0025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u="none" strike="noStrike" kern="1200" baseline="0" noProof="0" dirty="0">
                          <a:solidFill>
                            <a:schemeClr val="dk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&lt; 0.002645</a:t>
                      </a:r>
                      <a:endParaRPr lang="en-US" sz="1600" noProof="0" dirty="0">
                        <a:highlight>
                          <a:srgbClr val="FFFF00"/>
                        </a:highlight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807576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noProof="0" dirty="0"/>
                        <a:t>50mg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noProof="0" dirty="0"/>
                        <a:t>0.06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noProof="0" dirty="0"/>
                        <a:t>-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96947570"/>
                  </a:ext>
                </a:extLst>
              </a:tr>
              <a:tr h="370840">
                <a:tc rowSpan="3">
                  <a:txBody>
                    <a:bodyPr/>
                    <a:lstStyle/>
                    <a:p>
                      <a:pPr algn="ctr"/>
                      <a:r>
                        <a:rPr lang="en-US" sz="1600" noProof="0" dirty="0"/>
                        <a:t>SE2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noProof="0" dirty="0"/>
                        <a:t>300mg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noProof="0" dirty="0"/>
                        <a:t>0.003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noProof="0" dirty="0"/>
                        <a:t>-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1504824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noProof="0" dirty="0"/>
                        <a:t>150mg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noProof="0" dirty="0"/>
                        <a:t>0.01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noProof="0" dirty="0"/>
                        <a:t>&gt; 0.00294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8574980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noProof="0" dirty="0"/>
                        <a:t>50mg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noProof="0" dirty="0"/>
                        <a:t>0.035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noProof="0" dirty="0"/>
                        <a:t>-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6407725"/>
                  </a:ext>
                </a:extLst>
              </a:tr>
            </a:tbl>
          </a:graphicData>
        </a:graphic>
      </p:graphicFrame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79FA92-CA1C-8C31-9283-AEC1D4C76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 noProof="0"/>
              <a:t>Bretz, Chen, Xi | ISBS | October 2026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361218452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204D93-BD3A-5A0C-EB89-1BA38E2AB5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92FC2-7628-ACE0-6591-42F70A7308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975798" cy="994172"/>
          </a:xfrm>
        </p:spPr>
        <p:txBody>
          <a:bodyPr>
            <a:normAutofit/>
          </a:bodyPr>
          <a:lstStyle/>
          <a:p>
            <a:r>
              <a:rPr lang="en-US" sz="3200" spc="-100" noProof="0" dirty="0"/>
              <a:t>CANTOS trial</a:t>
            </a:r>
            <a:br>
              <a:rPr lang="en-US" sz="3200" spc="-100" noProof="0" dirty="0"/>
            </a:br>
            <a:r>
              <a:rPr lang="en-US" sz="2200" i="1" noProof="0" dirty="0">
                <a:solidFill>
                  <a:srgbClr val="000000"/>
                </a:solidFill>
              </a:rPr>
              <a:t>What if Bonferroni tests had been used for primary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911A0C-DE82-0A26-B215-587D6D483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47CF9-5B10-D24F-A8D7-45A9778164F7}" type="slidenum">
              <a:rPr lang="en-US" noProof="0" smtClean="0"/>
              <a:pPr/>
              <a:t>111</a:t>
            </a:fld>
            <a:endParaRPr lang="en-US" noProof="0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A8A25C8F-A5EC-546D-EFC7-0852C8ED1C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7122715"/>
              </p:ext>
            </p:extLst>
          </p:nvPr>
        </p:nvGraphicFramePr>
        <p:xfrm>
          <a:off x="913229" y="1347614"/>
          <a:ext cx="7498080" cy="1935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>
                  <a:extLst>
                    <a:ext uri="{9D8B030D-6E8A-4147-A177-3AD203B41FA5}">
                      <a16:colId xmlns:a16="http://schemas.microsoft.com/office/drawing/2014/main" val="400342792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59333152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898377394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554327134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3223009931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en-US" sz="1600" noProof="0" dirty="0"/>
                        <a:t>Endpoint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noProof="0" dirty="0"/>
                        <a:t>Dose vs. Placebo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noProof="0" dirty="0"/>
                        <a:t>P-value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600" noProof="0" dirty="0"/>
                        <a:t>P-value threshold for statistical significance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16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104537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endParaRPr lang="en-US" sz="1600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noProof="0" dirty="0"/>
                        <a:t>Dunnett (prespecified)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noProof="0" dirty="0"/>
                        <a:t>Bonferroni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87223152"/>
                  </a:ext>
                </a:extLst>
              </a:tr>
              <a:tr h="370840">
                <a:tc rowSpan="3">
                  <a:txBody>
                    <a:bodyPr/>
                    <a:lstStyle/>
                    <a:p>
                      <a:pPr algn="ctr"/>
                      <a:r>
                        <a:rPr lang="en-US" sz="1600" noProof="0" dirty="0"/>
                        <a:t>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noProof="0" dirty="0"/>
                        <a:t>300mg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noProof="0" dirty="0"/>
                        <a:t>0.0157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noProof="0" dirty="0"/>
                        <a:t>&gt; 0.00529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noProof="0" dirty="0"/>
                        <a:t>&gt; 0.0049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0938945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noProof="0" dirty="0">
                          <a:highlight>
                            <a:srgbClr val="FFFF00"/>
                          </a:highlight>
                        </a:rPr>
                        <a:t>150mg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noProof="0" dirty="0">
                          <a:highlight>
                            <a:srgbClr val="FFFF00"/>
                          </a:highlight>
                        </a:rPr>
                        <a:t>0.010375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noProof="0" dirty="0">
                          <a:highlight>
                            <a:srgbClr val="FFFF00"/>
                          </a:highlight>
                        </a:rPr>
                        <a:t>&lt; 0.010575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noProof="0" dirty="0">
                          <a:highlight>
                            <a:srgbClr val="FFFF00"/>
                          </a:highlight>
                        </a:rPr>
                        <a:t>&gt; 0.0098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3129955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noProof="0" dirty="0"/>
                        <a:t>50mg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noProof="0" dirty="0"/>
                        <a:t>0.15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noProof="0" dirty="0"/>
                        <a:t>&gt; 0.010575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noProof="0" dirty="0"/>
                        <a:t>&gt; 0.0098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48156912"/>
                  </a:ext>
                </a:extLst>
              </a:tr>
            </a:tbl>
          </a:graphicData>
        </a:graphic>
      </p:graphicFrame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A22DCC8-94F5-B4A7-E364-C832D3A2EE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3435845"/>
            <a:ext cx="8119814" cy="1196877"/>
          </a:xfrm>
        </p:spPr>
        <p:txBody>
          <a:bodyPr>
            <a:normAutofit fontScale="92500"/>
          </a:bodyPr>
          <a:lstStyle/>
          <a:p>
            <a:pPr>
              <a:lnSpc>
                <a:spcPct val="100000"/>
              </a:lnSpc>
              <a:spcBef>
                <a:spcPts val="432"/>
              </a:spcBef>
            </a:pPr>
            <a:r>
              <a:rPr lang="en-US" sz="2000" noProof="0" dirty="0"/>
              <a:t>PE for 150mg vs. placebo was </a:t>
            </a:r>
            <a:r>
              <a:rPr lang="en-US" sz="2000" noProof="0" dirty="0">
                <a:solidFill>
                  <a:schemeClr val="accent1"/>
                </a:solidFill>
              </a:rPr>
              <a:t>statistically significant </a:t>
            </a:r>
            <a:r>
              <a:rPr lang="en-US" sz="2000" noProof="0" dirty="0"/>
              <a:t>using the pre-specified Dunnett tests</a:t>
            </a:r>
          </a:p>
          <a:p>
            <a:pPr>
              <a:lnSpc>
                <a:spcPct val="100000"/>
              </a:lnSpc>
              <a:spcBef>
                <a:spcPts val="432"/>
              </a:spcBef>
            </a:pPr>
            <a:r>
              <a:rPr lang="en-US" sz="2000" noProof="0" dirty="0"/>
              <a:t>It would </a:t>
            </a:r>
            <a:r>
              <a:rPr lang="en-US" sz="2000" noProof="0" dirty="0">
                <a:solidFill>
                  <a:schemeClr val="accent1"/>
                </a:solidFill>
              </a:rPr>
              <a:t>not have been significant</a:t>
            </a:r>
            <a:r>
              <a:rPr lang="en-US" sz="2000" noProof="0" dirty="0"/>
              <a:t>, had a Bonferroni-based graph been used</a:t>
            </a:r>
            <a:endParaRPr lang="en-US" sz="1700" noProof="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90A451D-EC29-5BA3-750C-D1F2A89E32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 noProof="0"/>
              <a:t>Bretz, Chen, Xi | ISBS | October 2026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0040040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</p:bld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ADC35-2954-4E52-BE3F-E02DED7407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975798" cy="994172"/>
          </a:xfrm>
        </p:spPr>
        <p:txBody>
          <a:bodyPr>
            <a:normAutofit/>
          </a:bodyPr>
          <a:lstStyle/>
          <a:p>
            <a:r>
              <a:rPr lang="en-US" noProof="0" dirty="0"/>
              <a:t>Hypothetical example based on CANTOS trial</a:t>
            </a:r>
            <a:br>
              <a:rPr lang="en-US" sz="2800" noProof="0" dirty="0"/>
            </a:br>
            <a:r>
              <a:rPr lang="en-US" sz="2200" i="1" noProof="0" dirty="0"/>
              <a:t>Create an initial graph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C66AEC-4B4B-11CF-8433-A8F84D81E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47CF9-5B10-D24F-A8D7-45A9778164F7}" type="slidenum">
              <a:rPr lang="en-US" noProof="0" smtClean="0"/>
              <a:pPr/>
              <a:t>112</a:t>
            </a:fld>
            <a:endParaRPr lang="en-US" noProof="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1A498DC-1F05-087D-3844-0DFBE213463A}"/>
              </a:ext>
            </a:extLst>
          </p:cNvPr>
          <p:cNvSpPr txBox="1"/>
          <p:nvPr/>
        </p:nvSpPr>
        <p:spPr>
          <a:xfrm>
            <a:off x="369637" y="1294477"/>
            <a:ext cx="8450835" cy="30469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0" eaLnBrk="0" fontAlgn="base" hangingPunct="0">
              <a:spcAft>
                <a:spcPct val="0"/>
              </a:spcAft>
            </a:pPr>
            <a:r>
              <a:rPr lang="en-US" sz="12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hypotheses &lt;- </a:t>
            </a:r>
            <a:r>
              <a:rPr lang="en-US" sz="1200" u="sng" noProof="0" dirty="0">
                <a:solidFill>
                  <a:schemeClr val="accent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c</a:t>
            </a:r>
            <a:r>
              <a:rPr lang="en-US" sz="12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(</a:t>
            </a:r>
            <a:r>
              <a:rPr lang="en-US" sz="1200" noProof="0" dirty="0">
                <a:solidFill>
                  <a:srgbClr val="C0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0.2</a:t>
            </a:r>
            <a:r>
              <a:rPr lang="en-US" sz="12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</a:t>
            </a:r>
            <a:r>
              <a:rPr lang="en-US" sz="1200" noProof="0" dirty="0">
                <a:solidFill>
                  <a:srgbClr val="C0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0.4</a:t>
            </a:r>
            <a:r>
              <a:rPr lang="en-US" sz="12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</a:t>
            </a:r>
            <a:r>
              <a:rPr lang="en-US" sz="1200" noProof="0" dirty="0">
                <a:solidFill>
                  <a:srgbClr val="C0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0.4</a:t>
            </a:r>
            <a:r>
              <a:rPr lang="en-US" sz="12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</a:t>
            </a:r>
            <a:r>
              <a:rPr lang="en-US" sz="1200" noProof="0" dirty="0">
                <a:solidFill>
                  <a:srgbClr val="C0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0</a:t>
            </a:r>
            <a:r>
              <a:rPr lang="en-US" sz="12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</a:t>
            </a:r>
            <a:r>
              <a:rPr lang="en-US" sz="1200" noProof="0" dirty="0">
                <a:solidFill>
                  <a:srgbClr val="C0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0</a:t>
            </a:r>
            <a:r>
              <a:rPr lang="en-US" sz="12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</a:t>
            </a:r>
            <a:r>
              <a:rPr lang="en-US" sz="1200" noProof="0" dirty="0">
                <a:solidFill>
                  <a:srgbClr val="C0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0</a:t>
            </a:r>
            <a:r>
              <a:rPr lang="en-US" sz="12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</a:t>
            </a:r>
            <a:r>
              <a:rPr lang="en-US" sz="1200" noProof="0" dirty="0">
                <a:solidFill>
                  <a:srgbClr val="C0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0</a:t>
            </a:r>
            <a:r>
              <a:rPr lang="en-US" sz="12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</a:t>
            </a:r>
            <a:r>
              <a:rPr lang="en-US" sz="1200" noProof="0" dirty="0">
                <a:solidFill>
                  <a:srgbClr val="C0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0</a:t>
            </a:r>
            <a:r>
              <a:rPr lang="en-US" sz="12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</a:t>
            </a:r>
            <a:r>
              <a:rPr lang="en-US" sz="1200" noProof="0" dirty="0">
                <a:solidFill>
                  <a:srgbClr val="C0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0</a:t>
            </a:r>
            <a:r>
              <a:rPr lang="en-US" sz="12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)</a:t>
            </a:r>
          </a:p>
          <a:p>
            <a:pPr lvl="0" eaLnBrk="0" fontAlgn="base" hangingPunct="0">
              <a:spcAft>
                <a:spcPct val="0"/>
              </a:spcAft>
            </a:pPr>
            <a:r>
              <a:rPr lang="en-US" sz="12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epsilon &lt;- </a:t>
            </a:r>
            <a:r>
              <a:rPr lang="en-US" sz="1200" noProof="0" dirty="0">
                <a:solidFill>
                  <a:srgbClr val="C0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1e-5</a:t>
            </a:r>
          </a:p>
          <a:p>
            <a:pPr lvl="0" eaLnBrk="0" fontAlgn="base" hangingPunct="0">
              <a:spcAft>
                <a:spcPct val="0"/>
              </a:spcAft>
            </a:pPr>
            <a:r>
              <a:rPr lang="en-US" sz="12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transitions &lt;- </a:t>
            </a:r>
            <a:r>
              <a:rPr lang="en-US" sz="1200" u="sng" noProof="0" dirty="0" err="1">
                <a:solidFill>
                  <a:schemeClr val="accent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rbind</a:t>
            </a:r>
            <a:r>
              <a:rPr lang="en-US" sz="12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(H11=c(</a:t>
            </a:r>
            <a:r>
              <a:rPr lang="en-US" sz="1200" noProof="0" dirty="0">
                <a:solidFill>
                  <a:srgbClr val="C0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0</a:t>
            </a:r>
            <a:r>
              <a:rPr lang="en-US" sz="12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</a:t>
            </a:r>
            <a:r>
              <a:rPr lang="en-US" sz="1200" noProof="0" dirty="0">
                <a:solidFill>
                  <a:srgbClr val="C0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0.45</a:t>
            </a:r>
            <a:r>
              <a:rPr lang="en-US" sz="12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</a:t>
            </a:r>
            <a:r>
              <a:rPr lang="en-US" sz="1200" noProof="0" dirty="0">
                <a:solidFill>
                  <a:srgbClr val="C0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0.25</a:t>
            </a:r>
            <a:r>
              <a:rPr lang="en-US" sz="12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</a:t>
            </a:r>
            <a:r>
              <a:rPr lang="en-US" sz="1200" noProof="0" dirty="0">
                <a:solidFill>
                  <a:srgbClr val="C0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0.27</a:t>
            </a:r>
            <a:r>
              <a:rPr lang="en-US" sz="12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</a:t>
            </a:r>
            <a:r>
              <a:rPr lang="en-US" sz="1200" noProof="0" dirty="0">
                <a:solidFill>
                  <a:srgbClr val="C0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0</a:t>
            </a:r>
            <a:r>
              <a:rPr lang="en-US" sz="12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</a:t>
            </a:r>
            <a:r>
              <a:rPr lang="en-US" sz="1200" noProof="0" dirty="0">
                <a:solidFill>
                  <a:srgbClr val="C0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0</a:t>
            </a:r>
            <a:r>
              <a:rPr lang="en-US" sz="12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</a:t>
            </a:r>
            <a:r>
              <a:rPr lang="en-US" sz="1200" noProof="0" dirty="0">
                <a:solidFill>
                  <a:srgbClr val="C0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0.03</a:t>
            </a:r>
            <a:r>
              <a:rPr lang="en-US" sz="12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</a:t>
            </a:r>
            <a:r>
              <a:rPr lang="en-US" sz="1200" noProof="0" dirty="0">
                <a:solidFill>
                  <a:srgbClr val="C0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0</a:t>
            </a:r>
            <a:r>
              <a:rPr lang="en-US" sz="12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</a:t>
            </a:r>
            <a:r>
              <a:rPr lang="en-US" sz="1200" noProof="0" dirty="0">
                <a:solidFill>
                  <a:srgbClr val="C0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0</a:t>
            </a:r>
            <a:r>
              <a:rPr lang="en-US" sz="12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),</a:t>
            </a:r>
          </a:p>
          <a:p>
            <a:pPr lvl="0" eaLnBrk="0" fontAlgn="base" hangingPunct="0">
              <a:spcAft>
                <a:spcPct val="0"/>
              </a:spcAft>
            </a:pPr>
            <a:r>
              <a:rPr lang="en-US" sz="12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                     H21=c(</a:t>
            </a:r>
            <a:r>
              <a:rPr lang="en-US" sz="1200" noProof="0" dirty="0">
                <a:solidFill>
                  <a:srgbClr val="C0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0.07</a:t>
            </a:r>
            <a:r>
              <a:rPr lang="en-US" sz="12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</a:t>
            </a:r>
            <a:r>
              <a:rPr lang="en-US" sz="1200" noProof="0" dirty="0">
                <a:solidFill>
                  <a:srgbClr val="C0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0</a:t>
            </a:r>
            <a:r>
              <a:rPr lang="en-US" sz="12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</a:t>
            </a:r>
            <a:r>
              <a:rPr lang="en-US" sz="1200" noProof="0" dirty="0">
                <a:solidFill>
                  <a:srgbClr val="C0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0.63</a:t>
            </a:r>
            <a:r>
              <a:rPr lang="en-US" sz="12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</a:t>
            </a:r>
            <a:r>
              <a:rPr lang="en-US" sz="1200" noProof="0" dirty="0">
                <a:solidFill>
                  <a:srgbClr val="C0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0</a:t>
            </a:r>
            <a:r>
              <a:rPr lang="en-US" sz="12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</a:t>
            </a:r>
            <a:r>
              <a:rPr lang="en-US" sz="1200" noProof="0" dirty="0">
                <a:solidFill>
                  <a:srgbClr val="C0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0.27</a:t>
            </a:r>
            <a:r>
              <a:rPr lang="en-US" sz="12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</a:t>
            </a:r>
            <a:r>
              <a:rPr lang="en-US" sz="1200" noProof="0" dirty="0">
                <a:solidFill>
                  <a:srgbClr val="C0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0</a:t>
            </a:r>
            <a:r>
              <a:rPr lang="en-US" sz="12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</a:t>
            </a:r>
            <a:r>
              <a:rPr lang="en-US" sz="1200" noProof="0" dirty="0">
                <a:solidFill>
                  <a:srgbClr val="C0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0</a:t>
            </a:r>
            <a:r>
              <a:rPr lang="en-US" sz="12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</a:t>
            </a:r>
            <a:r>
              <a:rPr lang="en-US" sz="1200" noProof="0" dirty="0">
                <a:solidFill>
                  <a:srgbClr val="C0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0.03</a:t>
            </a:r>
            <a:r>
              <a:rPr lang="en-US" sz="12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</a:t>
            </a:r>
            <a:r>
              <a:rPr lang="en-US" sz="1200" noProof="0" dirty="0">
                <a:solidFill>
                  <a:srgbClr val="C0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0</a:t>
            </a:r>
            <a:r>
              <a:rPr lang="en-US" sz="12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),</a:t>
            </a:r>
          </a:p>
          <a:p>
            <a:pPr lvl="0" eaLnBrk="0" fontAlgn="base" hangingPunct="0">
              <a:spcAft>
                <a:spcPct val="0"/>
              </a:spcAft>
            </a:pPr>
            <a:r>
              <a:rPr lang="en-US" sz="12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                     H31=c(</a:t>
            </a:r>
            <a:r>
              <a:rPr lang="en-US" sz="1200" noProof="0" dirty="0">
                <a:solidFill>
                  <a:srgbClr val="C0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0.07</a:t>
            </a:r>
            <a:r>
              <a:rPr lang="en-US" sz="12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</a:t>
            </a:r>
            <a:r>
              <a:rPr lang="en-US" sz="1200" noProof="0" dirty="0">
                <a:solidFill>
                  <a:srgbClr val="C0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0.13</a:t>
            </a:r>
            <a:r>
              <a:rPr lang="en-US" sz="12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</a:t>
            </a:r>
            <a:r>
              <a:rPr lang="en-US" sz="1200" noProof="0" dirty="0">
                <a:solidFill>
                  <a:srgbClr val="C0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0</a:t>
            </a:r>
            <a:r>
              <a:rPr lang="en-US" sz="12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</a:t>
            </a:r>
            <a:r>
              <a:rPr lang="en-US" sz="1200" noProof="0" dirty="0">
                <a:solidFill>
                  <a:srgbClr val="C0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0</a:t>
            </a:r>
            <a:r>
              <a:rPr lang="en-US" sz="12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</a:t>
            </a:r>
            <a:r>
              <a:rPr lang="en-US" sz="1200" noProof="0" dirty="0">
                <a:solidFill>
                  <a:srgbClr val="C0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0</a:t>
            </a:r>
            <a:r>
              <a:rPr lang="en-US" sz="12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</a:t>
            </a:r>
            <a:r>
              <a:rPr lang="en-US" sz="1200" noProof="0" dirty="0">
                <a:solidFill>
                  <a:srgbClr val="C0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0.72</a:t>
            </a:r>
            <a:r>
              <a:rPr lang="en-US" sz="12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</a:t>
            </a:r>
            <a:r>
              <a:rPr lang="en-US" sz="1200" noProof="0" dirty="0">
                <a:solidFill>
                  <a:srgbClr val="C0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0</a:t>
            </a:r>
            <a:r>
              <a:rPr lang="en-US" sz="12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</a:t>
            </a:r>
            <a:r>
              <a:rPr lang="en-US" sz="1200" noProof="0" dirty="0">
                <a:solidFill>
                  <a:srgbClr val="C0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0</a:t>
            </a:r>
            <a:r>
              <a:rPr lang="en-US" sz="12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</a:t>
            </a:r>
            <a:r>
              <a:rPr lang="en-US" sz="1200" noProof="0" dirty="0">
                <a:solidFill>
                  <a:srgbClr val="C0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0.08</a:t>
            </a:r>
            <a:r>
              <a:rPr lang="en-US" sz="12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),</a:t>
            </a:r>
          </a:p>
          <a:p>
            <a:pPr lvl="0" eaLnBrk="0" fontAlgn="base" hangingPunct="0">
              <a:spcAft>
                <a:spcPct val="0"/>
              </a:spcAft>
            </a:pPr>
            <a:r>
              <a:rPr lang="en-US" sz="12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                     H12=c(</a:t>
            </a:r>
            <a:r>
              <a:rPr lang="en-US" sz="1200" noProof="0" dirty="0">
                <a:solidFill>
                  <a:srgbClr val="C0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0</a:t>
            </a:r>
            <a:r>
              <a:rPr lang="en-US" sz="12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</a:t>
            </a:r>
            <a:r>
              <a:rPr lang="en-US" sz="1200" noProof="0" dirty="0">
                <a:solidFill>
                  <a:srgbClr val="C0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0</a:t>
            </a:r>
            <a:r>
              <a:rPr lang="en-US" sz="12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</a:t>
            </a:r>
            <a:r>
              <a:rPr lang="en-US" sz="1200" noProof="0" dirty="0">
                <a:solidFill>
                  <a:srgbClr val="C0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0</a:t>
            </a:r>
            <a:r>
              <a:rPr lang="en-US" sz="12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</a:t>
            </a:r>
            <a:r>
              <a:rPr lang="en-US" sz="1200" noProof="0" dirty="0">
                <a:solidFill>
                  <a:srgbClr val="C0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0</a:t>
            </a:r>
            <a:r>
              <a:rPr lang="en-US" sz="12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</a:t>
            </a:r>
            <a:r>
              <a:rPr lang="en-US" sz="1200" noProof="0" dirty="0">
                <a:solidFill>
                  <a:srgbClr val="C0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0</a:t>
            </a:r>
            <a:r>
              <a:rPr lang="en-US" sz="12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</a:t>
            </a:r>
            <a:r>
              <a:rPr lang="en-US" sz="1200" noProof="0" dirty="0">
                <a:solidFill>
                  <a:srgbClr val="C0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0</a:t>
            </a:r>
            <a:r>
              <a:rPr lang="en-US" sz="12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</a:t>
            </a:r>
            <a:r>
              <a:rPr lang="en-US" sz="1200" noProof="0" dirty="0">
                <a:solidFill>
                  <a:srgbClr val="C0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1</a:t>
            </a:r>
            <a:r>
              <a:rPr lang="en-US" sz="12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</a:t>
            </a:r>
            <a:r>
              <a:rPr lang="en-US" sz="1200" noProof="0" dirty="0">
                <a:solidFill>
                  <a:srgbClr val="C0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0</a:t>
            </a:r>
            <a:r>
              <a:rPr lang="en-US" sz="12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</a:t>
            </a:r>
            <a:r>
              <a:rPr lang="en-US" sz="1200" noProof="0" dirty="0">
                <a:solidFill>
                  <a:srgbClr val="C0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0</a:t>
            </a:r>
            <a:r>
              <a:rPr lang="en-US" sz="12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),</a:t>
            </a:r>
          </a:p>
          <a:p>
            <a:pPr lvl="0" eaLnBrk="0" fontAlgn="base" hangingPunct="0">
              <a:spcAft>
                <a:spcPct val="0"/>
              </a:spcAft>
            </a:pPr>
            <a:r>
              <a:rPr lang="en-US" sz="12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                     H22=c(</a:t>
            </a:r>
            <a:r>
              <a:rPr lang="en-US" sz="1200" noProof="0" dirty="0">
                <a:solidFill>
                  <a:srgbClr val="C0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0</a:t>
            </a:r>
            <a:r>
              <a:rPr lang="en-US" sz="12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</a:t>
            </a:r>
            <a:r>
              <a:rPr lang="en-US" sz="1200" noProof="0" dirty="0">
                <a:solidFill>
                  <a:srgbClr val="C0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0</a:t>
            </a:r>
            <a:r>
              <a:rPr lang="en-US" sz="12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</a:t>
            </a:r>
            <a:r>
              <a:rPr lang="en-US" sz="1200" noProof="0" dirty="0">
                <a:solidFill>
                  <a:srgbClr val="C0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0</a:t>
            </a:r>
            <a:r>
              <a:rPr lang="en-US" sz="12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</a:t>
            </a:r>
            <a:r>
              <a:rPr lang="en-US" sz="1200" noProof="0" dirty="0">
                <a:solidFill>
                  <a:srgbClr val="C0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0</a:t>
            </a:r>
            <a:r>
              <a:rPr lang="en-US" sz="12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</a:t>
            </a:r>
            <a:r>
              <a:rPr lang="en-US" sz="1200" noProof="0" dirty="0">
                <a:solidFill>
                  <a:srgbClr val="C0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0</a:t>
            </a:r>
            <a:r>
              <a:rPr lang="en-US" sz="12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</a:t>
            </a:r>
            <a:r>
              <a:rPr lang="en-US" sz="1200" noProof="0" dirty="0">
                <a:solidFill>
                  <a:srgbClr val="C0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0</a:t>
            </a:r>
            <a:r>
              <a:rPr lang="en-US" sz="12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</a:t>
            </a:r>
            <a:r>
              <a:rPr lang="en-US" sz="1200" noProof="0" dirty="0">
                <a:solidFill>
                  <a:srgbClr val="C0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0</a:t>
            </a:r>
            <a:r>
              <a:rPr lang="en-US" sz="12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</a:t>
            </a:r>
            <a:r>
              <a:rPr lang="en-US" sz="1200" noProof="0" dirty="0">
                <a:solidFill>
                  <a:srgbClr val="C0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1</a:t>
            </a:r>
            <a:r>
              <a:rPr lang="en-US" sz="12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</a:t>
            </a:r>
            <a:r>
              <a:rPr lang="en-US" sz="1200" noProof="0" dirty="0">
                <a:solidFill>
                  <a:srgbClr val="C0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0</a:t>
            </a:r>
            <a:r>
              <a:rPr lang="en-US" sz="12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),</a:t>
            </a:r>
          </a:p>
          <a:p>
            <a:pPr lvl="0" eaLnBrk="0" fontAlgn="base" hangingPunct="0">
              <a:spcAft>
                <a:spcPct val="0"/>
              </a:spcAft>
            </a:pPr>
            <a:r>
              <a:rPr lang="en-US" sz="12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                     H32=c(</a:t>
            </a:r>
            <a:r>
              <a:rPr lang="en-US" sz="1200" noProof="0" dirty="0">
                <a:solidFill>
                  <a:srgbClr val="C0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0</a:t>
            </a:r>
            <a:r>
              <a:rPr lang="en-US" sz="12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epsilon, </a:t>
            </a:r>
            <a:r>
              <a:rPr lang="en-US" sz="1200" noProof="0" dirty="0">
                <a:solidFill>
                  <a:srgbClr val="C0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0</a:t>
            </a:r>
            <a:r>
              <a:rPr lang="en-US" sz="12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</a:t>
            </a:r>
            <a:r>
              <a:rPr lang="en-US" sz="1200" noProof="0" dirty="0">
                <a:solidFill>
                  <a:srgbClr val="C0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0</a:t>
            </a:r>
            <a:r>
              <a:rPr lang="en-US" sz="12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</a:t>
            </a:r>
            <a:r>
              <a:rPr lang="en-US" sz="1200" noProof="0" dirty="0">
                <a:solidFill>
                  <a:srgbClr val="C0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0</a:t>
            </a:r>
            <a:r>
              <a:rPr lang="en-US" sz="12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</a:t>
            </a:r>
            <a:r>
              <a:rPr lang="en-US" sz="1200" noProof="0" dirty="0">
                <a:solidFill>
                  <a:srgbClr val="C0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0</a:t>
            </a:r>
            <a:r>
              <a:rPr lang="en-US" sz="12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</a:t>
            </a:r>
            <a:r>
              <a:rPr lang="en-US" sz="1200" noProof="0" dirty="0">
                <a:solidFill>
                  <a:srgbClr val="C0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0</a:t>
            </a:r>
            <a:r>
              <a:rPr lang="en-US" sz="12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</a:t>
            </a:r>
            <a:r>
              <a:rPr lang="en-US" sz="1200" noProof="0" dirty="0">
                <a:solidFill>
                  <a:srgbClr val="C0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0</a:t>
            </a:r>
            <a:r>
              <a:rPr lang="en-US" sz="12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</a:t>
            </a:r>
            <a:r>
              <a:rPr lang="en-US" sz="1200" noProof="0" dirty="0">
                <a:solidFill>
                  <a:srgbClr val="C0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1</a:t>
            </a:r>
            <a:r>
              <a:rPr lang="en-US" sz="12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 - epsilon),</a:t>
            </a:r>
          </a:p>
          <a:p>
            <a:pPr lvl="0" eaLnBrk="0" fontAlgn="base" hangingPunct="0">
              <a:spcAft>
                <a:spcPct val="0"/>
              </a:spcAft>
            </a:pPr>
            <a:r>
              <a:rPr lang="en-US" sz="12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                     H13=c(</a:t>
            </a:r>
            <a:r>
              <a:rPr lang="en-US" sz="1200" noProof="0" dirty="0">
                <a:solidFill>
                  <a:srgbClr val="C0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0</a:t>
            </a:r>
            <a:r>
              <a:rPr lang="en-US" sz="12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epsilon, </a:t>
            </a:r>
            <a:r>
              <a:rPr lang="en-US" sz="1200" noProof="0" dirty="0">
                <a:solidFill>
                  <a:srgbClr val="C0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0</a:t>
            </a:r>
            <a:r>
              <a:rPr lang="en-US" sz="12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</a:t>
            </a:r>
            <a:r>
              <a:rPr lang="en-US" sz="1200" noProof="0" dirty="0">
                <a:solidFill>
                  <a:srgbClr val="C0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1</a:t>
            </a:r>
            <a:r>
              <a:rPr lang="en-US" sz="12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 - epsilon, </a:t>
            </a:r>
            <a:r>
              <a:rPr lang="en-US" sz="1200" noProof="0" dirty="0">
                <a:solidFill>
                  <a:srgbClr val="C0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0</a:t>
            </a:r>
            <a:r>
              <a:rPr lang="en-US" sz="12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</a:t>
            </a:r>
            <a:r>
              <a:rPr lang="en-US" sz="1200" noProof="0" dirty="0">
                <a:solidFill>
                  <a:srgbClr val="C0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0</a:t>
            </a:r>
            <a:r>
              <a:rPr lang="en-US" sz="12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</a:t>
            </a:r>
            <a:r>
              <a:rPr lang="en-US" sz="1200" noProof="0" dirty="0">
                <a:solidFill>
                  <a:srgbClr val="C0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0</a:t>
            </a:r>
            <a:r>
              <a:rPr lang="en-US" sz="12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</a:t>
            </a:r>
            <a:r>
              <a:rPr lang="en-US" sz="1200" noProof="0" dirty="0">
                <a:solidFill>
                  <a:srgbClr val="C0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0</a:t>
            </a:r>
            <a:r>
              <a:rPr lang="en-US" sz="12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</a:t>
            </a:r>
            <a:r>
              <a:rPr lang="en-US" sz="1200" noProof="0" dirty="0">
                <a:solidFill>
                  <a:srgbClr val="C0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0</a:t>
            </a:r>
            <a:r>
              <a:rPr lang="en-US" sz="12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),</a:t>
            </a:r>
          </a:p>
          <a:p>
            <a:pPr lvl="0" eaLnBrk="0" fontAlgn="base" hangingPunct="0">
              <a:spcAft>
                <a:spcPct val="0"/>
              </a:spcAft>
            </a:pPr>
            <a:r>
              <a:rPr lang="en-US" sz="12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                     H23=c(</a:t>
            </a:r>
            <a:r>
              <a:rPr lang="en-US" sz="1200" noProof="0" dirty="0">
                <a:solidFill>
                  <a:srgbClr val="C0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0</a:t>
            </a:r>
            <a:r>
              <a:rPr lang="en-US" sz="12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</a:t>
            </a:r>
            <a:r>
              <a:rPr lang="en-US" sz="1200" noProof="0" dirty="0">
                <a:solidFill>
                  <a:srgbClr val="C0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0</a:t>
            </a:r>
            <a:r>
              <a:rPr lang="en-US" sz="12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epsilon, </a:t>
            </a:r>
            <a:r>
              <a:rPr lang="en-US" sz="1200" noProof="0" dirty="0">
                <a:solidFill>
                  <a:srgbClr val="C0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0</a:t>
            </a:r>
            <a:r>
              <a:rPr lang="en-US" sz="12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1 - epsilon, </a:t>
            </a:r>
            <a:r>
              <a:rPr lang="en-US" sz="1200" noProof="0" dirty="0">
                <a:solidFill>
                  <a:srgbClr val="C0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0</a:t>
            </a:r>
            <a:r>
              <a:rPr lang="en-US" sz="12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</a:t>
            </a:r>
            <a:r>
              <a:rPr lang="en-US" sz="1200" noProof="0" dirty="0">
                <a:solidFill>
                  <a:srgbClr val="C0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0</a:t>
            </a:r>
            <a:r>
              <a:rPr lang="en-US" sz="12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</a:t>
            </a:r>
            <a:r>
              <a:rPr lang="en-US" sz="1200" noProof="0" dirty="0">
                <a:solidFill>
                  <a:srgbClr val="C0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0</a:t>
            </a:r>
            <a:r>
              <a:rPr lang="en-US" sz="12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</a:t>
            </a:r>
            <a:r>
              <a:rPr lang="en-US" sz="1200" noProof="0" dirty="0">
                <a:solidFill>
                  <a:srgbClr val="C0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0</a:t>
            </a:r>
            <a:r>
              <a:rPr lang="en-US" sz="12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),</a:t>
            </a:r>
          </a:p>
          <a:p>
            <a:pPr lvl="0" eaLnBrk="0" fontAlgn="base" hangingPunct="0">
              <a:spcAft>
                <a:spcPct val="0"/>
              </a:spcAft>
            </a:pPr>
            <a:r>
              <a:rPr lang="en-US" sz="12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                     H33=c(</a:t>
            </a:r>
            <a:r>
              <a:rPr lang="en-US" sz="1200" noProof="0" dirty="0">
                <a:solidFill>
                  <a:srgbClr val="C0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0</a:t>
            </a:r>
            <a:r>
              <a:rPr lang="en-US" sz="12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</a:t>
            </a:r>
            <a:r>
              <a:rPr lang="en-US" sz="1200" noProof="0" dirty="0">
                <a:solidFill>
                  <a:srgbClr val="C0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0</a:t>
            </a:r>
            <a:r>
              <a:rPr lang="en-US" sz="12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</a:t>
            </a:r>
            <a:r>
              <a:rPr lang="en-US" sz="1200" noProof="0" dirty="0">
                <a:solidFill>
                  <a:srgbClr val="C0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0</a:t>
            </a:r>
            <a:r>
              <a:rPr lang="en-US" sz="12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</a:t>
            </a:r>
            <a:r>
              <a:rPr lang="en-US" sz="1200" noProof="0" dirty="0">
                <a:solidFill>
                  <a:srgbClr val="C0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0</a:t>
            </a:r>
            <a:r>
              <a:rPr lang="en-US" sz="12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</a:t>
            </a:r>
            <a:r>
              <a:rPr lang="en-US" sz="1200" noProof="0" dirty="0">
                <a:solidFill>
                  <a:srgbClr val="C0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0</a:t>
            </a:r>
            <a:r>
              <a:rPr lang="en-US" sz="12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</a:t>
            </a:r>
            <a:r>
              <a:rPr lang="en-US" sz="1200" noProof="0" dirty="0">
                <a:solidFill>
                  <a:srgbClr val="C0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1</a:t>
            </a:r>
            <a:r>
              <a:rPr lang="en-US" sz="12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</a:t>
            </a:r>
            <a:r>
              <a:rPr lang="en-US" sz="1200" noProof="0" dirty="0">
                <a:solidFill>
                  <a:srgbClr val="C0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0</a:t>
            </a:r>
            <a:r>
              <a:rPr lang="en-US" sz="12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</a:t>
            </a:r>
            <a:r>
              <a:rPr lang="en-US" sz="1200" noProof="0" dirty="0">
                <a:solidFill>
                  <a:srgbClr val="C0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0</a:t>
            </a:r>
            <a:r>
              <a:rPr lang="en-US" sz="12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</a:t>
            </a:r>
            <a:r>
              <a:rPr lang="en-US" sz="1200" noProof="0" dirty="0">
                <a:solidFill>
                  <a:srgbClr val="C0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0</a:t>
            </a:r>
            <a:r>
              <a:rPr lang="en-US" sz="12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))</a:t>
            </a:r>
          </a:p>
          <a:p>
            <a:pPr lvl="0" eaLnBrk="0" fontAlgn="base" hangingPunct="0">
              <a:spcAft>
                <a:spcPct val="0"/>
              </a:spcAft>
            </a:pPr>
            <a:r>
              <a:rPr lang="en-US" sz="12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g &lt;- </a:t>
            </a:r>
            <a:r>
              <a:rPr lang="en-US" sz="1200" u="sng" noProof="0" dirty="0" err="1">
                <a:solidFill>
                  <a:schemeClr val="accent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graph_create</a:t>
            </a:r>
            <a:r>
              <a:rPr lang="en-US" sz="12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(hypotheses, transitions)</a:t>
            </a:r>
          </a:p>
          <a:p>
            <a:pPr lvl="0" eaLnBrk="0" fontAlgn="base" hangingPunct="0">
              <a:spcAft>
                <a:spcPct val="0"/>
              </a:spcAft>
            </a:pPr>
            <a:r>
              <a:rPr lang="en-US" sz="1200" noProof="0" dirty="0" err="1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plot_layout</a:t>
            </a:r>
            <a:r>
              <a:rPr lang="en-US" sz="12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 &lt;- </a:t>
            </a:r>
            <a:r>
              <a:rPr lang="en-US" sz="1200" u="sng" noProof="0" dirty="0" err="1">
                <a:solidFill>
                  <a:schemeClr val="accent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rbind</a:t>
            </a:r>
            <a:r>
              <a:rPr lang="en-US" sz="12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(c(</a:t>
            </a:r>
            <a:r>
              <a:rPr lang="en-US" sz="1200" noProof="0" dirty="0">
                <a:solidFill>
                  <a:srgbClr val="C0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0.15</a:t>
            </a:r>
            <a:r>
              <a:rPr lang="en-US" sz="12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</a:t>
            </a:r>
            <a:r>
              <a:rPr lang="en-US" sz="1200" noProof="0" dirty="0">
                <a:solidFill>
                  <a:srgbClr val="C0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0.5</a:t>
            </a:r>
            <a:r>
              <a:rPr lang="en-US" sz="12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), c(</a:t>
            </a:r>
            <a:r>
              <a:rPr lang="en-US" sz="1200" noProof="0" dirty="0">
                <a:solidFill>
                  <a:srgbClr val="C0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0.65</a:t>
            </a:r>
            <a:r>
              <a:rPr lang="en-US" sz="12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</a:t>
            </a:r>
            <a:r>
              <a:rPr lang="en-US" sz="1200" noProof="0" dirty="0">
                <a:solidFill>
                  <a:srgbClr val="C0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0.5</a:t>
            </a:r>
            <a:r>
              <a:rPr lang="en-US" sz="12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), c(</a:t>
            </a:r>
            <a:r>
              <a:rPr lang="en-US" sz="1200" noProof="0" dirty="0">
                <a:solidFill>
                  <a:srgbClr val="C0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1.15</a:t>
            </a:r>
            <a:r>
              <a:rPr lang="en-US" sz="12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</a:t>
            </a:r>
            <a:r>
              <a:rPr lang="en-US" sz="1200" noProof="0" dirty="0">
                <a:solidFill>
                  <a:srgbClr val="C0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0.5</a:t>
            </a:r>
            <a:r>
              <a:rPr lang="en-US" sz="12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), c(</a:t>
            </a:r>
            <a:r>
              <a:rPr lang="en-US" sz="1200" noProof="0" dirty="0">
                <a:solidFill>
                  <a:srgbClr val="C0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0</a:t>
            </a:r>
            <a:r>
              <a:rPr lang="en-US" sz="12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</a:t>
            </a:r>
            <a:r>
              <a:rPr lang="en-US" sz="1200" noProof="0" dirty="0">
                <a:solidFill>
                  <a:srgbClr val="C0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0</a:t>
            </a:r>
            <a:r>
              <a:rPr lang="en-US" sz="12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), c(</a:t>
            </a:r>
            <a:r>
              <a:rPr lang="en-US" sz="1200" noProof="0" dirty="0">
                <a:solidFill>
                  <a:srgbClr val="C0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0.5</a:t>
            </a:r>
            <a:r>
              <a:rPr lang="en-US" sz="12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</a:t>
            </a:r>
            <a:r>
              <a:rPr lang="en-US" sz="1200" noProof="0" dirty="0">
                <a:solidFill>
                  <a:srgbClr val="C0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0</a:t>
            </a:r>
            <a:r>
              <a:rPr lang="en-US" sz="12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), c(</a:t>
            </a:r>
            <a:r>
              <a:rPr lang="en-US" sz="1200" noProof="0" dirty="0">
                <a:solidFill>
                  <a:srgbClr val="C0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1</a:t>
            </a:r>
            <a:r>
              <a:rPr lang="en-US" sz="12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</a:t>
            </a:r>
            <a:r>
              <a:rPr lang="en-US" sz="1200" noProof="0" dirty="0">
                <a:solidFill>
                  <a:srgbClr val="C0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0</a:t>
            </a:r>
            <a:r>
              <a:rPr lang="en-US" sz="12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), c(</a:t>
            </a:r>
            <a:r>
              <a:rPr lang="en-US" sz="1200" noProof="0" dirty="0">
                <a:solidFill>
                  <a:srgbClr val="C0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0.3</a:t>
            </a:r>
            <a:r>
              <a:rPr lang="en-US" sz="12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</a:t>
            </a:r>
            <a:r>
              <a:rPr lang="en-US" sz="1200" noProof="0" dirty="0">
                <a:solidFill>
                  <a:srgbClr val="C0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0</a:t>
            </a:r>
            <a:r>
              <a:rPr lang="en-US" sz="12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), c(</a:t>
            </a:r>
            <a:r>
              <a:rPr lang="en-US" sz="1200" noProof="0" dirty="0">
                <a:solidFill>
                  <a:srgbClr val="C0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0.8</a:t>
            </a:r>
            <a:r>
              <a:rPr lang="en-US" sz="12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</a:t>
            </a:r>
            <a:r>
              <a:rPr lang="en-US" sz="1200" noProof="0" dirty="0">
                <a:solidFill>
                  <a:srgbClr val="C0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0</a:t>
            </a:r>
            <a:r>
              <a:rPr lang="en-US" sz="12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), c(</a:t>
            </a:r>
            <a:r>
              <a:rPr lang="en-US" sz="1200" noProof="0" dirty="0">
                <a:solidFill>
                  <a:srgbClr val="C0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1.3</a:t>
            </a:r>
            <a:r>
              <a:rPr lang="en-US" sz="12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</a:t>
            </a:r>
            <a:r>
              <a:rPr lang="en-US" sz="1200" noProof="0" dirty="0">
                <a:solidFill>
                  <a:srgbClr val="C0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0</a:t>
            </a:r>
            <a:r>
              <a:rPr lang="en-US" sz="12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))</a:t>
            </a:r>
          </a:p>
          <a:p>
            <a:pPr lvl="0" eaLnBrk="0" fontAlgn="base" hangingPunct="0">
              <a:spcAft>
                <a:spcPct val="0"/>
              </a:spcAft>
            </a:pPr>
            <a:r>
              <a:rPr lang="en-US" sz="1200" u="sng" noProof="0" dirty="0">
                <a:solidFill>
                  <a:schemeClr val="accent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plot</a:t>
            </a:r>
            <a:r>
              <a:rPr lang="en-US" sz="12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(g, layout = </a:t>
            </a:r>
            <a:r>
              <a:rPr lang="en-US" sz="1200" noProof="0" dirty="0" err="1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plot_layout</a:t>
            </a:r>
            <a:r>
              <a:rPr lang="en-US" sz="12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eps = epsilon, </a:t>
            </a:r>
            <a:r>
              <a:rPr lang="en-US" sz="1200" noProof="0" dirty="0" err="1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edge_curves</a:t>
            </a:r>
            <a:r>
              <a:rPr lang="en-US" sz="12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 = c(pairs = </a:t>
            </a:r>
            <a:r>
              <a:rPr lang="en-US" sz="1200" noProof="0" dirty="0">
                <a:solidFill>
                  <a:srgbClr val="C0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0.95</a:t>
            </a:r>
            <a:r>
              <a:rPr lang="en-US" sz="12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), </a:t>
            </a:r>
            <a:r>
              <a:rPr lang="en-US" sz="1200" noProof="0" dirty="0" err="1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vertex.size</a:t>
            </a:r>
            <a:r>
              <a:rPr lang="en-US" sz="12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 = </a:t>
            </a:r>
            <a:r>
              <a:rPr lang="en-US" sz="1200" noProof="0" dirty="0">
                <a:solidFill>
                  <a:srgbClr val="C0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15</a:t>
            </a:r>
            <a:r>
              <a:rPr lang="en-US" sz="12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margins = c(</a:t>
            </a:r>
            <a:r>
              <a:rPr lang="en-US" sz="1200" noProof="0" dirty="0">
                <a:solidFill>
                  <a:srgbClr val="C0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1</a:t>
            </a:r>
            <a:r>
              <a:rPr lang="en-US" sz="12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</a:t>
            </a:r>
            <a:r>
              <a:rPr lang="en-US" sz="1200" noProof="0" dirty="0">
                <a:solidFill>
                  <a:srgbClr val="C0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1</a:t>
            </a:r>
            <a:r>
              <a:rPr lang="en-US" sz="12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</a:t>
            </a:r>
            <a:r>
              <a:rPr lang="en-US" sz="1200" noProof="0" dirty="0">
                <a:solidFill>
                  <a:srgbClr val="C0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3</a:t>
            </a:r>
            <a:r>
              <a:rPr lang="en-US" sz="12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</a:t>
            </a:r>
            <a:r>
              <a:rPr lang="en-US" sz="1200" noProof="0" dirty="0">
                <a:solidFill>
                  <a:srgbClr val="C0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1</a:t>
            </a:r>
            <a:r>
              <a:rPr lang="en-US" sz="12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))</a:t>
            </a:r>
            <a:endParaRPr lang="en-US" sz="1200" noProof="0" dirty="0">
              <a:solidFill>
                <a:srgbClr val="54565B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2A066D2-F42E-8198-42B5-920D5EF58E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 noProof="0"/>
              <a:t>Bretz, Chen, Xi | ISBS | October 2026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228950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ADC35-2954-4E52-BE3F-E02DED7407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975798" cy="994172"/>
          </a:xfrm>
        </p:spPr>
        <p:txBody>
          <a:bodyPr>
            <a:normAutofit/>
          </a:bodyPr>
          <a:lstStyle/>
          <a:p>
            <a:r>
              <a:rPr lang="en-US" sz="3000" noProof="0" dirty="0"/>
              <a:t>Hypothetical example based on CANTOS trial</a:t>
            </a:r>
            <a:br>
              <a:rPr lang="en-US" sz="3000" noProof="0" dirty="0">
                <a:ea typeface="Calibri Light"/>
                <a:cs typeface="Calibri Light"/>
              </a:rPr>
            </a:br>
            <a:r>
              <a:rPr lang="en-US" sz="2200" i="1" noProof="0" dirty="0"/>
              <a:t>Perform testing</a:t>
            </a:r>
            <a:endParaRPr lang="en-US" sz="2200" i="1" noProof="0" dirty="0">
              <a:ea typeface="Calibri Light"/>
              <a:cs typeface="Calibri Light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C66AEC-4B4B-11CF-8433-A8F84D81E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47CF9-5B10-D24F-A8D7-45A9778164F7}" type="slidenum">
              <a:rPr lang="en-US" noProof="0" smtClean="0"/>
              <a:pPr/>
              <a:t>113</a:t>
            </a:fld>
            <a:endParaRPr lang="en-US" noProof="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1A498DC-1F05-087D-3844-0DFBE213463A}"/>
              </a:ext>
            </a:extLst>
          </p:cNvPr>
          <p:cNvSpPr txBox="1"/>
          <p:nvPr/>
        </p:nvSpPr>
        <p:spPr>
          <a:xfrm>
            <a:off x="369637" y="1294477"/>
            <a:ext cx="4274371" cy="30469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91440" tIns="45720" rIns="91440" bIns="45720" anchor="t">
            <a:spAutoFit/>
          </a:bodyPr>
          <a:lstStyle/>
          <a:p>
            <a:pPr eaLnBrk="0" fontAlgn="base" hangingPunct="0">
              <a:spcAft>
                <a:spcPct val="0"/>
              </a:spcAft>
            </a:pPr>
            <a:r>
              <a:rPr lang="en-US" sz="1600" noProof="0" dirty="0" err="1">
                <a:latin typeface="Courier New"/>
                <a:ea typeface="var(--bs-font-monospace)"/>
                <a:cs typeface="Courier New"/>
              </a:rPr>
              <a:t>corr</a:t>
            </a:r>
            <a:r>
              <a:rPr lang="en-US" sz="1600" noProof="0" dirty="0">
                <a:latin typeface="Courier New"/>
                <a:ea typeface="var(--bs-font-monospace)"/>
                <a:cs typeface="Courier New"/>
              </a:rPr>
              <a:t> &lt;- matrix(0.4, </a:t>
            </a:r>
            <a:r>
              <a:rPr lang="en-US" sz="1600" noProof="0" dirty="0" err="1">
                <a:latin typeface="Courier New"/>
                <a:ea typeface="var(--bs-font-monospace)"/>
                <a:cs typeface="Courier New"/>
              </a:rPr>
              <a:t>nrow</a:t>
            </a:r>
            <a:r>
              <a:rPr lang="en-US" sz="1600" noProof="0" dirty="0">
                <a:latin typeface="Courier New"/>
                <a:ea typeface="var(--bs-font-monospace)"/>
                <a:cs typeface="Courier New"/>
              </a:rPr>
              <a:t> = 3, </a:t>
            </a:r>
            <a:r>
              <a:rPr lang="en-US" sz="1600" noProof="0" dirty="0" err="1">
                <a:latin typeface="Courier New"/>
                <a:ea typeface="var(--bs-font-monospace)"/>
                <a:cs typeface="Courier New"/>
              </a:rPr>
              <a:t>ncol</a:t>
            </a:r>
            <a:r>
              <a:rPr lang="en-US" sz="1600" noProof="0" dirty="0">
                <a:latin typeface="Courier New"/>
                <a:ea typeface="var(--bs-font-monospace)"/>
                <a:cs typeface="Courier New"/>
              </a:rPr>
              <a:t> = 3)</a:t>
            </a:r>
          </a:p>
          <a:p>
            <a:pPr>
              <a:spcAft>
                <a:spcPct val="0"/>
              </a:spcAft>
            </a:pPr>
            <a:r>
              <a:rPr lang="en-US" sz="1600" noProof="0" dirty="0" err="1">
                <a:latin typeface="Courier New"/>
                <a:ea typeface="var(--bs-font-monospace)"/>
                <a:cs typeface="Courier New"/>
              </a:rPr>
              <a:t>diag</a:t>
            </a:r>
            <a:r>
              <a:rPr lang="en-US" sz="1600" noProof="0" dirty="0">
                <a:latin typeface="Courier New"/>
                <a:ea typeface="var(--bs-font-monospace)"/>
                <a:cs typeface="Courier New"/>
              </a:rPr>
              <a:t>(</a:t>
            </a:r>
            <a:r>
              <a:rPr lang="en-US" sz="1600" noProof="0" dirty="0" err="1">
                <a:latin typeface="Courier New"/>
                <a:ea typeface="var(--bs-font-monospace)"/>
                <a:cs typeface="Courier New"/>
              </a:rPr>
              <a:t>corr</a:t>
            </a:r>
            <a:r>
              <a:rPr lang="en-US" sz="1600" noProof="0" dirty="0">
                <a:latin typeface="Courier New"/>
                <a:ea typeface="var(--bs-font-monospace)"/>
                <a:cs typeface="Courier New"/>
              </a:rPr>
              <a:t>) &lt;- 1</a:t>
            </a:r>
          </a:p>
          <a:p>
            <a:pPr>
              <a:spcAft>
                <a:spcPct val="0"/>
              </a:spcAft>
            </a:pPr>
            <a:endParaRPr lang="en-US" sz="1600" u="sng" noProof="0" dirty="0">
              <a:solidFill>
                <a:schemeClr val="accent1"/>
              </a:solidFill>
              <a:latin typeface="Courier New"/>
              <a:ea typeface="var(--bs-font-monospace)"/>
              <a:cs typeface="Courier New"/>
            </a:endParaRPr>
          </a:p>
          <a:p>
            <a:pPr lvl="0">
              <a:spcAft>
                <a:spcPct val="0"/>
              </a:spcAft>
            </a:pPr>
            <a:r>
              <a:rPr lang="en-US" sz="1600" u="sng" noProof="0" dirty="0" err="1">
                <a:solidFill>
                  <a:schemeClr val="accent1"/>
                </a:solidFill>
                <a:latin typeface="Courier New"/>
                <a:ea typeface="var(--bs-font-monospace)"/>
                <a:cs typeface="Courier New"/>
              </a:rPr>
              <a:t>graph_test_closure</a:t>
            </a:r>
            <a:r>
              <a:rPr lang="en-US" sz="1600" noProof="0" dirty="0">
                <a:solidFill>
                  <a:srgbClr val="111111"/>
                </a:solidFill>
                <a:latin typeface="Courier New"/>
                <a:ea typeface="var(--bs-font-monospace)"/>
                <a:cs typeface="Courier New"/>
              </a:rPr>
              <a:t>(</a:t>
            </a:r>
            <a:endParaRPr lang="en-US" noProof="0" dirty="0">
              <a:latin typeface="Courier New"/>
              <a:cs typeface="Courier New"/>
            </a:endParaRPr>
          </a:p>
          <a:p>
            <a:pPr lvl="0" eaLnBrk="0" fontAlgn="base" hangingPunct="0">
              <a:spcAft>
                <a:spcPct val="0"/>
              </a:spcAft>
            </a:pPr>
            <a:r>
              <a:rPr lang="en-US" sz="1600" noProof="0" dirty="0">
                <a:solidFill>
                  <a:srgbClr val="111111"/>
                </a:solidFill>
                <a:latin typeface="Courier New"/>
                <a:ea typeface="var(--bs-font-monospace)"/>
                <a:cs typeface="Courier New"/>
              </a:rPr>
              <a:t>    g,</a:t>
            </a:r>
          </a:p>
          <a:p>
            <a:pPr lvl="0" eaLnBrk="0" fontAlgn="base" hangingPunct="0">
              <a:spcAft>
                <a:spcPct val="0"/>
              </a:spcAft>
            </a:pPr>
            <a:r>
              <a:rPr lang="en-US" sz="1600" noProof="0" dirty="0">
                <a:solidFill>
                  <a:srgbClr val="111111"/>
                </a:solidFill>
                <a:latin typeface="Courier New"/>
                <a:ea typeface="var(--bs-font-monospace)"/>
                <a:cs typeface="Courier New"/>
              </a:rPr>
              <a:t>    p = </a:t>
            </a:r>
            <a:r>
              <a:rPr lang="en-US" sz="1600" noProof="0" dirty="0" err="1">
                <a:solidFill>
                  <a:srgbClr val="111111"/>
                </a:solidFill>
                <a:latin typeface="Courier New"/>
                <a:ea typeface="var(--bs-font-monospace)"/>
                <a:cs typeface="Courier New"/>
              </a:rPr>
              <a:t>pvalues</a:t>
            </a:r>
            <a:r>
              <a:rPr lang="en-US" sz="1600" noProof="0" dirty="0">
                <a:solidFill>
                  <a:srgbClr val="111111"/>
                </a:solidFill>
                <a:latin typeface="Courier New"/>
                <a:ea typeface="var(--bs-font-monospace)"/>
                <a:cs typeface="Courier New"/>
              </a:rPr>
              <a:t>,</a:t>
            </a:r>
          </a:p>
          <a:p>
            <a:pPr lvl="0" eaLnBrk="0" fontAlgn="base" hangingPunct="0">
              <a:spcAft>
                <a:spcPct val="0"/>
              </a:spcAft>
            </a:pPr>
            <a:r>
              <a:rPr lang="en-US" sz="1600" noProof="0" dirty="0">
                <a:solidFill>
                  <a:srgbClr val="111111"/>
                </a:solidFill>
                <a:latin typeface="Courier New"/>
                <a:ea typeface="var(--bs-font-monospace)"/>
                <a:cs typeface="Courier New"/>
              </a:rPr>
              <a:t>    alpha = </a:t>
            </a:r>
            <a:r>
              <a:rPr lang="en-US" sz="1600" noProof="0" dirty="0">
                <a:solidFill>
                  <a:srgbClr val="C00000"/>
                </a:solidFill>
                <a:latin typeface="Courier New"/>
                <a:ea typeface="var(--bs-font-monospace)"/>
                <a:cs typeface="Courier New"/>
              </a:rPr>
              <a:t>0.0245</a:t>
            </a:r>
            <a:r>
              <a:rPr lang="en-US" sz="1600" noProof="0" dirty="0">
                <a:solidFill>
                  <a:srgbClr val="111111"/>
                </a:solidFill>
                <a:latin typeface="Courier New"/>
                <a:ea typeface="var(--bs-font-monospace)"/>
                <a:cs typeface="Courier New"/>
              </a:rPr>
              <a:t>,</a:t>
            </a:r>
          </a:p>
          <a:p>
            <a:pPr lvl="0" eaLnBrk="0" fontAlgn="base" hangingPunct="0">
              <a:spcAft>
                <a:spcPct val="0"/>
              </a:spcAft>
            </a:pPr>
            <a:r>
              <a:rPr lang="en-US" sz="1600" noProof="0" dirty="0">
                <a:solidFill>
                  <a:srgbClr val="111111"/>
                </a:solidFill>
                <a:latin typeface="Courier New"/>
                <a:ea typeface="var(--bs-font-monospace)"/>
                <a:cs typeface="Courier New"/>
              </a:rPr>
              <a:t>    </a:t>
            </a:r>
            <a:r>
              <a:rPr lang="en-US" sz="1600" noProof="0" dirty="0" err="1">
                <a:solidFill>
                  <a:srgbClr val="111111"/>
                </a:solidFill>
                <a:highlight>
                  <a:srgbClr val="FFFF00"/>
                </a:highlight>
                <a:latin typeface="Courier New"/>
                <a:ea typeface="var(--bs-font-monospace)"/>
                <a:cs typeface="Courier New"/>
              </a:rPr>
              <a:t>test_groups</a:t>
            </a:r>
            <a:r>
              <a:rPr lang="en-US" sz="1600" noProof="0" dirty="0">
                <a:solidFill>
                  <a:srgbClr val="111111"/>
                </a:solidFill>
                <a:highlight>
                  <a:srgbClr val="FFFF00"/>
                </a:highlight>
                <a:latin typeface="Courier New"/>
                <a:ea typeface="var(--bs-font-monospace)"/>
                <a:cs typeface="Courier New"/>
              </a:rPr>
              <a:t> = list(</a:t>
            </a:r>
            <a:r>
              <a:rPr lang="en-US" sz="1600" noProof="0" dirty="0">
                <a:solidFill>
                  <a:srgbClr val="C00000"/>
                </a:solidFill>
                <a:highlight>
                  <a:srgbClr val="FFFF00"/>
                </a:highlight>
                <a:latin typeface="Courier New"/>
                <a:ea typeface="var(--bs-font-monospace)"/>
                <a:cs typeface="Courier New"/>
              </a:rPr>
              <a:t>1:3</a:t>
            </a:r>
            <a:r>
              <a:rPr lang="en-US" sz="1600" noProof="0" dirty="0">
                <a:solidFill>
                  <a:srgbClr val="111111"/>
                </a:solidFill>
                <a:highlight>
                  <a:srgbClr val="FFFF00"/>
                </a:highlight>
                <a:latin typeface="Courier New"/>
                <a:ea typeface="var(--bs-font-monospace)"/>
                <a:cs typeface="Courier New"/>
              </a:rPr>
              <a:t>, </a:t>
            </a:r>
            <a:r>
              <a:rPr lang="en-US" sz="1600" noProof="0" dirty="0">
                <a:solidFill>
                  <a:srgbClr val="C00000"/>
                </a:solidFill>
                <a:highlight>
                  <a:srgbClr val="FFFF00"/>
                </a:highlight>
                <a:latin typeface="Courier New"/>
                <a:ea typeface="var(--bs-font-monospace)"/>
                <a:cs typeface="Courier New"/>
              </a:rPr>
              <a:t>4:9</a:t>
            </a:r>
            <a:r>
              <a:rPr lang="en-US" sz="1600" noProof="0" dirty="0">
                <a:solidFill>
                  <a:srgbClr val="111111"/>
                </a:solidFill>
                <a:highlight>
                  <a:srgbClr val="FFFF00"/>
                </a:highlight>
                <a:latin typeface="Courier New"/>
                <a:ea typeface="var(--bs-font-monospace)"/>
                <a:cs typeface="Courier New"/>
              </a:rPr>
              <a:t>),</a:t>
            </a:r>
          </a:p>
          <a:p>
            <a:pPr lvl="0" eaLnBrk="0" fontAlgn="base" hangingPunct="0">
              <a:spcAft>
                <a:spcPct val="0"/>
              </a:spcAft>
            </a:pPr>
            <a:r>
              <a:rPr lang="en-US" sz="1600" noProof="0" dirty="0">
                <a:solidFill>
                  <a:srgbClr val="111111"/>
                </a:solidFill>
                <a:highlight>
                  <a:srgbClr val="FFFF00"/>
                </a:highlight>
                <a:latin typeface="Courier New"/>
                <a:ea typeface="var(--bs-font-monospace)"/>
                <a:cs typeface="Courier New"/>
              </a:rPr>
              <a:t>    </a:t>
            </a:r>
            <a:r>
              <a:rPr lang="en-US" sz="1600" noProof="0" dirty="0" err="1">
                <a:solidFill>
                  <a:srgbClr val="111111"/>
                </a:solidFill>
                <a:highlight>
                  <a:srgbClr val="FFFF00"/>
                </a:highlight>
                <a:latin typeface="Courier New"/>
                <a:ea typeface="var(--bs-font-monospace)"/>
                <a:cs typeface="Courier New"/>
              </a:rPr>
              <a:t>test_types</a:t>
            </a:r>
            <a:r>
              <a:rPr lang="en-US" sz="1600" noProof="0" dirty="0">
                <a:solidFill>
                  <a:srgbClr val="111111"/>
                </a:solidFill>
                <a:highlight>
                  <a:srgbClr val="FFFF00"/>
                </a:highlight>
                <a:latin typeface="Courier New"/>
                <a:ea typeface="var(--bs-font-monospace)"/>
                <a:cs typeface="Courier New"/>
              </a:rPr>
              <a:t> = c("parametric", "</a:t>
            </a:r>
            <a:r>
              <a:rPr lang="en-US" sz="1600" noProof="0" dirty="0" err="1">
                <a:solidFill>
                  <a:srgbClr val="111111"/>
                </a:solidFill>
                <a:highlight>
                  <a:srgbClr val="FFFF00"/>
                </a:highlight>
                <a:latin typeface="Courier New"/>
                <a:ea typeface="var(--bs-font-monospace)"/>
                <a:cs typeface="Courier New"/>
              </a:rPr>
              <a:t>bonferroni</a:t>
            </a:r>
            <a:r>
              <a:rPr lang="en-US" sz="1600" noProof="0" dirty="0">
                <a:solidFill>
                  <a:srgbClr val="111111"/>
                </a:solidFill>
                <a:highlight>
                  <a:srgbClr val="FFFF00"/>
                </a:highlight>
                <a:latin typeface="Courier New"/>
                <a:ea typeface="var(--bs-font-monospace)"/>
                <a:cs typeface="Courier New"/>
              </a:rPr>
              <a:t>"),</a:t>
            </a:r>
          </a:p>
          <a:p>
            <a:pPr lvl="0" eaLnBrk="0" fontAlgn="base" hangingPunct="0">
              <a:spcAft>
                <a:spcPct val="0"/>
              </a:spcAft>
            </a:pPr>
            <a:r>
              <a:rPr lang="en-US" sz="1600" noProof="0" dirty="0">
                <a:solidFill>
                  <a:srgbClr val="111111"/>
                </a:solidFill>
                <a:highlight>
                  <a:srgbClr val="FFFF00"/>
                </a:highlight>
                <a:latin typeface="Courier New"/>
                <a:ea typeface="var(--bs-font-monospace)"/>
                <a:cs typeface="Courier New"/>
              </a:rPr>
              <a:t>    </a:t>
            </a:r>
            <a:r>
              <a:rPr lang="en-US" sz="1600" noProof="0" dirty="0" err="1">
                <a:solidFill>
                  <a:srgbClr val="111111"/>
                </a:solidFill>
                <a:highlight>
                  <a:srgbClr val="FFFF00"/>
                </a:highlight>
                <a:latin typeface="Courier New"/>
                <a:ea typeface="var(--bs-font-monospace)"/>
                <a:cs typeface="Courier New"/>
              </a:rPr>
              <a:t>test_corr</a:t>
            </a:r>
            <a:r>
              <a:rPr lang="en-US" sz="1600" noProof="0" dirty="0">
                <a:solidFill>
                  <a:srgbClr val="111111"/>
                </a:solidFill>
                <a:highlight>
                  <a:srgbClr val="FFFF00"/>
                </a:highlight>
                <a:latin typeface="Courier New"/>
                <a:ea typeface="var(--bs-font-monospace)"/>
                <a:cs typeface="Courier New"/>
              </a:rPr>
              <a:t> = list(</a:t>
            </a:r>
            <a:r>
              <a:rPr lang="en-US" sz="1600" noProof="0" dirty="0" err="1">
                <a:solidFill>
                  <a:srgbClr val="111111"/>
                </a:solidFill>
                <a:highlight>
                  <a:srgbClr val="FFFF00"/>
                </a:highlight>
                <a:latin typeface="Courier New"/>
                <a:ea typeface="var(--bs-font-monospace)"/>
                <a:cs typeface="Courier New"/>
              </a:rPr>
              <a:t>corr</a:t>
            </a:r>
            <a:r>
              <a:rPr lang="en-US" sz="1600" noProof="0" dirty="0">
                <a:solidFill>
                  <a:srgbClr val="111111"/>
                </a:solidFill>
                <a:highlight>
                  <a:srgbClr val="FFFF00"/>
                </a:highlight>
                <a:latin typeface="Courier New"/>
                <a:ea typeface="var(--bs-font-monospace)"/>
                <a:cs typeface="Courier New"/>
              </a:rPr>
              <a:t>, NA))</a:t>
            </a:r>
            <a:endParaRPr lang="en-US" sz="1600" noProof="0" dirty="0">
              <a:solidFill>
                <a:srgbClr val="54565B"/>
              </a:solidFill>
              <a:highlight>
                <a:srgbClr val="FFFF00"/>
              </a:highlight>
              <a:latin typeface="Courier New"/>
              <a:cs typeface="Courier New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3804CF-E195-BEB1-AC9D-08628CC3E24C}"/>
              </a:ext>
            </a:extLst>
          </p:cNvPr>
          <p:cNvSpPr txBox="1"/>
          <p:nvPr/>
        </p:nvSpPr>
        <p:spPr>
          <a:xfrm>
            <a:off x="4932040" y="1294477"/>
            <a:ext cx="3888432" cy="280076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0" eaLnBrk="0" fontAlgn="base" hangingPunct="0">
              <a:spcAft>
                <a:spcPct val="0"/>
              </a:spcAft>
            </a:pPr>
            <a:r>
              <a:rPr lang="en-US" sz="16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Test summary ($outputs) </a:t>
            </a:r>
          </a:p>
          <a:p>
            <a:pPr lvl="0" eaLnBrk="0" fontAlgn="base" hangingPunct="0">
              <a:spcAft>
                <a:spcPct val="0"/>
              </a:spcAft>
            </a:pPr>
            <a:r>
              <a:rPr lang="en-US" sz="16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Hypothesis Adj. P-value Reject</a:t>
            </a:r>
          </a:p>
          <a:p>
            <a:pPr lvl="0" eaLnBrk="0" fontAlgn="base" hangingPunct="0">
              <a:spcAft>
                <a:spcPct val="0"/>
              </a:spcAft>
            </a:pPr>
            <a:r>
              <a:rPr lang="en-US" sz="16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       H11      0.06489  FALSE</a:t>
            </a:r>
          </a:p>
          <a:p>
            <a:pPr lvl="0" eaLnBrk="0" fontAlgn="base" hangingPunct="0">
              <a:spcAft>
                <a:spcPct val="0"/>
              </a:spcAft>
            </a:pPr>
            <a:r>
              <a:rPr lang="en-US" sz="16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       </a:t>
            </a:r>
            <a:r>
              <a:rPr lang="en-US" sz="1600" noProof="0" dirty="0">
                <a:solidFill>
                  <a:srgbClr val="111111"/>
                </a:solidFill>
                <a:highlight>
                  <a:srgbClr val="FFFF00"/>
                </a:highlight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H21      0.02406   TRUE</a:t>
            </a:r>
          </a:p>
          <a:p>
            <a:pPr lvl="0" eaLnBrk="0" fontAlgn="base" hangingPunct="0">
              <a:spcAft>
                <a:spcPct val="0"/>
              </a:spcAft>
            </a:pPr>
            <a:r>
              <a:rPr lang="en-US" sz="16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       H31      0.15000  FALSE</a:t>
            </a:r>
          </a:p>
          <a:p>
            <a:pPr lvl="0" eaLnBrk="0" fontAlgn="base" hangingPunct="0">
              <a:spcAft>
                <a:spcPct val="0"/>
              </a:spcAft>
            </a:pPr>
            <a:r>
              <a:rPr lang="en-US" sz="16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       H12      0.06489  FALSE</a:t>
            </a:r>
          </a:p>
          <a:p>
            <a:pPr lvl="0" eaLnBrk="0" fontAlgn="base" hangingPunct="0">
              <a:spcAft>
                <a:spcPct val="0"/>
              </a:spcAft>
            </a:pPr>
            <a:r>
              <a:rPr lang="en-US" sz="16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       </a:t>
            </a:r>
            <a:r>
              <a:rPr lang="en-US" sz="1600" noProof="0" dirty="0">
                <a:solidFill>
                  <a:srgbClr val="111111"/>
                </a:solidFill>
                <a:highlight>
                  <a:srgbClr val="FFFF00"/>
                </a:highlight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H22      0.02405   TRUE</a:t>
            </a:r>
          </a:p>
          <a:p>
            <a:pPr lvl="0" eaLnBrk="0" fontAlgn="base" hangingPunct="0">
              <a:spcAft>
                <a:spcPct val="0"/>
              </a:spcAft>
            </a:pPr>
            <a:r>
              <a:rPr lang="en-US" sz="16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       H32      0.15000  FALSE</a:t>
            </a:r>
          </a:p>
          <a:p>
            <a:pPr lvl="0" eaLnBrk="0" fontAlgn="base" hangingPunct="0">
              <a:spcAft>
                <a:spcPct val="0"/>
              </a:spcAft>
            </a:pPr>
            <a:r>
              <a:rPr lang="en-US" sz="16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       H13      0.06489  FALSE</a:t>
            </a:r>
          </a:p>
          <a:p>
            <a:pPr lvl="0" eaLnBrk="0" fontAlgn="base" hangingPunct="0">
              <a:spcAft>
                <a:spcPct val="0"/>
              </a:spcAft>
            </a:pPr>
            <a:r>
              <a:rPr lang="en-US" sz="16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       H23      0.06483  FALSE</a:t>
            </a:r>
          </a:p>
          <a:p>
            <a:pPr lvl="0" eaLnBrk="0" fontAlgn="base" hangingPunct="0">
              <a:spcAft>
                <a:spcPct val="0"/>
              </a:spcAft>
            </a:pPr>
            <a:r>
              <a:rPr lang="en-US" sz="16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       H33      0.15000  FALSE</a:t>
            </a:r>
            <a:endParaRPr lang="en-US" sz="1600" noProof="0" dirty="0">
              <a:solidFill>
                <a:srgbClr val="54565B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2F25BC-F86A-439D-9C9C-E9257D09E5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 noProof="0"/>
              <a:t>Bretz, Chen, Xi | ISBS | October 2026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9401765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3" grpId="0" animBg="1"/>
    </p:bld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ADC35-2954-4E52-BE3F-E02DED7407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975798" cy="994172"/>
          </a:xfrm>
        </p:spPr>
        <p:txBody>
          <a:bodyPr>
            <a:normAutofit/>
          </a:bodyPr>
          <a:lstStyle/>
          <a:p>
            <a:r>
              <a:rPr lang="en-US" sz="3000" noProof="0" dirty="0"/>
              <a:t>Hypothetical example based on CANTOS trial</a:t>
            </a:r>
            <a:br>
              <a:rPr lang="en-US" sz="2800" noProof="0" dirty="0"/>
            </a:br>
            <a:r>
              <a:rPr lang="en-US" sz="2200" i="1" noProof="0" dirty="0"/>
              <a:t>Closed tests</a:t>
            </a:r>
            <a:endParaRPr lang="en-US" sz="2200" i="1" noProof="0" dirty="0">
              <a:ea typeface="Calibri Light"/>
              <a:cs typeface="Calibri Light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C66AEC-4B4B-11CF-8433-A8F84D81E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47CF9-5B10-D24F-A8D7-45A9778164F7}" type="slidenum">
              <a:rPr lang="en-US" noProof="0" smtClean="0"/>
              <a:pPr/>
              <a:t>114</a:t>
            </a:fld>
            <a:endParaRPr lang="en-US" noProof="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1A498DC-1F05-087D-3844-0DFBE213463A}"/>
              </a:ext>
            </a:extLst>
          </p:cNvPr>
          <p:cNvSpPr txBox="1"/>
          <p:nvPr/>
        </p:nvSpPr>
        <p:spPr>
          <a:xfrm>
            <a:off x="369637" y="1275606"/>
            <a:ext cx="8306819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0" eaLnBrk="0" fontAlgn="base" hangingPunct="0">
              <a:spcAft>
                <a:spcPct val="0"/>
              </a:spcAft>
            </a:pPr>
            <a:r>
              <a:rPr lang="en-US" sz="1600" u="sng" noProof="0" dirty="0" err="1">
                <a:solidFill>
                  <a:schemeClr val="accent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graph_test_closure</a:t>
            </a:r>
            <a:r>
              <a:rPr lang="en-US" sz="16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(g, p = </a:t>
            </a:r>
            <a:r>
              <a:rPr lang="en-US" sz="1600" noProof="0" dirty="0" err="1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pvalues</a:t>
            </a:r>
            <a:r>
              <a:rPr lang="en-US" sz="16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alpha = </a:t>
            </a:r>
            <a:r>
              <a:rPr lang="en-US" sz="1600" noProof="0" dirty="0">
                <a:solidFill>
                  <a:srgbClr val="C0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0.0245</a:t>
            </a:r>
            <a:r>
              <a:rPr lang="en-US" sz="16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</a:t>
            </a:r>
            <a:r>
              <a:rPr lang="en-US" sz="1600" noProof="0" dirty="0" err="1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test_groups</a:t>
            </a:r>
            <a:r>
              <a:rPr lang="en-US" sz="16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 = list(</a:t>
            </a:r>
            <a:r>
              <a:rPr lang="en-US" sz="1600" noProof="0" dirty="0">
                <a:solidFill>
                  <a:srgbClr val="C0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1:3</a:t>
            </a:r>
            <a:r>
              <a:rPr lang="en-US" sz="16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</a:t>
            </a:r>
            <a:r>
              <a:rPr lang="en-US" sz="1600" noProof="0" dirty="0">
                <a:solidFill>
                  <a:srgbClr val="C0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4:9</a:t>
            </a:r>
            <a:r>
              <a:rPr lang="en-US" sz="16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), </a:t>
            </a:r>
            <a:r>
              <a:rPr lang="en-US" sz="1600" noProof="0" dirty="0" err="1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test_types</a:t>
            </a:r>
            <a:r>
              <a:rPr lang="en-US" sz="16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 = c("parametric", "</a:t>
            </a:r>
            <a:r>
              <a:rPr lang="en-US" sz="1600" noProof="0" dirty="0" err="1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bonferroni</a:t>
            </a:r>
            <a:r>
              <a:rPr lang="en-US" sz="16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"), </a:t>
            </a:r>
            <a:r>
              <a:rPr lang="en-US" sz="1600" noProof="0" dirty="0" err="1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test_corr</a:t>
            </a:r>
            <a:r>
              <a:rPr lang="en-US" sz="16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 = list(</a:t>
            </a:r>
            <a:r>
              <a:rPr lang="en-US" sz="1600" noProof="0" dirty="0" err="1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corr</a:t>
            </a:r>
            <a:r>
              <a:rPr lang="en-US" sz="16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NA), </a:t>
            </a:r>
            <a:r>
              <a:rPr lang="en-US" sz="1600" noProof="0" dirty="0" err="1">
                <a:solidFill>
                  <a:srgbClr val="111111"/>
                </a:solidFill>
                <a:highlight>
                  <a:srgbClr val="FFFF00"/>
                </a:highlight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test_values</a:t>
            </a:r>
            <a:r>
              <a:rPr lang="en-US" sz="1600" noProof="0" dirty="0">
                <a:solidFill>
                  <a:srgbClr val="111111"/>
                </a:solidFill>
                <a:highlight>
                  <a:srgbClr val="FFFF00"/>
                </a:highlight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 = TRUE</a:t>
            </a:r>
            <a:r>
              <a:rPr lang="en-US" sz="16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)</a:t>
            </a:r>
            <a:endParaRPr lang="en-US" sz="1600" noProof="0" dirty="0">
              <a:solidFill>
                <a:srgbClr val="54565B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3804CF-E195-BEB1-AC9D-08628CC3E24C}"/>
              </a:ext>
            </a:extLst>
          </p:cNvPr>
          <p:cNvSpPr txBox="1"/>
          <p:nvPr/>
        </p:nvSpPr>
        <p:spPr>
          <a:xfrm>
            <a:off x="107505" y="2546773"/>
            <a:ext cx="8928992" cy="23083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0" eaLnBrk="0" fontAlgn="base" hangingPunct="0">
              <a:spcAft>
                <a:spcPct val="0"/>
              </a:spcAft>
            </a:pPr>
            <a:r>
              <a:rPr lang="en-US" sz="16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Hypothesis Test       p      </a:t>
            </a:r>
            <a:r>
              <a:rPr lang="en-US" sz="1600" noProof="0" dirty="0" err="1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c_value</a:t>
            </a:r>
            <a:r>
              <a:rPr lang="en-US" sz="16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    Weight Alpha </a:t>
            </a:r>
            <a:r>
              <a:rPr lang="en-US" sz="1600" noProof="0" dirty="0" err="1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Inequality_holds</a:t>
            </a:r>
            <a:endParaRPr lang="en-US" sz="1600" noProof="0" dirty="0">
              <a:solidFill>
                <a:srgbClr val="111111"/>
              </a:solidFill>
              <a:latin typeface="Courier New" panose="02070309020205020404" pitchFamily="49" charset="0"/>
              <a:ea typeface="var(--bs-font-monospace)"/>
              <a:cs typeface="Courier New" panose="02070309020205020404" pitchFamily="49" charset="0"/>
            </a:endParaRPr>
          </a:p>
          <a:p>
            <a:pPr lvl="0" eaLnBrk="0" fontAlgn="base" hangingPunct="0">
              <a:spcAft>
                <a:spcPct val="0"/>
              </a:spcAft>
            </a:pPr>
            <a:r>
              <a:rPr lang="en-US" sz="16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H21    </a:t>
            </a:r>
            <a:r>
              <a:rPr lang="en-US" sz="1600" noProof="0" dirty="0">
                <a:solidFill>
                  <a:srgbClr val="111111"/>
                </a:solidFill>
                <a:highlight>
                  <a:srgbClr val="FFFF00"/>
                </a:highlight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parametric</a:t>
            </a:r>
            <a:r>
              <a:rPr lang="en-US" sz="16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 0.010375 1.0495852959 0.490 0.0245       </a:t>
            </a:r>
            <a:r>
              <a:rPr lang="en-US" sz="1600" noProof="0" dirty="0">
                <a:solidFill>
                  <a:srgbClr val="111111"/>
                </a:solidFill>
                <a:highlight>
                  <a:srgbClr val="FFFF00"/>
                </a:highlight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TRUE</a:t>
            </a:r>
          </a:p>
          <a:p>
            <a:pPr lvl="0" eaLnBrk="0" fontAlgn="base" hangingPunct="0">
              <a:spcAft>
                <a:spcPct val="0"/>
              </a:spcAft>
            </a:pPr>
            <a:r>
              <a:rPr lang="en-US" sz="16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H31    parametric 0.150000 1.0495852959 0.450 0.0245       FALSE</a:t>
            </a:r>
          </a:p>
          <a:p>
            <a:pPr lvl="0" eaLnBrk="0" fontAlgn="base" hangingPunct="0">
              <a:spcAft>
                <a:spcPct val="0"/>
              </a:spcAft>
            </a:pPr>
            <a:r>
              <a:rPr lang="en-US" sz="16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H12    </a:t>
            </a:r>
            <a:r>
              <a:rPr lang="en-US" sz="1600" noProof="0" dirty="0" err="1">
                <a:solidFill>
                  <a:srgbClr val="111111"/>
                </a:solidFill>
                <a:highlight>
                  <a:srgbClr val="FFFF00"/>
                </a:highlight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bonferroni</a:t>
            </a:r>
            <a:r>
              <a:rPr lang="en-US" sz="16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 0.002000              0.054 0.0245       FALSE</a:t>
            </a:r>
          </a:p>
          <a:p>
            <a:pPr lvl="0" eaLnBrk="0" fontAlgn="base" hangingPunct="0">
              <a:spcAft>
                <a:spcPct val="0"/>
              </a:spcAft>
            </a:pPr>
            <a:r>
              <a:rPr lang="en-US" sz="16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H22    </a:t>
            </a:r>
            <a:r>
              <a:rPr lang="en-US" sz="1600" noProof="0" dirty="0" err="1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bonferroni</a:t>
            </a:r>
            <a:r>
              <a:rPr lang="en-US" sz="16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 0.002500              0.000 0.0245       FALSE</a:t>
            </a:r>
          </a:p>
          <a:p>
            <a:pPr lvl="0" eaLnBrk="0" fontAlgn="base" hangingPunct="0">
              <a:spcAft>
                <a:spcPct val="0"/>
              </a:spcAft>
            </a:pPr>
            <a:r>
              <a:rPr lang="en-US" sz="16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H32    </a:t>
            </a:r>
            <a:r>
              <a:rPr lang="en-US" sz="1600" noProof="0" dirty="0" err="1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bonferroni</a:t>
            </a:r>
            <a:r>
              <a:rPr lang="en-US" sz="16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 0.060000              0.000 0.0245       FALSE</a:t>
            </a:r>
          </a:p>
          <a:p>
            <a:pPr lvl="0" eaLnBrk="0" fontAlgn="base" hangingPunct="0">
              <a:spcAft>
                <a:spcPct val="0"/>
              </a:spcAft>
            </a:pPr>
            <a:r>
              <a:rPr lang="en-US" sz="16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H13    </a:t>
            </a:r>
            <a:r>
              <a:rPr lang="en-US" sz="1600" noProof="0" dirty="0" err="1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bonferroni</a:t>
            </a:r>
            <a:r>
              <a:rPr lang="en-US" sz="16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 0.003000              0.006 0.0245       FALSE</a:t>
            </a:r>
          </a:p>
          <a:p>
            <a:pPr lvl="0" eaLnBrk="0" fontAlgn="base" hangingPunct="0">
              <a:spcAft>
                <a:spcPct val="0"/>
              </a:spcAft>
            </a:pPr>
            <a:r>
              <a:rPr lang="en-US" sz="16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H23    </a:t>
            </a:r>
            <a:r>
              <a:rPr lang="en-US" sz="1600" noProof="0" dirty="0" err="1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bonferroni</a:t>
            </a:r>
            <a:r>
              <a:rPr lang="en-US" sz="16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 0.010000              0.000 0.0245       FALSE</a:t>
            </a:r>
          </a:p>
          <a:p>
            <a:pPr lvl="0" eaLnBrk="0" fontAlgn="base" hangingPunct="0">
              <a:spcAft>
                <a:spcPct val="0"/>
              </a:spcAft>
            </a:pPr>
            <a:r>
              <a:rPr lang="en-US" sz="16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H33    </a:t>
            </a:r>
            <a:r>
              <a:rPr lang="en-US" sz="1600" noProof="0" dirty="0" err="1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bonferroni</a:t>
            </a:r>
            <a:r>
              <a:rPr lang="en-US" sz="16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 0.035000              0.000 0.0245       FALSE</a:t>
            </a:r>
            <a:endParaRPr lang="en-US" sz="1600" noProof="0" dirty="0">
              <a:solidFill>
                <a:srgbClr val="54565B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1B43666-BF82-C5AF-684E-CF0D1408FA2A}"/>
                  </a:ext>
                </a:extLst>
              </p:cNvPr>
              <p:cNvSpPr txBox="1"/>
              <p:nvPr/>
            </p:nvSpPr>
            <p:spPr>
              <a:xfrm>
                <a:off x="0" y="2211710"/>
                <a:ext cx="463082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noProof="0" dirty="0"/>
                  <a:t>I</a:t>
                </a:r>
                <a:r>
                  <a:rPr lang="en-US" sz="1800" noProof="0" dirty="0"/>
                  <a:t>ntersection hypothesis without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noProof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800" b="0" i="1" noProof="0" smtClean="0"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</m:sSub>
                  </m:oMath>
                </a14:m>
                <a:endParaRPr lang="en-US" noProof="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1B43666-BF82-C5AF-684E-CF0D1408FA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2211710"/>
                <a:ext cx="4630820" cy="369332"/>
              </a:xfrm>
              <a:prstGeom prst="rect">
                <a:avLst/>
              </a:prstGeom>
              <a:blipFill>
                <a:blip r:embed="rId2"/>
                <a:stretch>
                  <a:fillRect l="-1053"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B14FBC-14F2-4A5C-F300-AEB5F4D010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 noProof="0"/>
              <a:t>Bretz, Chen, Xi | ISBS | October 2026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358116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3" grpId="0" animBg="1"/>
      <p:bldP spid="6" grpId="0"/>
    </p:bld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ADC35-2954-4E52-BE3F-E02DED7407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975798" cy="994172"/>
          </a:xfrm>
        </p:spPr>
        <p:txBody>
          <a:bodyPr>
            <a:normAutofit/>
          </a:bodyPr>
          <a:lstStyle/>
          <a:p>
            <a:r>
              <a:rPr lang="en-US" sz="3000" noProof="0" dirty="0"/>
              <a:t>Hypothetical example based on CANTOS trial</a:t>
            </a:r>
            <a:br>
              <a:rPr lang="en-US" sz="3000" noProof="0" dirty="0">
                <a:ea typeface="Calibri Light"/>
                <a:cs typeface="Calibri Light"/>
              </a:rPr>
            </a:br>
            <a:r>
              <a:rPr lang="en-US" sz="2200" i="1" noProof="0" dirty="0"/>
              <a:t>Perform power simulation</a:t>
            </a:r>
            <a:endParaRPr lang="en-US" sz="2200" i="1" noProof="0" dirty="0">
              <a:ea typeface="Calibri Light"/>
              <a:cs typeface="Calibri Light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C66AEC-4B4B-11CF-8433-A8F84D81E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47CF9-5B10-D24F-A8D7-45A9778164F7}" type="slidenum">
              <a:rPr lang="en-US" noProof="0" smtClean="0"/>
              <a:pPr/>
              <a:t>115</a:t>
            </a:fld>
            <a:endParaRPr lang="en-US" noProof="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1A498DC-1F05-087D-3844-0DFBE213463A}"/>
              </a:ext>
            </a:extLst>
          </p:cNvPr>
          <p:cNvSpPr txBox="1"/>
          <p:nvPr/>
        </p:nvSpPr>
        <p:spPr>
          <a:xfrm>
            <a:off x="369637" y="1275606"/>
            <a:ext cx="8306819" cy="107721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91440" tIns="45720" rIns="91440" bIns="45720" anchor="t">
            <a:spAutoFit/>
          </a:bodyPr>
          <a:lstStyle/>
          <a:p>
            <a:pPr lvl="0" eaLnBrk="0" fontAlgn="base" hangingPunct="0">
              <a:spcAft>
                <a:spcPct val="0"/>
              </a:spcAft>
            </a:pPr>
            <a:r>
              <a:rPr lang="en-US" sz="1600" u="sng" noProof="0" dirty="0" err="1">
                <a:solidFill>
                  <a:schemeClr val="accent1"/>
                </a:solidFill>
                <a:latin typeface="Courier New"/>
                <a:ea typeface="var(--bs-font-monospace)"/>
                <a:cs typeface="Courier New"/>
              </a:rPr>
              <a:t>graph_calculate_power</a:t>
            </a:r>
            <a:r>
              <a:rPr lang="en-US" sz="1600" noProof="0" dirty="0">
                <a:solidFill>
                  <a:srgbClr val="111111"/>
                </a:solidFill>
                <a:latin typeface="Courier New"/>
                <a:ea typeface="var(--bs-font-monospace)"/>
                <a:cs typeface="Courier New"/>
              </a:rPr>
              <a:t>(g, alpha = </a:t>
            </a:r>
            <a:r>
              <a:rPr lang="en-US" sz="1600" noProof="0" dirty="0">
                <a:solidFill>
                  <a:srgbClr val="C00000"/>
                </a:solidFill>
                <a:latin typeface="Courier New"/>
                <a:ea typeface="var(--bs-font-monospace)"/>
                <a:cs typeface="Courier New"/>
              </a:rPr>
              <a:t>0.0245</a:t>
            </a:r>
            <a:r>
              <a:rPr lang="en-US" sz="1600" noProof="0" dirty="0">
                <a:solidFill>
                  <a:srgbClr val="111111"/>
                </a:solidFill>
                <a:latin typeface="Courier New"/>
                <a:ea typeface="var(--bs-font-monospace)"/>
                <a:cs typeface="Courier New"/>
              </a:rPr>
              <a:t>, </a:t>
            </a:r>
            <a:r>
              <a:rPr lang="en-US" sz="1600" noProof="0" dirty="0" err="1">
                <a:solidFill>
                  <a:srgbClr val="111111"/>
                </a:solidFill>
                <a:latin typeface="Courier New"/>
                <a:ea typeface="var(--bs-font-monospace)"/>
                <a:cs typeface="Courier New"/>
              </a:rPr>
              <a:t>sim_corr</a:t>
            </a:r>
            <a:r>
              <a:rPr lang="en-US" sz="1600" noProof="0" dirty="0">
                <a:solidFill>
                  <a:srgbClr val="111111"/>
                </a:solidFill>
                <a:latin typeface="Courier New"/>
                <a:ea typeface="var(--bs-font-monospace)"/>
                <a:cs typeface="Courier New"/>
              </a:rPr>
              <a:t> = </a:t>
            </a:r>
            <a:r>
              <a:rPr lang="en-US" sz="1600" noProof="0" dirty="0" err="1">
                <a:solidFill>
                  <a:srgbClr val="111111"/>
                </a:solidFill>
                <a:latin typeface="Courier New"/>
                <a:ea typeface="var(--bs-font-monospace)"/>
                <a:cs typeface="Courier New"/>
              </a:rPr>
              <a:t>corr_sim</a:t>
            </a:r>
            <a:r>
              <a:rPr lang="en-US" sz="1600" noProof="0" dirty="0">
                <a:solidFill>
                  <a:srgbClr val="111111"/>
                </a:solidFill>
                <a:latin typeface="Courier New"/>
                <a:ea typeface="var(--bs-font-monospace)"/>
                <a:cs typeface="Courier New"/>
              </a:rPr>
              <a:t>, </a:t>
            </a:r>
            <a:r>
              <a:rPr lang="en-US" sz="1600" noProof="0" dirty="0" err="1">
                <a:solidFill>
                  <a:srgbClr val="111111"/>
                </a:solidFill>
                <a:latin typeface="Courier New"/>
                <a:ea typeface="var(--bs-font-monospace)"/>
                <a:cs typeface="Courier New"/>
              </a:rPr>
              <a:t>sim_n</a:t>
            </a:r>
            <a:r>
              <a:rPr lang="en-US" sz="1600" noProof="0" dirty="0">
                <a:solidFill>
                  <a:srgbClr val="111111"/>
                </a:solidFill>
                <a:latin typeface="Courier New"/>
                <a:ea typeface="var(--bs-font-monospace)"/>
                <a:cs typeface="Courier New"/>
              </a:rPr>
              <a:t> = </a:t>
            </a:r>
            <a:r>
              <a:rPr lang="en-US" sz="1600" noProof="0" dirty="0">
                <a:solidFill>
                  <a:srgbClr val="C00000"/>
                </a:solidFill>
                <a:latin typeface="Courier New"/>
                <a:ea typeface="var(--bs-font-monospace)"/>
                <a:cs typeface="Courier New"/>
              </a:rPr>
              <a:t>1e5</a:t>
            </a:r>
            <a:r>
              <a:rPr lang="en-US" sz="1600" noProof="0" dirty="0">
                <a:solidFill>
                  <a:srgbClr val="111111"/>
                </a:solidFill>
                <a:latin typeface="Courier New"/>
                <a:ea typeface="var(--bs-font-monospace)"/>
                <a:cs typeface="Courier New"/>
              </a:rPr>
              <a:t>, </a:t>
            </a:r>
            <a:r>
              <a:rPr lang="en-US" sz="1600" noProof="0" dirty="0" err="1">
                <a:solidFill>
                  <a:srgbClr val="111111"/>
                </a:solidFill>
                <a:latin typeface="Courier New"/>
                <a:ea typeface="var(--bs-font-monospace)"/>
                <a:cs typeface="Courier New"/>
              </a:rPr>
              <a:t>power_marginal</a:t>
            </a:r>
            <a:r>
              <a:rPr lang="en-US" sz="1600" noProof="0" dirty="0">
                <a:solidFill>
                  <a:srgbClr val="111111"/>
                </a:solidFill>
                <a:latin typeface="Courier New"/>
                <a:ea typeface="var(--bs-font-monospace)"/>
                <a:cs typeface="Courier New"/>
              </a:rPr>
              <a:t> = c(</a:t>
            </a:r>
            <a:r>
              <a:rPr lang="en-US" sz="1600" noProof="0" dirty="0" err="1">
                <a:solidFill>
                  <a:srgbClr val="111111"/>
                </a:solidFill>
                <a:latin typeface="Courier New"/>
                <a:ea typeface="var(--bs-font-monospace)"/>
                <a:cs typeface="Courier New"/>
              </a:rPr>
              <a:t>marginal_power</a:t>
            </a:r>
            <a:r>
              <a:rPr lang="en-US" sz="1600" noProof="0" dirty="0">
                <a:solidFill>
                  <a:srgbClr val="111111"/>
                </a:solidFill>
                <a:latin typeface="Courier New"/>
                <a:ea typeface="var(--bs-font-monospace)"/>
                <a:cs typeface="Courier New"/>
              </a:rPr>
              <a:t>), </a:t>
            </a:r>
            <a:r>
              <a:rPr lang="en-US" sz="1600" noProof="0" dirty="0" err="1">
                <a:solidFill>
                  <a:srgbClr val="111111"/>
                </a:solidFill>
                <a:highlight>
                  <a:srgbClr val="FFFF00"/>
                </a:highlight>
                <a:latin typeface="Courier New"/>
                <a:ea typeface="var(--bs-font-monospace)"/>
                <a:cs typeface="Courier New"/>
              </a:rPr>
              <a:t>test_groups</a:t>
            </a:r>
            <a:r>
              <a:rPr lang="en-US" sz="1600" noProof="0" dirty="0">
                <a:solidFill>
                  <a:srgbClr val="111111"/>
                </a:solidFill>
                <a:highlight>
                  <a:srgbClr val="FFFF00"/>
                </a:highlight>
                <a:latin typeface="Courier New"/>
                <a:ea typeface="var(--bs-font-monospace)"/>
                <a:cs typeface="Courier New"/>
              </a:rPr>
              <a:t> = list(</a:t>
            </a:r>
            <a:r>
              <a:rPr lang="en-US" sz="1600" noProof="0" dirty="0">
                <a:solidFill>
                  <a:srgbClr val="C00000"/>
                </a:solidFill>
                <a:highlight>
                  <a:srgbClr val="FFFF00"/>
                </a:highlight>
                <a:latin typeface="Courier New"/>
                <a:ea typeface="var(--bs-font-monospace)"/>
                <a:cs typeface="Courier New"/>
              </a:rPr>
              <a:t>1:3</a:t>
            </a:r>
            <a:r>
              <a:rPr lang="en-US" sz="1600" noProof="0" dirty="0">
                <a:solidFill>
                  <a:srgbClr val="111111"/>
                </a:solidFill>
                <a:highlight>
                  <a:srgbClr val="FFFF00"/>
                </a:highlight>
                <a:latin typeface="Courier New"/>
                <a:ea typeface="var(--bs-font-monospace)"/>
                <a:cs typeface="Courier New"/>
              </a:rPr>
              <a:t>, </a:t>
            </a:r>
            <a:r>
              <a:rPr lang="en-US" sz="1600" noProof="0" dirty="0">
                <a:solidFill>
                  <a:srgbClr val="C00000"/>
                </a:solidFill>
                <a:highlight>
                  <a:srgbClr val="FFFF00"/>
                </a:highlight>
                <a:latin typeface="Courier New"/>
                <a:ea typeface="var(--bs-font-monospace)"/>
                <a:cs typeface="Courier New"/>
              </a:rPr>
              <a:t>4:9</a:t>
            </a:r>
            <a:r>
              <a:rPr lang="en-US" sz="1600" noProof="0" dirty="0">
                <a:solidFill>
                  <a:srgbClr val="111111"/>
                </a:solidFill>
                <a:highlight>
                  <a:srgbClr val="FFFF00"/>
                </a:highlight>
                <a:latin typeface="Courier New"/>
                <a:ea typeface="var(--bs-font-monospace)"/>
                <a:cs typeface="Courier New"/>
              </a:rPr>
              <a:t>), </a:t>
            </a:r>
            <a:r>
              <a:rPr lang="en-US" sz="1600" noProof="0" dirty="0" err="1">
                <a:solidFill>
                  <a:srgbClr val="111111"/>
                </a:solidFill>
                <a:highlight>
                  <a:srgbClr val="FFFF00"/>
                </a:highlight>
                <a:latin typeface="Courier New"/>
                <a:ea typeface="var(--bs-font-monospace)"/>
                <a:cs typeface="Courier New"/>
              </a:rPr>
              <a:t>test_types</a:t>
            </a:r>
            <a:r>
              <a:rPr lang="en-US" sz="1600" noProof="0" dirty="0">
                <a:solidFill>
                  <a:srgbClr val="111111"/>
                </a:solidFill>
                <a:highlight>
                  <a:srgbClr val="FFFF00"/>
                </a:highlight>
                <a:latin typeface="Courier New"/>
                <a:ea typeface="var(--bs-font-monospace)"/>
                <a:cs typeface="Courier New"/>
              </a:rPr>
              <a:t> = c("parametric", "</a:t>
            </a:r>
            <a:r>
              <a:rPr lang="en-US" sz="1600" noProof="0" dirty="0" err="1">
                <a:solidFill>
                  <a:srgbClr val="111111"/>
                </a:solidFill>
                <a:highlight>
                  <a:srgbClr val="FFFF00"/>
                </a:highlight>
                <a:latin typeface="Courier New"/>
                <a:ea typeface="var(--bs-font-monospace)"/>
                <a:cs typeface="Courier New"/>
              </a:rPr>
              <a:t>bonferroni</a:t>
            </a:r>
            <a:r>
              <a:rPr lang="en-US" sz="1600" noProof="0" dirty="0">
                <a:solidFill>
                  <a:srgbClr val="111111"/>
                </a:solidFill>
                <a:highlight>
                  <a:srgbClr val="FFFF00"/>
                </a:highlight>
                <a:latin typeface="Courier New"/>
                <a:ea typeface="var(--bs-font-monospace)"/>
                <a:cs typeface="Courier New"/>
              </a:rPr>
              <a:t>"), </a:t>
            </a:r>
            <a:r>
              <a:rPr lang="en-US" sz="1600" noProof="0" dirty="0" err="1">
                <a:solidFill>
                  <a:srgbClr val="111111"/>
                </a:solidFill>
                <a:highlight>
                  <a:srgbClr val="FFFF00"/>
                </a:highlight>
                <a:latin typeface="Courier New"/>
                <a:ea typeface="var(--bs-font-monospace)"/>
                <a:cs typeface="Courier New"/>
              </a:rPr>
              <a:t>test_corr</a:t>
            </a:r>
            <a:r>
              <a:rPr lang="en-US" sz="1600" noProof="0" dirty="0">
                <a:solidFill>
                  <a:srgbClr val="111111"/>
                </a:solidFill>
                <a:highlight>
                  <a:srgbClr val="FFFF00"/>
                </a:highlight>
                <a:latin typeface="Courier New"/>
                <a:ea typeface="var(--bs-font-monospace)"/>
                <a:cs typeface="Courier New"/>
              </a:rPr>
              <a:t> = list(</a:t>
            </a:r>
            <a:r>
              <a:rPr lang="en-US" sz="1600" noProof="0" dirty="0" err="1">
                <a:solidFill>
                  <a:srgbClr val="111111"/>
                </a:solidFill>
                <a:highlight>
                  <a:srgbClr val="FFFF00"/>
                </a:highlight>
                <a:latin typeface="Courier New"/>
                <a:ea typeface="var(--bs-font-monospace)"/>
                <a:cs typeface="Courier New"/>
              </a:rPr>
              <a:t>corr</a:t>
            </a:r>
            <a:r>
              <a:rPr lang="en-US" sz="1600" noProof="0" dirty="0">
                <a:solidFill>
                  <a:srgbClr val="111111"/>
                </a:solidFill>
                <a:highlight>
                  <a:srgbClr val="FFFF00"/>
                </a:highlight>
                <a:latin typeface="Courier New"/>
                <a:ea typeface="var(--bs-font-monospace)"/>
                <a:cs typeface="Courier New"/>
              </a:rPr>
              <a:t>, NA)</a:t>
            </a:r>
            <a:r>
              <a:rPr lang="en-US" sz="1600" noProof="0" dirty="0">
                <a:solidFill>
                  <a:srgbClr val="111111"/>
                </a:solidFill>
                <a:latin typeface="Courier New"/>
                <a:ea typeface="var(--bs-font-monospace)"/>
                <a:cs typeface="Courier New"/>
              </a:rPr>
              <a:t>, </a:t>
            </a:r>
            <a:r>
              <a:rPr lang="en-US" sz="1600" noProof="0" dirty="0" err="1">
                <a:solidFill>
                  <a:srgbClr val="111111"/>
                </a:solidFill>
                <a:latin typeface="Courier New"/>
                <a:ea typeface="var(--bs-font-monospace)"/>
                <a:cs typeface="Courier New"/>
              </a:rPr>
              <a:t>sim_success</a:t>
            </a:r>
            <a:r>
              <a:rPr lang="en-US" sz="1600" noProof="0" dirty="0">
                <a:solidFill>
                  <a:srgbClr val="111111"/>
                </a:solidFill>
                <a:latin typeface="Courier New"/>
                <a:ea typeface="var(--bs-font-monospace)"/>
                <a:cs typeface="Courier New"/>
              </a:rPr>
              <a:t> = </a:t>
            </a:r>
            <a:r>
              <a:rPr lang="en-US" sz="1600" noProof="0" dirty="0" err="1">
                <a:solidFill>
                  <a:srgbClr val="111111"/>
                </a:solidFill>
                <a:latin typeface="Courier New"/>
                <a:ea typeface="var(--bs-font-monospace)"/>
                <a:cs typeface="Courier New"/>
              </a:rPr>
              <a:t>success_fns</a:t>
            </a:r>
            <a:r>
              <a:rPr lang="en-US" sz="1600" noProof="0" dirty="0">
                <a:solidFill>
                  <a:srgbClr val="111111"/>
                </a:solidFill>
                <a:latin typeface="Courier New"/>
                <a:ea typeface="var(--bs-font-monospace)"/>
                <a:cs typeface="Courier New"/>
              </a:rPr>
              <a:t>)</a:t>
            </a:r>
            <a:endParaRPr lang="en-US" sz="1600" noProof="0" dirty="0">
              <a:solidFill>
                <a:srgbClr val="54565B"/>
              </a:solidFill>
              <a:latin typeface="Courier New"/>
              <a:cs typeface="Courier New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3804CF-E195-BEB1-AC9D-08628CC3E24C}"/>
              </a:ext>
            </a:extLst>
          </p:cNvPr>
          <p:cNvSpPr txBox="1"/>
          <p:nvPr/>
        </p:nvSpPr>
        <p:spPr>
          <a:xfrm>
            <a:off x="107505" y="2427734"/>
            <a:ext cx="8928992" cy="280076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0" eaLnBrk="0" fontAlgn="base" hangingPunct="0">
              <a:spcAft>
                <a:spcPct val="0"/>
              </a:spcAft>
            </a:pPr>
            <a:r>
              <a:rPr lang="en-US" sz="16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$</a:t>
            </a:r>
            <a:r>
              <a:rPr lang="en-US" sz="1600" noProof="0" dirty="0" err="1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power_local</a:t>
            </a:r>
            <a:endParaRPr lang="en-US" sz="1600" noProof="0" dirty="0">
              <a:solidFill>
                <a:srgbClr val="111111"/>
              </a:solidFill>
              <a:latin typeface="Courier New" panose="02070309020205020404" pitchFamily="49" charset="0"/>
              <a:ea typeface="var(--bs-font-monospace)"/>
              <a:cs typeface="Courier New" panose="02070309020205020404" pitchFamily="49" charset="0"/>
            </a:endParaRPr>
          </a:p>
          <a:p>
            <a:pPr lvl="0" eaLnBrk="0" fontAlgn="base" hangingPunct="0">
              <a:spcAft>
                <a:spcPct val="0"/>
              </a:spcAft>
            </a:pPr>
            <a:r>
              <a:rPr lang="en-US" sz="16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   H11    H21     H31     H12     H22     H32     H13     H23     H33</a:t>
            </a:r>
          </a:p>
          <a:p>
            <a:pPr lvl="0" eaLnBrk="0" fontAlgn="base" hangingPunct="0">
              <a:spcAft>
                <a:spcPct val="0"/>
              </a:spcAft>
            </a:pPr>
            <a:r>
              <a:rPr lang="en-US" sz="16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0.71632 0.78361 0.79903 0.44600 0.52279 0.59799 0.34676 0.40382 0.47063</a:t>
            </a:r>
          </a:p>
          <a:p>
            <a:pPr lvl="0" eaLnBrk="0" fontAlgn="base" hangingPunct="0">
              <a:spcAft>
                <a:spcPct val="0"/>
              </a:spcAft>
            </a:pPr>
            <a:r>
              <a:rPr lang="en-US" sz="16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$</a:t>
            </a:r>
            <a:r>
              <a:rPr lang="en-US" sz="1600" noProof="0" dirty="0" err="1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rejection_expected</a:t>
            </a:r>
            <a:endParaRPr lang="en-US" sz="1600" noProof="0" dirty="0">
              <a:solidFill>
                <a:srgbClr val="111111"/>
              </a:solidFill>
              <a:latin typeface="Courier New" panose="02070309020205020404" pitchFamily="49" charset="0"/>
              <a:ea typeface="var(--bs-font-monospace)"/>
              <a:cs typeface="Courier New" panose="02070309020205020404" pitchFamily="49" charset="0"/>
            </a:endParaRPr>
          </a:p>
          <a:p>
            <a:pPr lvl="0" eaLnBrk="0" fontAlgn="base" hangingPunct="0">
              <a:spcAft>
                <a:spcPct val="0"/>
              </a:spcAft>
            </a:pPr>
            <a:r>
              <a:rPr lang="en-US" sz="16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[1] 5.08695</a:t>
            </a:r>
          </a:p>
          <a:p>
            <a:pPr lvl="0" eaLnBrk="0" fontAlgn="base" hangingPunct="0">
              <a:spcAft>
                <a:spcPct val="0"/>
              </a:spcAft>
            </a:pPr>
            <a:r>
              <a:rPr lang="en-US" sz="16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$power_at_least_1</a:t>
            </a:r>
          </a:p>
          <a:p>
            <a:pPr lvl="0" eaLnBrk="0" fontAlgn="base" hangingPunct="0">
              <a:spcAft>
                <a:spcPct val="0"/>
              </a:spcAft>
            </a:pPr>
            <a:r>
              <a:rPr lang="en-US" sz="16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[1] 0.91791</a:t>
            </a:r>
          </a:p>
          <a:p>
            <a:pPr lvl="0" eaLnBrk="0" fontAlgn="base" hangingPunct="0">
              <a:spcAft>
                <a:spcPct val="0"/>
              </a:spcAft>
            </a:pPr>
            <a:r>
              <a:rPr lang="en-US" sz="16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$</a:t>
            </a:r>
            <a:r>
              <a:rPr lang="en-US" sz="1600" noProof="0" dirty="0" err="1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power_all</a:t>
            </a:r>
            <a:endParaRPr lang="en-US" sz="1600" noProof="0" dirty="0">
              <a:solidFill>
                <a:srgbClr val="111111"/>
              </a:solidFill>
              <a:latin typeface="Courier New" panose="02070309020205020404" pitchFamily="49" charset="0"/>
              <a:ea typeface="var(--bs-font-monospace)"/>
              <a:cs typeface="Courier New" panose="02070309020205020404" pitchFamily="49" charset="0"/>
            </a:endParaRPr>
          </a:p>
          <a:p>
            <a:pPr lvl="0" eaLnBrk="0" fontAlgn="base" hangingPunct="0">
              <a:spcAft>
                <a:spcPct val="0"/>
              </a:spcAft>
            </a:pPr>
            <a:r>
              <a:rPr lang="en-US" sz="16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[1] 0.27901</a:t>
            </a:r>
          </a:p>
          <a:p>
            <a:pPr lvl="0" eaLnBrk="0" fontAlgn="base" hangingPunct="0">
              <a:spcAft>
                <a:spcPct val="0"/>
              </a:spcAft>
            </a:pPr>
            <a:r>
              <a:rPr lang="en-US" sz="16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$</a:t>
            </a:r>
            <a:r>
              <a:rPr lang="en-US" sz="1600" noProof="0" dirty="0" err="1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power_success</a:t>
            </a:r>
            <a:endParaRPr lang="en-US" sz="1600" noProof="0" dirty="0">
              <a:solidFill>
                <a:srgbClr val="111111"/>
              </a:solidFill>
              <a:latin typeface="Courier New" panose="02070309020205020404" pitchFamily="49" charset="0"/>
              <a:ea typeface="var(--bs-font-monospace)"/>
              <a:cs typeface="Courier New" panose="02070309020205020404" pitchFamily="49" charset="0"/>
            </a:endParaRPr>
          </a:p>
          <a:p>
            <a:pPr lvl="0" eaLnBrk="0" fontAlgn="base" hangingPunct="0">
              <a:spcAft>
                <a:spcPct val="0"/>
              </a:spcAft>
            </a:pPr>
            <a:r>
              <a:rPr lang="en-US" sz="1600" noProof="0" dirty="0" err="1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AllPE</a:t>
            </a:r>
            <a:r>
              <a:rPr lang="en-US" sz="16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 0.59057</a:t>
            </a:r>
            <a:endParaRPr lang="en-US" sz="1600" noProof="0" dirty="0">
              <a:solidFill>
                <a:srgbClr val="54565B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C764646-008E-F5BF-0A71-335ACE4DC1B6}"/>
              </a:ext>
            </a:extLst>
          </p:cNvPr>
          <p:cNvSpPr txBox="1"/>
          <p:nvPr/>
        </p:nvSpPr>
        <p:spPr>
          <a:xfrm>
            <a:off x="3059832" y="3363838"/>
            <a:ext cx="31683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noProof="0" dirty="0">
                <a:ea typeface="黑体"/>
              </a:rPr>
              <a:t>Expected number of rejections</a:t>
            </a:r>
            <a:endParaRPr lang="en-US" noProof="0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45367FEC-5B9A-10C7-EDF4-05C0DBBF4571}"/>
              </a:ext>
            </a:extLst>
          </p:cNvPr>
          <p:cNvCxnSpPr>
            <a:cxnSpLocks/>
            <a:stCxn id="4" idx="1"/>
          </p:cNvCxnSpPr>
          <p:nvPr/>
        </p:nvCxnSpPr>
        <p:spPr>
          <a:xfrm flipH="1">
            <a:off x="2668960" y="3548504"/>
            <a:ext cx="39087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D335D11E-13DE-2F11-161D-B57E3B7C5ECB}"/>
              </a:ext>
            </a:extLst>
          </p:cNvPr>
          <p:cNvSpPr txBox="1"/>
          <p:nvPr/>
        </p:nvSpPr>
        <p:spPr>
          <a:xfrm>
            <a:off x="3044200" y="3834505"/>
            <a:ext cx="36880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noProof="0" dirty="0">
                <a:ea typeface="黑体"/>
              </a:rPr>
              <a:t>Power to reject at least 1 hypothesis</a:t>
            </a:r>
            <a:endParaRPr lang="en-US" noProof="0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290DCF5-EB06-A9B6-1F14-A44FDAAF8E59}"/>
              </a:ext>
            </a:extLst>
          </p:cNvPr>
          <p:cNvCxnSpPr>
            <a:cxnSpLocks/>
            <a:stCxn id="9" idx="1"/>
          </p:cNvCxnSpPr>
          <p:nvPr/>
        </p:nvCxnSpPr>
        <p:spPr>
          <a:xfrm flipH="1">
            <a:off x="2653329" y="4019171"/>
            <a:ext cx="390871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DF4163D1-DC58-EA53-47D7-6443EB59CAAC}"/>
              </a:ext>
            </a:extLst>
          </p:cNvPr>
          <p:cNvSpPr txBox="1"/>
          <p:nvPr/>
        </p:nvSpPr>
        <p:spPr>
          <a:xfrm>
            <a:off x="3033191" y="4346837"/>
            <a:ext cx="31683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noProof="0" dirty="0">
                <a:ea typeface="黑体"/>
              </a:rPr>
              <a:t>Power to reject all hypotheses</a:t>
            </a:r>
            <a:endParaRPr lang="en-US" noProof="0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AE0FBC4-C3F0-E1AA-5D27-BB55D73440C1}"/>
              </a:ext>
            </a:extLst>
          </p:cNvPr>
          <p:cNvCxnSpPr>
            <a:cxnSpLocks/>
            <a:stCxn id="12" idx="1"/>
          </p:cNvCxnSpPr>
          <p:nvPr/>
        </p:nvCxnSpPr>
        <p:spPr>
          <a:xfrm flipH="1">
            <a:off x="2642319" y="4531503"/>
            <a:ext cx="39087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EC5BD5D7-BE52-D506-F215-CA514AF3F5C4}"/>
              </a:ext>
            </a:extLst>
          </p:cNvPr>
          <p:cNvSpPr txBox="1"/>
          <p:nvPr/>
        </p:nvSpPr>
        <p:spPr>
          <a:xfrm>
            <a:off x="3014292" y="4774168"/>
            <a:ext cx="44380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noProof="0" dirty="0">
                <a:ea typeface="黑体"/>
              </a:rPr>
              <a:t>User-defined power of success to reject all PE</a:t>
            </a:r>
            <a:endParaRPr lang="en-US" noProof="0" dirty="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F62FEF0-3C64-0F38-CD33-673791FE6867}"/>
              </a:ext>
            </a:extLst>
          </p:cNvPr>
          <p:cNvCxnSpPr>
            <a:cxnSpLocks/>
            <a:stCxn id="14" idx="1"/>
          </p:cNvCxnSpPr>
          <p:nvPr/>
        </p:nvCxnSpPr>
        <p:spPr>
          <a:xfrm flipH="1">
            <a:off x="2623421" y="4958834"/>
            <a:ext cx="390871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469B66D6-A8BA-5344-1149-C5862395A5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 noProof="0"/>
              <a:t>Bretz, Chen, Xi | ISBS | October 2026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6101674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3" grpId="0" animBg="1"/>
      <p:bldP spid="4" grpId="0"/>
      <p:bldP spid="9" grpId="0"/>
      <p:bldP spid="12" grpId="0"/>
      <p:bldP spid="14" grpId="0"/>
    </p:bld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204D93-BD3A-5A0C-EB89-1BA38E2AB5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92FC2-7628-ACE0-6591-42F70A7308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975798" cy="994172"/>
          </a:xfrm>
        </p:spPr>
        <p:txBody>
          <a:bodyPr>
            <a:normAutofit/>
          </a:bodyPr>
          <a:lstStyle/>
          <a:p>
            <a:r>
              <a:rPr lang="en-US" sz="3000" noProof="0" dirty="0"/>
              <a:t>Hypothetical example based on CANTOS trial</a:t>
            </a:r>
            <a:br>
              <a:rPr lang="en-US" sz="3000" noProof="0" dirty="0">
                <a:solidFill>
                  <a:srgbClr val="000000"/>
                </a:solidFill>
                <a:ea typeface="Calibri Light"/>
              </a:rPr>
            </a:br>
            <a:r>
              <a:rPr lang="en-US" sz="2200" i="1" noProof="0" dirty="0">
                <a:solidFill>
                  <a:srgbClr val="000000"/>
                </a:solidFill>
                <a:ea typeface="等线 Light"/>
              </a:rPr>
              <a:t>Simes tests for secondary hypotheses</a:t>
            </a:r>
            <a:endParaRPr lang="en-US" sz="2200" i="1" noProof="0" dirty="0">
              <a:solidFill>
                <a:srgbClr val="000000"/>
              </a:solidFill>
              <a:ea typeface="等线 Light"/>
              <a:cs typeface="Calibri Ligh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AB2553-946E-669C-82B2-050F35B8DB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69219"/>
            <a:ext cx="8119814" cy="3263504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432"/>
              </a:spcBef>
            </a:pPr>
            <a:r>
              <a:rPr lang="en-US" sz="2000" noProof="0" dirty="0"/>
              <a:t>Closed test based on the graph</a:t>
            </a:r>
          </a:p>
          <a:p>
            <a:pPr>
              <a:lnSpc>
                <a:spcPct val="100000"/>
              </a:lnSpc>
              <a:spcBef>
                <a:spcPts val="432"/>
              </a:spcBef>
            </a:pPr>
            <a:r>
              <a:rPr lang="en-US" sz="2000" noProof="0" dirty="0">
                <a:solidFill>
                  <a:schemeClr val="accent1"/>
                </a:solidFill>
              </a:rPr>
              <a:t>Primary hypotheses </a:t>
            </a:r>
            <a:r>
              <a:rPr lang="en-US" sz="2000" noProof="0" dirty="0"/>
              <a:t>are tested using </a:t>
            </a:r>
            <a:r>
              <a:rPr lang="en-US" sz="2000" noProof="0" dirty="0">
                <a:solidFill>
                  <a:schemeClr val="accent1"/>
                </a:solidFill>
              </a:rPr>
              <a:t>weighted Dunnett (parametric) tests</a:t>
            </a:r>
          </a:p>
          <a:p>
            <a:pPr lvl="1">
              <a:lnSpc>
                <a:spcPct val="100000"/>
              </a:lnSpc>
              <a:spcBef>
                <a:spcPts val="432"/>
              </a:spcBef>
            </a:pPr>
            <a:r>
              <a:rPr lang="en-US" noProof="0" dirty="0"/>
              <a:t>Correlation between test statistics are calculated based on the common control</a:t>
            </a:r>
          </a:p>
          <a:p>
            <a:pPr>
              <a:lnSpc>
                <a:spcPct val="100000"/>
              </a:lnSpc>
              <a:spcBef>
                <a:spcPts val="432"/>
              </a:spcBef>
            </a:pPr>
            <a:r>
              <a:rPr lang="en-US" sz="2000" noProof="0" dirty="0">
                <a:solidFill>
                  <a:schemeClr val="accent1"/>
                </a:solidFill>
              </a:rPr>
              <a:t>Secondary hypotheses for each dose </a:t>
            </a:r>
            <a:r>
              <a:rPr lang="en-US" sz="2000" noProof="0" dirty="0"/>
              <a:t>are tested using </a:t>
            </a:r>
            <a:r>
              <a:rPr lang="en-US" sz="2000" noProof="0" dirty="0">
                <a:solidFill>
                  <a:srgbClr val="C00000"/>
                </a:solidFill>
              </a:rPr>
              <a:t>weighted Simes tests</a:t>
            </a:r>
          </a:p>
          <a:p>
            <a:pPr lvl="1">
              <a:lnSpc>
                <a:spcPct val="100000"/>
              </a:lnSpc>
              <a:spcBef>
                <a:spcPts val="432"/>
              </a:spcBef>
            </a:pPr>
            <a:r>
              <a:rPr lang="en-US" sz="1700" noProof="0" dirty="0"/>
              <a:t>Positive correlations are expected between secondary endpoints for each dose</a:t>
            </a:r>
          </a:p>
          <a:p>
            <a:pPr lvl="1">
              <a:lnSpc>
                <a:spcPct val="100000"/>
              </a:lnSpc>
              <a:spcBef>
                <a:spcPts val="432"/>
              </a:spcBef>
            </a:pPr>
            <a:r>
              <a:rPr lang="en-US" sz="1700" noProof="0" dirty="0"/>
              <a:t>Three groups of hypotheses using separate weighted Simes tests</a:t>
            </a:r>
          </a:p>
          <a:p>
            <a:pPr>
              <a:lnSpc>
                <a:spcPct val="100000"/>
              </a:lnSpc>
              <a:spcBef>
                <a:spcPts val="432"/>
              </a:spcBef>
            </a:pPr>
            <a:r>
              <a:rPr lang="en-US" sz="2000" noProof="0" dirty="0"/>
              <a:t>Bonferroni tests for remaining tests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911A0C-DE82-0A26-B215-587D6D483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47CF9-5B10-D24F-A8D7-45A9778164F7}" type="slidenum">
              <a:rPr lang="en-US" noProof="0" smtClean="0"/>
              <a:pPr/>
              <a:t>116</a:t>
            </a:fld>
            <a:endParaRPr lang="en-US" noProof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5AEB002-DDAF-15B9-6F7A-B05B8395BD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 noProof="0"/>
              <a:t>Bretz, Chen, Xi | ISBS | October 2026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608805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204D93-BD3A-5A0C-EB89-1BA38E2AB5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92FC2-7628-ACE0-6591-42F70A7308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975798" cy="994172"/>
          </a:xfrm>
        </p:spPr>
        <p:txBody>
          <a:bodyPr>
            <a:normAutofit/>
          </a:bodyPr>
          <a:lstStyle/>
          <a:p>
            <a:r>
              <a:rPr lang="en-US" sz="3000" noProof="0" dirty="0"/>
              <a:t>Hypothetical example based on CANTOS trial</a:t>
            </a:r>
            <a:br>
              <a:rPr lang="en-US" sz="3000" noProof="0" dirty="0">
                <a:solidFill>
                  <a:srgbClr val="000000"/>
                </a:solidFill>
                <a:ea typeface="Calibri Light"/>
                <a:cs typeface="Calibri Light"/>
              </a:rPr>
            </a:br>
            <a:r>
              <a:rPr lang="en-US" sz="2200" i="1" noProof="0" dirty="0">
                <a:solidFill>
                  <a:srgbClr val="000000"/>
                </a:solidFill>
                <a:ea typeface="等线 Light"/>
              </a:rPr>
              <a:t>Simes tests for secondary hypotheses</a:t>
            </a:r>
            <a:endParaRPr lang="en-US" sz="2200" i="1" noProof="0" dirty="0">
              <a:solidFill>
                <a:srgbClr val="000000"/>
              </a:solidFill>
              <a:ea typeface="Calibri Light"/>
              <a:cs typeface="Calibri Light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911A0C-DE82-0A26-B215-587D6D483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47CF9-5B10-D24F-A8D7-45A9778164F7}" type="slidenum">
              <a:rPr lang="en-US" noProof="0" smtClean="0"/>
              <a:pPr/>
              <a:t>117</a:t>
            </a:fld>
            <a:endParaRPr lang="en-US" noProof="0" dirty="0"/>
          </a:p>
        </p:txBody>
      </p:sp>
      <p:pic>
        <p:nvPicPr>
          <p:cNvPr id="7" name="Picture 6" descr="A diagram of a network&#10;&#10;Description automatically generated">
            <a:extLst>
              <a:ext uri="{FF2B5EF4-FFF2-40B4-BE49-F238E27FC236}">
                <a16:creationId xmlns:a16="http://schemas.microsoft.com/office/drawing/2014/main" id="{E522012C-AE0C-208F-1E9E-43E2C513296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578" r="3906"/>
          <a:stretch/>
        </p:blipFill>
        <p:spPr>
          <a:xfrm>
            <a:off x="1322498" y="1288345"/>
            <a:ext cx="6499003" cy="321964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A8091BEE-EFDA-8619-E2FA-9BAFE4F304B9}"/>
              </a:ext>
            </a:extLst>
          </p:cNvPr>
          <p:cNvSpPr txBox="1"/>
          <p:nvPr/>
        </p:nvSpPr>
        <p:spPr>
          <a:xfrm>
            <a:off x="1674590" y="1304779"/>
            <a:ext cx="6840760" cy="92333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r"/>
            <a:endParaRPr lang="en-US" noProof="0" dirty="0"/>
          </a:p>
          <a:p>
            <a:pPr algn="r"/>
            <a:r>
              <a:rPr lang="en-US" noProof="0" dirty="0"/>
              <a:t>Parametric</a:t>
            </a:r>
          </a:p>
          <a:p>
            <a:pPr algn="r"/>
            <a:endParaRPr lang="en-US" noProof="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988560-DCBD-A42D-844D-41F422D9D00F}"/>
              </a:ext>
            </a:extLst>
          </p:cNvPr>
          <p:cNvSpPr txBox="1"/>
          <p:nvPr/>
        </p:nvSpPr>
        <p:spPr>
          <a:xfrm>
            <a:off x="628648" y="3795886"/>
            <a:ext cx="2575199" cy="92333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r"/>
            <a:endParaRPr lang="en-US" noProof="0" dirty="0"/>
          </a:p>
          <a:p>
            <a:r>
              <a:rPr lang="en-US" noProof="0" dirty="0"/>
              <a:t>Simes</a:t>
            </a:r>
          </a:p>
          <a:p>
            <a:pPr algn="r"/>
            <a:endParaRPr lang="en-US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277BF03-79B4-A3AC-D6FF-559B0D126BB2}"/>
              </a:ext>
            </a:extLst>
          </p:cNvPr>
          <p:cNvSpPr txBox="1"/>
          <p:nvPr/>
        </p:nvSpPr>
        <p:spPr>
          <a:xfrm>
            <a:off x="3599892" y="3802931"/>
            <a:ext cx="2016224" cy="92333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r"/>
            <a:endParaRPr lang="en-US" noProof="0" dirty="0"/>
          </a:p>
          <a:p>
            <a:pPr algn="r"/>
            <a:endParaRPr lang="en-US" noProof="0" dirty="0"/>
          </a:p>
          <a:p>
            <a:pPr algn="ctr"/>
            <a:r>
              <a:rPr lang="en-US" noProof="0" dirty="0"/>
              <a:t>Simes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7822E53-2CB4-8C4F-EEFE-4CC5C8D84E8A}"/>
              </a:ext>
            </a:extLst>
          </p:cNvPr>
          <p:cNvSpPr txBox="1"/>
          <p:nvPr/>
        </p:nvSpPr>
        <p:spPr>
          <a:xfrm>
            <a:off x="6012161" y="3789399"/>
            <a:ext cx="2503190" cy="92333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r"/>
            <a:endParaRPr lang="en-US" noProof="0" dirty="0"/>
          </a:p>
          <a:p>
            <a:pPr algn="r"/>
            <a:r>
              <a:rPr lang="en-US" noProof="0" dirty="0"/>
              <a:t>Simes</a:t>
            </a:r>
          </a:p>
          <a:p>
            <a:pPr algn="r"/>
            <a:endParaRPr lang="en-US" noProof="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3B92DD-6C0B-9AB0-B5A5-6A9F3CF0940B}"/>
              </a:ext>
            </a:extLst>
          </p:cNvPr>
          <p:cNvSpPr txBox="1"/>
          <p:nvPr/>
        </p:nvSpPr>
        <p:spPr>
          <a:xfrm>
            <a:off x="11282" y="2453727"/>
            <a:ext cx="1674591" cy="92333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en-US" noProof="0" dirty="0"/>
              <a:t>Bonferroni to connect mixed types of tests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34971A9-061F-B450-6E82-930C36E8AAE8}"/>
              </a:ext>
            </a:extLst>
          </p:cNvPr>
          <p:cNvCxnSpPr>
            <a:cxnSpLocks/>
            <a:stCxn id="8" idx="0"/>
          </p:cNvCxnSpPr>
          <p:nvPr/>
        </p:nvCxnSpPr>
        <p:spPr>
          <a:xfrm flipV="1">
            <a:off x="848578" y="1766444"/>
            <a:ext cx="826012" cy="68728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8699FC1-1820-AC39-B879-F2EB16CE34A5}"/>
              </a:ext>
            </a:extLst>
          </p:cNvPr>
          <p:cNvCxnSpPr>
            <a:cxnSpLocks/>
            <a:stCxn id="8" idx="2"/>
          </p:cNvCxnSpPr>
          <p:nvPr/>
        </p:nvCxnSpPr>
        <p:spPr>
          <a:xfrm>
            <a:off x="848578" y="3377057"/>
            <a:ext cx="543150" cy="41234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114BA7F9-04C2-9228-5471-559C56C50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 noProof="0"/>
              <a:t>Bretz, Chen, Xi | ISBS | October 2026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0514623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ADC35-2954-4E52-BE3F-E02DED7407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975798" cy="994172"/>
          </a:xfrm>
        </p:spPr>
        <p:txBody>
          <a:bodyPr>
            <a:normAutofit/>
          </a:bodyPr>
          <a:lstStyle/>
          <a:p>
            <a:r>
              <a:rPr lang="en-US" sz="3000" noProof="0" dirty="0"/>
              <a:t>Hypothetical example based on CANTOS trial</a:t>
            </a:r>
            <a:br>
              <a:rPr lang="en-US" sz="3000" noProof="0" dirty="0">
                <a:ea typeface="Calibri Light"/>
                <a:cs typeface="Calibri Light"/>
              </a:rPr>
            </a:br>
            <a:r>
              <a:rPr lang="en-US" sz="2200" i="1" noProof="0" dirty="0"/>
              <a:t>Perform testing</a:t>
            </a:r>
            <a:endParaRPr lang="en-US" sz="2200" i="1" noProof="0" dirty="0">
              <a:ea typeface="Calibri Light"/>
              <a:cs typeface="Calibri Light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C66AEC-4B4B-11CF-8433-A8F84D81E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47CF9-5B10-D24F-A8D7-45A9778164F7}" type="slidenum">
              <a:rPr lang="en-US" noProof="0" smtClean="0"/>
              <a:pPr/>
              <a:t>118</a:t>
            </a:fld>
            <a:endParaRPr lang="en-US" noProof="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1A498DC-1F05-087D-3844-0DFBE213463A}"/>
              </a:ext>
            </a:extLst>
          </p:cNvPr>
          <p:cNvSpPr txBox="1"/>
          <p:nvPr/>
        </p:nvSpPr>
        <p:spPr>
          <a:xfrm>
            <a:off x="179513" y="1294477"/>
            <a:ext cx="4824535" cy="255454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0" eaLnBrk="0" fontAlgn="base" hangingPunct="0">
              <a:spcAft>
                <a:spcPct val="0"/>
              </a:spcAft>
            </a:pPr>
            <a:r>
              <a:rPr lang="en-US" sz="16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   </a:t>
            </a:r>
            <a:r>
              <a:rPr lang="en-US" sz="1600" u="sng" noProof="0" dirty="0" err="1">
                <a:solidFill>
                  <a:schemeClr val="accent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graph_test_closure</a:t>
            </a:r>
            <a:r>
              <a:rPr lang="en-US" sz="16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(</a:t>
            </a:r>
          </a:p>
          <a:p>
            <a:pPr lvl="0" eaLnBrk="0" fontAlgn="base" hangingPunct="0">
              <a:spcAft>
                <a:spcPct val="0"/>
              </a:spcAft>
            </a:pPr>
            <a:r>
              <a:rPr lang="en-US" sz="16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    g,</a:t>
            </a:r>
          </a:p>
          <a:p>
            <a:pPr lvl="0" eaLnBrk="0" fontAlgn="base" hangingPunct="0">
              <a:spcAft>
                <a:spcPct val="0"/>
              </a:spcAft>
            </a:pPr>
            <a:r>
              <a:rPr lang="en-US" sz="16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    p = </a:t>
            </a:r>
            <a:r>
              <a:rPr lang="en-US" sz="1600" noProof="0" dirty="0" err="1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pvalues</a:t>
            </a:r>
            <a:r>
              <a:rPr lang="en-US" sz="16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</a:t>
            </a:r>
          </a:p>
          <a:p>
            <a:pPr lvl="0" eaLnBrk="0" fontAlgn="base" hangingPunct="0">
              <a:spcAft>
                <a:spcPct val="0"/>
              </a:spcAft>
            </a:pPr>
            <a:r>
              <a:rPr lang="en-US" sz="16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    alpha = </a:t>
            </a:r>
            <a:r>
              <a:rPr lang="en-US" sz="1600" noProof="0" dirty="0">
                <a:solidFill>
                  <a:srgbClr val="C0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0.0245</a:t>
            </a:r>
            <a:r>
              <a:rPr lang="en-US" sz="16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</a:t>
            </a:r>
          </a:p>
          <a:p>
            <a:pPr lvl="0" eaLnBrk="0" fontAlgn="base" hangingPunct="0">
              <a:spcAft>
                <a:spcPct val="0"/>
              </a:spcAft>
            </a:pPr>
            <a:r>
              <a:rPr lang="en-US" sz="16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    </a:t>
            </a:r>
            <a:r>
              <a:rPr lang="en-US" sz="1600" noProof="0" dirty="0" err="1">
                <a:solidFill>
                  <a:srgbClr val="111111"/>
                </a:solidFill>
                <a:highlight>
                  <a:srgbClr val="FFFF00"/>
                </a:highlight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test_groups</a:t>
            </a:r>
            <a:r>
              <a:rPr lang="en-US" sz="1600" noProof="0" dirty="0">
                <a:solidFill>
                  <a:srgbClr val="111111"/>
                </a:solidFill>
                <a:highlight>
                  <a:srgbClr val="FFFF00"/>
                </a:highlight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 = list(</a:t>
            </a:r>
            <a:r>
              <a:rPr lang="en-US" sz="1600" noProof="0" dirty="0">
                <a:solidFill>
                  <a:srgbClr val="C00000"/>
                </a:solidFill>
                <a:highlight>
                  <a:srgbClr val="FFFF00"/>
                </a:highlight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1:3</a:t>
            </a:r>
            <a:r>
              <a:rPr lang="en-US" sz="1600" noProof="0" dirty="0">
                <a:solidFill>
                  <a:srgbClr val="111111"/>
                </a:solidFill>
                <a:highlight>
                  <a:srgbClr val="FFFF00"/>
                </a:highlight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c(</a:t>
            </a:r>
            <a:r>
              <a:rPr lang="en-US" sz="1600" noProof="0" dirty="0">
                <a:solidFill>
                  <a:srgbClr val="C00000"/>
                </a:solidFill>
                <a:highlight>
                  <a:srgbClr val="FFFF00"/>
                </a:highlight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4</a:t>
            </a:r>
            <a:r>
              <a:rPr lang="en-US" sz="1600" noProof="0" dirty="0">
                <a:solidFill>
                  <a:srgbClr val="111111"/>
                </a:solidFill>
                <a:highlight>
                  <a:srgbClr val="FFFF00"/>
                </a:highlight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</a:t>
            </a:r>
            <a:r>
              <a:rPr lang="en-US" sz="1600" noProof="0" dirty="0">
                <a:solidFill>
                  <a:srgbClr val="C00000"/>
                </a:solidFill>
                <a:highlight>
                  <a:srgbClr val="FFFF00"/>
                </a:highlight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7</a:t>
            </a:r>
            <a:r>
              <a:rPr lang="en-US" sz="1600" noProof="0" dirty="0">
                <a:solidFill>
                  <a:srgbClr val="111111"/>
                </a:solidFill>
                <a:highlight>
                  <a:srgbClr val="FFFF00"/>
                </a:highlight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), c(</a:t>
            </a:r>
            <a:r>
              <a:rPr lang="en-US" sz="1600" noProof="0" dirty="0">
                <a:solidFill>
                  <a:srgbClr val="C00000"/>
                </a:solidFill>
                <a:highlight>
                  <a:srgbClr val="FFFF00"/>
                </a:highlight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5</a:t>
            </a:r>
            <a:r>
              <a:rPr lang="en-US" sz="1600" noProof="0" dirty="0">
                <a:solidFill>
                  <a:srgbClr val="111111"/>
                </a:solidFill>
                <a:highlight>
                  <a:srgbClr val="FFFF00"/>
                </a:highlight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</a:t>
            </a:r>
            <a:r>
              <a:rPr lang="en-US" sz="1600" noProof="0" dirty="0">
                <a:solidFill>
                  <a:srgbClr val="C00000"/>
                </a:solidFill>
                <a:highlight>
                  <a:srgbClr val="FFFF00"/>
                </a:highlight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8</a:t>
            </a:r>
            <a:r>
              <a:rPr lang="en-US" sz="1600" noProof="0" dirty="0">
                <a:solidFill>
                  <a:srgbClr val="111111"/>
                </a:solidFill>
                <a:highlight>
                  <a:srgbClr val="FFFF00"/>
                </a:highlight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), c(</a:t>
            </a:r>
            <a:r>
              <a:rPr lang="en-US" sz="1600" noProof="0" dirty="0">
                <a:solidFill>
                  <a:srgbClr val="C00000"/>
                </a:solidFill>
                <a:highlight>
                  <a:srgbClr val="FFFF00"/>
                </a:highlight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6</a:t>
            </a:r>
            <a:r>
              <a:rPr lang="en-US" sz="1600" noProof="0" dirty="0">
                <a:solidFill>
                  <a:srgbClr val="111111"/>
                </a:solidFill>
                <a:highlight>
                  <a:srgbClr val="FFFF00"/>
                </a:highlight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</a:t>
            </a:r>
            <a:r>
              <a:rPr lang="en-US" sz="1600" noProof="0" dirty="0">
                <a:solidFill>
                  <a:srgbClr val="C00000"/>
                </a:solidFill>
                <a:highlight>
                  <a:srgbClr val="FFFF00"/>
                </a:highlight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9</a:t>
            </a:r>
            <a:r>
              <a:rPr lang="en-US" sz="1600" noProof="0" dirty="0">
                <a:solidFill>
                  <a:srgbClr val="111111"/>
                </a:solidFill>
                <a:highlight>
                  <a:srgbClr val="FFFF00"/>
                </a:highlight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)),</a:t>
            </a:r>
          </a:p>
          <a:p>
            <a:pPr lvl="0" eaLnBrk="0" fontAlgn="base" hangingPunct="0">
              <a:spcAft>
                <a:spcPct val="0"/>
              </a:spcAft>
            </a:pPr>
            <a:r>
              <a:rPr lang="en-US" sz="1600" noProof="0" dirty="0">
                <a:solidFill>
                  <a:srgbClr val="111111"/>
                </a:solidFill>
                <a:highlight>
                  <a:srgbClr val="FFFF00"/>
                </a:highlight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    </a:t>
            </a:r>
            <a:r>
              <a:rPr lang="en-US" sz="1600" noProof="0" dirty="0" err="1">
                <a:solidFill>
                  <a:srgbClr val="111111"/>
                </a:solidFill>
                <a:highlight>
                  <a:srgbClr val="FFFF00"/>
                </a:highlight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test_types</a:t>
            </a:r>
            <a:r>
              <a:rPr lang="en-US" sz="1600" noProof="0" dirty="0">
                <a:solidFill>
                  <a:srgbClr val="111111"/>
                </a:solidFill>
                <a:highlight>
                  <a:srgbClr val="FFFF00"/>
                </a:highlight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 = c("parametric", "</a:t>
            </a:r>
            <a:r>
              <a:rPr lang="en-US" sz="1600" noProof="0" dirty="0" err="1">
                <a:solidFill>
                  <a:srgbClr val="111111"/>
                </a:solidFill>
                <a:highlight>
                  <a:srgbClr val="FFFF00"/>
                </a:highlight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simes</a:t>
            </a:r>
            <a:r>
              <a:rPr lang="en-US" sz="1600" noProof="0" dirty="0">
                <a:solidFill>
                  <a:srgbClr val="111111"/>
                </a:solidFill>
                <a:highlight>
                  <a:srgbClr val="FFFF00"/>
                </a:highlight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", "</a:t>
            </a:r>
            <a:r>
              <a:rPr lang="en-US" sz="1600" noProof="0" dirty="0" err="1">
                <a:solidFill>
                  <a:srgbClr val="111111"/>
                </a:solidFill>
                <a:highlight>
                  <a:srgbClr val="FFFF00"/>
                </a:highlight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simes</a:t>
            </a:r>
            <a:r>
              <a:rPr lang="en-US" sz="1600" noProof="0" dirty="0">
                <a:solidFill>
                  <a:srgbClr val="111111"/>
                </a:solidFill>
                <a:highlight>
                  <a:srgbClr val="FFFF00"/>
                </a:highlight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", "</a:t>
            </a:r>
            <a:r>
              <a:rPr lang="en-US" sz="1600" noProof="0" dirty="0" err="1">
                <a:solidFill>
                  <a:srgbClr val="111111"/>
                </a:solidFill>
                <a:highlight>
                  <a:srgbClr val="FFFF00"/>
                </a:highlight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simes</a:t>
            </a:r>
            <a:r>
              <a:rPr lang="en-US" sz="1600" noProof="0" dirty="0">
                <a:solidFill>
                  <a:srgbClr val="111111"/>
                </a:solidFill>
                <a:highlight>
                  <a:srgbClr val="FFFF00"/>
                </a:highlight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"),</a:t>
            </a:r>
          </a:p>
          <a:p>
            <a:pPr lvl="0" eaLnBrk="0" fontAlgn="base" hangingPunct="0">
              <a:spcAft>
                <a:spcPct val="0"/>
              </a:spcAft>
            </a:pPr>
            <a:r>
              <a:rPr lang="en-US" sz="1600" noProof="0" dirty="0">
                <a:solidFill>
                  <a:srgbClr val="111111"/>
                </a:solidFill>
                <a:highlight>
                  <a:srgbClr val="FFFF00"/>
                </a:highlight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    </a:t>
            </a:r>
            <a:r>
              <a:rPr lang="en-US" sz="1600" noProof="0" dirty="0" err="1">
                <a:solidFill>
                  <a:srgbClr val="111111"/>
                </a:solidFill>
                <a:highlight>
                  <a:srgbClr val="FFFF00"/>
                </a:highlight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test_corr</a:t>
            </a:r>
            <a:r>
              <a:rPr lang="en-US" sz="1600" noProof="0" dirty="0">
                <a:solidFill>
                  <a:srgbClr val="111111"/>
                </a:solidFill>
                <a:highlight>
                  <a:srgbClr val="FFFF00"/>
                </a:highlight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 = list(</a:t>
            </a:r>
            <a:r>
              <a:rPr lang="en-US" sz="1600" noProof="0" dirty="0" err="1">
                <a:solidFill>
                  <a:srgbClr val="111111"/>
                </a:solidFill>
                <a:highlight>
                  <a:srgbClr val="FFFF00"/>
                </a:highlight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corr</a:t>
            </a:r>
            <a:r>
              <a:rPr lang="en-US" sz="1600" noProof="0" dirty="0">
                <a:solidFill>
                  <a:srgbClr val="111111"/>
                </a:solidFill>
                <a:highlight>
                  <a:srgbClr val="FFFF00"/>
                </a:highlight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NA, NA, NA)</a:t>
            </a:r>
            <a:r>
              <a:rPr lang="en-US" sz="16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)</a:t>
            </a:r>
            <a:endParaRPr lang="en-US" sz="1600" noProof="0" dirty="0">
              <a:solidFill>
                <a:srgbClr val="54565B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3804CF-E195-BEB1-AC9D-08628CC3E24C}"/>
              </a:ext>
            </a:extLst>
          </p:cNvPr>
          <p:cNvSpPr txBox="1"/>
          <p:nvPr/>
        </p:nvSpPr>
        <p:spPr>
          <a:xfrm>
            <a:off x="5076056" y="1294477"/>
            <a:ext cx="3888432" cy="255454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0" eaLnBrk="0" fontAlgn="base" hangingPunct="0">
              <a:spcAft>
                <a:spcPct val="0"/>
              </a:spcAft>
            </a:pPr>
            <a:r>
              <a:rPr lang="en-US" sz="16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Hypothesis Adj. P-value Reject</a:t>
            </a:r>
          </a:p>
          <a:p>
            <a:pPr lvl="0" eaLnBrk="0" fontAlgn="base" hangingPunct="0">
              <a:spcAft>
                <a:spcPct val="0"/>
              </a:spcAft>
            </a:pPr>
            <a:r>
              <a:rPr lang="en-US" sz="16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      H11      0.06489  FALSE</a:t>
            </a:r>
          </a:p>
          <a:p>
            <a:pPr lvl="0" eaLnBrk="0" fontAlgn="base" hangingPunct="0">
              <a:spcAft>
                <a:spcPct val="0"/>
              </a:spcAft>
            </a:pPr>
            <a:r>
              <a:rPr lang="en-US" sz="16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      </a:t>
            </a:r>
            <a:r>
              <a:rPr lang="en-US" sz="1600" noProof="0" dirty="0">
                <a:solidFill>
                  <a:srgbClr val="111111"/>
                </a:solidFill>
                <a:highlight>
                  <a:srgbClr val="FFFF00"/>
                </a:highlight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H21      0.02406   TRUE</a:t>
            </a:r>
          </a:p>
          <a:p>
            <a:pPr lvl="0" eaLnBrk="0" fontAlgn="base" hangingPunct="0">
              <a:spcAft>
                <a:spcPct val="0"/>
              </a:spcAft>
            </a:pPr>
            <a:r>
              <a:rPr lang="en-US" sz="16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      H31      0.15000  FALSE</a:t>
            </a:r>
          </a:p>
          <a:p>
            <a:pPr lvl="0" eaLnBrk="0" fontAlgn="base" hangingPunct="0">
              <a:spcAft>
                <a:spcPct val="0"/>
              </a:spcAft>
            </a:pPr>
            <a:r>
              <a:rPr lang="en-US" sz="16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      H12      0.06489  FALSE</a:t>
            </a:r>
          </a:p>
          <a:p>
            <a:pPr lvl="0" eaLnBrk="0" fontAlgn="base" hangingPunct="0">
              <a:spcAft>
                <a:spcPct val="0"/>
              </a:spcAft>
            </a:pPr>
            <a:r>
              <a:rPr lang="en-US" sz="16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      </a:t>
            </a:r>
            <a:r>
              <a:rPr lang="en-US" sz="1600" noProof="0" dirty="0">
                <a:solidFill>
                  <a:srgbClr val="111111"/>
                </a:solidFill>
                <a:highlight>
                  <a:srgbClr val="FFFF00"/>
                </a:highlight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H22      0.02405   TRUE</a:t>
            </a:r>
          </a:p>
          <a:p>
            <a:pPr lvl="0" eaLnBrk="0" fontAlgn="base" hangingPunct="0">
              <a:spcAft>
                <a:spcPct val="0"/>
              </a:spcAft>
            </a:pPr>
            <a:r>
              <a:rPr lang="en-US" sz="16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      H32      0.15000  FALSE</a:t>
            </a:r>
          </a:p>
          <a:p>
            <a:pPr lvl="0" eaLnBrk="0" fontAlgn="base" hangingPunct="0">
              <a:spcAft>
                <a:spcPct val="0"/>
              </a:spcAft>
            </a:pPr>
            <a:r>
              <a:rPr lang="en-US" sz="16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      H13      0.06489  FALSE</a:t>
            </a:r>
          </a:p>
          <a:p>
            <a:pPr lvl="0" eaLnBrk="0" fontAlgn="base" hangingPunct="0">
              <a:spcAft>
                <a:spcPct val="0"/>
              </a:spcAft>
            </a:pPr>
            <a:r>
              <a:rPr lang="en-US" sz="16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      H23      0.06483  FALSE</a:t>
            </a:r>
          </a:p>
          <a:p>
            <a:pPr lvl="0" eaLnBrk="0" fontAlgn="base" hangingPunct="0">
              <a:spcAft>
                <a:spcPct val="0"/>
              </a:spcAft>
            </a:pPr>
            <a:r>
              <a:rPr lang="en-US" sz="16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      H33      0.15000  FALSE</a:t>
            </a:r>
            <a:endParaRPr lang="en-US" sz="1600" noProof="0" dirty="0">
              <a:solidFill>
                <a:srgbClr val="54565B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47C6AA-407C-008B-FCCB-B2AA708C75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 noProof="0"/>
              <a:t>Bretz, Chen, Xi | ISBS | October 2026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2497952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3" grpId="0" animBg="1"/>
    </p:bld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ADC35-2954-4E52-BE3F-E02DED7407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975798" cy="994172"/>
          </a:xfrm>
        </p:spPr>
        <p:txBody>
          <a:bodyPr>
            <a:normAutofit/>
          </a:bodyPr>
          <a:lstStyle/>
          <a:p>
            <a:r>
              <a:rPr lang="en-US" sz="3000" noProof="0" dirty="0"/>
              <a:t>Hypothetical example based on CANTOS trial</a:t>
            </a:r>
            <a:br>
              <a:rPr lang="en-US" sz="3000" noProof="0" dirty="0">
                <a:ea typeface="Calibri Light"/>
                <a:cs typeface="Calibri Light"/>
              </a:rPr>
            </a:br>
            <a:r>
              <a:rPr lang="en-US" sz="2200" i="1" noProof="0" dirty="0"/>
              <a:t>Closed tests</a:t>
            </a:r>
            <a:endParaRPr lang="en-US" sz="2200" i="1" noProof="0" dirty="0">
              <a:ea typeface="Calibri Light"/>
              <a:cs typeface="Calibri Light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C66AEC-4B4B-11CF-8433-A8F84D81E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47CF9-5B10-D24F-A8D7-45A9778164F7}" type="slidenum">
              <a:rPr lang="en-US" noProof="0" smtClean="0"/>
              <a:pPr/>
              <a:t>119</a:t>
            </a:fld>
            <a:endParaRPr lang="en-US" noProof="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1A498DC-1F05-087D-3844-0DFBE213463A}"/>
              </a:ext>
            </a:extLst>
          </p:cNvPr>
          <p:cNvSpPr txBox="1"/>
          <p:nvPr/>
        </p:nvSpPr>
        <p:spPr>
          <a:xfrm>
            <a:off x="369637" y="1347614"/>
            <a:ext cx="8306819" cy="107721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0" eaLnBrk="0" fontAlgn="base" hangingPunct="0">
              <a:spcAft>
                <a:spcPct val="0"/>
              </a:spcAft>
            </a:pPr>
            <a:r>
              <a:rPr lang="en-US" sz="1600" u="sng" noProof="0" dirty="0" err="1">
                <a:solidFill>
                  <a:schemeClr val="accent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graph_test_closure</a:t>
            </a:r>
            <a:r>
              <a:rPr lang="en-US" sz="16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(g, p = </a:t>
            </a:r>
            <a:r>
              <a:rPr lang="en-US" sz="1600" noProof="0" dirty="0" err="1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pvalues</a:t>
            </a:r>
            <a:r>
              <a:rPr lang="en-US" sz="16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alpha = </a:t>
            </a:r>
            <a:r>
              <a:rPr lang="en-US" sz="1600" noProof="0" dirty="0">
                <a:solidFill>
                  <a:srgbClr val="C0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0.0245</a:t>
            </a:r>
            <a:r>
              <a:rPr lang="en-US" sz="16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</a:t>
            </a:r>
            <a:r>
              <a:rPr lang="en-US" sz="1600" noProof="0" dirty="0" err="1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test_groups</a:t>
            </a:r>
            <a:r>
              <a:rPr lang="en-US" sz="16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 = list(</a:t>
            </a:r>
            <a:r>
              <a:rPr lang="en-US" sz="1600" noProof="0" dirty="0">
                <a:solidFill>
                  <a:srgbClr val="C0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1:3</a:t>
            </a:r>
            <a:r>
              <a:rPr lang="en-US" sz="16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c(</a:t>
            </a:r>
            <a:r>
              <a:rPr lang="en-US" sz="1600" noProof="0" dirty="0">
                <a:solidFill>
                  <a:srgbClr val="C0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4</a:t>
            </a:r>
            <a:r>
              <a:rPr lang="en-US" sz="16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</a:t>
            </a:r>
            <a:r>
              <a:rPr lang="en-US" sz="1600" noProof="0" dirty="0">
                <a:solidFill>
                  <a:srgbClr val="C0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7</a:t>
            </a:r>
            <a:r>
              <a:rPr lang="en-US" sz="16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), c(</a:t>
            </a:r>
            <a:r>
              <a:rPr lang="en-US" sz="1600" noProof="0" dirty="0">
                <a:solidFill>
                  <a:srgbClr val="C0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5</a:t>
            </a:r>
            <a:r>
              <a:rPr lang="en-US" sz="16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</a:t>
            </a:r>
            <a:r>
              <a:rPr lang="en-US" sz="1600" noProof="0" dirty="0">
                <a:solidFill>
                  <a:srgbClr val="C0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8</a:t>
            </a:r>
            <a:r>
              <a:rPr lang="en-US" sz="16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), c(</a:t>
            </a:r>
            <a:r>
              <a:rPr lang="en-US" sz="1600" noProof="0" dirty="0">
                <a:solidFill>
                  <a:srgbClr val="C0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6</a:t>
            </a:r>
            <a:r>
              <a:rPr lang="en-US" sz="16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</a:t>
            </a:r>
            <a:r>
              <a:rPr lang="en-US" sz="1600" noProof="0" dirty="0">
                <a:solidFill>
                  <a:srgbClr val="C0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9</a:t>
            </a:r>
            <a:r>
              <a:rPr lang="en-US" sz="16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)), </a:t>
            </a:r>
            <a:r>
              <a:rPr lang="en-US" sz="1600" noProof="0" dirty="0" err="1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test_types</a:t>
            </a:r>
            <a:r>
              <a:rPr lang="en-US" sz="16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 = c("parametric", "</a:t>
            </a:r>
            <a:r>
              <a:rPr lang="en-US" sz="1600" noProof="0" dirty="0" err="1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simes</a:t>
            </a:r>
            <a:r>
              <a:rPr lang="en-US" sz="16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", "</a:t>
            </a:r>
            <a:r>
              <a:rPr lang="en-US" sz="1600" noProof="0" dirty="0" err="1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simes</a:t>
            </a:r>
            <a:r>
              <a:rPr lang="en-US" sz="16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", "</a:t>
            </a:r>
            <a:r>
              <a:rPr lang="en-US" sz="1600" noProof="0" dirty="0" err="1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simes</a:t>
            </a:r>
            <a:r>
              <a:rPr lang="en-US" sz="16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"), </a:t>
            </a:r>
            <a:r>
              <a:rPr lang="en-US" sz="1600" noProof="0" dirty="0" err="1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test_corr</a:t>
            </a:r>
            <a:r>
              <a:rPr lang="en-US" sz="16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 = list(</a:t>
            </a:r>
            <a:r>
              <a:rPr lang="en-US" sz="1600" noProof="0" dirty="0" err="1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corr</a:t>
            </a:r>
            <a:r>
              <a:rPr lang="en-US" sz="16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NA, NA, NA), </a:t>
            </a:r>
            <a:r>
              <a:rPr lang="en-US" sz="1600" noProof="0" dirty="0" err="1">
                <a:solidFill>
                  <a:srgbClr val="111111"/>
                </a:solidFill>
                <a:highlight>
                  <a:srgbClr val="FFFF00"/>
                </a:highlight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test_values</a:t>
            </a:r>
            <a:r>
              <a:rPr lang="en-US" sz="1600" noProof="0" dirty="0">
                <a:solidFill>
                  <a:srgbClr val="111111"/>
                </a:solidFill>
                <a:highlight>
                  <a:srgbClr val="FFFF00"/>
                </a:highlight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 = TRUE</a:t>
            </a:r>
            <a:r>
              <a:rPr lang="en-US" sz="16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)</a:t>
            </a:r>
            <a:endParaRPr lang="en-US" sz="1600" noProof="0" dirty="0">
              <a:solidFill>
                <a:srgbClr val="54565B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3804CF-E195-BEB1-AC9D-08628CC3E24C}"/>
              </a:ext>
            </a:extLst>
          </p:cNvPr>
          <p:cNvSpPr txBox="1"/>
          <p:nvPr/>
        </p:nvSpPr>
        <p:spPr>
          <a:xfrm>
            <a:off x="369637" y="2711698"/>
            <a:ext cx="8666859" cy="23083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0" eaLnBrk="0" fontAlgn="base" hangingPunct="0">
              <a:spcAft>
                <a:spcPct val="0"/>
              </a:spcAft>
            </a:pPr>
            <a:r>
              <a:rPr lang="en-US" sz="16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Hypothesis Test       p      </a:t>
            </a:r>
            <a:r>
              <a:rPr lang="en-US" sz="1600" noProof="0" dirty="0" err="1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c_value</a:t>
            </a:r>
            <a:r>
              <a:rPr lang="en-US" sz="16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    Weight Alpha </a:t>
            </a:r>
            <a:r>
              <a:rPr lang="en-US" sz="1600" noProof="0" dirty="0" err="1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Inequality_holds</a:t>
            </a:r>
            <a:endParaRPr lang="en-US" sz="1600" noProof="0" dirty="0">
              <a:solidFill>
                <a:srgbClr val="111111"/>
              </a:solidFill>
              <a:latin typeface="Courier New" panose="02070309020205020404" pitchFamily="49" charset="0"/>
              <a:ea typeface="var(--bs-font-monospace)"/>
              <a:cs typeface="Courier New" panose="02070309020205020404" pitchFamily="49" charset="0"/>
            </a:endParaRPr>
          </a:p>
          <a:p>
            <a:pPr lvl="0" eaLnBrk="0" fontAlgn="base" hangingPunct="0">
              <a:spcAft>
                <a:spcPct val="0"/>
              </a:spcAft>
            </a:pPr>
            <a:r>
              <a:rPr lang="en-US" sz="16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H21    </a:t>
            </a:r>
            <a:r>
              <a:rPr lang="en-US" sz="1600" noProof="0" dirty="0">
                <a:solidFill>
                  <a:srgbClr val="111111"/>
                </a:solidFill>
                <a:highlight>
                  <a:srgbClr val="FFFF00"/>
                </a:highlight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parametric</a:t>
            </a:r>
            <a:r>
              <a:rPr lang="en-US" sz="16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 0.010375 1.0495852959 0.490 0.0245       </a:t>
            </a:r>
            <a:r>
              <a:rPr lang="en-US" sz="1600" noProof="0" dirty="0">
                <a:solidFill>
                  <a:srgbClr val="111111"/>
                </a:solidFill>
                <a:highlight>
                  <a:srgbClr val="FFFF00"/>
                </a:highlight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TRUE</a:t>
            </a:r>
          </a:p>
          <a:p>
            <a:pPr lvl="0" eaLnBrk="0" fontAlgn="base" hangingPunct="0">
              <a:spcAft>
                <a:spcPct val="0"/>
              </a:spcAft>
            </a:pPr>
            <a:r>
              <a:rPr lang="en-US" sz="16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H31    parametric 0.150000 1.0495852959 0.450 0.0245       FALSE</a:t>
            </a:r>
          </a:p>
          <a:p>
            <a:pPr lvl="0" eaLnBrk="0" fontAlgn="base" hangingPunct="0">
              <a:spcAft>
                <a:spcPct val="0"/>
              </a:spcAft>
            </a:pPr>
            <a:r>
              <a:rPr lang="en-US" sz="16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H12         </a:t>
            </a:r>
            <a:r>
              <a:rPr lang="en-US" sz="1600" noProof="0" dirty="0" err="1">
                <a:solidFill>
                  <a:srgbClr val="111111"/>
                </a:solidFill>
                <a:highlight>
                  <a:srgbClr val="FFFF00"/>
                </a:highlight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simes</a:t>
            </a:r>
            <a:r>
              <a:rPr lang="en-US" sz="16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 0.002000              0.054 0.0245       FALSE</a:t>
            </a:r>
          </a:p>
          <a:p>
            <a:pPr lvl="0" eaLnBrk="0" fontAlgn="base" hangingPunct="0">
              <a:spcAft>
                <a:spcPct val="0"/>
              </a:spcAft>
            </a:pPr>
            <a:r>
              <a:rPr lang="en-US" sz="16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H22         </a:t>
            </a:r>
            <a:r>
              <a:rPr lang="en-US" sz="1600" noProof="0" dirty="0" err="1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simes</a:t>
            </a:r>
            <a:r>
              <a:rPr lang="en-US" sz="16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 0.002500              0.000 0.0245       FALSE</a:t>
            </a:r>
          </a:p>
          <a:p>
            <a:pPr lvl="0" eaLnBrk="0" fontAlgn="base" hangingPunct="0">
              <a:spcAft>
                <a:spcPct val="0"/>
              </a:spcAft>
            </a:pPr>
            <a:r>
              <a:rPr lang="en-US" sz="16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H32         </a:t>
            </a:r>
            <a:r>
              <a:rPr lang="en-US" sz="1600" noProof="0" dirty="0" err="1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simes</a:t>
            </a:r>
            <a:r>
              <a:rPr lang="en-US" sz="16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 0.060000              0.000 0.0245       FALSE</a:t>
            </a:r>
          </a:p>
          <a:p>
            <a:pPr lvl="0" eaLnBrk="0" fontAlgn="base" hangingPunct="0">
              <a:spcAft>
                <a:spcPct val="0"/>
              </a:spcAft>
            </a:pPr>
            <a:r>
              <a:rPr lang="en-US" sz="16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H13         </a:t>
            </a:r>
            <a:r>
              <a:rPr lang="en-US" sz="1600" noProof="0" dirty="0" err="1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simes</a:t>
            </a:r>
            <a:r>
              <a:rPr lang="en-US" sz="16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 0.003000              0.006 0.0245       FALSE</a:t>
            </a:r>
          </a:p>
          <a:p>
            <a:pPr lvl="0" eaLnBrk="0" fontAlgn="base" hangingPunct="0">
              <a:spcAft>
                <a:spcPct val="0"/>
              </a:spcAft>
            </a:pPr>
            <a:r>
              <a:rPr lang="en-US" sz="16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H23         </a:t>
            </a:r>
            <a:r>
              <a:rPr lang="en-US" sz="1600" noProof="0" dirty="0" err="1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simes</a:t>
            </a:r>
            <a:r>
              <a:rPr lang="en-US" sz="16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 0.010000              0.000 0.0245       FALSE</a:t>
            </a:r>
          </a:p>
          <a:p>
            <a:pPr lvl="0" eaLnBrk="0" fontAlgn="base" hangingPunct="0">
              <a:spcAft>
                <a:spcPct val="0"/>
              </a:spcAft>
            </a:pPr>
            <a:r>
              <a:rPr lang="en-US" sz="16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H33         </a:t>
            </a:r>
            <a:r>
              <a:rPr lang="en-US" sz="1600" noProof="0" dirty="0" err="1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simes</a:t>
            </a:r>
            <a:r>
              <a:rPr lang="en-US" sz="16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 0.035000              0.000 0.0245       FALSE</a:t>
            </a:r>
            <a:endParaRPr lang="en-US" sz="1600" noProof="0" dirty="0">
              <a:solidFill>
                <a:srgbClr val="54565B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2CCC4A0-89F4-BDB5-C20F-A8DF447B1C09}"/>
                  </a:ext>
                </a:extLst>
              </p:cNvPr>
              <p:cNvSpPr txBox="1"/>
              <p:nvPr/>
            </p:nvSpPr>
            <p:spPr>
              <a:xfrm>
                <a:off x="251520" y="2387084"/>
                <a:ext cx="463082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noProof="0" dirty="0"/>
                  <a:t>I</a:t>
                </a:r>
                <a:r>
                  <a:rPr lang="en-US" sz="1800" noProof="0" dirty="0"/>
                  <a:t>ntersection hypothesis without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noProof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800" b="0" i="1" noProof="0" smtClean="0"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</m:sSub>
                  </m:oMath>
                </a14:m>
                <a:endParaRPr lang="en-US" noProof="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2CCC4A0-89F4-BDB5-C20F-A8DF447B1C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520" y="2387084"/>
                <a:ext cx="4630820" cy="369332"/>
              </a:xfrm>
              <a:prstGeom prst="rect">
                <a:avLst/>
              </a:prstGeom>
              <a:blipFill>
                <a:blip r:embed="rId2"/>
                <a:stretch>
                  <a:fillRect l="-1053"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B1BAD9-2DC4-13BB-B2DE-478D586087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 noProof="0"/>
              <a:t>Bretz, Chen, Xi | ISBS | October 2026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0467077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3" grpId="0" animBg="1"/>
      <p:bldP spid="4" grpId="0"/>
    </p:bld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ADC35-2954-4E52-BE3F-E02DED7407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975798" cy="994172"/>
          </a:xfrm>
        </p:spPr>
        <p:txBody>
          <a:bodyPr>
            <a:normAutofit/>
          </a:bodyPr>
          <a:lstStyle/>
          <a:p>
            <a:r>
              <a:rPr lang="en-US" sz="3000" noProof="0" dirty="0"/>
              <a:t>Hypothetical example based on CANTOS trial</a:t>
            </a:r>
            <a:br>
              <a:rPr lang="en-US" sz="2800" noProof="0" dirty="0"/>
            </a:br>
            <a:r>
              <a:rPr lang="en-US" sz="2200" i="1" noProof="0" dirty="0"/>
              <a:t>Perform power simulation</a:t>
            </a:r>
            <a:endParaRPr lang="en-US" sz="2200" i="1" noProof="0" dirty="0">
              <a:ea typeface="Calibri Light"/>
              <a:cs typeface="Calibri Light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C66AEC-4B4B-11CF-8433-A8F84D81E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47CF9-5B10-D24F-A8D7-45A9778164F7}" type="slidenum">
              <a:rPr lang="en-US" noProof="0" smtClean="0"/>
              <a:pPr/>
              <a:t>120</a:t>
            </a:fld>
            <a:endParaRPr lang="en-US" noProof="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1A498DC-1F05-087D-3844-0DFBE213463A}"/>
              </a:ext>
            </a:extLst>
          </p:cNvPr>
          <p:cNvSpPr txBox="1"/>
          <p:nvPr/>
        </p:nvSpPr>
        <p:spPr>
          <a:xfrm>
            <a:off x="369637" y="1203598"/>
            <a:ext cx="8306819" cy="132343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91440" tIns="45720" rIns="91440" bIns="45720" anchor="t">
            <a:spAutoFit/>
          </a:bodyPr>
          <a:lstStyle/>
          <a:p>
            <a:pPr lvl="0" eaLnBrk="0" fontAlgn="base" hangingPunct="0">
              <a:spcAft>
                <a:spcPct val="0"/>
              </a:spcAft>
            </a:pPr>
            <a:r>
              <a:rPr lang="en-US" sz="1600" noProof="0" dirty="0" err="1">
                <a:solidFill>
                  <a:srgbClr val="111111"/>
                </a:solidFill>
                <a:latin typeface="Courier New"/>
                <a:ea typeface="var(--bs-font-monospace)"/>
                <a:cs typeface="Courier New"/>
              </a:rPr>
              <a:t>graph_calculate_power</a:t>
            </a:r>
            <a:r>
              <a:rPr lang="en-US" sz="1600" noProof="0" dirty="0">
                <a:solidFill>
                  <a:srgbClr val="111111"/>
                </a:solidFill>
                <a:latin typeface="Courier New"/>
                <a:ea typeface="var(--bs-font-monospace)"/>
                <a:cs typeface="Courier New"/>
              </a:rPr>
              <a:t>(g, alpha = 0.0245, </a:t>
            </a:r>
            <a:r>
              <a:rPr lang="en-US" sz="1600" noProof="0" dirty="0" err="1">
                <a:solidFill>
                  <a:srgbClr val="111111"/>
                </a:solidFill>
                <a:latin typeface="Courier New"/>
                <a:ea typeface="var(--bs-font-monospace)"/>
                <a:cs typeface="Courier New"/>
              </a:rPr>
              <a:t>sim_corr</a:t>
            </a:r>
            <a:r>
              <a:rPr lang="en-US" sz="1600" noProof="0" dirty="0">
                <a:solidFill>
                  <a:srgbClr val="111111"/>
                </a:solidFill>
                <a:latin typeface="Courier New"/>
                <a:ea typeface="var(--bs-font-monospace)"/>
                <a:cs typeface="Courier New"/>
              </a:rPr>
              <a:t> = </a:t>
            </a:r>
            <a:r>
              <a:rPr lang="en-US" sz="1600" noProof="0" dirty="0" err="1">
                <a:solidFill>
                  <a:srgbClr val="111111"/>
                </a:solidFill>
                <a:latin typeface="Courier New"/>
                <a:ea typeface="var(--bs-font-monospace)"/>
                <a:cs typeface="Courier New"/>
              </a:rPr>
              <a:t>corr_sim</a:t>
            </a:r>
            <a:r>
              <a:rPr lang="en-US" sz="1600" noProof="0" dirty="0">
                <a:solidFill>
                  <a:srgbClr val="111111"/>
                </a:solidFill>
                <a:latin typeface="Courier New"/>
                <a:ea typeface="var(--bs-font-monospace)"/>
                <a:cs typeface="Courier New"/>
              </a:rPr>
              <a:t>, </a:t>
            </a:r>
            <a:r>
              <a:rPr lang="en-US" sz="1600" noProof="0" dirty="0" err="1">
                <a:solidFill>
                  <a:srgbClr val="111111"/>
                </a:solidFill>
                <a:latin typeface="Courier New"/>
                <a:ea typeface="var(--bs-font-monospace)"/>
                <a:cs typeface="Courier New"/>
              </a:rPr>
              <a:t>sim_n</a:t>
            </a:r>
            <a:r>
              <a:rPr lang="en-US" sz="1600" noProof="0" dirty="0">
                <a:solidFill>
                  <a:srgbClr val="111111"/>
                </a:solidFill>
                <a:latin typeface="Courier New"/>
                <a:ea typeface="var(--bs-font-monospace)"/>
                <a:cs typeface="Courier New"/>
              </a:rPr>
              <a:t> = 1e5, </a:t>
            </a:r>
            <a:r>
              <a:rPr lang="en-US" sz="1600" noProof="0" dirty="0" err="1">
                <a:solidFill>
                  <a:srgbClr val="111111"/>
                </a:solidFill>
                <a:latin typeface="Courier New"/>
                <a:ea typeface="var(--bs-font-monospace)"/>
                <a:cs typeface="Courier New"/>
              </a:rPr>
              <a:t>power_marginal</a:t>
            </a:r>
            <a:r>
              <a:rPr lang="en-US" sz="1600" noProof="0" dirty="0">
                <a:solidFill>
                  <a:srgbClr val="111111"/>
                </a:solidFill>
                <a:latin typeface="Courier New"/>
                <a:ea typeface="var(--bs-font-monospace)"/>
                <a:cs typeface="Courier New"/>
              </a:rPr>
              <a:t> = c(</a:t>
            </a:r>
            <a:r>
              <a:rPr lang="en-US" sz="1600" noProof="0" dirty="0" err="1">
                <a:solidFill>
                  <a:srgbClr val="111111"/>
                </a:solidFill>
                <a:latin typeface="Courier New"/>
                <a:ea typeface="var(--bs-font-monospace)"/>
                <a:cs typeface="Courier New"/>
              </a:rPr>
              <a:t>marginal_power</a:t>
            </a:r>
            <a:r>
              <a:rPr lang="en-US" sz="1600" noProof="0" dirty="0">
                <a:solidFill>
                  <a:srgbClr val="111111"/>
                </a:solidFill>
                <a:latin typeface="Courier New"/>
                <a:ea typeface="var(--bs-font-monospace)"/>
                <a:cs typeface="Courier New"/>
              </a:rPr>
              <a:t>), </a:t>
            </a:r>
            <a:r>
              <a:rPr lang="en-US" sz="1600" noProof="0" dirty="0" err="1">
                <a:solidFill>
                  <a:srgbClr val="111111"/>
                </a:solidFill>
                <a:highlight>
                  <a:srgbClr val="FFFF00"/>
                </a:highlight>
                <a:latin typeface="Courier New"/>
                <a:ea typeface="var(--bs-font-monospace)"/>
                <a:cs typeface="Courier New"/>
              </a:rPr>
              <a:t>test_groups</a:t>
            </a:r>
            <a:r>
              <a:rPr lang="en-US" sz="1600" noProof="0" dirty="0">
                <a:solidFill>
                  <a:srgbClr val="111111"/>
                </a:solidFill>
                <a:highlight>
                  <a:srgbClr val="FFFF00"/>
                </a:highlight>
                <a:latin typeface="Courier New"/>
                <a:ea typeface="var(--bs-font-monospace)"/>
                <a:cs typeface="Courier New"/>
              </a:rPr>
              <a:t> = list(1:3, c(4, 7), c(5, 8), c(6, 9)), </a:t>
            </a:r>
            <a:r>
              <a:rPr lang="en-US" sz="1600" noProof="0" dirty="0" err="1">
                <a:solidFill>
                  <a:srgbClr val="111111"/>
                </a:solidFill>
                <a:highlight>
                  <a:srgbClr val="FFFF00"/>
                </a:highlight>
                <a:latin typeface="Courier New"/>
                <a:ea typeface="var(--bs-font-monospace)"/>
                <a:cs typeface="Courier New"/>
              </a:rPr>
              <a:t>test_types</a:t>
            </a:r>
            <a:r>
              <a:rPr lang="en-US" sz="1600" noProof="0" dirty="0">
                <a:solidFill>
                  <a:srgbClr val="111111"/>
                </a:solidFill>
                <a:highlight>
                  <a:srgbClr val="FFFF00"/>
                </a:highlight>
                <a:latin typeface="Courier New"/>
                <a:ea typeface="var(--bs-font-monospace)"/>
                <a:cs typeface="Courier New"/>
              </a:rPr>
              <a:t> = c("parametric", "</a:t>
            </a:r>
            <a:r>
              <a:rPr lang="en-US" sz="1600" noProof="0" dirty="0" err="1">
                <a:solidFill>
                  <a:srgbClr val="111111"/>
                </a:solidFill>
                <a:highlight>
                  <a:srgbClr val="FFFF00"/>
                </a:highlight>
                <a:latin typeface="Courier New"/>
                <a:ea typeface="var(--bs-font-monospace)"/>
                <a:cs typeface="Courier New"/>
              </a:rPr>
              <a:t>simes</a:t>
            </a:r>
            <a:r>
              <a:rPr lang="en-US" sz="1600" noProof="0" dirty="0">
                <a:solidFill>
                  <a:srgbClr val="111111"/>
                </a:solidFill>
                <a:highlight>
                  <a:srgbClr val="FFFF00"/>
                </a:highlight>
                <a:latin typeface="Courier New"/>
                <a:ea typeface="var(--bs-font-monospace)"/>
                <a:cs typeface="Courier New"/>
              </a:rPr>
              <a:t>", "</a:t>
            </a:r>
            <a:r>
              <a:rPr lang="en-US" sz="1600" noProof="0" dirty="0" err="1">
                <a:solidFill>
                  <a:srgbClr val="111111"/>
                </a:solidFill>
                <a:highlight>
                  <a:srgbClr val="FFFF00"/>
                </a:highlight>
                <a:latin typeface="Courier New"/>
                <a:ea typeface="var(--bs-font-monospace)"/>
                <a:cs typeface="Courier New"/>
              </a:rPr>
              <a:t>simes</a:t>
            </a:r>
            <a:r>
              <a:rPr lang="en-US" sz="1600" noProof="0" dirty="0">
                <a:solidFill>
                  <a:srgbClr val="111111"/>
                </a:solidFill>
                <a:highlight>
                  <a:srgbClr val="FFFF00"/>
                </a:highlight>
                <a:latin typeface="Courier New"/>
                <a:ea typeface="var(--bs-font-monospace)"/>
                <a:cs typeface="Courier New"/>
              </a:rPr>
              <a:t>", "</a:t>
            </a:r>
            <a:r>
              <a:rPr lang="en-US" sz="1600" noProof="0" dirty="0" err="1">
                <a:solidFill>
                  <a:srgbClr val="111111"/>
                </a:solidFill>
                <a:highlight>
                  <a:srgbClr val="FFFF00"/>
                </a:highlight>
                <a:latin typeface="Courier New"/>
                <a:ea typeface="var(--bs-font-monospace)"/>
                <a:cs typeface="Courier New"/>
              </a:rPr>
              <a:t>simes</a:t>
            </a:r>
            <a:r>
              <a:rPr lang="en-US" sz="1600" noProof="0" dirty="0">
                <a:solidFill>
                  <a:srgbClr val="111111"/>
                </a:solidFill>
                <a:highlight>
                  <a:srgbClr val="FFFF00"/>
                </a:highlight>
                <a:latin typeface="Courier New"/>
                <a:ea typeface="var(--bs-font-monospace)"/>
                <a:cs typeface="Courier New"/>
              </a:rPr>
              <a:t>"), </a:t>
            </a:r>
            <a:r>
              <a:rPr lang="en-US" sz="1600" noProof="0" dirty="0" err="1">
                <a:solidFill>
                  <a:srgbClr val="111111"/>
                </a:solidFill>
                <a:highlight>
                  <a:srgbClr val="FFFF00"/>
                </a:highlight>
                <a:latin typeface="Courier New"/>
                <a:ea typeface="var(--bs-font-monospace)"/>
                <a:cs typeface="Courier New"/>
              </a:rPr>
              <a:t>test_corr</a:t>
            </a:r>
            <a:r>
              <a:rPr lang="en-US" sz="1600" noProof="0" dirty="0">
                <a:solidFill>
                  <a:srgbClr val="111111"/>
                </a:solidFill>
                <a:highlight>
                  <a:srgbClr val="FFFF00"/>
                </a:highlight>
                <a:latin typeface="Courier New"/>
                <a:ea typeface="var(--bs-font-monospace)"/>
                <a:cs typeface="Courier New"/>
              </a:rPr>
              <a:t> = list(</a:t>
            </a:r>
            <a:r>
              <a:rPr lang="en-US" sz="1600" noProof="0" dirty="0" err="1">
                <a:solidFill>
                  <a:srgbClr val="111111"/>
                </a:solidFill>
                <a:highlight>
                  <a:srgbClr val="FFFF00"/>
                </a:highlight>
                <a:latin typeface="Courier New"/>
                <a:ea typeface="var(--bs-font-monospace)"/>
                <a:cs typeface="Courier New"/>
              </a:rPr>
              <a:t>corr</a:t>
            </a:r>
            <a:r>
              <a:rPr lang="en-US" sz="1600" noProof="0" dirty="0">
                <a:solidFill>
                  <a:srgbClr val="111111"/>
                </a:solidFill>
                <a:highlight>
                  <a:srgbClr val="FFFF00"/>
                </a:highlight>
                <a:latin typeface="Courier New"/>
                <a:ea typeface="var(--bs-font-monospace)"/>
                <a:cs typeface="Courier New"/>
              </a:rPr>
              <a:t>, NA, NA, NA)</a:t>
            </a:r>
            <a:r>
              <a:rPr lang="en-US" sz="1600" noProof="0" dirty="0">
                <a:solidFill>
                  <a:srgbClr val="111111"/>
                </a:solidFill>
                <a:latin typeface="Courier New"/>
                <a:ea typeface="var(--bs-font-monospace)"/>
                <a:cs typeface="Courier New"/>
              </a:rPr>
              <a:t>, </a:t>
            </a:r>
            <a:r>
              <a:rPr lang="en-US" sz="1600" noProof="0" dirty="0" err="1">
                <a:solidFill>
                  <a:srgbClr val="111111"/>
                </a:solidFill>
                <a:latin typeface="Courier New"/>
                <a:ea typeface="var(--bs-font-monospace)"/>
                <a:cs typeface="Courier New"/>
              </a:rPr>
              <a:t>sim_success</a:t>
            </a:r>
            <a:r>
              <a:rPr lang="en-US" sz="1600" noProof="0" dirty="0">
                <a:solidFill>
                  <a:srgbClr val="111111"/>
                </a:solidFill>
                <a:latin typeface="Courier New"/>
                <a:ea typeface="var(--bs-font-monospace)"/>
                <a:cs typeface="Courier New"/>
              </a:rPr>
              <a:t> = </a:t>
            </a:r>
            <a:r>
              <a:rPr lang="en-US" sz="1600" noProof="0" dirty="0" err="1">
                <a:solidFill>
                  <a:srgbClr val="111111"/>
                </a:solidFill>
                <a:latin typeface="Courier New"/>
                <a:ea typeface="var(--bs-font-monospace)"/>
                <a:cs typeface="Courier New"/>
              </a:rPr>
              <a:t>success_fns</a:t>
            </a:r>
            <a:r>
              <a:rPr lang="en-US" sz="1600" noProof="0" dirty="0">
                <a:solidFill>
                  <a:srgbClr val="111111"/>
                </a:solidFill>
                <a:latin typeface="Courier New"/>
                <a:ea typeface="var(--bs-font-monospace)"/>
                <a:cs typeface="Courier New"/>
              </a:rPr>
              <a:t>)</a:t>
            </a:r>
            <a:endParaRPr lang="en-US" sz="1600" noProof="0" dirty="0">
              <a:solidFill>
                <a:srgbClr val="54565B"/>
              </a:solidFill>
              <a:latin typeface="Courier New"/>
              <a:cs typeface="Courier New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3804CF-E195-BEB1-AC9D-08628CC3E24C}"/>
              </a:ext>
            </a:extLst>
          </p:cNvPr>
          <p:cNvSpPr txBox="1"/>
          <p:nvPr/>
        </p:nvSpPr>
        <p:spPr>
          <a:xfrm>
            <a:off x="369637" y="2643758"/>
            <a:ext cx="8666859" cy="255454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0" eaLnBrk="0" fontAlgn="base" hangingPunct="0">
              <a:spcAft>
                <a:spcPct val="0"/>
              </a:spcAft>
            </a:pPr>
            <a:r>
              <a:rPr lang="en-US" sz="16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H11     H21     H31     H12     H22     H32     H13     H23     H33</a:t>
            </a:r>
          </a:p>
          <a:p>
            <a:pPr lvl="0" eaLnBrk="0" fontAlgn="base" hangingPunct="0">
              <a:spcAft>
                <a:spcPct val="0"/>
              </a:spcAft>
            </a:pPr>
            <a:r>
              <a:rPr lang="en-US" sz="16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0.7186 0.7851 0.8000  0.4504  0.5256  0.6016  0.3500  0.4087  0.4750</a:t>
            </a:r>
          </a:p>
          <a:p>
            <a:pPr lvl="0" eaLnBrk="0" fontAlgn="base" hangingPunct="0">
              <a:spcAft>
                <a:spcPct val="0"/>
              </a:spcAft>
            </a:pPr>
            <a:r>
              <a:rPr lang="en-US" sz="16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$</a:t>
            </a:r>
            <a:r>
              <a:rPr lang="en-US" sz="1600" noProof="0" dirty="0" err="1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rejection_expected</a:t>
            </a:r>
            <a:endParaRPr lang="en-US" sz="1600" noProof="0" dirty="0">
              <a:solidFill>
                <a:srgbClr val="111111"/>
              </a:solidFill>
              <a:latin typeface="Courier New" panose="02070309020205020404" pitchFamily="49" charset="0"/>
              <a:ea typeface="var(--bs-font-monospace)"/>
              <a:cs typeface="Courier New" panose="02070309020205020404" pitchFamily="49" charset="0"/>
            </a:endParaRPr>
          </a:p>
          <a:p>
            <a:pPr lvl="0" eaLnBrk="0" fontAlgn="base" hangingPunct="0">
              <a:spcAft>
                <a:spcPct val="0"/>
              </a:spcAft>
            </a:pPr>
            <a:r>
              <a:rPr lang="en-US" sz="16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[1] 5.1151 (</a:t>
            </a:r>
            <a:r>
              <a:rPr lang="en-US" sz="16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  <a:sym typeface="Wingdings" panose="05000000000000000000" pitchFamily="2" charset="2"/>
              </a:rPr>
              <a:t></a:t>
            </a:r>
            <a:r>
              <a:rPr lang="en-US" sz="16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 5.08695)</a:t>
            </a:r>
          </a:p>
          <a:p>
            <a:pPr lvl="0" eaLnBrk="0" fontAlgn="base" hangingPunct="0">
              <a:spcAft>
                <a:spcPct val="0"/>
              </a:spcAft>
            </a:pPr>
            <a:r>
              <a:rPr lang="en-US" sz="16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$power_at_least_1</a:t>
            </a:r>
          </a:p>
          <a:p>
            <a:pPr lvl="0" eaLnBrk="0" fontAlgn="base" hangingPunct="0">
              <a:spcAft>
                <a:spcPct val="0"/>
              </a:spcAft>
            </a:pPr>
            <a:r>
              <a:rPr lang="en-US" sz="16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[1] 0.91879 (</a:t>
            </a:r>
            <a:r>
              <a:rPr lang="en-US" sz="16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  <a:sym typeface="Wingdings" panose="05000000000000000000" pitchFamily="2" charset="2"/>
              </a:rPr>
              <a:t></a:t>
            </a:r>
            <a:r>
              <a:rPr lang="en-US" sz="16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 0.91791)</a:t>
            </a:r>
          </a:p>
          <a:p>
            <a:pPr lvl="0" eaLnBrk="0" fontAlgn="base" hangingPunct="0">
              <a:spcAft>
                <a:spcPct val="0"/>
              </a:spcAft>
            </a:pPr>
            <a:r>
              <a:rPr lang="en-US" sz="16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$</a:t>
            </a:r>
            <a:r>
              <a:rPr lang="en-US" sz="1600" noProof="0" dirty="0" err="1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power_all</a:t>
            </a:r>
            <a:endParaRPr lang="en-US" sz="1600" noProof="0" dirty="0">
              <a:solidFill>
                <a:srgbClr val="111111"/>
              </a:solidFill>
              <a:latin typeface="Courier New" panose="02070309020205020404" pitchFamily="49" charset="0"/>
              <a:ea typeface="var(--bs-font-monospace)"/>
              <a:cs typeface="Courier New" panose="02070309020205020404" pitchFamily="49" charset="0"/>
            </a:endParaRPr>
          </a:p>
          <a:p>
            <a:pPr eaLnBrk="0" fontAlgn="base" hangingPunct="0">
              <a:spcAft>
                <a:spcPct val="0"/>
              </a:spcAft>
            </a:pPr>
            <a:r>
              <a:rPr lang="en-US" sz="16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[1] 0.28348 (</a:t>
            </a:r>
            <a:r>
              <a:rPr lang="en-US" sz="16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  <a:sym typeface="Wingdings" panose="05000000000000000000" pitchFamily="2" charset="2"/>
              </a:rPr>
              <a:t></a:t>
            </a:r>
            <a:r>
              <a:rPr lang="en-US" sz="16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 0.27901)</a:t>
            </a:r>
          </a:p>
          <a:p>
            <a:pPr lvl="0" eaLnBrk="0" fontAlgn="base" hangingPunct="0">
              <a:spcAft>
                <a:spcPct val="0"/>
              </a:spcAft>
            </a:pPr>
            <a:r>
              <a:rPr lang="en-US" sz="16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$</a:t>
            </a:r>
            <a:r>
              <a:rPr lang="en-US" sz="1600" noProof="0" dirty="0" err="1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power_success</a:t>
            </a:r>
            <a:endParaRPr lang="en-US" sz="1600" noProof="0" dirty="0">
              <a:solidFill>
                <a:srgbClr val="111111"/>
              </a:solidFill>
              <a:latin typeface="Courier New" panose="02070309020205020404" pitchFamily="49" charset="0"/>
              <a:ea typeface="var(--bs-font-monospace)"/>
              <a:cs typeface="Courier New" panose="02070309020205020404" pitchFamily="49" charset="0"/>
            </a:endParaRPr>
          </a:p>
          <a:p>
            <a:pPr lvl="0" eaLnBrk="0" fontAlgn="base" hangingPunct="0">
              <a:spcAft>
                <a:spcPct val="0"/>
              </a:spcAft>
            </a:pPr>
            <a:r>
              <a:rPr lang="en-US" sz="1600" noProof="0" dirty="0" err="1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AllPE</a:t>
            </a:r>
            <a:r>
              <a:rPr lang="en-US" sz="16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 0.593 (</a:t>
            </a:r>
            <a:r>
              <a:rPr lang="en-US" sz="16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  <a:sym typeface="Wingdings" panose="05000000000000000000" pitchFamily="2" charset="2"/>
              </a:rPr>
              <a:t></a:t>
            </a:r>
            <a:r>
              <a:rPr lang="en-US" sz="16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 0.59057)</a:t>
            </a:r>
            <a:endParaRPr lang="en-US" sz="1600" noProof="0" dirty="0">
              <a:solidFill>
                <a:srgbClr val="54565B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D2E3755-4BB9-57F2-B17B-B76590B201B4}"/>
              </a:ext>
            </a:extLst>
          </p:cNvPr>
          <p:cNvSpPr/>
          <p:nvPr/>
        </p:nvSpPr>
        <p:spPr>
          <a:xfrm>
            <a:off x="369637" y="3209026"/>
            <a:ext cx="8306819" cy="1934474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spcBef>
                <a:spcPts val="600"/>
              </a:spcBef>
            </a:pPr>
            <a:r>
              <a:rPr lang="en-US" sz="1600" noProof="0" dirty="0">
                <a:solidFill>
                  <a:schemeClr val="tx1"/>
                </a:solidFill>
              </a:rPr>
              <a:t>Increasing power compared to Bonferroni tests for secondary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6416A6-1F77-E126-315F-645C0BFE41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 noProof="0"/>
              <a:t>Bretz, Chen, Xi | ISBS | October 2026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459225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3" grpId="0" animBg="1"/>
      <p:bldP spid="6" grpId="0" animBg="1"/>
    </p:bld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0AF352-2209-23FE-DD43-EDD7915EA7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noProof="0" dirty="0"/>
              <a:t>GraphicalMCP package</a:t>
            </a:r>
            <a:br>
              <a:rPr lang="en-US" noProof="0" dirty="0"/>
            </a:br>
            <a:r>
              <a:rPr lang="en-US" sz="2200" i="1" noProof="0" dirty="0"/>
              <a:t>Resources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8EF11C-AA5F-EA6B-116F-F6F8233A9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47CF9-5B10-D24F-A8D7-45A9778164F7}" type="slidenum">
              <a:rPr lang="en-US" noProof="0" smtClean="0"/>
              <a:pPr/>
              <a:t>121</a:t>
            </a:fld>
            <a:endParaRPr lang="en-US" noProof="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C2FFC6A-4989-6EC9-C133-D9618C01837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8654" t="5657" r="21238" b="10511"/>
          <a:stretch/>
        </p:blipFill>
        <p:spPr>
          <a:xfrm>
            <a:off x="4644008" y="1268016"/>
            <a:ext cx="4176464" cy="3096345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F25C4B3-ED6A-8A15-EA36-18805FDA6C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504" y="1369218"/>
            <a:ext cx="4464496" cy="3434779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00000"/>
              </a:lnSpc>
              <a:spcBef>
                <a:spcPts val="432"/>
              </a:spcBef>
            </a:pPr>
            <a:r>
              <a:rPr lang="en-US" sz="2000" noProof="0" dirty="0" err="1"/>
              <a:t>Github</a:t>
            </a:r>
            <a:r>
              <a:rPr lang="en-US" sz="2000" noProof="0" dirty="0"/>
              <a:t> repository on </a:t>
            </a:r>
            <a:r>
              <a:rPr lang="en-US" sz="2000" noProof="0" dirty="0" err="1"/>
              <a:t>OpenPharma</a:t>
            </a:r>
            <a:r>
              <a:rPr lang="en-US" sz="2000" noProof="0" dirty="0"/>
              <a:t> </a:t>
            </a:r>
            <a:r>
              <a:rPr lang="en-US" sz="2000" noProof="0" dirty="0">
                <a:hlinkClick r:id="rId4"/>
              </a:rPr>
              <a:t>https://openpharma.github.io/graphicalMCP/</a:t>
            </a:r>
            <a:endParaRPr lang="en-US" sz="2000" noProof="0" dirty="0"/>
          </a:p>
          <a:p>
            <a:pPr>
              <a:lnSpc>
                <a:spcPct val="100000"/>
              </a:lnSpc>
              <a:spcBef>
                <a:spcPts val="432"/>
              </a:spcBef>
            </a:pPr>
            <a:r>
              <a:rPr lang="en-US" sz="2000" noProof="0" dirty="0"/>
              <a:t>Get Started</a:t>
            </a:r>
          </a:p>
          <a:p>
            <a:pPr>
              <a:lnSpc>
                <a:spcPct val="100000"/>
              </a:lnSpc>
              <a:spcBef>
                <a:spcPts val="432"/>
              </a:spcBef>
            </a:pPr>
            <a:r>
              <a:rPr lang="en-US" sz="2000" noProof="0" dirty="0"/>
              <a:t>Glossary</a:t>
            </a:r>
          </a:p>
          <a:p>
            <a:pPr>
              <a:lnSpc>
                <a:spcPct val="100000"/>
              </a:lnSpc>
              <a:spcBef>
                <a:spcPts val="432"/>
              </a:spcBef>
            </a:pPr>
            <a:r>
              <a:rPr lang="en-US" sz="2000" noProof="0" dirty="0"/>
              <a:t>Function reference</a:t>
            </a:r>
          </a:p>
          <a:p>
            <a:pPr>
              <a:lnSpc>
                <a:spcPct val="100000"/>
              </a:lnSpc>
              <a:spcBef>
                <a:spcPts val="432"/>
              </a:spcBef>
            </a:pPr>
            <a:r>
              <a:rPr lang="en-US" sz="2000" noProof="0" dirty="0"/>
              <a:t>Articles</a:t>
            </a:r>
          </a:p>
          <a:p>
            <a:pPr lvl="1">
              <a:lnSpc>
                <a:spcPct val="100000"/>
              </a:lnSpc>
              <a:spcBef>
                <a:spcPts val="432"/>
              </a:spcBef>
            </a:pPr>
            <a:r>
              <a:rPr lang="en-US" sz="1700" noProof="0" dirty="0"/>
              <a:t>Bonferroni-based graphs</a:t>
            </a:r>
          </a:p>
          <a:p>
            <a:pPr lvl="1">
              <a:lnSpc>
                <a:spcPct val="100000"/>
              </a:lnSpc>
              <a:spcBef>
                <a:spcPts val="432"/>
              </a:spcBef>
            </a:pPr>
            <a:r>
              <a:rPr lang="en-US" sz="1700" noProof="0" dirty="0"/>
              <a:t>Closed tests for mixed types of tests</a:t>
            </a:r>
          </a:p>
          <a:p>
            <a:pPr lvl="1">
              <a:lnSpc>
                <a:spcPct val="100000"/>
              </a:lnSpc>
              <a:spcBef>
                <a:spcPts val="432"/>
              </a:spcBef>
            </a:pPr>
            <a:r>
              <a:rPr lang="en-US" sz="1700" noProof="0" dirty="0"/>
              <a:t>Group sequential design</a:t>
            </a:r>
          </a:p>
          <a:p>
            <a:pPr lvl="1">
              <a:lnSpc>
                <a:spcPct val="100000"/>
              </a:lnSpc>
              <a:spcBef>
                <a:spcPts val="432"/>
              </a:spcBef>
            </a:pPr>
            <a:r>
              <a:rPr lang="en-US" sz="1700" noProof="0" dirty="0"/>
              <a:t>Common MCPs</a:t>
            </a:r>
          </a:p>
          <a:p>
            <a:pPr lvl="1">
              <a:lnSpc>
                <a:spcPct val="100000"/>
              </a:lnSpc>
              <a:spcBef>
                <a:spcPts val="432"/>
              </a:spcBef>
            </a:pPr>
            <a:r>
              <a:rPr lang="en-US" sz="1700" noProof="0" dirty="0"/>
              <a:t>Internal validation</a:t>
            </a:r>
          </a:p>
          <a:p>
            <a:pPr lvl="1">
              <a:lnSpc>
                <a:spcPct val="100000"/>
              </a:lnSpc>
              <a:spcBef>
                <a:spcPts val="432"/>
              </a:spcBef>
            </a:pPr>
            <a:r>
              <a:rPr lang="en-US" sz="1700" noProof="0" dirty="0"/>
              <a:t>Comparisons with other packages</a:t>
            </a:r>
          </a:p>
          <a:p>
            <a:pPr lvl="1">
              <a:lnSpc>
                <a:spcPct val="100000"/>
              </a:lnSpc>
              <a:spcBef>
                <a:spcPts val="432"/>
              </a:spcBef>
            </a:pPr>
            <a:r>
              <a:rPr lang="en-US" sz="1700" noProof="0" dirty="0"/>
              <a:t>Rationales to generate the weighting strategy</a:t>
            </a:r>
          </a:p>
          <a:p>
            <a:pPr>
              <a:lnSpc>
                <a:spcPct val="100000"/>
              </a:lnSpc>
              <a:spcBef>
                <a:spcPts val="432"/>
              </a:spcBef>
            </a:pPr>
            <a:r>
              <a:rPr lang="en-US" sz="2000" noProof="0" dirty="0"/>
              <a:t>Changelog</a:t>
            </a:r>
            <a:endParaRPr lang="en-US" sz="1700" noProof="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45A9E87-9903-D137-5305-0744D175B5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 noProof="0"/>
              <a:t>Bretz, Chen, Xi | ISBS | October 2026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8549780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</p:bld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204D93-BD3A-5A0C-EB89-1BA38E2AB5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92FC2-7628-ACE0-6591-42F70A7308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975798" cy="994172"/>
          </a:xfrm>
        </p:spPr>
        <p:txBody>
          <a:bodyPr>
            <a:normAutofit/>
          </a:bodyPr>
          <a:lstStyle/>
          <a:p>
            <a:r>
              <a:rPr lang="en-US" sz="3200" noProof="0" dirty="0"/>
              <a:t>Summary</a:t>
            </a:r>
            <a:endParaRPr lang="en-US" sz="2200" i="1" noProof="0" dirty="0">
              <a:solidFill>
                <a:srgbClr val="0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AB2553-946E-669C-82B2-050F35B8DB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69219"/>
            <a:ext cx="8119814" cy="3263504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noProof="0" dirty="0"/>
              <a:t>The </a:t>
            </a:r>
            <a:r>
              <a:rPr lang="en-US" noProof="0" dirty="0">
                <a:solidFill>
                  <a:srgbClr val="5291DD"/>
                </a:solidFill>
              </a:rPr>
              <a:t>graphical approach </a:t>
            </a:r>
            <a:r>
              <a:rPr lang="en-US" noProof="0" dirty="0"/>
              <a:t>offers the possibility to:</a:t>
            </a:r>
          </a:p>
          <a:p>
            <a:pPr lvl="1"/>
            <a:r>
              <a:rPr lang="en-US" noProof="0" dirty="0">
                <a:solidFill>
                  <a:srgbClr val="5291DD"/>
                </a:solidFill>
              </a:rPr>
              <a:t>tailor advanced multiple test procedures</a:t>
            </a:r>
            <a:r>
              <a:rPr lang="en-US" noProof="0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n-US" noProof="0" dirty="0"/>
              <a:t>to structured families of hypotheses reflecting clinical considerations</a:t>
            </a:r>
            <a:endParaRPr lang="en-US" noProof="0" dirty="0">
              <a:ea typeface="Calibri"/>
              <a:cs typeface="Calibri"/>
            </a:endParaRPr>
          </a:p>
          <a:p>
            <a:pPr lvl="1"/>
            <a:r>
              <a:rPr lang="en-US" noProof="0" dirty="0">
                <a:solidFill>
                  <a:srgbClr val="5291DD"/>
                </a:solidFill>
              </a:rPr>
              <a:t>visualize complex decision strategies </a:t>
            </a:r>
            <a:r>
              <a:rPr lang="en-US" noProof="0" dirty="0"/>
              <a:t>in an easily communicable way </a:t>
            </a:r>
            <a:endParaRPr lang="en-US" noProof="0" dirty="0">
              <a:ea typeface="Calibri"/>
              <a:cs typeface="Calibri"/>
            </a:endParaRPr>
          </a:p>
          <a:p>
            <a:pPr lvl="1"/>
            <a:r>
              <a:rPr lang="en-US" noProof="0" dirty="0"/>
              <a:t>ensures </a:t>
            </a:r>
            <a:r>
              <a:rPr lang="en-US" noProof="0" dirty="0">
                <a:solidFill>
                  <a:srgbClr val="5291DD"/>
                </a:solidFill>
              </a:rPr>
              <a:t>strong FWER control</a:t>
            </a:r>
            <a:endParaRPr lang="en-US" noProof="0" dirty="0">
              <a:solidFill>
                <a:srgbClr val="5291DD"/>
              </a:solidFill>
              <a:ea typeface="Calibri"/>
              <a:cs typeface="Calibri"/>
            </a:endParaRPr>
          </a:p>
          <a:p>
            <a:r>
              <a:rPr lang="en-US" noProof="0" dirty="0">
                <a:solidFill>
                  <a:srgbClr val="5291DD"/>
                </a:solidFill>
              </a:rPr>
              <a:t>Covers many common multiple test procedures</a:t>
            </a:r>
            <a:r>
              <a:rPr lang="en-US" noProof="0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n-US" noProof="0" dirty="0"/>
              <a:t>as special cases</a:t>
            </a:r>
            <a:endParaRPr lang="en-US" noProof="0" dirty="0">
              <a:ea typeface="Calibri"/>
              <a:cs typeface="Calibri"/>
            </a:endParaRPr>
          </a:p>
          <a:p>
            <a:r>
              <a:rPr lang="en-US" noProof="0" dirty="0">
                <a:ea typeface="等线"/>
              </a:rPr>
              <a:t>Optimization of graphs addresses clinical consideration and statistical optimality</a:t>
            </a:r>
            <a:endParaRPr lang="en-US" noProof="0" dirty="0">
              <a:solidFill>
                <a:srgbClr val="5291DD"/>
              </a:solidFill>
            </a:endParaRPr>
          </a:p>
          <a:p>
            <a:r>
              <a:rPr lang="en-US" noProof="0" dirty="0"/>
              <a:t>Convenient implementations with </a:t>
            </a:r>
            <a:r>
              <a:rPr lang="en-US" noProof="0" dirty="0" err="1">
                <a:solidFill>
                  <a:srgbClr val="5291DD"/>
                </a:solidFill>
              </a:rPr>
              <a:t>graphicalMCP</a:t>
            </a:r>
            <a:endParaRPr lang="en-US" noProof="0" dirty="0">
              <a:solidFill>
                <a:srgbClr val="5291DD"/>
              </a:solidFill>
              <a:ea typeface="Calibri"/>
              <a:cs typeface="Calibri"/>
            </a:endParaRPr>
          </a:p>
          <a:p>
            <a:pPr lvl="1"/>
            <a:r>
              <a:rPr lang="en-US" noProof="0" dirty="0"/>
              <a:t>Extensions to mixed types of tests, e.g., Hochberg, parametric, Simes, etc.</a:t>
            </a:r>
            <a:endParaRPr lang="en-US" noProof="0" dirty="0">
              <a:ea typeface="Calibri"/>
              <a:cs typeface="Calibri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911A0C-DE82-0A26-B215-587D6D483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47CF9-5B10-D24F-A8D7-45A9778164F7}" type="slidenum">
              <a:rPr lang="en-US" noProof="0" smtClean="0"/>
              <a:pPr/>
              <a:t>122</a:t>
            </a:fld>
            <a:endParaRPr lang="en-US" noProof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016A84-B22E-9892-B927-40A237E12B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 noProof="0"/>
              <a:t>Bretz, Chen, Xi | ISBS | October 2026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0106453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95648F-D2E4-868C-3C32-3B76C98CC8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Extensions not covered in this training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9D5418-6816-468E-8E83-12B3A39E65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anchor="t">
            <a:noAutofit/>
          </a:bodyPr>
          <a:lstStyle/>
          <a:p>
            <a:r>
              <a:rPr lang="en-US" sz="2000" b="0" noProof="0" dirty="0">
                <a:solidFill>
                  <a:srgbClr val="5291DD"/>
                </a:solidFill>
              </a:rPr>
              <a:t>Extensions reviewed by Xi and Bretz (2021)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5DEB56-ACEE-F31F-6363-5D116B76D97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noProof="0" dirty="0"/>
              <a:t>Adjusted p-values and simultaneous confidence intervals</a:t>
            </a:r>
          </a:p>
          <a:p>
            <a:r>
              <a:rPr lang="en-US" noProof="0" dirty="0"/>
              <a:t>Weighted and trimmed Simes tests</a:t>
            </a:r>
          </a:p>
          <a:p>
            <a:r>
              <a:rPr lang="en-US" noProof="0" dirty="0"/>
              <a:t>Group-sequential and adaptive designs</a:t>
            </a:r>
          </a:p>
          <a:p>
            <a:r>
              <a:rPr lang="en-US" noProof="0" dirty="0"/>
              <a:t>Families of hypotheses</a:t>
            </a:r>
          </a:p>
          <a:p>
            <a:r>
              <a:rPr lang="en-US" noProof="0" dirty="0"/>
              <a:t>Entangled graphs (including truncated test procedures)</a:t>
            </a:r>
          </a:p>
          <a:p>
            <a:r>
              <a:rPr lang="en-US" noProof="0" dirty="0"/>
              <a:t>Symmetric graphs (including Hochberg procedure)</a:t>
            </a:r>
          </a:p>
          <a:p>
            <a:endParaRPr lang="en-US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A52851-E3DD-E03C-8476-7686907B02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 anchor="t">
            <a:normAutofit/>
          </a:bodyPr>
          <a:lstStyle/>
          <a:p>
            <a:r>
              <a:rPr lang="en-US" sz="2000" b="0" noProof="0" dirty="0">
                <a:solidFill>
                  <a:srgbClr val="5291DD"/>
                </a:solidFill>
              </a:rPr>
              <a:t>Other extensions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2ADF00-28D1-ADBE-1BEE-6FEFD2122486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noProof="0" dirty="0"/>
              <a:t>Generalized error rate control (Robertson et al., 2020)</a:t>
            </a:r>
          </a:p>
          <a:p>
            <a:r>
              <a:rPr lang="en-US" noProof="0" dirty="0"/>
              <a:t>Online testing (Fischer et al., 2024)</a:t>
            </a:r>
          </a:p>
          <a:p>
            <a:r>
              <a:rPr lang="en-US" noProof="0" dirty="0"/>
              <a:t>Reverse graphical approaches (Gou, 2024)</a:t>
            </a:r>
          </a:p>
          <a:p>
            <a:r>
              <a:rPr lang="en-US" noProof="0" dirty="0"/>
              <a:t>Combined data from multiple trials (Vandemeulebroecke et al., 2024)</a:t>
            </a:r>
          </a:p>
          <a:p>
            <a:r>
              <a:rPr lang="en-US" noProof="0" dirty="0"/>
              <a:t>Closed MCP-Mod (König et al., 2025)</a:t>
            </a:r>
          </a:p>
          <a:p>
            <a:r>
              <a:rPr lang="en-US" noProof="0" dirty="0"/>
              <a:t>E-values (Hartog and Lei, 2025)</a:t>
            </a:r>
          </a:p>
          <a:p>
            <a:pPr marL="0" indent="0">
              <a:buNone/>
            </a:pPr>
            <a:endParaRPr lang="en-US" noProof="0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8B46F9FD-3F1B-AA9E-0909-E82D5E692C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 noProof="0"/>
              <a:t>Bretz, Chen, Xi | ISBS | October 2026</a:t>
            </a:r>
            <a:endParaRPr lang="en-US" noProof="0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D4C4E47-ADF9-6FF0-A2AE-AE61E4CFC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D9F39-F344-41AE-B531-1D3ECACBC820}" type="slidenum">
              <a:rPr lang="en-US" noProof="0" smtClean="0"/>
              <a:t>123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901841564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2315D8-573E-A4A0-BFB8-456A69D3A8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AAD448-18AE-067D-B2B0-247EC915B5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975798" cy="994172"/>
          </a:xfrm>
        </p:spPr>
        <p:txBody>
          <a:bodyPr>
            <a:normAutofit/>
          </a:bodyPr>
          <a:lstStyle/>
          <a:p>
            <a:r>
              <a:rPr lang="en-US" sz="3200" noProof="0" dirty="0"/>
              <a:t>Recap and Contact</a:t>
            </a:r>
            <a:endParaRPr lang="en-US" sz="2200" i="1" noProof="0" dirty="0">
              <a:solidFill>
                <a:srgbClr val="0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4C84AC-FBAB-296C-A450-927B8DB641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69219"/>
            <a:ext cx="8119814" cy="3263504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noProof="0" dirty="0"/>
              <a:t>Introduction</a:t>
            </a:r>
            <a:r>
              <a:rPr lang="en-US" noProof="0" dirty="0">
                <a:ea typeface="Calibri"/>
              </a:rPr>
              <a:t> and basic concepts</a:t>
            </a:r>
            <a:endParaRPr lang="en-US" noProof="0" dirty="0">
              <a:ea typeface="Calibri"/>
              <a:cs typeface="Calibri" panose="020F0502020204030204"/>
            </a:endParaRPr>
          </a:p>
          <a:p>
            <a:r>
              <a:rPr lang="en-US" noProof="0" dirty="0">
                <a:ea typeface="Calibri"/>
              </a:rPr>
              <a:t>Graphical approaches </a:t>
            </a:r>
            <a:r>
              <a:rPr lang="en-US" noProof="0" dirty="0"/>
              <a:t>to</a:t>
            </a:r>
            <a:r>
              <a:rPr lang="en-US" noProof="0" dirty="0">
                <a:solidFill>
                  <a:srgbClr val="000000"/>
                </a:solidFill>
              </a:rPr>
              <a:t> multiple testing</a:t>
            </a:r>
            <a:endParaRPr lang="en-US" noProof="0" dirty="0">
              <a:solidFill>
                <a:srgbClr val="000000"/>
              </a:solidFill>
              <a:ea typeface="Calibri"/>
              <a:cs typeface="Calibri"/>
            </a:endParaRPr>
          </a:p>
          <a:p>
            <a:r>
              <a:rPr lang="en-US" noProof="0" dirty="0">
                <a:solidFill>
                  <a:srgbClr val="000000"/>
                </a:solidFill>
              </a:rPr>
              <a:t>Optimizing graphical multiple comparison procedures</a:t>
            </a:r>
            <a:endParaRPr lang="en-US" noProof="0" dirty="0">
              <a:solidFill>
                <a:srgbClr val="000000"/>
              </a:solidFill>
              <a:ea typeface="Calibri"/>
              <a:cs typeface="Calibri"/>
            </a:endParaRPr>
          </a:p>
          <a:p>
            <a:r>
              <a:rPr lang="en-US" noProof="0" dirty="0" err="1">
                <a:solidFill>
                  <a:srgbClr val="000000"/>
                </a:solidFill>
              </a:rPr>
              <a:t>graphicalMCP</a:t>
            </a:r>
            <a:r>
              <a:rPr lang="en-US" noProof="0" dirty="0">
                <a:solidFill>
                  <a:srgbClr val="000000"/>
                </a:solidFill>
              </a:rPr>
              <a:t>: implementation of graphical approaches</a:t>
            </a:r>
            <a:endParaRPr lang="en-US" noProof="0" dirty="0">
              <a:solidFill>
                <a:srgbClr val="000000"/>
              </a:solidFill>
              <a:ea typeface="Calibri"/>
              <a:cs typeface="Calibri"/>
            </a:endParaRPr>
          </a:p>
          <a:p>
            <a:endParaRPr lang="en-US" noProof="0" dirty="0">
              <a:ea typeface="Calibri"/>
              <a:cs typeface="Calibri"/>
            </a:endParaRPr>
          </a:p>
          <a:p>
            <a:r>
              <a:rPr lang="en-US" noProof="0" dirty="0">
                <a:ea typeface="Calibri"/>
                <a:cs typeface="Calibri"/>
              </a:rPr>
              <a:t>Contact:</a:t>
            </a:r>
          </a:p>
          <a:p>
            <a:pPr marL="0" indent="0">
              <a:buNone/>
            </a:pPr>
            <a:r>
              <a:rPr lang="en-US" sz="2000" dirty="0">
                <a:ea typeface="Calibri"/>
                <a:cs typeface="Calibri"/>
                <a:hlinkClick r:id="rId2"/>
              </a:rPr>
              <a:t>yao.chen@novartis.com</a:t>
            </a:r>
            <a:r>
              <a:rPr lang="en-US" sz="2000" dirty="0">
                <a:ea typeface="Calibri"/>
                <a:cs typeface="Calibri"/>
              </a:rPr>
              <a:t>   </a:t>
            </a:r>
            <a:r>
              <a:rPr lang="en-US" sz="2000" noProof="0" dirty="0">
                <a:ea typeface="Calibri"/>
                <a:cs typeface="Calibri"/>
                <a:hlinkClick r:id="rId3"/>
              </a:rPr>
              <a:t>dong.xi1@gilead.com</a:t>
            </a:r>
            <a:r>
              <a:rPr lang="en-US" sz="2000" noProof="0" dirty="0">
                <a:ea typeface="Calibri"/>
                <a:cs typeface="Calibri"/>
              </a:rPr>
              <a:t>   </a:t>
            </a:r>
            <a:r>
              <a:rPr lang="en-US" sz="2000" noProof="0" dirty="0">
                <a:ea typeface="Calibri"/>
                <a:cs typeface="Calibri"/>
                <a:hlinkClick r:id="rId4"/>
              </a:rPr>
              <a:t>frank.bretz@novartis.com</a:t>
            </a:r>
            <a:endParaRPr lang="en-US" noProof="0" dirty="0">
              <a:ea typeface="Calibri"/>
              <a:cs typeface="Calibri"/>
            </a:endParaRPr>
          </a:p>
          <a:p>
            <a:endParaRPr lang="en-US" noProof="0" dirty="0">
              <a:ea typeface="Calibri"/>
              <a:cs typeface="Calibri"/>
            </a:endParaRPr>
          </a:p>
          <a:p>
            <a:r>
              <a:rPr lang="en-US" noProof="0" dirty="0">
                <a:ea typeface="Calibri"/>
                <a:cs typeface="Calibri"/>
              </a:rPr>
              <a:t>Code: </a:t>
            </a:r>
            <a:r>
              <a:rPr lang="en-US" noProof="0" dirty="0">
                <a:hlinkClick r:id="rId5"/>
              </a:rPr>
              <a:t>https://github.com/openpharma/graphical-multiple-comparisons</a:t>
            </a:r>
            <a:endParaRPr lang="en-US" noProof="0" dirty="0">
              <a:ea typeface="Calibri"/>
              <a:cs typeface="Calibri"/>
            </a:endParaRPr>
          </a:p>
          <a:p>
            <a:endParaRPr lang="en-US" noProof="0" dirty="0">
              <a:ea typeface="Calibri"/>
              <a:cs typeface="Calibri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EAF2CB-39BD-208C-6CFA-3C8544C3A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47CF9-5B10-D24F-A8D7-45A9778164F7}" type="slidenum">
              <a:rPr lang="en-US" noProof="0" smtClean="0"/>
              <a:pPr/>
              <a:t>124</a:t>
            </a:fld>
            <a:endParaRPr lang="en-US" noProof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84E8F6-E9DD-2471-E9BB-D2C6C75FE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 noProof="0"/>
              <a:t>Bretz, Chen, Xi | ISBS | October 2026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590384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E1608C-8A51-4FDE-92AC-1044A1A82D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Thank you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AFE647-A3A0-2A88-7911-590C598C2C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0B26CA9-1D15-64A0-EA5E-744F5A3B30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 noProof="0"/>
              <a:t>Bretz, Chen, Xi | ISBS | October 2026</a:t>
            </a:r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D9BF69-71E0-7FFF-5384-E26463DF4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D9F39-F344-41AE-B531-1D3ECACBC820}" type="slidenum">
              <a:rPr lang="en-US" noProof="0" smtClean="0"/>
              <a:t>125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928622132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25D2F8-AA99-0B84-FFCB-71487E6D62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D7562-C7FF-8718-D2FC-E2EDA2617E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A0BDE0-A450-180D-B8E8-56E872C50D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161288"/>
            <a:ext cx="8158889" cy="3452127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r>
              <a:rPr lang="en-US" sz="1200" noProof="0" dirty="0"/>
              <a:t>Bretz, Maurer, Brannath, Posch (2009) A graphical approach to sequentially rejective multiple test procedures. Statistics in Medicine 28: 586–604.</a:t>
            </a:r>
          </a:p>
          <a:p>
            <a:r>
              <a:rPr lang="en-US" sz="1200" noProof="0" dirty="0">
                <a:ea typeface="Calibri"/>
                <a:cs typeface="Calibri"/>
              </a:rPr>
              <a:t>Bretz, Maurer, Hommel (2011) Test and power considerations for multiple endpoint analyses using sequentially rejective graphical procedures. Statistics in Medicine, 30(13), 1489-1501.</a:t>
            </a:r>
          </a:p>
          <a:p>
            <a:r>
              <a:rPr lang="en-US" sz="1200" noProof="0" dirty="0"/>
              <a:t>Bretz, Posch, Glimm, </a:t>
            </a:r>
            <a:r>
              <a:rPr lang="en-US" sz="1200" noProof="0" dirty="0" err="1"/>
              <a:t>Klinglmueller</a:t>
            </a:r>
            <a:r>
              <a:rPr lang="en-US" sz="1200" noProof="0" dirty="0"/>
              <a:t>, Maurer, </a:t>
            </a:r>
            <a:r>
              <a:rPr lang="en-US" sz="1200" noProof="0" dirty="0" err="1"/>
              <a:t>Rohmeyer</a:t>
            </a:r>
            <a:r>
              <a:rPr lang="en-US" sz="1200" noProof="0" dirty="0"/>
              <a:t> (2011) Graphical approaches for multiple comparison procedures using weighted Bonferroni, Simes or parametric tests. Biometrical Journal 53: 894–913. </a:t>
            </a:r>
            <a:endParaRPr lang="en-US" sz="1200" noProof="0" dirty="0">
              <a:ea typeface="Calibri"/>
              <a:cs typeface="Calibri"/>
            </a:endParaRPr>
          </a:p>
          <a:p>
            <a:r>
              <a:rPr lang="en-US" sz="1200" noProof="0" dirty="0" err="1"/>
              <a:t>Dmitrienko</a:t>
            </a:r>
            <a:r>
              <a:rPr lang="en-US" sz="1200" noProof="0" dirty="0"/>
              <a:t>, Offen, Westfall (2003) Gatekeeping strategies for clinical trials that do not require all primary effects to be significant. Statistics in Medicine 22: 2387–2400.</a:t>
            </a:r>
          </a:p>
          <a:p>
            <a:r>
              <a:rPr lang="en-US" sz="1200" noProof="0" dirty="0" err="1">
                <a:ea typeface="Calibri"/>
                <a:cs typeface="Calibri"/>
              </a:rPr>
              <a:t>Dmitrienko</a:t>
            </a:r>
            <a:r>
              <a:rPr lang="en-US" sz="1200" noProof="0" dirty="0">
                <a:ea typeface="Calibri"/>
                <a:cs typeface="Calibri"/>
              </a:rPr>
              <a:t>, </a:t>
            </a:r>
            <a:r>
              <a:rPr lang="en-US" sz="1200" noProof="0" dirty="0" err="1">
                <a:ea typeface="Calibri"/>
                <a:cs typeface="Calibri"/>
              </a:rPr>
              <a:t>Paux</a:t>
            </a:r>
            <a:r>
              <a:rPr lang="en-US" sz="1200" noProof="0" dirty="0">
                <a:ea typeface="Calibri"/>
                <a:cs typeface="Calibri"/>
              </a:rPr>
              <a:t>, </a:t>
            </a:r>
            <a:r>
              <a:rPr lang="en-US" sz="1200" noProof="0" dirty="0" err="1">
                <a:ea typeface="Calibri"/>
                <a:cs typeface="Calibri"/>
              </a:rPr>
              <a:t>Brechenmacher</a:t>
            </a:r>
            <a:r>
              <a:rPr lang="en-US" sz="1200" noProof="0" dirty="0">
                <a:ea typeface="Calibri"/>
                <a:cs typeface="Calibri"/>
              </a:rPr>
              <a:t> (2015) Power calculations in clinical trials with complex clinical objectives. Journal of the Japanese Society of Computational Statistics, 28(1), 15-50.</a:t>
            </a:r>
          </a:p>
          <a:p>
            <a:r>
              <a:rPr lang="en-US" sz="1200" noProof="0" dirty="0" err="1"/>
              <a:t>Dmitrienko</a:t>
            </a:r>
            <a:r>
              <a:rPr lang="en-US" sz="1200" noProof="0" dirty="0"/>
              <a:t>, Tamhane, Bretz (2009) Multiple testing problems in pharmaceutical statistics. Chapman and Hall/CRC</a:t>
            </a:r>
            <a:endParaRPr lang="en-US" sz="1200" noProof="0" dirty="0">
              <a:ea typeface="Calibri"/>
              <a:cs typeface="Calibri"/>
            </a:endParaRPr>
          </a:p>
          <a:p>
            <a:r>
              <a:rPr lang="en-US" sz="1200" noProof="0" dirty="0">
                <a:solidFill>
                  <a:srgbClr val="000000"/>
                </a:solidFill>
                <a:ea typeface="Calibri"/>
                <a:cs typeface="Calibri"/>
              </a:rPr>
              <a:t>Dunnett, Tamhane (1991). Step‐down multiple tests for comparing treatments with a control in unbalanced one‐way layouts. Statistics in Medicine, 10(6), 939-947.</a:t>
            </a:r>
          </a:p>
          <a:p>
            <a:r>
              <a:rPr lang="en-US" sz="1200" noProof="0" dirty="0"/>
              <a:t>European Medicines Agency (2017) Guideline on multiplicity issues in clinical trials</a:t>
            </a:r>
            <a:endParaRPr lang="en-US" sz="1200" noProof="0" dirty="0">
              <a:ea typeface="Calibri" panose="020F0502020204030204"/>
              <a:cs typeface="Calibri" panose="020F0502020204030204"/>
            </a:endParaRPr>
          </a:p>
          <a:p>
            <a:r>
              <a:rPr lang="en-US" sz="1200" noProof="0" dirty="0"/>
              <a:t>Fischer, Bofill Roig, Brannath (2024) The online closure principle. The Annals of Statistics, 52(2), 817-841.</a:t>
            </a:r>
            <a:endParaRPr lang="en-US" sz="1200" noProof="0" dirty="0">
              <a:ea typeface="Calibri"/>
              <a:cs typeface="Calibri"/>
            </a:endParaRPr>
          </a:p>
          <a:p>
            <a:r>
              <a:rPr lang="en-US" sz="1200" noProof="0" dirty="0"/>
              <a:t>Food and Drug Administration (2022) Multiple Endpoints in Clinical Trials</a:t>
            </a:r>
            <a:endParaRPr lang="en-US" sz="1200" noProof="0" dirty="0">
              <a:ea typeface="Calibri"/>
              <a:cs typeface="Calibri"/>
            </a:endParaRPr>
          </a:p>
          <a:p>
            <a:r>
              <a:rPr lang="en-US" sz="1200" noProof="0" dirty="0"/>
              <a:t>Gou (2024) Reverse graphical approaches for multiple test procedures. Journal of Biopharmaceutical Statistics 34(1): 90-110.</a:t>
            </a:r>
          </a:p>
          <a:p>
            <a:r>
              <a:rPr lang="en-US" sz="1200" noProof="0" dirty="0"/>
              <a:t>Hartog, Lei. (2025) Family-wise error rate control with e-values. </a:t>
            </a:r>
            <a:r>
              <a:rPr lang="en-US" sz="1200" noProof="0" dirty="0" err="1"/>
              <a:t>arXiv</a:t>
            </a:r>
            <a:r>
              <a:rPr lang="en-US" sz="1200" noProof="0" dirty="0"/>
              <a:t> preprint arXiv:2501.09015.</a:t>
            </a:r>
          </a:p>
          <a:p>
            <a:r>
              <a:rPr lang="en-US" sz="1200" noProof="0" dirty="0">
                <a:ea typeface="Calibri"/>
                <a:cs typeface="Calibri"/>
              </a:rPr>
              <a:t>Heller, Krieger, Rosset (2023) Optimal multiple testing and design in clinical trials. Biometrics, 79(3), 1908-1919.</a:t>
            </a:r>
          </a:p>
          <a:p>
            <a:r>
              <a:rPr lang="en-US" sz="1200" dirty="0"/>
              <a:t>Hochberg (1988) A sharper Bonferroni procedure for multiple tests of significance. </a:t>
            </a:r>
            <a:r>
              <a:rPr lang="en-US" sz="1200" dirty="0" err="1"/>
              <a:t>Biometrika</a:t>
            </a:r>
            <a:r>
              <a:rPr lang="en-US" sz="1200" dirty="0"/>
              <a:t>, 75(4), 800-802</a:t>
            </a:r>
            <a:endParaRPr lang="en-US" sz="1200" dirty="0">
              <a:ea typeface="Calibri"/>
              <a:cs typeface="Calibri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E3F4BB-DCE1-552A-FC03-16D607919B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 noProof="0"/>
              <a:t>Bretz, Chen, Xi | ISBS | October 2026</a:t>
            </a:r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63B01D-ABA9-6078-9C1D-6E99B8BD1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D9F39-F344-41AE-B531-1D3ECACBC820}" type="slidenum">
              <a:rPr lang="en-US" noProof="0" smtClean="0"/>
              <a:t>126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32573612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46EF5-8E07-D6CD-9BDA-EA03F71FB1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80870-43C9-D642-E5FF-2C2F16526D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877E51-9E50-7B82-6BD9-5360200830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164433"/>
            <a:ext cx="7886700" cy="3602830"/>
          </a:xfrm>
        </p:spPr>
        <p:txBody>
          <a:bodyPr vert="horz" lIns="91440" tIns="45720" rIns="91440" bIns="45720" rtlCol="0" anchor="t">
            <a:normAutofit fontScale="77500" lnSpcReduction="20000"/>
          </a:bodyPr>
          <a:lstStyle/>
          <a:p>
            <a:r>
              <a:rPr lang="en-US" sz="1300" noProof="0" dirty="0"/>
              <a:t>Hochberg, Tamhane (1987) Multiple comparison procedures. Wiley</a:t>
            </a:r>
            <a:endParaRPr lang="en-US" sz="1300" noProof="0" dirty="0">
              <a:ea typeface="Calibri"/>
              <a:cs typeface="Calibri"/>
            </a:endParaRPr>
          </a:p>
          <a:p>
            <a:r>
              <a:rPr lang="en-US" sz="1300" noProof="0" dirty="0">
                <a:ea typeface="Calibri"/>
                <a:cs typeface="Calibri"/>
              </a:rPr>
              <a:t>Hommel (1988) A stagewise rejective multiple test procedure based on a modified Bonferroni test. </a:t>
            </a:r>
            <a:r>
              <a:rPr lang="en-US" sz="1300" noProof="0" dirty="0" err="1">
                <a:ea typeface="Calibri"/>
                <a:cs typeface="Calibri"/>
              </a:rPr>
              <a:t>Biometrika</a:t>
            </a:r>
            <a:r>
              <a:rPr lang="en-US" sz="1300" noProof="0" dirty="0">
                <a:ea typeface="Calibri"/>
                <a:cs typeface="Calibri"/>
              </a:rPr>
              <a:t>, 75(2), 383-386</a:t>
            </a:r>
            <a:endParaRPr lang="en-US" sz="1300" noProof="0" dirty="0"/>
          </a:p>
          <a:p>
            <a:r>
              <a:rPr lang="en-US" sz="1300" noProof="0" dirty="0"/>
              <a:t>Hommel, Bretz (2008) Aesthetics and power considerations in multiple testing–a contradiction? Biometrical Journal 50 (5), 657–666</a:t>
            </a:r>
            <a:endParaRPr lang="en-US" sz="1300" noProof="0" dirty="0">
              <a:ea typeface="Calibri"/>
              <a:cs typeface="Calibri"/>
            </a:endParaRPr>
          </a:p>
          <a:p>
            <a:r>
              <a:rPr lang="en-US" sz="1300" noProof="0" dirty="0"/>
              <a:t>International Council of Harmonization (2025) Topic M11: Clinical electronic structured harmonized protocol</a:t>
            </a:r>
          </a:p>
          <a:p>
            <a:r>
              <a:rPr lang="en-US" sz="1300" noProof="0" dirty="0"/>
              <a:t>Koenig, </a:t>
            </a:r>
            <a:r>
              <a:rPr lang="en-US" sz="1300" noProof="0" dirty="0" err="1"/>
              <a:t>Krasnozhon</a:t>
            </a:r>
            <a:r>
              <a:rPr lang="en-US" sz="1300" noProof="0" dirty="0"/>
              <a:t>, Bornkamp, Bretz, Glimm, Graf, Xi (2025) Closed MCP‐Mod for pairwise comparisons of several doses with a control. Statistics in Medicine, 44(10-12), e70124</a:t>
            </a:r>
          </a:p>
          <a:p>
            <a:r>
              <a:rPr lang="en-US" sz="1300" noProof="0" dirty="0"/>
              <a:t>LaLonde, Nissen (2025) Multiplicity control in clinical trials. NEJM Evidence, 4(8)</a:t>
            </a:r>
          </a:p>
          <a:p>
            <a:r>
              <a:rPr lang="en-US" sz="1300" noProof="0" dirty="0"/>
              <a:t>Marcus, Peritz, Gabriel (1976) On closed testing procedures with special reference to ordered analysis of variance. </a:t>
            </a:r>
            <a:r>
              <a:rPr lang="en-US" sz="1300" noProof="0" dirty="0" err="1"/>
              <a:t>Biometrika</a:t>
            </a:r>
            <a:r>
              <a:rPr lang="en-US" sz="1300" noProof="0" dirty="0"/>
              <a:t>, 63(3), 655-660</a:t>
            </a:r>
            <a:endParaRPr lang="en-US" sz="1300" noProof="0" dirty="0">
              <a:ea typeface="Calibri"/>
              <a:cs typeface="Calibri"/>
            </a:endParaRPr>
          </a:p>
          <a:p>
            <a:r>
              <a:rPr lang="en-US" sz="1300" noProof="0" dirty="0"/>
              <a:t>Maurer, Bretz, Posch (2022) Rationale for the update algorithm of the graphical approach to sequentially rejective multiple test procedures. Pharmaceutical Statistics, 21(4), 757-763</a:t>
            </a:r>
            <a:endParaRPr lang="en-US" sz="1300" noProof="0" dirty="0">
              <a:ea typeface="Calibri"/>
              <a:cs typeface="Calibri"/>
            </a:endParaRPr>
          </a:p>
          <a:p>
            <a:r>
              <a:rPr lang="en-US" sz="1300" noProof="0" dirty="0"/>
              <a:t>Maurer, Hothorn, </a:t>
            </a:r>
            <a:r>
              <a:rPr lang="en-US" sz="1300" noProof="0" dirty="0" err="1"/>
              <a:t>Lehmacher</a:t>
            </a:r>
            <a:r>
              <a:rPr lang="en-US" sz="1300" noProof="0" dirty="0"/>
              <a:t> (1995). Multiple comparisons in drug clinical trials and preclinical assays: a-priori ordered hypotheses. </a:t>
            </a:r>
            <a:r>
              <a:rPr lang="en-US" sz="1300" noProof="0" dirty="0" err="1"/>
              <a:t>Biometrie</a:t>
            </a:r>
            <a:r>
              <a:rPr lang="en-US" sz="1300" noProof="0" dirty="0"/>
              <a:t> in der </a:t>
            </a:r>
            <a:r>
              <a:rPr lang="en-US" sz="1300" noProof="0" dirty="0" err="1"/>
              <a:t>chemischpharmazeutischen</a:t>
            </a:r>
            <a:r>
              <a:rPr lang="en-US" sz="1300" noProof="0" dirty="0"/>
              <a:t> Industrie 6, 3–18</a:t>
            </a:r>
          </a:p>
          <a:p>
            <a:r>
              <a:rPr lang="en-US" sz="1300" noProof="0" dirty="0"/>
              <a:t>National Medical Products Administration (2021) Guideline on multiplicity issues in clinical trials</a:t>
            </a:r>
          </a:p>
          <a:p>
            <a:r>
              <a:rPr lang="en-US" sz="1300" noProof="0" dirty="0" err="1"/>
              <a:t>Ridker</a:t>
            </a:r>
            <a:r>
              <a:rPr lang="en-US" sz="1300" noProof="0" dirty="0"/>
              <a:t>, Everett, Thuren, MacFadyen, Chang, Ballantyne, ...,  Glynn (2017). </a:t>
            </a:r>
            <a:r>
              <a:rPr lang="en-US" sz="1300" noProof="0" dirty="0" err="1"/>
              <a:t>Antiinflammatory</a:t>
            </a:r>
            <a:r>
              <a:rPr lang="en-US" sz="1300" noProof="0" dirty="0"/>
              <a:t> therapy with canakinumab for atherosclerotic disease. New England Journal of Medicine, 377(12), 1119-1131</a:t>
            </a:r>
          </a:p>
          <a:p>
            <a:r>
              <a:rPr lang="en-US" sz="1300" dirty="0"/>
              <a:t>Robertson, Wason, Bretz (2020). Graphical approaches for the control of generalized error rates. Statistics in medicine, 39(23), 3135-3155</a:t>
            </a:r>
          </a:p>
          <a:p>
            <a:r>
              <a:rPr lang="en-US" sz="1300" dirty="0"/>
              <a:t>Robertson, D. S., &amp; Jaki, T. (2026). Optimal Weighted Tests for Replication Studies and the ‘Two‐Trials </a:t>
            </a:r>
            <a:r>
              <a:rPr lang="en-US" sz="1300" dirty="0" err="1"/>
              <a:t>Rule’With</a:t>
            </a:r>
            <a:r>
              <a:rPr lang="en-US" sz="1300" dirty="0"/>
              <a:t> Multiple Hypotheses. Statistics in Medicine, 45(15-17), e70638.</a:t>
            </a:r>
          </a:p>
          <a:p>
            <a:r>
              <a:rPr lang="en-US" sz="1300" noProof="0" dirty="0"/>
              <a:t>Roeder, Wasserman (2009) Genome-wide significance levels and weighted hypothesis testing. Statistical science: a review journal of the Institute of Mathematical Statistics, 24(4), 398</a:t>
            </a:r>
          </a:p>
          <a:p>
            <a:endParaRPr lang="en-US" sz="1200" noProof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85F787-03DF-074E-031C-8705AC5A4A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 noProof="0"/>
              <a:t>Bretz, Chen, Xi | ISBS | October 2026</a:t>
            </a:r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E31F53-BEF9-097B-3231-34EFE197E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D9F39-F344-41AE-B531-1D3ECACBC820}" type="slidenum">
              <a:rPr lang="en-US" noProof="0" smtClean="0"/>
              <a:t>127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0256444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BA4554-5981-6C23-EA47-43CBB672AD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425BBC-A2BC-51E5-0173-200DCFCF0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161288"/>
            <a:ext cx="8276811" cy="3263504"/>
          </a:xfrm>
        </p:spPr>
        <p:txBody>
          <a:bodyPr>
            <a:noAutofit/>
          </a:bodyPr>
          <a:lstStyle/>
          <a:p>
            <a:r>
              <a:rPr lang="en-US" sz="1000" dirty="0"/>
              <a:t>Rubin, Dudoit, van der Laan (2006) A method to increase the power of multiple testing procedures through sample splitting</a:t>
            </a:r>
          </a:p>
          <a:p>
            <a:r>
              <a:rPr lang="en-US" sz="1000" dirty="0"/>
              <a:t>Spiers, A. D., Grayling, M. J., Wheeler, G. M., &amp; Mander, A. P. (2026). Gain-function </a:t>
            </a:r>
            <a:r>
              <a:rPr lang="en-US" sz="1000" dirty="0" err="1"/>
              <a:t>optimisation</a:t>
            </a:r>
            <a:r>
              <a:rPr lang="en-US" sz="1000" dirty="0"/>
              <a:t> of graphical multiple testing procedures for confirmatory clinical trials. </a:t>
            </a:r>
            <a:r>
              <a:rPr lang="en-US" sz="1000" dirty="0" err="1"/>
              <a:t>arXiv</a:t>
            </a:r>
            <a:r>
              <a:rPr lang="en-US" sz="1000" dirty="0"/>
              <a:t> preprint arXiv:2609.19994.</a:t>
            </a:r>
          </a:p>
          <a:p>
            <a:r>
              <a:rPr lang="en-US" sz="1000" dirty="0"/>
              <a:t>Vandemeulebroecke, Haering, Hua, Wei, Xi (2024) New strategies for confirmatory testing of secondary hypotheses on combined dat</a:t>
            </a:r>
            <a:r>
              <a:rPr lang="en-US" sz="1000" noProof="0" dirty="0"/>
              <a:t>a from multiple trials. Clinical Trials 21(2): 171-179</a:t>
            </a:r>
          </a:p>
          <a:p>
            <a:r>
              <a:rPr lang="en-US" sz="1000" noProof="0" dirty="0"/>
              <a:t>Westfall, Krishen (2001) Optimally weighted, fixed sequence and gatekeeper multiple testing procedures. Journal of Statistical Planning and Inference 99, 25–40</a:t>
            </a:r>
          </a:p>
          <a:p>
            <a:r>
              <a:rPr lang="en-US" sz="1000" noProof="0" dirty="0"/>
              <a:t>Wiens (2003) A fixed sequence Bonferroni procedure for testing multiple endpoints. Pharmaceutical Statistics 2, 211–215</a:t>
            </a:r>
          </a:p>
          <a:p>
            <a:r>
              <a:rPr lang="en-US" sz="1000" noProof="0" dirty="0"/>
              <a:t>Wiens, </a:t>
            </a:r>
            <a:r>
              <a:rPr lang="en-US" sz="1000" noProof="0" dirty="0" err="1"/>
              <a:t>Dmitrienko</a:t>
            </a:r>
            <a:r>
              <a:rPr lang="en-US" sz="1000" noProof="0" dirty="0"/>
              <a:t> (2005) The fallback procedure for evaluating a single family of hypotheses. Journal of Biopharmaceutical Statistics 15 (6), 929–942</a:t>
            </a:r>
          </a:p>
          <a:p>
            <a:r>
              <a:rPr lang="en-US" sz="1000" noProof="0" dirty="0"/>
              <a:t>Wiens, </a:t>
            </a:r>
            <a:r>
              <a:rPr lang="en-US" sz="1000" noProof="0" dirty="0" err="1"/>
              <a:t>Dmitrienko</a:t>
            </a:r>
            <a:r>
              <a:rPr lang="en-US" sz="1000" noProof="0" dirty="0"/>
              <a:t>, Marchenko (2013) Selection of hypothesis weights and ordering when testing multiple hypotheses in clinical trials. Journal of Biopharmaceutical Statistics, 23(6), 1403-1419</a:t>
            </a:r>
          </a:p>
          <a:p>
            <a:r>
              <a:rPr lang="en-US" sz="1000" noProof="0" dirty="0"/>
              <a:t>Xi, Bretz (2021) Graphical approaches for multiple comparison procedures. In: Handbook of Multiple Comparisons (eds: Cui, Dickhaus, Ding, Hsu). Chapman &amp; Hall</a:t>
            </a:r>
          </a:p>
          <a:p>
            <a:r>
              <a:rPr lang="en-US" sz="1000" noProof="0" dirty="0"/>
              <a:t>Xi, Chen (2024) Optimal weighted Bonferroni tests and their graphical extensions. Statistics in Medicine, 43(3), 475-500</a:t>
            </a:r>
          </a:p>
          <a:p>
            <a:r>
              <a:rPr lang="en-US" sz="1000" noProof="0" dirty="0"/>
              <a:t>Zhan, Hartford, Kang, Offen (2022) Optimizing graphical procedures for multiplicity control in a confirmatory clinical trial via deep learning. Statistics in biopharmaceutical research, 14(1), 92-102</a:t>
            </a:r>
          </a:p>
          <a:p>
            <a:r>
              <a:rPr lang="en-US" sz="1000" noProof="0" dirty="0"/>
              <a:t>Zhang, Wang, Troendle (2015) Optimizing the order of hypotheses in serial testing of multiple endpoints in clinical trials. Statistics in Medicine, 34(9), 1467-1482</a:t>
            </a:r>
          </a:p>
          <a:p>
            <a:endParaRPr lang="en-US" sz="1000" noProof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83B225-16C1-D107-F710-46C17432B9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 noProof="0"/>
              <a:t>Bretz, Chen, Xi | ISBS | October 2026</a:t>
            </a:r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4DE043-1D17-9576-AFD9-D15CF86949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D9F39-F344-41AE-B531-1D3ECACBC820}" type="slidenum">
              <a:rPr lang="en-US" noProof="0" smtClean="0"/>
              <a:t>128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9047169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3c9bec58-8084-492e-8360-0e1cfe36408c}" enabled="1" method="Standard" siteId="{f35a6974-607f-47d4-82d7-ff31d7dc53a5}" removed="0"/>
  <clbl:label id="{a9f6c3cc-f515-4067-8d40-15f492112f6a}" enabled="1" method="Privileged" siteId="{a5a8bcaa-3292-41e6-b735-5e8b21f4dbfd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Novartis Presentation WideScreen 16by9 Carbon Blue_RM</Template>
  <TotalTime>0</TotalTime>
  <Words>11232</Words>
  <Application>Microsoft Office PowerPoint</Application>
  <PresentationFormat>On-screen Show (16:9)</PresentationFormat>
  <Paragraphs>1574</Paragraphs>
  <Slides>128</Slides>
  <Notes>21</Notes>
  <HiddenSlides>4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128</vt:i4>
      </vt:variant>
    </vt:vector>
  </HeadingPairs>
  <TitlesOfParts>
    <vt:vector size="141" baseType="lpstr">
      <vt:lpstr>等线</vt:lpstr>
      <vt:lpstr>等线 Light</vt:lpstr>
      <vt:lpstr>黑体</vt:lpstr>
      <vt:lpstr>Arial</vt:lpstr>
      <vt:lpstr>Arial Black</vt:lpstr>
      <vt:lpstr>Calibri</vt:lpstr>
      <vt:lpstr>Calibri Light</vt:lpstr>
      <vt:lpstr>Cambria</vt:lpstr>
      <vt:lpstr>Cambria Math</vt:lpstr>
      <vt:lpstr>Courier New</vt:lpstr>
      <vt:lpstr>Times New Roman</vt:lpstr>
      <vt:lpstr>Wingdings</vt:lpstr>
      <vt:lpstr>Office Theme</vt:lpstr>
      <vt:lpstr>Graphical multiple comparison procedures  Combining flexibility with optimality </vt:lpstr>
      <vt:lpstr>Course instructors</vt:lpstr>
      <vt:lpstr>Agenda</vt:lpstr>
      <vt:lpstr>Disclaimer</vt:lpstr>
      <vt:lpstr>Acknowledgement</vt:lpstr>
      <vt:lpstr>Learning objectives</vt:lpstr>
      <vt:lpstr>Outline</vt:lpstr>
      <vt:lpstr>Outline</vt:lpstr>
      <vt:lpstr>Sources of multiplicity</vt:lpstr>
      <vt:lpstr>Example 1 – Multiple doses </vt:lpstr>
      <vt:lpstr>Example 2 – Multiple endpoints</vt:lpstr>
      <vt:lpstr>Example 3 – Multiple endpoints and multiple doses</vt:lpstr>
      <vt:lpstr>Example 3 – Multiple endpoints and multiple doses</vt:lpstr>
      <vt:lpstr>Dealing with multiplicity</vt:lpstr>
      <vt:lpstr>FDA guideline on multiple endpoints</vt:lpstr>
      <vt:lpstr>FDA guideline on multiple endpoints Rational clinical endpoint classification</vt:lpstr>
      <vt:lpstr>Other regulatory guidelines</vt:lpstr>
      <vt:lpstr>Notation</vt:lpstr>
      <vt:lpstr>Familywise error rate (FWER)</vt:lpstr>
      <vt:lpstr>Adjusted p-values</vt:lpstr>
      <vt:lpstr>Common multiple test procedures Single step and stepwise methods</vt:lpstr>
      <vt:lpstr>Common multiple test procedures Hochberg and Tamhane (1987); Dmitrienko, Tamhane and Bretz (2009)</vt:lpstr>
      <vt:lpstr>Outline</vt:lpstr>
      <vt:lpstr>Heuristics</vt:lpstr>
      <vt:lpstr>Conventions</vt:lpstr>
      <vt:lpstr>Common multiple test procedures Bonferroni test – Example with α=0.025 for m=2 null hypotheses</vt:lpstr>
      <vt:lpstr>Common multiple test procedures Holm procedure – Example with α=0.025 for m=2 hypotheses</vt:lpstr>
      <vt:lpstr>Common multiple test procedures Holm procedure – Example with α=0.025 for m=2 hypotheses</vt:lpstr>
      <vt:lpstr>Common multiple test procedures Holm procedure – Example with α=0.025 for m=2 hypotheses</vt:lpstr>
      <vt:lpstr>Common multiple test procedures Holm procedure – Example with α=0.025 for m=2 hypotheses</vt:lpstr>
      <vt:lpstr>Common multiple test procedures Holm procedure – Example with α=0.025 for m=2 hypotheses</vt:lpstr>
      <vt:lpstr>Common multiple test procedures Weighted Holm procedure</vt:lpstr>
      <vt:lpstr>Common multiple test procedures Fixed sequence tests (Maurer et al., 1995; Westfall and Krishen, 2001)</vt:lpstr>
      <vt:lpstr>Common multiple test procedures Fallback procedures</vt:lpstr>
      <vt:lpstr>Common multiple test procedures Parallel gatekeeping procedure (Dmitrienko et al., 2003) </vt:lpstr>
      <vt:lpstr>Common multiple test procedures Parallel gatekeeping procedure – Example with α=0.025</vt:lpstr>
      <vt:lpstr>Common multiple test procedures Parallel gatekeeping procedure – Example with α=0.025</vt:lpstr>
      <vt:lpstr>Common multiple test procedures Parallel gatekeeping procedure – Example with α=0.025</vt:lpstr>
      <vt:lpstr>Common multiple test procedures Parallel gatekeeping procedure – Example with α=0.025</vt:lpstr>
      <vt:lpstr>Common multiple test procedures Parallel gatekeeping procedure – Example with α=0.025</vt:lpstr>
      <vt:lpstr>Common multiple test procedures Parallel gatekeeping procedure – Example with α=0.025</vt:lpstr>
      <vt:lpstr>Common multiple test procedures Parallel gatekeeping procedure – Example with α=0.025</vt:lpstr>
      <vt:lpstr>Common multiple test procedures Parallel gatekeeping procedure – Example with α=0.025</vt:lpstr>
      <vt:lpstr>Common multiple test procedures Parallel gatekeeping procedure – Example with α=0.025</vt:lpstr>
      <vt:lpstr>Common multiple test procedures Parallel gatekeeping procedure – Example with α=0.025</vt:lpstr>
      <vt:lpstr>Formal description Notation</vt:lpstr>
      <vt:lpstr>Formal description Update algorithm</vt:lpstr>
      <vt:lpstr>Formal description Main result (Bretz, Maurer, Brannath, and Posch 2009)</vt:lpstr>
      <vt:lpstr>Formal description Adjusted p-values</vt:lpstr>
      <vt:lpstr>Example 3 revisited Background</vt:lpstr>
      <vt:lpstr>Suggested workflow</vt:lpstr>
      <vt:lpstr>Example 3 revisited Building a multiple test procedure – Hypotheses</vt:lpstr>
      <vt:lpstr>Example 3 revisited Building a multiple test procedure – Initial significance levels</vt:lpstr>
      <vt:lpstr>Example 3 revisited Building a multiple test procedure – Propagation of significance levels</vt:lpstr>
      <vt:lpstr>Example 3 revisited Building a multiple test procedure – Alternative propagation</vt:lpstr>
      <vt:lpstr>Example 3 revisited Building a multiple test procedure – General approach</vt:lpstr>
      <vt:lpstr>Sample size and power calculations Scenarios</vt:lpstr>
      <vt:lpstr>Sample size and power calculations Outcome measures</vt:lpstr>
      <vt:lpstr>Example 3 revisited Building a multiple test procedure – Power</vt:lpstr>
      <vt:lpstr>Outline</vt:lpstr>
      <vt:lpstr>Outline</vt:lpstr>
      <vt:lpstr>How to design a graph Example 3 revisited</vt:lpstr>
      <vt:lpstr>Weighted Bonferroni test</vt:lpstr>
      <vt:lpstr>What to optimize?</vt:lpstr>
      <vt:lpstr>Existing approaches</vt:lpstr>
      <vt:lpstr>Why split α? Comparison with fixed sequence procedure</vt:lpstr>
      <vt:lpstr>Why split α? Intuition and conclusion</vt:lpstr>
      <vt:lpstr>How to split α? Under independence</vt:lpstr>
      <vt:lpstr>How to split α? Under dependence</vt:lpstr>
      <vt:lpstr>Optimization</vt:lpstr>
      <vt:lpstr>Solution</vt:lpstr>
      <vt:lpstr>Outline</vt:lpstr>
      <vt:lpstr>Graphical approach </vt:lpstr>
      <vt:lpstr>Demo Set up constraints</vt:lpstr>
      <vt:lpstr>Demo Set up constraints</vt:lpstr>
      <vt:lpstr>Demo Scenario set up</vt:lpstr>
      <vt:lpstr>Demo Hypothesis weight optimization</vt:lpstr>
      <vt:lpstr>Demo Transition matrix optimization</vt:lpstr>
      <vt:lpstr>Power comparison </vt:lpstr>
      <vt:lpstr>Summary and conclusion </vt:lpstr>
      <vt:lpstr>Outline</vt:lpstr>
      <vt:lpstr>Outline</vt:lpstr>
      <vt:lpstr>Graphical approaches using R</vt:lpstr>
      <vt:lpstr>Graphical approaches using R graphicalMCP package</vt:lpstr>
      <vt:lpstr>GraphicalMCP package Structure</vt:lpstr>
      <vt:lpstr>GraphicalMCP package Function reference</vt:lpstr>
      <vt:lpstr>Example 3 Revisited Background</vt:lpstr>
      <vt:lpstr>Example 3 Revisited Create an initial graph</vt:lpstr>
      <vt:lpstr>Example 3 Revisited Update the initial graph</vt:lpstr>
      <vt:lpstr>Example 3 Revisited Perform testing</vt:lpstr>
      <vt:lpstr>Example 3 Revisited Stepwise decisions using test_values</vt:lpstr>
      <vt:lpstr>Example 3 Revisited Alternative rejection sequences</vt:lpstr>
      <vt:lpstr>Example 3 Revisited Perform power simulation</vt:lpstr>
      <vt:lpstr>Example 3 Revisited Customizable success objectives</vt:lpstr>
      <vt:lpstr>Outline</vt:lpstr>
      <vt:lpstr>Graphical approaches beyond Bonferroni Background</vt:lpstr>
      <vt:lpstr>Closed test procedures Two hypotheses</vt:lpstr>
      <vt:lpstr>Closed test procedures Three hypotheses and Venn-type diagram</vt:lpstr>
      <vt:lpstr>Holm procedure: Closed test using Bonferroni Two hypotheses</vt:lpstr>
      <vt:lpstr>Hommel procedure: Closed test using Simes Two hypotheses</vt:lpstr>
      <vt:lpstr>Hochberg procedure: Conservative shortcut to Hommel Two hypotheses</vt:lpstr>
      <vt:lpstr>Dunnett procedure: Closed test using parametric Two hypotheses</vt:lpstr>
      <vt:lpstr>CANTOS trial Background</vt:lpstr>
      <vt:lpstr>CANTOS trial Graphical multiple comparison procedure</vt:lpstr>
      <vt:lpstr>CANTOS trial Mixed types of tests</vt:lpstr>
      <vt:lpstr>CANTOS trial Graphical multiple comparison procedure  with mixed types of tests</vt:lpstr>
      <vt:lpstr>CANTOS trial Closed test procedure</vt:lpstr>
      <vt:lpstr>CANTOS trial An illustration</vt:lpstr>
      <vt:lpstr>CANTOS trial An illustration</vt:lpstr>
      <vt:lpstr>CANTOS trial Results</vt:lpstr>
      <vt:lpstr>CANTOS trial What if Bonferroni tests had been used for primary</vt:lpstr>
      <vt:lpstr>Hypothetical example based on CANTOS trial Create an initial graph</vt:lpstr>
      <vt:lpstr>Hypothetical example based on CANTOS trial Perform testing</vt:lpstr>
      <vt:lpstr>Hypothetical example based on CANTOS trial Closed tests</vt:lpstr>
      <vt:lpstr>Hypothetical example based on CANTOS trial Perform power simulation</vt:lpstr>
      <vt:lpstr>Hypothetical example based on CANTOS trial Simes tests for secondary hypotheses</vt:lpstr>
      <vt:lpstr>Hypothetical example based on CANTOS trial Simes tests for secondary hypotheses</vt:lpstr>
      <vt:lpstr>Hypothetical example based on CANTOS trial Perform testing</vt:lpstr>
      <vt:lpstr>Hypothetical example based on CANTOS trial Closed tests</vt:lpstr>
      <vt:lpstr>Hypothetical example based on CANTOS trial Perform power simulation</vt:lpstr>
      <vt:lpstr>GraphicalMCP package Resources</vt:lpstr>
      <vt:lpstr>Summary</vt:lpstr>
      <vt:lpstr>Extensions not covered in this training</vt:lpstr>
      <vt:lpstr>Recap and Contact</vt:lpstr>
      <vt:lpstr>Thank you</vt:lpstr>
      <vt:lpstr>References</vt:lpstr>
      <vt:lpstr>References</vt:lpstr>
      <vt:lpstr>References</vt:lpstr>
    </vt:vector>
  </TitlesOfParts>
  <Company>Novartis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is Arial Black 32pt, 1 to 2 lines maximum</dc:title>
  <dc:creator>Lest van de, Ingrid</dc:creator>
  <cp:lastModifiedBy>Frank Bretz</cp:lastModifiedBy>
  <cp:revision>4</cp:revision>
  <cp:lastPrinted>2017-09-27T16:10:53Z</cp:lastPrinted>
  <dcterms:created xsi:type="dcterms:W3CDTF">2020-06-26T13:08:12Z</dcterms:created>
  <dcterms:modified xsi:type="dcterms:W3CDTF">2026-09-22T14:08:57Z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erName">
    <vt:lpwstr/>
  </property>
  <property fmtid="{D5CDD505-2E9C-101B-9397-08002B2CF9AE}" pid="3" name="ConfidentialityLevel">
    <vt:lpwstr>None (no value displayed on slides)</vt:lpwstr>
  </property>
  <property fmtid="{D5CDD505-2E9C-101B-9397-08002B2CF9AE}" pid="4" name="HideFooter">
    <vt:bool>false</vt:bool>
  </property>
  <property fmtid="{D5CDD505-2E9C-101B-9397-08002B2CF9AE}" pid="5" name="ContentTypeId">
    <vt:lpwstr>0x010100B3E2A19A309B004486F70A94EAE88651</vt:lpwstr>
  </property>
  <property fmtid="{D5CDD505-2E9C-101B-9397-08002B2CF9AE}" pid="6" name="MSIP_Label_3c9bec58-8084-492e-8360-0e1cfe36408c_Enabled">
    <vt:lpwstr>true</vt:lpwstr>
  </property>
  <property fmtid="{D5CDD505-2E9C-101B-9397-08002B2CF9AE}" pid="7" name="MSIP_Label_3c9bec58-8084-492e-8360-0e1cfe36408c_SetDate">
    <vt:lpwstr>2022-09-14T22:17:45Z</vt:lpwstr>
  </property>
  <property fmtid="{D5CDD505-2E9C-101B-9397-08002B2CF9AE}" pid="8" name="MSIP_Label_3c9bec58-8084-492e-8360-0e1cfe36408c_Method">
    <vt:lpwstr>Standard</vt:lpwstr>
  </property>
  <property fmtid="{D5CDD505-2E9C-101B-9397-08002B2CF9AE}" pid="9" name="MSIP_Label_3c9bec58-8084-492e-8360-0e1cfe36408c_Name">
    <vt:lpwstr>Not Protected -Pilot</vt:lpwstr>
  </property>
  <property fmtid="{D5CDD505-2E9C-101B-9397-08002B2CF9AE}" pid="10" name="MSIP_Label_3c9bec58-8084-492e-8360-0e1cfe36408c_SiteId">
    <vt:lpwstr>f35a6974-607f-47d4-82d7-ff31d7dc53a5</vt:lpwstr>
  </property>
  <property fmtid="{D5CDD505-2E9C-101B-9397-08002B2CF9AE}" pid="11" name="MSIP_Label_3c9bec58-8084-492e-8360-0e1cfe36408c_ActionId">
    <vt:lpwstr>d67d8251-adfc-4895-b26e-63d36324137a</vt:lpwstr>
  </property>
  <property fmtid="{D5CDD505-2E9C-101B-9397-08002B2CF9AE}" pid="12" name="MSIP_Label_3c9bec58-8084-492e-8360-0e1cfe36408c_ContentBits">
    <vt:lpwstr>0</vt:lpwstr>
  </property>
  <property fmtid="{D5CDD505-2E9C-101B-9397-08002B2CF9AE}" pid="13" name="MSIP_Label_a9f6c3cc-f515-4067-8d40-15f492112f6a_Enabled">
    <vt:lpwstr>true</vt:lpwstr>
  </property>
  <property fmtid="{D5CDD505-2E9C-101B-9397-08002B2CF9AE}" pid="14" name="MSIP_Label_a9f6c3cc-f515-4067-8d40-15f492112f6a_SetDate">
    <vt:lpwstr>2026-06-04T01:51:30Z</vt:lpwstr>
  </property>
  <property fmtid="{D5CDD505-2E9C-101B-9397-08002B2CF9AE}" pid="15" name="MSIP_Label_a9f6c3cc-f515-4067-8d40-15f492112f6a_Method">
    <vt:lpwstr>Privileged</vt:lpwstr>
  </property>
  <property fmtid="{D5CDD505-2E9C-101B-9397-08002B2CF9AE}" pid="16" name="MSIP_Label_a9f6c3cc-f515-4067-8d40-15f492112f6a_Name">
    <vt:lpwstr>a9f6c3cc-f515-4067-8d40-15f492112f6a</vt:lpwstr>
  </property>
  <property fmtid="{D5CDD505-2E9C-101B-9397-08002B2CF9AE}" pid="17" name="MSIP_Label_a9f6c3cc-f515-4067-8d40-15f492112f6a_SiteId">
    <vt:lpwstr>a5a8bcaa-3292-41e6-b735-5e8b21f4dbfd</vt:lpwstr>
  </property>
  <property fmtid="{D5CDD505-2E9C-101B-9397-08002B2CF9AE}" pid="18" name="MSIP_Label_a9f6c3cc-f515-4067-8d40-15f492112f6a_ActionId">
    <vt:lpwstr>d0d1dcfd-53ad-47cb-a913-e6635a569160</vt:lpwstr>
  </property>
  <property fmtid="{D5CDD505-2E9C-101B-9397-08002B2CF9AE}" pid="19" name="MSIP_Label_a9f6c3cc-f515-4067-8d40-15f492112f6a_ContentBits">
    <vt:lpwstr>0</vt:lpwstr>
  </property>
  <property fmtid="{D5CDD505-2E9C-101B-9397-08002B2CF9AE}" pid="20" name="MSIP_Label_a9f6c3cc-f515-4067-8d40-15f492112f6a_Tag">
    <vt:lpwstr>10, 0, 1, 1</vt:lpwstr>
  </property>
</Properties>
</file>